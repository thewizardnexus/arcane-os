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5" r:id="rId4"/>
  </p:sldMasterIdLst>
  <p:notesMasterIdLst>
    <p:notesMasterId r:id="rId23"/>
  </p:notesMasterIdLst>
  <p:handoutMasterIdLst>
    <p:handoutMasterId r:id="rId24"/>
  </p:handoutMasterIdLst>
  <p:sldIdLst>
    <p:sldId id="257" r:id="rId5"/>
    <p:sldId id="258" r:id="rId6"/>
    <p:sldId id="262" r:id="rId7"/>
    <p:sldId id="263" r:id="rId8"/>
    <p:sldId id="264" r:id="rId9"/>
    <p:sldId id="265" r:id="rId10"/>
    <p:sldId id="266" r:id="rId11"/>
    <p:sldId id="267" r:id="rId12"/>
    <p:sldId id="268" r:id="rId13"/>
    <p:sldId id="269" r:id="rId14"/>
    <p:sldId id="270" r:id="rId15"/>
    <p:sldId id="271" r:id="rId16"/>
    <p:sldId id="438" r:id="rId17"/>
    <p:sldId id="439" r:id="rId18"/>
    <p:sldId id="572" r:id="rId19"/>
    <p:sldId id="277" r:id="rId20"/>
    <p:sldId id="278" r:id="rId21"/>
    <p:sldId id="28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Killian" initials="KK" lastIdx="1" clrIdx="0"/>
  <p:cmAuthor id="2" name="Kehoe, Tyler E. (Contractor)" initials="TEK" lastIdx="1" clrIdx="1"/>
  <p:cmAuthor id="3" name="Varn, Sophie A. (Contractor)" initials="VSA(" lastIdx="1" clrIdx="2">
    <p:extLst>
      <p:ext uri="{19B8F6BF-5375-455C-9EA6-DF929625EA0E}">
        <p15:presenceInfo xmlns:p15="http://schemas.microsoft.com/office/powerpoint/2012/main" userId="S::savarn@sba.gov::67d188c9-c423-4e04-81bf-1b9d14b025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7F"/>
    <a:srgbClr val="000000"/>
    <a:srgbClr val="F3F3F4"/>
    <a:srgbClr val="F5F6F6"/>
    <a:srgbClr val="969696"/>
    <a:srgbClr val="C00000"/>
    <a:srgbClr val="002E6D"/>
    <a:srgbClr val="898989"/>
    <a:srgbClr val="CC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2C63C8-7F56-455F-8463-AD72042E63A9}" v="5" dt="2023-07-11T17:10:03.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546" y="312"/>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17062E8F-0327-1B44-880E-F1AFCA2C073C}" type="datetimeFigureOut">
              <a:rPr lang="en-US" smtClean="0"/>
              <a:t>2/15/2026</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721A873F-EF5E-994B-9976-428F934A075E}" type="slidenum">
              <a:rPr lang="en-US" smtClean="0"/>
              <a:t>‹#›</a:t>
            </a:fld>
            <a:endParaRPr lang="en-US"/>
          </a:p>
        </p:txBody>
      </p:sp>
    </p:spTree>
    <p:extLst>
      <p:ext uri="{BB962C8B-B14F-4D97-AF65-F5344CB8AC3E}">
        <p14:creationId xmlns:p14="http://schemas.microsoft.com/office/powerpoint/2010/main" val="6426202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C0BF4D7-81BE-0B4C-B655-82AD930F9C8A}" type="datetimeFigureOut">
              <a:rPr lang="en-US" smtClean="0"/>
              <a:t>2/15/2026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52140A9-11FD-AB46-B99D-C1331D8D84D1}" type="slidenum">
              <a:rPr lang="en-US" smtClean="0"/>
              <a:t>‹#›</a:t>
            </a:fld>
            <a:endParaRPr lang="en-US"/>
          </a:p>
        </p:txBody>
      </p:sp>
    </p:spTree>
    <p:extLst>
      <p:ext uri="{BB962C8B-B14F-4D97-AF65-F5344CB8AC3E}">
        <p14:creationId xmlns:p14="http://schemas.microsoft.com/office/powerpoint/2010/main" val="7600706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core.org/" TargetMode="External"/><Relationship Id="rId7" Type="http://schemas.openxmlformats.org/officeDocument/2006/relationships/hyperlink" Target="https://www.score.org/newsletters"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score.org/onlineworkshops/tab-a" TargetMode="External"/><Relationship Id="rId5" Type="http://schemas.openxmlformats.org/officeDocument/2006/relationships/hyperlink" Target="https://www.score.org/chapters-map" TargetMode="External"/><Relationship Id="rId4" Type="http://schemas.openxmlformats.org/officeDocument/2006/relationships/hyperlink" Target="http://www.score.org/mentors/find?keyword=&amp;op=Find+an+email+mentor"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a:t>Instructor Notes:</a:t>
            </a:r>
          </a:p>
          <a:p>
            <a:pPr eaLnBrk="1" hangingPunct="1">
              <a:spcBef>
                <a:spcPct val="0"/>
              </a:spcBef>
              <a:defRPr/>
            </a:pPr>
            <a:endParaRPr lang="en-US" altLang="en-US" sz="1400"/>
          </a:p>
          <a:p>
            <a:pPr>
              <a:defRPr/>
            </a:pPr>
            <a:r>
              <a:rPr lang="en-US" sz="1200" b="0"/>
              <a:t>This module is an overview of the services the SBA and its resource partners offer.  </a:t>
            </a:r>
          </a:p>
          <a:p>
            <a:pPr marL="274787" indent="-274787">
              <a:buFont typeface="Arial" panose="020B0604020202020204" pitchFamily="34" charset="0"/>
              <a:buChar char="•"/>
              <a:defRPr/>
            </a:pPr>
            <a:r>
              <a:rPr lang="en-US" sz="1200" b="0"/>
              <a:t>Keep in mind, many of the folks in the class may be moving somewhere else once they are out of the military.  Let them know that almost identical SBA services are available wherever they may move to in the U.S. (you’ll highlight where to look for them later in the presentation</a:t>
            </a:r>
          </a:p>
          <a:p>
            <a:pPr marL="274787" indent="-274787">
              <a:buFont typeface="Arial" panose="020B0604020202020204" pitchFamily="34" charset="0"/>
              <a:buChar char="•"/>
              <a:defRPr/>
            </a:pPr>
            <a:r>
              <a:rPr lang="en-US" sz="1200"/>
              <a:t>Housekeeping: </a:t>
            </a:r>
            <a:r>
              <a:rPr lang="en-US" sz="1200" b="0"/>
              <a:t>As this will probably be the last class in the session, you will want to remind the attendees to fill out their end of course surveys (document that should be in their folders, titled </a:t>
            </a:r>
            <a:r>
              <a:rPr lang="en-US" sz="1200"/>
              <a:t>Transition Assistance Program Entrepreneurship Track Assessment</a:t>
            </a:r>
            <a:r>
              <a:rPr lang="en-US" sz="1200" b="0"/>
              <a:t>)</a:t>
            </a:r>
          </a:p>
          <a:p>
            <a:endParaRPr lang="en-US"/>
          </a:p>
        </p:txBody>
      </p:sp>
    </p:spTree>
    <p:extLst>
      <p:ext uri="{BB962C8B-B14F-4D97-AF65-F5344CB8AC3E}">
        <p14:creationId xmlns:p14="http://schemas.microsoft.com/office/powerpoint/2010/main" val="2777467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2800"/>
          </a:p>
          <a:p>
            <a:pPr marL="171450" indent="-171450" defTabSz="966407" eaLnBrk="1" fontAlgn="auto" hangingPunct="1">
              <a:spcBef>
                <a:spcPts val="0"/>
              </a:spcBef>
              <a:spcAft>
                <a:spcPts val="0"/>
              </a:spcAft>
              <a:buFont typeface="Arial" panose="020B0604020202020204" pitchFamily="34" charset="0"/>
              <a:buChar char="•"/>
              <a:defRPr/>
            </a:pPr>
            <a:r>
              <a:rPr lang="en-US" sz="1200" b="0"/>
              <a:t>You don’t need to expand on these points. </a:t>
            </a:r>
          </a:p>
          <a:p>
            <a:pPr marL="171450" indent="-171450" defTabSz="966407" eaLnBrk="1" fontAlgn="auto" hangingPunct="1">
              <a:spcBef>
                <a:spcPts val="0"/>
              </a:spcBef>
              <a:spcAft>
                <a:spcPts val="0"/>
              </a:spcAft>
              <a:buFont typeface="Arial" panose="020B0604020202020204" pitchFamily="34" charset="0"/>
              <a:buChar char="•"/>
              <a:defRPr/>
            </a:pPr>
            <a:r>
              <a:rPr lang="en-US" sz="1200" b="0"/>
              <a:t>They are provided as an overview of what is to come to help focus and organize the rest of the module.  </a:t>
            </a:r>
          </a:p>
          <a:p>
            <a:endParaRPr lang="en-US"/>
          </a:p>
        </p:txBody>
      </p:sp>
    </p:spTree>
    <p:extLst>
      <p:ext uri="{BB962C8B-B14F-4D97-AF65-F5344CB8AC3E}">
        <p14:creationId xmlns:p14="http://schemas.microsoft.com/office/powerpoint/2010/main" val="3359541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a:p>
          <a:p>
            <a:pPr defTabSz="966407" eaLnBrk="1" fontAlgn="auto" hangingPunct="1">
              <a:spcBef>
                <a:spcPts val="0"/>
              </a:spcBef>
              <a:spcAft>
                <a:spcPts val="0"/>
              </a:spcAft>
              <a:defRPr/>
            </a:pPr>
            <a:r>
              <a:rPr lang="en-US" sz="1200" b="0"/>
              <a:t>We lead off the section the SBA Resource Partner network with </a:t>
            </a:r>
            <a:r>
              <a:rPr lang="en-US" sz="1200"/>
              <a:t>Veterans Business Outreach Center (VBOC)s </a:t>
            </a:r>
            <a:endParaRPr lang="en-US" sz="1200" b="0"/>
          </a:p>
          <a:p>
            <a:pPr defTabSz="966407" eaLnBrk="1" fontAlgn="auto" hangingPunct="1">
              <a:spcBef>
                <a:spcPts val="0"/>
              </a:spcBef>
              <a:spcAft>
                <a:spcPts val="0"/>
              </a:spcAft>
              <a:defRPr/>
            </a:pPr>
            <a:endParaRPr lang="en-US" sz="1200"/>
          </a:p>
          <a:p>
            <a:pPr marL="171450" indent="-171450" defTabSz="966407" eaLnBrk="1" fontAlgn="auto" hangingPunct="1">
              <a:spcBef>
                <a:spcPts val="0"/>
              </a:spcBef>
              <a:spcAft>
                <a:spcPts val="0"/>
              </a:spcAft>
              <a:buFont typeface="Arial" panose="020B0604020202020204" pitchFamily="34" charset="0"/>
              <a:buChar char="•"/>
              <a:defRPr/>
            </a:pPr>
            <a:r>
              <a:rPr lang="en-US" sz="1200" b="0"/>
              <a:t>The </a:t>
            </a:r>
            <a:r>
              <a:rPr lang="en-US" sz="1200"/>
              <a:t>Veterans Business Outreach Center (VBOC) </a:t>
            </a:r>
            <a:r>
              <a:rPr lang="en-US" sz="1200" b="0"/>
              <a:t>Program is designed to provide entrepreneurial/business development services, such as business training, counseling and resource partner referrals, to transitioning active duty service members, veterans, National Guard &amp; Reserve members and military spouses who are interested in starting a small business or growing an existing business.</a:t>
            </a:r>
          </a:p>
          <a:p>
            <a:pPr defTabSz="966407" eaLnBrk="1" fontAlgn="auto" hangingPunct="1">
              <a:spcBef>
                <a:spcPts val="0"/>
              </a:spcBef>
              <a:spcAft>
                <a:spcPts val="0"/>
              </a:spcAft>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There are 22 VBOCs across the United States and its territories.  Each VBOC has its own unique service area. VBOCs serve as the navigator to other veteran entrepreneurial development resources.</a:t>
            </a:r>
            <a:endParaRPr lang="en-US" sz="1200"/>
          </a:p>
          <a:p>
            <a:pPr defTabSz="966407" eaLnBrk="1" fontAlgn="auto" hangingPunct="1">
              <a:spcBef>
                <a:spcPts val="0"/>
              </a:spcBef>
              <a:spcAft>
                <a:spcPts val="0"/>
              </a:spcAft>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VBOC core services are provided at no cost.</a:t>
            </a:r>
          </a:p>
          <a:p>
            <a:endParaRPr lang="en-US"/>
          </a:p>
        </p:txBody>
      </p:sp>
    </p:spTree>
    <p:extLst>
      <p:ext uri="{BB962C8B-B14F-4D97-AF65-F5344CB8AC3E}">
        <p14:creationId xmlns:p14="http://schemas.microsoft.com/office/powerpoint/2010/main" val="2370577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latin typeface="+mj-lt"/>
            </a:endParaRPr>
          </a:p>
          <a:p>
            <a:pPr defTabSz="966407" eaLnBrk="1" fontAlgn="auto" hangingPunct="1">
              <a:spcBef>
                <a:spcPts val="0"/>
              </a:spcBef>
              <a:spcAft>
                <a:spcPts val="0"/>
              </a:spcAft>
              <a:defRPr/>
            </a:pPr>
            <a:r>
              <a:rPr lang="en-US" sz="1200" b="0">
                <a:latin typeface="+mj-lt"/>
              </a:rPr>
              <a:t>This slide highlights a successful small business (</a:t>
            </a:r>
            <a:r>
              <a:rPr lang="en-US" sz="1200" b="0" i="1">
                <a:latin typeface="+mj-lt"/>
              </a:rPr>
              <a:t>Bold Mariner Brewing Company, Norfolk, VA</a:t>
            </a:r>
            <a:r>
              <a:rPr lang="en-US" sz="1200" b="0">
                <a:latin typeface="+mj-lt"/>
              </a:rPr>
              <a:t>) that got its start thanks to the assistance of a </a:t>
            </a:r>
            <a:r>
              <a:rPr lang="en-US" sz="1200">
                <a:latin typeface="+mj-lt"/>
              </a:rPr>
              <a:t>Veterans Business Outreach Center (VBOC)</a:t>
            </a:r>
            <a:endParaRPr lang="en-US" sz="1200" b="0">
              <a:latin typeface="+mj-lt"/>
            </a:endParaRPr>
          </a:p>
          <a:p>
            <a:pPr defTabSz="966407" eaLnBrk="1" fontAlgn="auto" hangingPunct="1">
              <a:spcBef>
                <a:spcPts val="0"/>
              </a:spcBef>
              <a:spcAft>
                <a:spcPts val="0"/>
              </a:spcAft>
              <a:defRPr/>
            </a:pPr>
            <a:endParaRPr lang="en-US" sz="1200">
              <a:latin typeface="+mj-lt"/>
            </a:endParaRP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Michael Stacks, Navy veteran, and his wife, Kerrie, wanted to start a micro-brewery as an homage to his father and grandfather, both home beer brewers.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As Michael was preparing to transition from the Navy, he turned to his local Veterans Business Outreach Center (VBOC) for support.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He knew starting a brewery would be a capital-intensive project and that he would need financial help to get started.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The VBOC helped him develop a business plan and financials, and also encouraged him to sign up for a Boots to Business course.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Thanks to support from the VBOC, he applied for and received an SBA-backed loan and opened Bold Mariner Brewing. </a:t>
            </a:r>
          </a:p>
          <a:p>
            <a:endParaRPr lang="en-US"/>
          </a:p>
        </p:txBody>
      </p:sp>
    </p:spTree>
    <p:extLst>
      <p:ext uri="{BB962C8B-B14F-4D97-AF65-F5344CB8AC3E}">
        <p14:creationId xmlns:p14="http://schemas.microsoft.com/office/powerpoint/2010/main" val="3098630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004870"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hlinkClick r:id="rId3" tooltip="The SCORE Association"/>
            </a:endParaRPr>
          </a:p>
          <a:p>
            <a:pPr marL="171450" indent="-171450" defTabSz="966407" eaLnBrk="1" fontAlgn="auto" hangingPunct="1">
              <a:spcBef>
                <a:spcPts val="0"/>
              </a:spcBef>
              <a:spcAft>
                <a:spcPts val="0"/>
              </a:spcAft>
              <a:buFont typeface="Arial" panose="020B0604020202020204" pitchFamily="34" charset="0"/>
              <a:buChar char="•"/>
              <a:defRPr/>
            </a:pPr>
            <a:r>
              <a:rPr lang="en-US" sz="1200" b="0">
                <a:hlinkClick r:id="rId3" tooltip="The SCORE Association"/>
              </a:rPr>
              <a:t>The SCORE Association (link is external)</a:t>
            </a:r>
            <a:r>
              <a:rPr lang="en-US" sz="1200" b="0"/>
              <a:t>, supported by SBA, is a nonprofit association of thousands of volunteer business counselors throughout the U.S. and its territories.</a:t>
            </a:r>
          </a:p>
          <a:p>
            <a:pPr marL="171450" indent="-171450" defTabSz="966407" eaLnBrk="1" fontAlgn="auto" hangingPunct="1">
              <a:spcBef>
                <a:spcPts val="0"/>
              </a:spcBef>
              <a:spcAft>
                <a:spcPts val="0"/>
              </a:spcAft>
              <a:buFont typeface="Arial" panose="020B0604020202020204" pitchFamily="34" charset="0"/>
              <a:buChar char="•"/>
              <a:defRPr/>
            </a:pPr>
            <a:r>
              <a:rPr lang="en-US" sz="1200" b="0"/>
              <a:t>SCORE members are trained to serve as counselors, advisors and mentors to aspiring entrepreneurs and business owners. Here are some of the ways you can connect with SCORE and get free business advice:</a:t>
            </a:r>
          </a:p>
          <a:p>
            <a:pPr marL="171450" indent="-171450" defTabSz="966407" eaLnBrk="1" fontAlgn="auto" hangingPunct="1">
              <a:spcBef>
                <a:spcPts val="0"/>
              </a:spcBef>
              <a:spcAft>
                <a:spcPts val="0"/>
              </a:spcAft>
              <a:buFont typeface="Arial" panose="020B0604020202020204" pitchFamily="34" charset="0"/>
              <a:buChar char="•"/>
              <a:defRPr/>
            </a:pPr>
            <a:r>
              <a:rPr lang="en-US" sz="1200" b="0">
                <a:hlinkClick r:id="rId4" tooltip="Email a mentor"/>
              </a:rPr>
              <a:t>Email a mentor</a:t>
            </a:r>
            <a:r>
              <a:rPr lang="en-US" sz="1200" b="0"/>
              <a:t>: Choose a mentor online and get answers to your business questions virtually</a:t>
            </a:r>
          </a:p>
          <a:p>
            <a:pPr marL="171450" indent="-171450" defTabSz="966407" eaLnBrk="1" fontAlgn="auto" hangingPunct="1">
              <a:spcBef>
                <a:spcPts val="0"/>
              </a:spcBef>
              <a:spcAft>
                <a:spcPts val="0"/>
              </a:spcAft>
              <a:buFont typeface="Arial" panose="020B0604020202020204" pitchFamily="34" charset="0"/>
              <a:buChar char="•"/>
              <a:defRPr/>
            </a:pPr>
            <a:r>
              <a:rPr lang="en-US" sz="1200" b="0">
                <a:hlinkClick r:id="rId5" tooltip="Visit Your Local SCORE Office"/>
              </a:rPr>
              <a:t>Visit Your Local SCORE Office</a:t>
            </a:r>
            <a:r>
              <a:rPr lang="en-US" sz="1200" b="0"/>
              <a:t>: Make an appointment with a mentor for in-person advice or attend a business workshop</a:t>
            </a:r>
          </a:p>
          <a:p>
            <a:pPr marL="171450" indent="-171450" defTabSz="966407" eaLnBrk="1" fontAlgn="auto" hangingPunct="1">
              <a:spcBef>
                <a:spcPts val="0"/>
              </a:spcBef>
              <a:spcAft>
                <a:spcPts val="0"/>
              </a:spcAft>
              <a:buFont typeface="Arial" panose="020B0604020202020204" pitchFamily="34" charset="0"/>
              <a:buChar char="•"/>
              <a:defRPr/>
            </a:pPr>
            <a:r>
              <a:rPr lang="en-US" sz="1200" b="0">
                <a:hlinkClick r:id="rId6" tooltip="Online Workshops"/>
              </a:rPr>
              <a:t>Online Workshops</a:t>
            </a:r>
            <a:r>
              <a:rPr lang="en-US" sz="1200" b="0"/>
              <a:t>: Participate in free, online workshops or register for small business webinars</a:t>
            </a:r>
          </a:p>
          <a:p>
            <a:pPr marL="171450" indent="-171450" defTabSz="966407" eaLnBrk="1" fontAlgn="auto" hangingPunct="1">
              <a:spcBef>
                <a:spcPts val="0"/>
              </a:spcBef>
              <a:spcAft>
                <a:spcPts val="0"/>
              </a:spcAft>
              <a:buFont typeface="Arial" panose="020B0604020202020204" pitchFamily="34" charset="0"/>
              <a:buChar char="•"/>
              <a:defRPr/>
            </a:pPr>
            <a:r>
              <a:rPr lang="en-US" sz="1200" b="0">
                <a:hlinkClick r:id="rId7" tooltip="E-Newsletters"/>
              </a:rPr>
              <a:t>E-Newsletters</a:t>
            </a:r>
            <a:r>
              <a:rPr lang="en-US" sz="1200" b="0"/>
              <a:t>: Subscribe to SCORE’s e-Newsletters and get free business tips and read interviews with small business experts</a:t>
            </a:r>
          </a:p>
          <a:p>
            <a:pPr defTabSz="966407" eaLnBrk="1" fontAlgn="auto" hangingPunct="1">
              <a:spcBef>
                <a:spcPts val="0"/>
              </a:spcBef>
              <a:spcAft>
                <a:spcPts val="0"/>
              </a:spcAft>
              <a:buFont typeface="Arial" panose="020B0604020202020204" pitchFamily="34" charset="0"/>
              <a:buNone/>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More about SCORE</a:t>
            </a:r>
          </a:p>
          <a:p>
            <a:pPr marL="654653" lvl="1" indent="-171450" defTabSz="966407" eaLnBrk="1" fontAlgn="auto" hangingPunct="1">
              <a:spcBef>
                <a:spcPts val="0"/>
              </a:spcBef>
              <a:spcAft>
                <a:spcPts val="0"/>
              </a:spcAft>
              <a:buFont typeface="Arial" panose="020B0604020202020204" pitchFamily="34" charset="0"/>
              <a:buChar char="•"/>
              <a:defRPr/>
            </a:pPr>
            <a:r>
              <a:rPr lang="en-US" sz="1200"/>
              <a:t>There are hundreds of SCORE chapters in urban, suburban and rural communities</a:t>
            </a:r>
          </a:p>
          <a:p>
            <a:pPr marL="654653" lvl="1" indent="-171450" defTabSz="966407" eaLnBrk="1" fontAlgn="auto" hangingPunct="1">
              <a:spcBef>
                <a:spcPts val="0"/>
              </a:spcBef>
              <a:spcAft>
                <a:spcPts val="0"/>
              </a:spcAft>
              <a:buFont typeface="Arial" panose="020B0604020202020204" pitchFamily="34" charset="0"/>
              <a:buChar char="•"/>
              <a:defRPr/>
            </a:pPr>
            <a:r>
              <a:rPr lang="en-US" sz="1200"/>
              <a:t>SCORE was formed in 1964 and millions of Americans have used SCORE services</a:t>
            </a:r>
          </a:p>
          <a:p>
            <a:pPr marL="654653" lvl="1" indent="-171450" defTabSz="966407" eaLnBrk="1" fontAlgn="auto" hangingPunct="1">
              <a:spcBef>
                <a:spcPts val="0"/>
              </a:spcBef>
              <a:spcAft>
                <a:spcPts val="0"/>
              </a:spcAft>
              <a:buFont typeface="Arial" panose="020B0604020202020204" pitchFamily="34" charset="0"/>
              <a:buChar char="•"/>
              <a:defRPr/>
            </a:pPr>
            <a:r>
              <a:rPr lang="en-US" sz="1200"/>
              <a:t>SCORE can help if you are trying to start a business or if you need help with your existing business</a:t>
            </a:r>
          </a:p>
          <a:p>
            <a:pPr defTabSz="966407" eaLnBrk="1" fontAlgn="auto" hangingPunct="1">
              <a:spcBef>
                <a:spcPts val="0"/>
              </a:spcBef>
              <a:spcAft>
                <a:spcPts val="0"/>
              </a:spcAft>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SCORE recently signed a Memorandum of Understanding and will be working more closely with the US Department of Agriculture</a:t>
            </a:r>
          </a:p>
          <a:p>
            <a:endParaRPr lang="en-US"/>
          </a:p>
        </p:txBody>
      </p:sp>
    </p:spTree>
    <p:extLst>
      <p:ext uri="{BB962C8B-B14F-4D97-AF65-F5344CB8AC3E}">
        <p14:creationId xmlns:p14="http://schemas.microsoft.com/office/powerpoint/2010/main" val="1196210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a:p>
          <a:p>
            <a:pPr defTabSz="966407" eaLnBrk="1" fontAlgn="auto" hangingPunct="1">
              <a:spcBef>
                <a:spcPts val="0"/>
              </a:spcBef>
              <a:spcAft>
                <a:spcPts val="0"/>
              </a:spcAft>
              <a:defRPr/>
            </a:pPr>
            <a:r>
              <a:rPr lang="en-US" sz="1200" b="0">
                <a:latin typeface="+mj-lt"/>
              </a:rPr>
              <a:t>This slide highlights a successful small business (</a:t>
            </a:r>
            <a:r>
              <a:rPr lang="en-US" sz="1200" b="0" i="1">
                <a:latin typeface="+mj-lt"/>
              </a:rPr>
              <a:t>One Community Auto, LLC, Albuquerque, NM</a:t>
            </a:r>
            <a:r>
              <a:rPr lang="en-US" sz="1200" b="0">
                <a:latin typeface="+mj-lt"/>
              </a:rPr>
              <a:t>) that got its start thanks to the assistance of </a:t>
            </a:r>
            <a:r>
              <a:rPr lang="en-US" sz="1200" b="1">
                <a:latin typeface="+mj-lt"/>
              </a:rPr>
              <a:t>SCORE</a:t>
            </a:r>
          </a:p>
          <a:p>
            <a:pPr defTabSz="966407" eaLnBrk="1" fontAlgn="auto" hangingPunct="1">
              <a:spcBef>
                <a:spcPts val="0"/>
              </a:spcBef>
              <a:spcAft>
                <a:spcPts val="0"/>
              </a:spcAft>
              <a:defRPr/>
            </a:pPr>
            <a:endParaRPr lang="en-US" sz="1200">
              <a:latin typeface="+mj-lt"/>
            </a:endParaRP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Gary Peterson, a retired U.S. Air Force Major, turned his lifelong passion for automobiles into a business and post-service mission.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After retiring from the Air Force, Peterson attended Boots to Business (B2B) and dusted off a business idea he had temporarily put on the shelf. </a:t>
            </a:r>
          </a:p>
          <a:p>
            <a:pPr marL="768350" marR="0" lvl="1" indent="-285750">
              <a:lnSpc>
                <a:spcPct val="107000"/>
              </a:lnSpc>
              <a:spcBef>
                <a:spcPts val="0"/>
              </a:spcBef>
              <a:spcAft>
                <a:spcPts val="800"/>
              </a:spcAft>
              <a:buFont typeface="Arial" panose="020B0604020202020204" pitchFamily="34" charset="0"/>
              <a:buChar char="•"/>
            </a:pPr>
            <a:r>
              <a:rPr lang="en-US" b="0">
                <a:effectLst/>
                <a:latin typeface="+mj-lt"/>
                <a:ea typeface="Calibri" panose="020F0502020204030204" pitchFamily="34" charset="0"/>
                <a:cs typeface="Times New Roman" panose="02020603050405020304" pitchFamily="18" charset="0"/>
              </a:rPr>
              <a:t>The B2B course helped him put his ideas together in a comprehensive business plan. </a:t>
            </a:r>
          </a:p>
          <a:p>
            <a:pPr marL="285750" marR="0" lvl="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After B2B, he developed a relationship with his local SCORE chapter where he was recommended to attend SCORE’s Emerging Leaders course.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Through this course, Gary received executive level training, where he was provided with a network and resources to build a sustainable business of size and scale.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Through the lessons he learned from SCORE and B2B, as well as other SBA resource partners, Gary opened One Community Auto which was named one of SCORE’s 2017 Small Business Champions. </a:t>
            </a:r>
            <a:endParaRPr lang="en-US"/>
          </a:p>
        </p:txBody>
      </p:sp>
    </p:spTree>
    <p:extLst>
      <p:ext uri="{BB962C8B-B14F-4D97-AF65-F5344CB8AC3E}">
        <p14:creationId xmlns:p14="http://schemas.microsoft.com/office/powerpoint/2010/main" val="3967962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004870"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a:p>
          <a:p>
            <a:pPr marL="171450" indent="-171450" defTabSz="966407" eaLnBrk="1" fontAlgn="auto" hangingPunct="1">
              <a:spcBef>
                <a:spcPts val="0"/>
              </a:spcBef>
              <a:spcAft>
                <a:spcPts val="0"/>
              </a:spcAft>
              <a:buFont typeface="Arial" panose="020B0604020202020204" pitchFamily="34" charset="0"/>
              <a:buChar char="•"/>
              <a:defRPr/>
            </a:pPr>
            <a:r>
              <a:rPr lang="en-US" sz="1200" b="0"/>
              <a:t>Mission Statement</a:t>
            </a:r>
          </a:p>
          <a:p>
            <a:pPr marL="171450" indent="-171450" defTabSz="966407" eaLnBrk="1" fontAlgn="auto" hangingPunct="1">
              <a:spcBef>
                <a:spcPts val="0"/>
              </a:spcBef>
              <a:spcAft>
                <a:spcPts val="0"/>
              </a:spcAft>
              <a:buFont typeface="Arial" panose="020B0604020202020204" pitchFamily="34" charset="0"/>
              <a:buChar char="•"/>
              <a:defRPr/>
            </a:pPr>
            <a:r>
              <a:rPr lang="en-US" sz="1200" b="0"/>
              <a:t>Represent the collective interest of our members by promoting, informing, supporting and continuously improving the Small Business Development Center (SBDC) network, which delivers nationwide educational assistance to strengthen small/medium business management, thereby contributing to the growth of local, state and national economies.</a:t>
            </a:r>
          </a:p>
          <a:p>
            <a:pPr marL="171450" indent="-171450" defTabSz="966407" eaLnBrk="1" fontAlgn="auto" hangingPunct="1">
              <a:spcBef>
                <a:spcPts val="0"/>
              </a:spcBef>
              <a:spcAft>
                <a:spcPts val="0"/>
              </a:spcAft>
              <a:buFont typeface="Arial" panose="020B0604020202020204" pitchFamily="34" charset="0"/>
              <a:buChar char="•"/>
              <a:defRPr/>
            </a:pPr>
            <a:r>
              <a:rPr lang="en-US" sz="1200" b="0"/>
              <a:t>Vision Statement</a:t>
            </a:r>
          </a:p>
          <a:p>
            <a:pPr marL="171450" indent="-171450" defTabSz="966407" eaLnBrk="1" fontAlgn="auto" hangingPunct="1">
              <a:spcBef>
                <a:spcPts val="0"/>
              </a:spcBef>
              <a:spcAft>
                <a:spcPts val="0"/>
              </a:spcAft>
              <a:buFont typeface="Arial" panose="020B0604020202020204" pitchFamily="34" charset="0"/>
              <a:buChar char="•"/>
              <a:defRPr/>
            </a:pPr>
            <a:r>
              <a:rPr lang="en-US" sz="1200" b="0"/>
              <a:t>America’s SBDC supports a well established, respected, adequately funded and capable SBDC network, recognized by public and private sector entities as the preeminent provider of small/medium business counseling, education and information. The SBDC network provides uniform, high quality, cost effective assistance through its members, resulting in a positive long-term economic impact.</a:t>
            </a:r>
          </a:p>
          <a:p>
            <a:pPr marL="171450" indent="-171450" defTabSz="966407" eaLnBrk="1" fontAlgn="auto" hangingPunct="1">
              <a:spcBef>
                <a:spcPts val="0"/>
              </a:spcBef>
              <a:spcAft>
                <a:spcPts val="0"/>
              </a:spcAft>
              <a:buFont typeface="Arial" panose="020B0604020202020204" pitchFamily="34" charset="0"/>
              <a:buChar char="•"/>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WE VALUE AT ALL LEVELS OF THE SBDC NETWORK</a:t>
            </a:r>
          </a:p>
          <a:p>
            <a:pPr marL="654653" lvl="1" indent="-171450" defTabSz="966407" eaLnBrk="1" fontAlgn="auto" hangingPunct="1">
              <a:spcBef>
                <a:spcPts val="0"/>
              </a:spcBef>
              <a:spcAft>
                <a:spcPts val="0"/>
              </a:spcAft>
              <a:buFont typeface="Arial" panose="020B0604020202020204" pitchFamily="34" charset="0"/>
              <a:buChar char="•"/>
              <a:defRPr/>
            </a:pPr>
            <a:r>
              <a:rPr lang="en-US" sz="1200"/>
              <a:t>Customer-Driven Quality and Exemplary Service</a:t>
            </a:r>
          </a:p>
          <a:p>
            <a:pPr marL="654653" lvl="1" indent="-171450" defTabSz="966407" eaLnBrk="1" fontAlgn="auto" hangingPunct="1">
              <a:spcBef>
                <a:spcPts val="0"/>
              </a:spcBef>
              <a:spcAft>
                <a:spcPts val="0"/>
              </a:spcAft>
              <a:buFont typeface="Arial" panose="020B0604020202020204" pitchFamily="34" charset="0"/>
              <a:buChar char="•"/>
              <a:defRPr/>
            </a:pPr>
            <a:r>
              <a:rPr lang="en-US" sz="1200"/>
              <a:t>Visionary Leadership</a:t>
            </a:r>
          </a:p>
          <a:p>
            <a:pPr marL="654653" lvl="1" indent="-171450" defTabSz="966407" eaLnBrk="1" fontAlgn="auto" hangingPunct="1">
              <a:spcBef>
                <a:spcPts val="0"/>
              </a:spcBef>
              <a:spcAft>
                <a:spcPts val="0"/>
              </a:spcAft>
              <a:buFont typeface="Arial" panose="020B0604020202020204" pitchFamily="34" charset="0"/>
              <a:buChar char="•"/>
              <a:defRPr/>
            </a:pPr>
            <a:r>
              <a:rPr lang="en-US" sz="1200"/>
              <a:t>Continuous Improvement Through Shared Learning</a:t>
            </a:r>
          </a:p>
          <a:p>
            <a:pPr marL="654653" lvl="1" indent="-171450" defTabSz="966407" eaLnBrk="1" fontAlgn="auto" hangingPunct="1">
              <a:spcBef>
                <a:spcPts val="0"/>
              </a:spcBef>
              <a:spcAft>
                <a:spcPts val="0"/>
              </a:spcAft>
              <a:buFont typeface="Arial" panose="020B0604020202020204" pitchFamily="34" charset="0"/>
              <a:buChar char="•"/>
              <a:defRPr/>
            </a:pPr>
            <a:r>
              <a:rPr lang="en-US" sz="1200"/>
              <a:t>Member Participation and Development</a:t>
            </a:r>
          </a:p>
          <a:p>
            <a:pPr marL="654653" lvl="1" indent="-171450" defTabSz="966407" eaLnBrk="1" fontAlgn="auto" hangingPunct="1">
              <a:spcBef>
                <a:spcPts val="0"/>
              </a:spcBef>
              <a:spcAft>
                <a:spcPts val="0"/>
              </a:spcAft>
              <a:buFont typeface="Arial" panose="020B0604020202020204" pitchFamily="34" charset="0"/>
              <a:buChar char="•"/>
              <a:defRPr/>
            </a:pPr>
            <a:r>
              <a:rPr lang="en-US" sz="1200"/>
              <a:t>Timely Response</a:t>
            </a:r>
          </a:p>
          <a:p>
            <a:pPr marL="654653" lvl="1" indent="-171450" defTabSz="966407" eaLnBrk="1" fontAlgn="auto" hangingPunct="1">
              <a:spcBef>
                <a:spcPts val="0"/>
              </a:spcBef>
              <a:spcAft>
                <a:spcPts val="0"/>
              </a:spcAft>
              <a:buFont typeface="Arial" panose="020B0604020202020204" pitchFamily="34" charset="0"/>
              <a:buChar char="•"/>
              <a:defRPr/>
            </a:pPr>
            <a:r>
              <a:rPr lang="en-US" sz="1200"/>
              <a:t>Measurable Performance</a:t>
            </a:r>
          </a:p>
          <a:p>
            <a:pPr marL="654653" lvl="1" indent="-171450" defTabSz="966407" eaLnBrk="1" fontAlgn="auto" hangingPunct="1">
              <a:spcBef>
                <a:spcPts val="0"/>
              </a:spcBef>
              <a:spcAft>
                <a:spcPts val="0"/>
              </a:spcAft>
              <a:buFont typeface="Arial" panose="020B0604020202020204" pitchFamily="34" charset="0"/>
              <a:buChar char="•"/>
              <a:defRPr/>
            </a:pPr>
            <a:r>
              <a:rPr lang="en-US" sz="1200"/>
              <a:t>Fact-Driven Management</a:t>
            </a:r>
          </a:p>
          <a:p>
            <a:pPr marL="654653" lvl="1" indent="-171450" defTabSz="966407" eaLnBrk="1" fontAlgn="auto" hangingPunct="1">
              <a:spcBef>
                <a:spcPts val="0"/>
              </a:spcBef>
              <a:spcAft>
                <a:spcPts val="0"/>
              </a:spcAft>
              <a:buFont typeface="Arial" panose="020B0604020202020204" pitchFamily="34" charset="0"/>
              <a:buChar char="•"/>
              <a:defRPr/>
            </a:pPr>
            <a:r>
              <a:rPr lang="en-US" sz="1200"/>
              <a:t>Partnerships that Work</a:t>
            </a:r>
          </a:p>
          <a:p>
            <a:pPr marL="654653" lvl="1" indent="-171450" defTabSz="966407" eaLnBrk="1" fontAlgn="auto" hangingPunct="1">
              <a:spcBef>
                <a:spcPts val="0"/>
              </a:spcBef>
              <a:spcAft>
                <a:spcPts val="0"/>
              </a:spcAft>
              <a:buFont typeface="Arial" panose="020B0604020202020204" pitchFamily="34" charset="0"/>
              <a:buChar char="•"/>
              <a:defRPr/>
            </a:pPr>
            <a:r>
              <a:rPr lang="en-US" sz="1200"/>
              <a:t>Results Orientation</a:t>
            </a:r>
          </a:p>
          <a:p>
            <a:pPr marL="654653" lvl="1" indent="-171450" defTabSz="966407" eaLnBrk="1" fontAlgn="auto" hangingPunct="1">
              <a:spcBef>
                <a:spcPts val="0"/>
              </a:spcBef>
              <a:spcAft>
                <a:spcPts val="0"/>
              </a:spcAft>
              <a:buFont typeface="Arial" panose="020B0604020202020204" pitchFamily="34" charset="0"/>
              <a:buChar char="•"/>
              <a:defRPr/>
            </a:pPr>
            <a:r>
              <a:rPr lang="en-US" sz="1200"/>
              <a:t>Open, Honest Communication</a:t>
            </a:r>
          </a:p>
          <a:p>
            <a:pPr marL="654653" lvl="1" indent="-171450" defTabSz="966407" eaLnBrk="1" fontAlgn="auto" hangingPunct="1">
              <a:spcBef>
                <a:spcPts val="0"/>
              </a:spcBef>
              <a:spcAft>
                <a:spcPts val="0"/>
              </a:spcAft>
              <a:buFont typeface="Arial" panose="020B0604020202020204" pitchFamily="34" charset="0"/>
              <a:buChar char="•"/>
              <a:defRPr/>
            </a:pPr>
            <a:r>
              <a:rPr lang="en-US" sz="1200"/>
              <a:t>Diversity, Integrity, Professionalism</a:t>
            </a:r>
          </a:p>
          <a:p>
            <a:pPr marL="654653" lvl="1" indent="-171450" defTabSz="966407" eaLnBrk="1" fontAlgn="auto" hangingPunct="1">
              <a:spcBef>
                <a:spcPts val="0"/>
              </a:spcBef>
              <a:spcAft>
                <a:spcPts val="0"/>
              </a:spcAft>
              <a:buFont typeface="Arial" panose="020B0604020202020204" pitchFamily="34" charset="0"/>
              <a:buChar char="•"/>
              <a:defRPr/>
            </a:pPr>
            <a:r>
              <a:rPr lang="en-US" sz="1200"/>
              <a:t>Celebration of Excellence</a:t>
            </a:r>
          </a:p>
        </p:txBody>
      </p:sp>
    </p:spTree>
    <p:extLst>
      <p:ext uri="{BB962C8B-B14F-4D97-AF65-F5344CB8AC3E}">
        <p14:creationId xmlns:p14="http://schemas.microsoft.com/office/powerpoint/2010/main" val="1384349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a:p>
          <a:p>
            <a:pPr defTabSz="966407" eaLnBrk="1" fontAlgn="auto" hangingPunct="1">
              <a:spcBef>
                <a:spcPts val="0"/>
              </a:spcBef>
              <a:spcAft>
                <a:spcPts val="0"/>
              </a:spcAft>
              <a:defRPr/>
            </a:pPr>
            <a:r>
              <a:rPr lang="en-US" sz="1200" b="0">
                <a:latin typeface="+mj-lt"/>
              </a:rPr>
              <a:t>This slide highlights a successful small business (</a:t>
            </a:r>
            <a:r>
              <a:rPr lang="en-US" sz="1200" b="0" i="1">
                <a:latin typeface="+mj-lt"/>
              </a:rPr>
              <a:t>The Sassy Biscuit, Co, Billings, MT</a:t>
            </a:r>
            <a:r>
              <a:rPr lang="en-US" sz="1200" b="0">
                <a:latin typeface="+mj-lt"/>
              </a:rPr>
              <a:t>) that got its start thanks to the assistance of </a:t>
            </a:r>
            <a:r>
              <a:rPr lang="en-US" sz="1200" b="1">
                <a:latin typeface="+mj-lt"/>
              </a:rPr>
              <a:t>The Small Business Development Center</a:t>
            </a:r>
          </a:p>
          <a:p>
            <a:pPr defTabSz="966407" eaLnBrk="1" fontAlgn="auto" hangingPunct="1">
              <a:spcBef>
                <a:spcPts val="0"/>
              </a:spcBef>
              <a:spcAft>
                <a:spcPts val="0"/>
              </a:spcAft>
              <a:defRPr/>
            </a:pPr>
            <a:endParaRPr lang="en-US" sz="1200">
              <a:latin typeface="+mj-lt"/>
            </a:endParaRPr>
          </a:p>
          <a:p>
            <a:pPr marL="285750" indent="-285750">
              <a:lnSpc>
                <a:spcPct val="107000"/>
              </a:lnSpc>
              <a:spcAft>
                <a:spcPts val="800"/>
              </a:spcAft>
              <a:buFont typeface="Arial" panose="020B0604020202020204" pitchFamily="34" charset="0"/>
              <a:buChar char="•"/>
            </a:pP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Hall-Johnson is a military spouse who used her culinary experience and skills to turn her </a:t>
            </a:r>
            <a:r>
              <a:rPr lang="en-US" sz="1200" b="0" err="1">
                <a:effectLst/>
                <a:latin typeface="+mj-lt"/>
                <a:ea typeface="Calibri" panose="020F0502020204030204" pitchFamily="34" charset="0"/>
                <a:cs typeface="Calibri Light"/>
              </a:rPr>
              <a:t>bruncherie</a:t>
            </a:r>
            <a:r>
              <a:rPr lang="en-US" sz="1200" b="0">
                <a:effectLst/>
                <a:latin typeface="+mj-lt"/>
                <a:ea typeface="Calibri" panose="020F0502020204030204" pitchFamily="34" charset="0"/>
                <a:cs typeface="Calibri Light"/>
              </a:rPr>
              <a:t> idea into a fully baked business.</a:t>
            </a:r>
            <a:r>
              <a:rPr lang="en-US" sz="1200">
                <a:latin typeface="+mj-lt"/>
                <a:ea typeface="Calibri" panose="020F0502020204030204" pitchFamily="34" charset="0"/>
                <a:cs typeface="Calibri Light"/>
              </a:rPr>
              <a:t> </a:t>
            </a:r>
          </a:p>
          <a:p>
            <a:pPr marL="285750" marR="0" indent="-285750">
              <a:lnSpc>
                <a:spcPct val="107000"/>
              </a:lnSpc>
              <a:spcBef>
                <a:spcPts val="0"/>
              </a:spcBef>
              <a:spcAft>
                <a:spcPts val="800"/>
              </a:spcAft>
              <a:buFont typeface="Arial" panose="020B0604020202020204" pitchFamily="34" charset="0"/>
              <a:buChar char="•"/>
            </a:pPr>
            <a:r>
              <a:rPr lang="en-US" sz="1200" b="0">
                <a:effectLst/>
                <a:latin typeface="+mj-lt"/>
                <a:ea typeface="Calibri" panose="020F0502020204030204" pitchFamily="34" charset="0"/>
                <a:cs typeface="Times New Roman" panose="02020603050405020304" pitchFamily="18" charset="0"/>
              </a:rPr>
              <a:t>After her husband was stationed in Billings, MT as a member of the U.S. Marine Corps, she was on the hunt for new employment opportunities in the area. </a:t>
            </a:r>
          </a:p>
          <a:p>
            <a:pPr marL="285750" indent="-285750">
              <a:lnSpc>
                <a:spcPct val="107000"/>
              </a:lnSpc>
              <a:spcAft>
                <a:spcPts val="800"/>
              </a:spcAft>
              <a:buFont typeface="Arial" panose="020B0604020202020204" pitchFamily="34" charset="0"/>
              <a:buChar char="•"/>
            </a:pPr>
            <a:r>
              <a:rPr lang="en-US" sz="1200" b="0">
                <a:effectLst/>
                <a:latin typeface="+mj-lt"/>
                <a:ea typeface="Calibri" panose="020F0502020204030204" pitchFamily="34" charset="0"/>
                <a:cs typeface="Calibri Light"/>
              </a:rPr>
              <a:t>Options were limited and </a:t>
            </a: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knew she had a great idea and the passion to start her own business, but she wasn’t sure how to execute her plan.</a:t>
            </a:r>
            <a:r>
              <a:rPr lang="en-US" sz="1200">
                <a:latin typeface="+mj-lt"/>
                <a:ea typeface="Calibri" panose="020F0502020204030204" pitchFamily="34" charset="0"/>
                <a:cs typeface="Calibri Light"/>
              </a:rPr>
              <a:t> </a:t>
            </a:r>
            <a:endParaRPr lang="en-US" sz="1200" b="0">
              <a:effectLst/>
              <a:latin typeface="+mj-lt"/>
              <a:ea typeface="Calibri" panose="020F0502020204030204" pitchFamily="34" charset="0"/>
              <a:cs typeface="Calibri Light"/>
            </a:endParaRPr>
          </a:p>
          <a:p>
            <a:pPr marL="285750" indent="-285750">
              <a:lnSpc>
                <a:spcPct val="107000"/>
              </a:lnSpc>
              <a:spcAft>
                <a:spcPts val="800"/>
              </a:spcAft>
              <a:buFont typeface="Arial" panose="020B0604020202020204" pitchFamily="34" charset="0"/>
              <a:buChar char="•"/>
            </a:pPr>
            <a:r>
              <a:rPr lang="en-US" sz="1200" b="0">
                <a:effectLst/>
                <a:latin typeface="+mj-lt"/>
                <a:ea typeface="Calibri" panose="020F0502020204030204" pitchFamily="34" charset="0"/>
                <a:cs typeface="Calibri Light"/>
              </a:rPr>
              <a:t>She turned to her local Small Business Development Center (SBDC) at Big Sky Economic Development. The SBDC gave </a:t>
            </a: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counseling assistance, helped her register for Boots to Business Reboot, and worked with her on financial projects to help her put together a loan package.</a:t>
            </a:r>
            <a:r>
              <a:rPr lang="en-US" sz="1200">
                <a:latin typeface="+mj-lt"/>
                <a:ea typeface="Calibri" panose="020F0502020204030204" pitchFamily="34" charset="0"/>
                <a:cs typeface="Calibri Light"/>
              </a:rPr>
              <a:t> </a:t>
            </a:r>
            <a:endParaRPr lang="en-US" sz="1200" b="0">
              <a:effectLst/>
              <a:latin typeface="+mj-lt"/>
              <a:ea typeface="Calibri" panose="020F0502020204030204" pitchFamily="34" charset="0"/>
              <a:cs typeface="Calibri Light"/>
            </a:endParaRPr>
          </a:p>
          <a:p>
            <a:pPr marL="285750" indent="-285750">
              <a:lnSpc>
                <a:spcPct val="107000"/>
              </a:lnSpc>
              <a:spcAft>
                <a:spcPts val="800"/>
              </a:spcAft>
              <a:buFont typeface="Arial" panose="020B0604020202020204" pitchFamily="34" charset="0"/>
              <a:buChar char="•"/>
            </a:pP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applied for and received SBA 7(a) financing for $290,000.</a:t>
            </a:r>
            <a:r>
              <a:rPr lang="en-US" sz="1200">
                <a:latin typeface="+mj-lt"/>
                <a:ea typeface="Calibri" panose="020F0502020204030204" pitchFamily="34" charset="0"/>
                <a:cs typeface="Calibri Light"/>
              </a:rPr>
              <a:t> </a:t>
            </a:r>
            <a:endParaRPr lang="en-US" sz="1200" b="0">
              <a:effectLst/>
              <a:latin typeface="+mj-lt"/>
              <a:ea typeface="Calibri" panose="020F0502020204030204" pitchFamily="34" charset="0"/>
              <a:cs typeface="Calibri Light"/>
            </a:endParaRPr>
          </a:p>
          <a:p>
            <a:pPr marL="285750" indent="-285750">
              <a:lnSpc>
                <a:spcPct val="107000"/>
              </a:lnSpc>
              <a:spcAft>
                <a:spcPts val="800"/>
              </a:spcAft>
              <a:buFont typeface="Arial" panose="020B0604020202020204" pitchFamily="34" charset="0"/>
              <a:buChar char="•"/>
            </a:pPr>
            <a:r>
              <a:rPr lang="en-US" sz="1200" b="0">
                <a:effectLst/>
                <a:latin typeface="+mj-lt"/>
                <a:ea typeface="Calibri" panose="020F0502020204030204" pitchFamily="34" charset="0"/>
                <a:cs typeface="Calibri Light"/>
              </a:rPr>
              <a:t>The SBDC also helped </a:t>
            </a: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apply for a local grant package that helped her receive over $13,000 in grant funding to help with leasehold improvements to her restaurant.</a:t>
            </a:r>
            <a:r>
              <a:rPr lang="en-US" sz="1200">
                <a:latin typeface="+mj-lt"/>
                <a:ea typeface="Calibri" panose="020F0502020204030204" pitchFamily="34" charset="0"/>
                <a:cs typeface="Calibri Light"/>
              </a:rPr>
              <a:t> </a:t>
            </a:r>
            <a:endParaRPr lang="en-US" sz="1200" b="0">
              <a:effectLst/>
              <a:latin typeface="+mj-lt"/>
              <a:ea typeface="Calibri" panose="020F0502020204030204" pitchFamily="34" charset="0"/>
              <a:cs typeface="Calibri Light"/>
            </a:endParaRPr>
          </a:p>
          <a:p>
            <a:pPr marL="285750" indent="-285750">
              <a:lnSpc>
                <a:spcPct val="107000"/>
              </a:lnSpc>
              <a:spcAft>
                <a:spcPts val="800"/>
              </a:spcAft>
              <a:buFont typeface="Arial" panose="020B0604020202020204" pitchFamily="34" charset="0"/>
              <a:buChar char="•"/>
            </a:pPr>
            <a:r>
              <a:rPr lang="en-US" sz="1200" b="0">
                <a:effectLst/>
                <a:latin typeface="+mj-lt"/>
                <a:ea typeface="Calibri" panose="020F0502020204030204" pitchFamily="34" charset="0"/>
                <a:cs typeface="Calibri Light"/>
              </a:rPr>
              <a:t>Thanks to support from the SBDC, </a:t>
            </a:r>
            <a:r>
              <a:rPr lang="en-US" sz="1200" b="0" err="1">
                <a:effectLst/>
                <a:latin typeface="+mj-lt"/>
                <a:ea typeface="Calibri" panose="020F0502020204030204" pitchFamily="34" charset="0"/>
                <a:cs typeface="Calibri Light"/>
              </a:rPr>
              <a:t>Jilan</a:t>
            </a:r>
            <a:r>
              <a:rPr lang="en-US" sz="1200" b="0">
                <a:effectLst/>
                <a:latin typeface="+mj-lt"/>
                <a:ea typeface="Calibri" panose="020F0502020204030204" pitchFamily="34" charset="0"/>
                <a:cs typeface="Calibri Light"/>
              </a:rPr>
              <a:t> successfully opened the Sassy Biscuit Co. in Billings, MT and recently opened a second location in Dover, NH.</a:t>
            </a:r>
            <a:r>
              <a:rPr lang="en-US" sz="1200">
                <a:latin typeface="+mj-lt"/>
                <a:ea typeface="Calibri" panose="020F0502020204030204" pitchFamily="34" charset="0"/>
                <a:cs typeface="Calibri Light"/>
              </a:rPr>
              <a:t> </a:t>
            </a:r>
            <a:endParaRPr lang="en-US" sz="1200" b="0">
              <a:effectLst/>
              <a:latin typeface="+mj-lt"/>
              <a:ea typeface="Calibri" panose="020F0502020204030204" pitchFamily="34" charset="0"/>
              <a:cs typeface="Calibri Light"/>
            </a:endParaRPr>
          </a:p>
          <a:p>
            <a:pPr defTabSz="966407" eaLnBrk="1" fontAlgn="auto" hangingPunct="1">
              <a:spcBef>
                <a:spcPts val="0"/>
              </a:spcBef>
              <a:spcAft>
                <a:spcPts val="0"/>
              </a:spcAft>
              <a:defRPr/>
            </a:pPr>
            <a:endParaRPr lang="en-US" sz="1200"/>
          </a:p>
          <a:p>
            <a:endParaRPr lang="en-US"/>
          </a:p>
        </p:txBody>
      </p:sp>
    </p:spTree>
    <p:extLst>
      <p:ext uri="{BB962C8B-B14F-4D97-AF65-F5344CB8AC3E}">
        <p14:creationId xmlns:p14="http://schemas.microsoft.com/office/powerpoint/2010/main" val="3420003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p>
          <a:p>
            <a:pPr marL="171450" indent="-171450" defTabSz="966407" eaLnBrk="1" fontAlgn="auto" hangingPunct="1">
              <a:spcBef>
                <a:spcPts val="0"/>
              </a:spcBef>
              <a:spcAft>
                <a:spcPts val="0"/>
              </a:spcAft>
              <a:buFont typeface="Arial" panose="020B0604020202020204" pitchFamily="34" charset="0"/>
              <a:buChar char="•"/>
              <a:defRPr/>
            </a:pPr>
            <a:r>
              <a:rPr lang="en-US" sz="1200" b="0"/>
              <a:t>Women's Business Centers (WBCs) represent a national network of nearly 100 educational centers throughout the United States and its territories, which are designed to assist women in starting and growing small businesses. WBCs seek to "level the playing field" for women entrepreneurs, who still face unique obstacles in the business world.</a:t>
            </a:r>
          </a:p>
          <a:p>
            <a:pPr marL="171450" indent="-171450" defTabSz="966407" eaLnBrk="1" fontAlgn="auto" hangingPunct="1">
              <a:spcBef>
                <a:spcPts val="0"/>
              </a:spcBef>
              <a:spcAft>
                <a:spcPts val="0"/>
              </a:spcAft>
              <a:buFont typeface="Arial" panose="020B0604020202020204" pitchFamily="34" charset="0"/>
              <a:buChar char="•"/>
              <a:defRPr/>
            </a:pPr>
            <a:r>
              <a:rPr lang="en-US" sz="1200" b="0"/>
              <a:t>SBA’s Office of Women’s Business Ownership (OWBO) oversees the WBC network, which provides entrepreneurs (especially women who are economically or socially disadvantaged) comprehensive training and counseling on a variety of topics in several languages.</a:t>
            </a:r>
          </a:p>
          <a:p>
            <a:pPr defTabSz="966407" eaLnBrk="1" fontAlgn="auto" hangingPunct="1">
              <a:spcBef>
                <a:spcPts val="0"/>
              </a:spcBef>
              <a:spcAft>
                <a:spcPts val="0"/>
              </a:spcAft>
              <a:defRPr/>
            </a:pPr>
            <a:endParaRPr lang="en-US" sz="1200" b="0"/>
          </a:p>
          <a:p>
            <a:pPr marL="171450" indent="-171450" defTabSz="966407" eaLnBrk="1" fontAlgn="auto" hangingPunct="1">
              <a:spcBef>
                <a:spcPts val="0"/>
              </a:spcBef>
              <a:spcAft>
                <a:spcPts val="0"/>
              </a:spcAft>
              <a:buFont typeface="Arial" panose="020B0604020202020204" pitchFamily="34" charset="0"/>
              <a:buChar char="•"/>
              <a:defRPr/>
            </a:pPr>
            <a:r>
              <a:rPr lang="en-US" sz="1200" b="0"/>
              <a:t>Office of Women's Business Ownership - Mission Statement</a:t>
            </a:r>
          </a:p>
          <a:p>
            <a:pPr marL="171450" indent="-171450" defTabSz="966407" eaLnBrk="1" fontAlgn="auto" hangingPunct="1">
              <a:spcBef>
                <a:spcPts val="0"/>
              </a:spcBef>
              <a:spcAft>
                <a:spcPts val="0"/>
              </a:spcAft>
              <a:buFont typeface="Arial" panose="020B0604020202020204" pitchFamily="34" charset="0"/>
              <a:buChar char="•"/>
              <a:defRPr/>
            </a:pPr>
            <a:r>
              <a:rPr lang="en-US" sz="1200" b="0"/>
              <a:t>The Office of Women’s Business Ownership’s mission is to enable and empower women entrepreneurs through advocacy, outreach, education and support. Through the management and technical assistance provided by the WBCs, entrepreneurs, especially women who are economically or socially disadvantaged, are offered comprehensive training and counseling on a vast array of topics in many languages to help them start and grow their own businesses.</a:t>
            </a:r>
          </a:p>
          <a:p>
            <a:endParaRPr lang="en-US"/>
          </a:p>
        </p:txBody>
      </p:sp>
    </p:spTree>
    <p:extLst>
      <p:ext uri="{BB962C8B-B14F-4D97-AF65-F5344CB8AC3E}">
        <p14:creationId xmlns:p14="http://schemas.microsoft.com/office/powerpoint/2010/main" val="3594476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p>
          <a:p>
            <a:pPr defTabSz="966407" eaLnBrk="1" fontAlgn="auto" hangingPunct="1">
              <a:spcBef>
                <a:spcPts val="0"/>
              </a:spcBef>
              <a:spcAft>
                <a:spcPts val="0"/>
              </a:spcAft>
              <a:defRPr/>
            </a:pPr>
            <a:r>
              <a:rPr lang="en-US" sz="1200" b="0"/>
              <a:t>This slide highlights a successful small business (</a:t>
            </a:r>
            <a:r>
              <a:rPr lang="en-US" sz="1200" b="0" i="1"/>
              <a:t>The Bed N’ Biscuit Ranch, Bismarck, ND</a:t>
            </a:r>
            <a:r>
              <a:rPr lang="en-US" sz="1200" b="0"/>
              <a:t>) that got its start thanks to the assistance of </a:t>
            </a:r>
            <a:r>
              <a:rPr lang="en-US" sz="1200" b="1"/>
              <a:t>a Women’s Business Center</a:t>
            </a:r>
          </a:p>
          <a:p>
            <a:pPr defTabSz="966407" eaLnBrk="1" fontAlgn="auto" hangingPunct="1">
              <a:spcBef>
                <a:spcPts val="0"/>
              </a:spcBef>
              <a:spcAft>
                <a:spcPts val="0"/>
              </a:spcAft>
              <a:defRPr/>
            </a:pPr>
            <a:endParaRPr lang="en-US" sz="1200"/>
          </a:p>
          <a:p>
            <a:pPr>
              <a:lnSpc>
                <a:spcPct val="107000"/>
              </a:lnSpc>
              <a:spcAft>
                <a:spcPts val="800"/>
              </a:spcAft>
            </a:pPr>
            <a:r>
              <a:rPr lang="en-US" sz="1200" b="0">
                <a:effectLst/>
                <a:latin typeface="Source Sans Pro"/>
                <a:ea typeface="Calibri" panose="020F0502020204030204" pitchFamily="34" charset="0"/>
                <a:cs typeface="Times New Roman" panose="02020603050405020304" pitchFamily="18" charset="0"/>
              </a:rPr>
              <a:t>Lila </a:t>
            </a:r>
            <a:r>
              <a:rPr lang="en-US" sz="1200" b="0" err="1">
                <a:effectLst/>
                <a:latin typeface="Source Sans Pro"/>
                <a:ea typeface="Calibri" panose="020F0502020204030204" pitchFamily="34" charset="0"/>
                <a:cs typeface="Times New Roman" panose="02020603050405020304" pitchFamily="18" charset="0"/>
              </a:rPr>
              <a:t>Teunissen</a:t>
            </a:r>
            <a:r>
              <a:rPr lang="en-US" sz="1200" b="0">
                <a:effectLst/>
                <a:latin typeface="Source Sans Pro"/>
                <a:ea typeface="Calibri" panose="020F0502020204030204" pitchFamily="34" charset="0"/>
                <a:cs typeface="Times New Roman" panose="02020603050405020304" pitchFamily="18" charset="0"/>
              </a:rPr>
              <a:t>, formerly employed by the North Dakota National Guard, and Michelle Thomsen, a current North Dakota National Guard, came to their dream of business ownership from different directions, but they found common ground in one major area – a love of dogs.</a:t>
            </a:r>
            <a:r>
              <a:rPr lang="en-US">
                <a:latin typeface="Source Sans Pro"/>
                <a:ea typeface="Calibri" panose="020F0502020204030204" pitchFamily="34" charset="0"/>
                <a:cs typeface="Times New Roman" panose="02020603050405020304" pitchFamily="18" charset="0"/>
              </a:rPr>
              <a:t> </a:t>
            </a:r>
            <a:endParaRPr lang="en-US" sz="1200" b="0">
              <a:effectLst/>
              <a:latin typeface="Source Sans Pro" panose="020B0503030403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0">
                <a:effectLst/>
                <a:latin typeface="Source Sans Pro" panose="020B0503030403020204" pitchFamily="34" charset="0"/>
                <a:ea typeface="Calibri" panose="020F0502020204030204" pitchFamily="34" charset="0"/>
                <a:cs typeface="Times New Roman" panose="02020603050405020304" pitchFamily="18" charset="0"/>
              </a:rPr>
              <a:t>They saw a need for quality dog boarding services for fellow service members while they deployed or went to drill. </a:t>
            </a:r>
          </a:p>
          <a:p>
            <a:pPr marL="0" marR="0">
              <a:lnSpc>
                <a:spcPct val="107000"/>
              </a:lnSpc>
              <a:spcBef>
                <a:spcPts val="0"/>
              </a:spcBef>
              <a:spcAft>
                <a:spcPts val="800"/>
              </a:spcAft>
            </a:pPr>
            <a:r>
              <a:rPr lang="en-US" sz="1200" b="0">
                <a:effectLst/>
                <a:latin typeface="Source Sans Pro" panose="020B0503030403020204" pitchFamily="34" charset="0"/>
                <a:ea typeface="Calibri" panose="020F0502020204030204" pitchFamily="34" charset="0"/>
                <a:cs typeface="Times New Roman" panose="02020603050405020304" pitchFamily="18" charset="0"/>
              </a:rPr>
              <a:t>To help start their business, Lila and Michelle turned to their local Women’s Business Center (WBC) for counseling and help achieving their Women-Owned Business Designation. </a:t>
            </a:r>
          </a:p>
          <a:p>
            <a:pPr marL="0" marR="0">
              <a:lnSpc>
                <a:spcPct val="107000"/>
              </a:lnSpc>
              <a:spcBef>
                <a:spcPts val="0"/>
              </a:spcBef>
              <a:spcAft>
                <a:spcPts val="800"/>
              </a:spcAft>
            </a:pPr>
            <a:r>
              <a:rPr lang="en-US" sz="1200" b="0">
                <a:effectLst/>
                <a:latin typeface="Source Sans Pro" panose="020B0503030403020204" pitchFamily="34" charset="0"/>
                <a:ea typeface="Calibri" panose="020F0502020204030204" pitchFamily="34" charset="0"/>
                <a:cs typeface="Times New Roman" panose="02020603050405020304" pitchFamily="18" charset="0"/>
              </a:rPr>
              <a:t>The WBC also referred the duo to their local Veterans Business Outreach Center for additional assistance. </a:t>
            </a:r>
          </a:p>
          <a:p>
            <a:pPr marL="0" marR="0">
              <a:lnSpc>
                <a:spcPct val="107000"/>
              </a:lnSpc>
              <a:spcBef>
                <a:spcPts val="0"/>
              </a:spcBef>
              <a:spcAft>
                <a:spcPts val="800"/>
              </a:spcAft>
            </a:pPr>
            <a:r>
              <a:rPr lang="en-US" sz="1200" b="0">
                <a:effectLst/>
                <a:latin typeface="Source Sans Pro" panose="020B0503030403020204" pitchFamily="34" charset="0"/>
                <a:ea typeface="Calibri" panose="020F0502020204030204" pitchFamily="34" charset="0"/>
                <a:cs typeface="Times New Roman" panose="02020603050405020304" pitchFamily="18" charset="0"/>
              </a:rPr>
              <a:t>From there, Bed N’ Biscuit Ranch was born. </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Tree>
    <p:extLst>
      <p:ext uri="{BB962C8B-B14F-4D97-AF65-F5344CB8AC3E}">
        <p14:creationId xmlns:p14="http://schemas.microsoft.com/office/powerpoint/2010/main" val="1592898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a:t>Instructor Notes:</a:t>
            </a:r>
            <a:endParaRPr lang="en-US" sz="1400"/>
          </a:p>
          <a:p>
            <a:endParaRPr lang="en-US">
              <a:cs typeface="Calibri"/>
            </a:endParaRPr>
          </a:p>
          <a:p>
            <a:r>
              <a:rPr lang="en-US">
                <a:cs typeface="Calibri"/>
              </a:rPr>
              <a:t>Straight forward slide.  No need to get into too much detail.  You’ll have details on the items listed in the upcoming section.</a:t>
            </a:r>
          </a:p>
        </p:txBody>
      </p:sp>
    </p:spTree>
    <p:extLst>
      <p:ext uri="{BB962C8B-B14F-4D97-AF65-F5344CB8AC3E}">
        <p14:creationId xmlns:p14="http://schemas.microsoft.com/office/powerpoint/2010/main" val="331741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65200" rtl="0" eaLnBrk="0" fontAlgn="base" latinLnBrk="0" hangingPunct="0">
              <a:lnSpc>
                <a:spcPct val="100000"/>
              </a:lnSpc>
              <a:spcBef>
                <a:spcPct val="30000"/>
              </a:spcBef>
              <a:spcAft>
                <a:spcPct val="0"/>
              </a:spcAft>
              <a:buClrTx/>
              <a:buSzTx/>
              <a:buFontTx/>
              <a:buNone/>
              <a:tabLst/>
              <a:defRPr/>
            </a:pPr>
            <a:r>
              <a:rPr lang="en-US" sz="1400" b="1"/>
              <a:t>Instructor Notes:</a:t>
            </a:r>
            <a:endParaRPr lang="en-US" sz="1400" b="1">
              <a:cs typeface="Calibri"/>
            </a:endParaRPr>
          </a:p>
          <a:p>
            <a:pPr>
              <a:spcBef>
                <a:spcPct val="30000"/>
              </a:spcBef>
              <a:spcAft>
                <a:spcPct val="0"/>
              </a:spcAft>
            </a:pPr>
            <a:endParaRPr lang="en-US" sz="1400" b="1">
              <a:latin typeface="Calibri" panose="020F0502020204030204"/>
              <a:cs typeface="Calibri" panose="020F0502020204030204"/>
            </a:endParaRPr>
          </a:p>
          <a:p>
            <a:pPr marL="171450" indent="-171450">
              <a:buFont typeface="Arial" panose="020B0604020202020204" pitchFamily="34" charset="0"/>
              <a:buChar char="•"/>
            </a:pPr>
            <a:r>
              <a:rPr lang="en-US" sz="1200" b="1">
                <a:latin typeface="+mj-lt"/>
              </a:rPr>
              <a:t>APEX Accelerators (formerly Procurement Technical Assistance Centers PTACs])</a:t>
            </a:r>
            <a:r>
              <a:rPr lang="en-US" sz="1200" b="0">
                <a:latin typeface="+mj-lt"/>
              </a:rPr>
              <a:t> provide local, in-person counseling and training services to small businesses that want to sell products and services to federal, state, and/or local governments (aka do Government Contracting.  Note: They do not help companies START their businesses.  They only work with existing businesses that are ready to do business with the government. </a:t>
            </a:r>
          </a:p>
          <a:p>
            <a:pPr marL="171450" indent="-171450">
              <a:buFont typeface="Arial" panose="020B0604020202020204" pitchFamily="34" charset="0"/>
              <a:buChar char="•"/>
            </a:pPr>
            <a:r>
              <a:rPr lang="en-US" sz="1200" b="1">
                <a:latin typeface="+mj-lt"/>
              </a:rPr>
              <a:t>SBA Export Assistance </a:t>
            </a:r>
            <a:r>
              <a:rPr lang="en-US" sz="1200" b="0">
                <a:latin typeface="+mj-lt"/>
              </a:rPr>
              <a:t>- Nearly 96 percent of consumers live outside the U.S., and two-thirds of the world’s purchasing power is in foreign countries </a:t>
            </a:r>
          </a:p>
          <a:p>
            <a:pPr marL="654050" lvl="1" indent="-171450">
              <a:buFont typeface="Arial" panose="020B0604020202020204" pitchFamily="34" charset="0"/>
              <a:buChar char="•"/>
            </a:pPr>
            <a:r>
              <a:rPr lang="en-US" sz="1200" b="0">
                <a:latin typeface="+mj-lt"/>
              </a:rPr>
              <a:t>U.S. Export Assistance Centers (USEACs) and SBDCs are staffed with professionals that can assist businesses that want to sell their products and services overseas.  </a:t>
            </a:r>
          </a:p>
          <a:p>
            <a:pPr marL="654050" lvl="1" indent="-171450">
              <a:buFont typeface="Arial" panose="020B0604020202020204" pitchFamily="34" charset="0"/>
              <a:buChar char="•"/>
            </a:pPr>
            <a:r>
              <a:rPr lang="en-US" sz="1200" b="0">
                <a:latin typeface="+mj-lt"/>
              </a:rPr>
              <a:t>Services include help finding international buyers, export finance programs and more.</a:t>
            </a:r>
          </a:p>
          <a:p>
            <a:pPr marL="171450" indent="-171450">
              <a:buFont typeface="Arial" panose="020B0604020202020204" pitchFamily="34" charset="0"/>
              <a:buChar char="•"/>
            </a:pPr>
            <a:r>
              <a:rPr lang="en-US" sz="1200" b="1">
                <a:latin typeface="+mj-lt"/>
              </a:rPr>
              <a:t>SBA Surety Bond Program </a:t>
            </a:r>
            <a:r>
              <a:rPr lang="en-US" sz="1200" b="0">
                <a:latin typeface="+mj-lt"/>
              </a:rPr>
              <a:t>- Surety bonds help small businesses win contracts by providing the customer with a guarantee that the work will be completed. Many public and private contracts require surety bonds, which are offered by surety companies. The SBA guarantees surety bonds for certain surety companies, which allows the companies to offer surety bonds to small businesses that might not meet the criteria for other sureties.</a:t>
            </a:r>
          </a:p>
          <a:p>
            <a:pPr marL="171450" indent="-171450">
              <a:buFont typeface="Arial" panose="020B0604020202020204" pitchFamily="34" charset="0"/>
              <a:buChar char="•"/>
            </a:pPr>
            <a:r>
              <a:rPr lang="en-US" sz="1200" b="1">
                <a:latin typeface="+mj-lt"/>
              </a:rPr>
              <a:t>Small Business Innovation Research (SBIR) Small Business Technology Transfer (STTR) Programs </a:t>
            </a:r>
            <a:r>
              <a:rPr lang="en-US" sz="1200" b="0">
                <a:latin typeface="+mj-lt"/>
              </a:rPr>
              <a:t>- The SBIR and  STTR programs  encourage domestic small businesses to engage in Federal Research/Research and Development (R/R&amp;D) with the potential for commercialization. The mission of the SBIR/STTR programs is to support scientific excellence and technological innovation through the investment of Federal research funds in critical American priorities to build a strong national economy.</a:t>
            </a:r>
          </a:p>
          <a:p>
            <a:pPr marL="171450" indent="-171450">
              <a:buFont typeface="Arial" panose="020B0604020202020204" pitchFamily="34" charset="0"/>
              <a:buChar char="•"/>
            </a:pPr>
            <a:r>
              <a:rPr lang="en-US" sz="1200" b="1">
                <a:latin typeface="+mj-lt"/>
              </a:rPr>
              <a:t>SBA Office of Advocacy - </a:t>
            </a:r>
            <a:r>
              <a:rPr lang="en-US" sz="1200" b="0">
                <a:latin typeface="+mj-lt"/>
              </a:rPr>
              <a:t>The Office of Advocacy is the independent voice for small business within the federal government, by participating in the regulatory reform process and conducting outreach with small businesses to ensure SBA provides effective representation of small business viewpoints.  The office also publishes a host of research studies on small business finance, demographics, income and other topics.  Note: These advocacy reports might be of particular use to the presenters and/or the attendees </a:t>
            </a:r>
          </a:p>
          <a:p>
            <a:pPr marL="654050" lvl="1" indent="-171450">
              <a:buFont typeface="Arial" panose="020B0604020202020204" pitchFamily="34" charset="0"/>
              <a:buChar char="•"/>
            </a:pPr>
            <a:r>
              <a:rPr lang="en-US" sz="1200" b="1" i="0">
                <a:solidFill>
                  <a:srgbClr val="2D2D2D"/>
                </a:solidFill>
                <a:effectLst/>
                <a:latin typeface="+mj-lt"/>
              </a:rPr>
              <a:t>Veteran-Owned Businesses And Their Owners: Data From The U.S. Census Bureau’s Survey Of Business Owners</a:t>
            </a:r>
          </a:p>
          <a:p>
            <a:pPr marL="654050" lvl="1" indent="-171450">
              <a:buFont typeface="Arial" panose="020B0604020202020204" pitchFamily="34" charset="0"/>
              <a:buChar char="•"/>
            </a:pPr>
            <a:r>
              <a:rPr lang="en-US" sz="1200" b="1" i="0">
                <a:solidFill>
                  <a:srgbClr val="2D2D2D"/>
                </a:solidFill>
                <a:effectLst/>
                <a:latin typeface="+mj-lt"/>
              </a:rPr>
              <a:t>Small Business Facts: Spotlight On Veteran-Owned Employer Businesses</a:t>
            </a:r>
          </a:p>
          <a:p>
            <a:endParaRPr lang="en-US"/>
          </a:p>
        </p:txBody>
      </p:sp>
    </p:spTree>
    <p:extLst>
      <p:ext uri="{BB962C8B-B14F-4D97-AF65-F5344CB8AC3E}">
        <p14:creationId xmlns:p14="http://schemas.microsoft.com/office/powerpoint/2010/main" val="884610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p>
          <a:p>
            <a:pPr marL="177846" indent="-177846" defTabSz="966407" eaLnBrk="1" fontAlgn="auto" hangingPunct="1">
              <a:spcBef>
                <a:spcPts val="0"/>
              </a:spcBef>
              <a:spcAft>
                <a:spcPts val="0"/>
              </a:spcAft>
              <a:buFont typeface="Arial" panose="020B0604020202020204" pitchFamily="34" charset="0"/>
              <a:buChar char="•"/>
              <a:defRPr/>
            </a:pPr>
            <a:r>
              <a:rPr lang="en-US" sz="1200" b="0"/>
              <a:t>USDA supports Veterans looking to build or grow a small business in rural America. </a:t>
            </a:r>
          </a:p>
          <a:p>
            <a:pPr marL="177846" indent="-177846" defTabSz="966407" eaLnBrk="1" fontAlgn="auto" hangingPunct="1">
              <a:spcBef>
                <a:spcPts val="0"/>
              </a:spcBef>
              <a:spcAft>
                <a:spcPts val="0"/>
              </a:spcAft>
              <a:buFont typeface="Arial" panose="020B0604020202020204" pitchFamily="34" charset="0"/>
              <a:buChar char="•"/>
              <a:defRPr/>
            </a:pPr>
            <a:r>
              <a:rPr lang="en-US" sz="1200" b="0"/>
              <a:t>USDA does this through Loans and Loan Guarantees; Process and Marketing of Products; and Energy Efficiency Improvements.</a:t>
            </a:r>
          </a:p>
          <a:p>
            <a:pPr marL="177846" indent="-177846" defTabSz="966407" eaLnBrk="1" fontAlgn="auto" hangingPunct="1">
              <a:spcBef>
                <a:spcPts val="0"/>
              </a:spcBef>
              <a:spcAft>
                <a:spcPts val="0"/>
              </a:spcAft>
              <a:buFont typeface="Arial" panose="020B0604020202020204" pitchFamily="34" charset="0"/>
              <a:buChar char="•"/>
              <a:defRPr/>
            </a:pPr>
            <a:r>
              <a:rPr lang="en-US" sz="1200" b="0"/>
              <a:t>The next few slides will go into a little more detail on these three areas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p>
          <a:p>
            <a:pPr marL="171450" indent="-171450" defTabSz="966407" eaLnBrk="1" fontAlgn="auto" hangingPunct="1">
              <a:spcBef>
                <a:spcPts val="0"/>
              </a:spcBef>
              <a:spcAft>
                <a:spcPts val="0"/>
              </a:spcAft>
              <a:buFont typeface="Arial" panose="020B0604020202020204" pitchFamily="34" charset="0"/>
              <a:buChar char="•"/>
              <a:defRPr/>
            </a:pPr>
            <a:r>
              <a:rPr lang="en-US" sz="1200"/>
              <a:t>Loans and Loan Guarantees</a:t>
            </a:r>
          </a:p>
          <a:p>
            <a:pPr defTabSz="966407" eaLnBrk="1" fontAlgn="auto" hangingPunct="1">
              <a:spcBef>
                <a:spcPts val="0"/>
              </a:spcBef>
              <a:spcAft>
                <a:spcPts val="0"/>
              </a:spcAft>
              <a:defRPr/>
            </a:pPr>
            <a:endParaRPr lang="en-US" sz="1200"/>
          </a:p>
          <a:p>
            <a:pPr marL="661049" lvl="1" indent="-177846" defTabSz="966407" eaLnBrk="1" fontAlgn="auto" hangingPunct="1">
              <a:spcBef>
                <a:spcPts val="0"/>
              </a:spcBef>
              <a:spcAft>
                <a:spcPts val="0"/>
              </a:spcAft>
              <a:buFont typeface="Arial" panose="020B0604020202020204" pitchFamily="34" charset="0"/>
              <a:buChar char="•"/>
              <a:defRPr/>
            </a:pPr>
            <a:r>
              <a:rPr lang="en-US"/>
              <a:t>USDA can help bolster the availability of private credit by guaranteeing loans for rural businesses. </a:t>
            </a:r>
          </a:p>
          <a:p>
            <a:pPr marL="661049" lvl="1" indent="-177846" defTabSz="966407" eaLnBrk="1" fontAlgn="auto" hangingPunct="1">
              <a:spcBef>
                <a:spcPts val="0"/>
              </a:spcBef>
              <a:spcAft>
                <a:spcPts val="0"/>
              </a:spcAft>
              <a:buFont typeface="Arial" panose="020B0604020202020204" pitchFamily="34" charset="0"/>
              <a:buChar char="•"/>
              <a:defRPr/>
            </a:pPr>
            <a:r>
              <a:rPr lang="en-US"/>
              <a:t>In some cases, the borrower’s headquarters may be based within a larger city as long as the project is located in an eligible rural area</a:t>
            </a:r>
          </a:p>
          <a:p>
            <a:pPr marL="661049" lvl="1" indent="-177846" defTabSz="966407" eaLnBrk="1" fontAlgn="auto" hangingPunct="1">
              <a:spcBef>
                <a:spcPts val="0"/>
              </a:spcBef>
              <a:spcAft>
                <a:spcPts val="0"/>
              </a:spcAft>
              <a:buFont typeface="Arial" panose="020B0604020202020204" pitchFamily="34" charset="0"/>
              <a:buChar char="•"/>
              <a:defRPr/>
            </a:pPr>
            <a:r>
              <a:rPr lang="en-US"/>
              <a:t>Funds can be used for business acquisition or conversion; the purchase and development of land, buildings, or facilities; and the purchase of equipment, machinery, or supplies; among other things.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defTabSz="966407" eaLnBrk="1" fontAlgn="auto" hangingPunct="1">
              <a:spcBef>
                <a:spcPts val="0"/>
              </a:spcBef>
              <a:spcAft>
                <a:spcPts val="0"/>
              </a:spcAft>
              <a:defRPr/>
            </a:pPr>
            <a:r>
              <a:rPr lang="en-US" sz="1400" b="1"/>
              <a:t>Instructor Notes:</a:t>
            </a:r>
            <a:endParaRPr lang="en-US" sz="1400" b="1">
              <a:cs typeface="Calibri"/>
            </a:endParaRPr>
          </a:p>
          <a:p>
            <a:pPr defTabSz="966407" eaLnBrk="1" fontAlgn="auto" hangingPunct="1">
              <a:spcBef>
                <a:spcPts val="0"/>
              </a:spcBef>
              <a:spcAft>
                <a:spcPts val="0"/>
              </a:spcAft>
              <a:defRPr/>
            </a:pPr>
            <a:endParaRPr lang="en-US" sz="1200"/>
          </a:p>
          <a:p>
            <a:pPr marL="171450" indent="-171450" defTabSz="966407" eaLnBrk="1" fontAlgn="auto" hangingPunct="1">
              <a:spcBef>
                <a:spcPts val="0"/>
              </a:spcBef>
              <a:spcAft>
                <a:spcPts val="0"/>
              </a:spcAft>
              <a:buFont typeface="Arial" panose="020B0604020202020204" pitchFamily="34" charset="0"/>
              <a:buChar char="•"/>
              <a:defRPr/>
            </a:pPr>
            <a:r>
              <a:rPr lang="en-US" sz="1200"/>
              <a:t>Loans and Loan Guarantees</a:t>
            </a:r>
          </a:p>
          <a:p>
            <a:pPr defTabSz="966407" eaLnBrk="1" fontAlgn="auto" hangingPunct="1">
              <a:spcBef>
                <a:spcPts val="0"/>
              </a:spcBef>
              <a:spcAft>
                <a:spcPts val="0"/>
              </a:spcAft>
              <a:defRPr/>
            </a:pPr>
            <a:endParaRPr lang="en-US" sz="1200"/>
          </a:p>
          <a:p>
            <a:pPr marL="661049" lvl="1" indent="-177846" defTabSz="966407" eaLnBrk="1" fontAlgn="auto" hangingPunct="1">
              <a:spcBef>
                <a:spcPts val="0"/>
              </a:spcBef>
              <a:spcAft>
                <a:spcPts val="0"/>
              </a:spcAft>
              <a:buFont typeface="Arial" panose="020B0604020202020204" pitchFamily="34" charset="0"/>
              <a:buChar char="•"/>
              <a:defRPr/>
            </a:pPr>
            <a:r>
              <a:rPr lang="en-US"/>
              <a:t>USDA can help bolster the availability of private credit by guaranteeing loans for rural businesses. </a:t>
            </a:r>
          </a:p>
          <a:p>
            <a:pPr marL="661049" lvl="1" indent="-177846" defTabSz="966407" eaLnBrk="1" fontAlgn="auto" hangingPunct="1">
              <a:spcBef>
                <a:spcPts val="0"/>
              </a:spcBef>
              <a:spcAft>
                <a:spcPts val="0"/>
              </a:spcAft>
              <a:buFont typeface="Arial" panose="020B0604020202020204" pitchFamily="34" charset="0"/>
              <a:buChar char="•"/>
              <a:defRPr/>
            </a:pPr>
            <a:r>
              <a:rPr lang="en-US"/>
              <a:t>In some cases, the borrower’s headquarters may be based within a larger city as long as the project is located in an eligible rural area</a:t>
            </a:r>
          </a:p>
          <a:p>
            <a:pPr marL="661049" lvl="1" indent="-177846" defTabSz="966407" eaLnBrk="1" fontAlgn="auto" hangingPunct="1">
              <a:spcBef>
                <a:spcPts val="0"/>
              </a:spcBef>
              <a:spcAft>
                <a:spcPts val="0"/>
              </a:spcAft>
              <a:buFont typeface="Arial" panose="020B0604020202020204" pitchFamily="34" charset="0"/>
              <a:buChar char="•"/>
              <a:defRPr/>
            </a:pPr>
            <a:r>
              <a:rPr lang="en-US"/>
              <a:t>Funds can be used for business acquisition or conversion; the purchase and development of land, buildings, or facilities; and the purchase of equipment, machinery, or supplies; among other things. </a:t>
            </a:r>
          </a:p>
        </p:txBody>
      </p:sp>
    </p:spTree>
    <p:extLst>
      <p:ext uri="{BB962C8B-B14F-4D97-AF65-F5344CB8AC3E}">
        <p14:creationId xmlns:p14="http://schemas.microsoft.com/office/powerpoint/2010/main" val="4270079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endParaRPr lang="en-US" altLang="en-US" sz="1400" b="1">
              <a:cs typeface="Calibri"/>
            </a:endParaRPr>
          </a:p>
          <a:p>
            <a:pPr eaLnBrk="1" hangingPunct="1">
              <a:spcBef>
                <a:spcPct val="0"/>
              </a:spcBef>
            </a:pPr>
            <a:endParaRPr lang="en-US" altLang="en-US" sz="1200"/>
          </a:p>
          <a:p>
            <a:pPr eaLnBrk="1" hangingPunct="1">
              <a:spcBef>
                <a:spcPct val="0"/>
              </a:spcBef>
              <a:buFontTx/>
              <a:buChar char="•"/>
            </a:pPr>
            <a:r>
              <a:rPr lang="en-US" altLang="en-US" sz="1200" b="0">
                <a:solidFill>
                  <a:srgbClr val="000000"/>
                </a:solidFill>
                <a:latin typeface="+mj-lt"/>
              </a:rPr>
              <a:t>Boots to Business and Reboot grads have the option of further study through the</a:t>
            </a:r>
            <a:r>
              <a:rPr lang="en-US" altLang="en-US" sz="1200" b="1">
                <a:solidFill>
                  <a:srgbClr val="000000"/>
                </a:solidFill>
                <a:latin typeface="+mj-lt"/>
              </a:rPr>
              <a:t> free </a:t>
            </a:r>
            <a:r>
              <a:rPr lang="en-US" altLang="en-US" sz="1200" b="0">
                <a:solidFill>
                  <a:srgbClr val="000000"/>
                </a:solidFill>
                <a:latin typeface="+mj-lt"/>
              </a:rPr>
              <a:t>Boots to Business Revenue Readiness Business Model to Business Plan course taught by our grant partners at Mississippi State University. </a:t>
            </a:r>
          </a:p>
          <a:p>
            <a:pPr marL="171450" indent="-171450">
              <a:buFont typeface="Arial" panose="020B0604020202020204" pitchFamily="34" charset="0"/>
              <a:buChar char="•"/>
            </a:pPr>
            <a:r>
              <a:rPr lang="en-US"/>
              <a:t>This course is a Lean (compressed) approach to developing your Business Plan. </a:t>
            </a:r>
          </a:p>
          <a:p>
            <a:pPr marL="171450" indent="-171450">
              <a:buFont typeface="Arial" panose="020B0604020202020204" pitchFamily="34" charset="0"/>
              <a:buChar char="•"/>
            </a:pPr>
            <a:r>
              <a:rPr lang="en-US"/>
              <a:t>Over a six week period of interactive virtual classroom instruction, you will develop and refine your Business Model into a Business Plan. </a:t>
            </a:r>
          </a:p>
          <a:p>
            <a:pPr marL="171450" indent="-171450">
              <a:buFont typeface="Arial" panose="020B0604020202020204" pitchFamily="34" charset="0"/>
              <a:buChar char="•"/>
            </a:pPr>
            <a:r>
              <a:rPr lang="en-US"/>
              <a:t>All of this will be accomplished with constant feedback from an instructor team of successful small business owners.</a:t>
            </a:r>
          </a:p>
          <a:p>
            <a:pPr marL="171450" indent="-171450">
              <a:buFont typeface="Arial" panose="020B0604020202020204" pitchFamily="34" charset="0"/>
              <a:buChar char="•"/>
            </a:pPr>
            <a:r>
              <a:rPr lang="en-US"/>
              <a:t>As with the Boots to Business (B2B) and Boots to Business Reboot introduction courses, there is no cost to the eligible veteran or spouse for enrolling in this course.</a:t>
            </a:r>
          </a:p>
          <a:p>
            <a:pPr marL="171450" indent="-171450">
              <a:buFont typeface="Arial" panose="020B0604020202020204" pitchFamily="34" charset="0"/>
              <a:buChar char="•"/>
            </a:pPr>
            <a:r>
              <a:rPr lang="en-US"/>
              <a:t>For a list of upcoming courses or to register, visit https://sba.my.site.com/s/rr-msu-course-information  </a:t>
            </a:r>
          </a:p>
        </p:txBody>
      </p:sp>
    </p:spTree>
    <p:extLst>
      <p:ext uri="{BB962C8B-B14F-4D97-AF65-F5344CB8AC3E}">
        <p14:creationId xmlns:p14="http://schemas.microsoft.com/office/powerpoint/2010/main" val="1038971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a:t>Instructor Notes:</a:t>
            </a:r>
            <a:endParaRPr lang="en-US" altLang="en-US" sz="1400" b="1">
              <a:cs typeface="Calibri"/>
            </a:endParaRPr>
          </a:p>
          <a:p>
            <a:pPr eaLnBrk="1" hangingPunct="1">
              <a:spcBef>
                <a:spcPct val="0"/>
              </a:spcBef>
              <a:defRPr/>
            </a:pPr>
            <a:endParaRPr lang="en-US" altLang="en-US"/>
          </a:p>
          <a:p>
            <a:pPr marL="171450" indent="-171450" eaLnBrk="1" hangingPunct="1">
              <a:spcBef>
                <a:spcPct val="0"/>
              </a:spcBef>
              <a:buFont typeface="Arial" panose="020B0604020202020204" pitchFamily="34" charset="0"/>
              <a:buChar char="•"/>
              <a:defRPr/>
            </a:pPr>
            <a:r>
              <a:rPr lang="en-US" altLang="en-US" sz="1200" b="0"/>
              <a:t>It’s important that those attendees that are still interested in business ownership continue to prepare for the day that they get started.  </a:t>
            </a:r>
          </a:p>
          <a:p>
            <a:pPr marL="654050" lvl="1" indent="-171450" eaLnBrk="1" hangingPunct="1">
              <a:spcBef>
                <a:spcPct val="0"/>
              </a:spcBef>
              <a:buFont typeface="Arial" panose="020B0604020202020204" pitchFamily="34" charset="0"/>
              <a:buChar char="•"/>
              <a:defRPr/>
            </a:pPr>
            <a:r>
              <a:rPr lang="en-US" altLang="en-US" sz="1200"/>
              <a:t>Why not “now?”</a:t>
            </a:r>
          </a:p>
          <a:p>
            <a:pPr marL="171450" indent="-171450" eaLnBrk="1" hangingPunct="1">
              <a:spcBef>
                <a:spcPct val="0"/>
              </a:spcBef>
              <a:buFont typeface="Arial" panose="020B0604020202020204" pitchFamily="34" charset="0"/>
              <a:buChar char="•"/>
              <a:defRPr/>
            </a:pPr>
            <a:r>
              <a:rPr lang="en-US" altLang="en-US" sz="1200" b="0"/>
              <a:t>Some of the options available include:</a:t>
            </a:r>
          </a:p>
          <a:p>
            <a:pPr marL="654050" lvl="1" indent="-171450" eaLnBrk="1" hangingPunct="1">
              <a:spcBef>
                <a:spcPct val="0"/>
              </a:spcBef>
              <a:buFont typeface="Arial" panose="020B0604020202020204" pitchFamily="34" charset="0"/>
              <a:buChar char="•"/>
              <a:defRPr/>
            </a:pPr>
            <a:r>
              <a:rPr lang="en-US" altLang="en-US" sz="1200"/>
              <a:t>Connecting with an SBA resource partner(s) (there are more than 10,000 locations throughout the U.S. and territories)</a:t>
            </a:r>
          </a:p>
          <a:p>
            <a:pPr marL="654050" lvl="1" indent="-171450" eaLnBrk="1" hangingPunct="1">
              <a:spcBef>
                <a:spcPct val="0"/>
              </a:spcBef>
              <a:buFont typeface="Arial" panose="020B0604020202020204" pitchFamily="34" charset="0"/>
              <a:buChar char="•"/>
              <a:defRPr/>
            </a:pPr>
            <a:r>
              <a:rPr lang="en-US" altLang="en-US" sz="1200"/>
              <a:t>Work on their business plan</a:t>
            </a:r>
          </a:p>
          <a:p>
            <a:pPr marL="1136650" lvl="2" indent="-171450" eaLnBrk="1" hangingPunct="1">
              <a:spcBef>
                <a:spcPct val="0"/>
              </a:spcBef>
              <a:buFont typeface="Arial" panose="020B0604020202020204" pitchFamily="34" charset="0"/>
              <a:buChar char="•"/>
              <a:defRPr/>
            </a:pPr>
            <a:r>
              <a:rPr lang="en-US" altLang="en-US" sz="1200"/>
              <a:t>There are numerous SBA resource partners that can help, as well as the B2B follow-on courses or BP courses in the SBA learning center</a:t>
            </a:r>
          </a:p>
          <a:p>
            <a:pPr marL="654050" lvl="1" indent="-171450" eaLnBrk="1" hangingPunct="1">
              <a:spcBef>
                <a:spcPct val="0"/>
              </a:spcBef>
              <a:buFont typeface="Arial" panose="020B0604020202020204" pitchFamily="34" charset="0"/>
              <a:buChar char="•"/>
              <a:defRPr/>
            </a:pPr>
            <a:r>
              <a:rPr lang="en-US" altLang="en-US" sz="1200"/>
              <a:t>Continue to research and study up on the types of business that they are interested in opening</a:t>
            </a:r>
          </a:p>
          <a:p>
            <a:pPr marL="654050" lvl="1" indent="-171450" eaLnBrk="1" hangingPunct="1">
              <a:spcBef>
                <a:spcPct val="0"/>
              </a:spcBef>
              <a:buFont typeface="Arial" panose="020B0604020202020204" pitchFamily="34" charset="0"/>
              <a:buChar char="•"/>
              <a:defRPr/>
            </a:pPr>
            <a:r>
              <a:rPr lang="en-US" altLang="en-US" sz="1200"/>
              <a:t>Continue learning by signing up for B2B follow-on courses, or courses through the SBA Learning Center </a:t>
            </a:r>
          </a:p>
          <a:p>
            <a:endParaRPr lang="en-US"/>
          </a:p>
        </p:txBody>
      </p:sp>
    </p:spTree>
    <p:extLst>
      <p:ext uri="{BB962C8B-B14F-4D97-AF65-F5344CB8AC3E}">
        <p14:creationId xmlns:p14="http://schemas.microsoft.com/office/powerpoint/2010/main" val="2098216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defRPr/>
            </a:pPr>
            <a:r>
              <a:rPr lang="en-US" altLang="en-US" sz="1400" b="1"/>
              <a:t>Q&amp;A  / Discussion Starters:</a:t>
            </a:r>
            <a:endParaRPr lang="en-US" altLang="en-US" sz="1400" b="1">
              <a:cs typeface="Calibri"/>
            </a:endParaRPr>
          </a:p>
          <a:p>
            <a:pPr eaLnBrk="1" hangingPunct="1">
              <a:spcBef>
                <a:spcPct val="0"/>
              </a:spcBef>
              <a:defRPr/>
            </a:pPr>
            <a:endParaRPr lang="en-US" altLang="en-US" b="0"/>
          </a:p>
          <a:p>
            <a:pPr>
              <a:spcBef>
                <a:spcPct val="0"/>
              </a:spcBef>
              <a:defRPr/>
            </a:pPr>
            <a:r>
              <a:rPr lang="en-US" altLang="en-US" sz="1100" b="0"/>
              <a:t>The below questions (or other questions you may choose to use instead) are provided to either ask in question form or use to start a dialogue, and are meant to help check for understanding and emphasize key information from the module they have just completed.</a:t>
            </a:r>
            <a:r>
              <a:rPr lang="en-US" altLang="en-US" sz="1100"/>
              <a:t>  </a:t>
            </a:r>
            <a:endParaRPr lang="en-US" altLang="en-US" sz="1100" b="0">
              <a:cs typeface="Calibri"/>
            </a:endParaRPr>
          </a:p>
          <a:p>
            <a:pPr eaLnBrk="1" hangingPunct="1">
              <a:spcBef>
                <a:spcPct val="0"/>
              </a:spcBef>
              <a:defRPr/>
            </a:pPr>
            <a:r>
              <a:rPr lang="en-US" altLang="en-US" sz="1100" b="1"/>
              <a:t>Question 1</a:t>
            </a:r>
            <a:r>
              <a:rPr lang="en-US" altLang="en-US" sz="1100"/>
              <a:t>: </a:t>
            </a:r>
            <a:r>
              <a:rPr lang="en-US" altLang="en-US" sz="1100" b="0" i="1"/>
              <a:t>Name the SBA resource partners available to help you start or grow your business?</a:t>
            </a:r>
            <a:endParaRPr lang="en-US" altLang="en-US" sz="1100" b="0" i="1">
              <a:cs typeface="Calibri"/>
            </a:endParaRPr>
          </a:p>
          <a:p>
            <a:pPr>
              <a:spcBef>
                <a:spcPct val="0"/>
              </a:spcBef>
              <a:defRPr/>
            </a:pPr>
            <a:r>
              <a:rPr lang="en-US" altLang="en-US" sz="1100"/>
              <a:t>Answer 1: </a:t>
            </a:r>
            <a:endParaRPr lang="en-US" altLang="en-US" sz="1100">
              <a:cs typeface="Calibri"/>
            </a:endParaRPr>
          </a:p>
          <a:p>
            <a:pPr>
              <a:spcBef>
                <a:spcPct val="0"/>
              </a:spcBef>
              <a:defRPr/>
            </a:pPr>
            <a:r>
              <a:rPr lang="en-US" altLang="en-US" sz="1100" b="0"/>
              <a:t>(The four discussed are below.</a:t>
            </a:r>
            <a:r>
              <a:rPr lang="en-US" altLang="en-US" sz="1100"/>
              <a:t> </a:t>
            </a:r>
            <a:r>
              <a:rPr lang="en-US" altLang="en-US" sz="1100" b="0"/>
              <a:t> The class may not be able to remember them all….)</a:t>
            </a:r>
            <a:r>
              <a:rPr lang="en-US" altLang="en-US" sz="1100"/>
              <a:t> </a:t>
            </a:r>
            <a:endParaRPr lang="en-US" altLang="en-US" sz="1100" b="0">
              <a:cs typeface="Calibri"/>
            </a:endParaRPr>
          </a:p>
          <a:p>
            <a:pPr marL="285750" indent="-285750">
              <a:spcBef>
                <a:spcPct val="0"/>
              </a:spcBef>
              <a:buFont typeface="Arial" panose="020B0604020202020204" pitchFamily="34" charset="0"/>
              <a:buChar char="•"/>
              <a:defRPr/>
            </a:pPr>
            <a:r>
              <a:rPr lang="en-US" altLang="en-US" sz="1100" b="0"/>
              <a:t>Veteran Business Outreach Centers (VBOCs)</a:t>
            </a:r>
            <a:r>
              <a:rPr lang="en-US" altLang="en-US" sz="1100"/>
              <a:t> </a:t>
            </a:r>
            <a:endParaRPr lang="en-US" altLang="en-US" sz="1100" b="0">
              <a:cs typeface="Calibri"/>
            </a:endParaRPr>
          </a:p>
          <a:p>
            <a:pPr marL="285750" indent="-285750" eaLnBrk="1" hangingPunct="1">
              <a:spcBef>
                <a:spcPct val="0"/>
              </a:spcBef>
              <a:buFont typeface="Arial" panose="020B0604020202020204" pitchFamily="34" charset="0"/>
              <a:buChar char="•"/>
              <a:defRPr/>
            </a:pPr>
            <a:r>
              <a:rPr lang="en-US" altLang="en-US" sz="1100" b="0"/>
              <a:t>Small Business Development Centers (SBDCs)</a:t>
            </a:r>
            <a:endParaRPr lang="en-US" altLang="en-US" sz="1100">
              <a:cs typeface="Calibri"/>
            </a:endParaRPr>
          </a:p>
          <a:p>
            <a:pPr marL="285750" indent="-285750" eaLnBrk="1" hangingPunct="1">
              <a:spcBef>
                <a:spcPct val="0"/>
              </a:spcBef>
              <a:buFont typeface="Arial" panose="020B0604020202020204" pitchFamily="34" charset="0"/>
              <a:buChar char="•"/>
              <a:defRPr/>
            </a:pPr>
            <a:r>
              <a:rPr lang="en-US" altLang="en-US" sz="1100" b="0"/>
              <a:t>Women’s Business Centers (WBCs)</a:t>
            </a:r>
            <a:endParaRPr lang="en-US" altLang="en-US" sz="1100" b="0">
              <a:cs typeface="Calibri"/>
            </a:endParaRPr>
          </a:p>
          <a:p>
            <a:pPr marL="285750" indent="-285750">
              <a:spcBef>
                <a:spcPct val="0"/>
              </a:spcBef>
              <a:buFont typeface="Arial" panose="020B0604020202020204" pitchFamily="34" charset="0"/>
              <a:buChar char="•"/>
              <a:defRPr/>
            </a:pPr>
            <a:r>
              <a:rPr lang="en-US" altLang="en-US" sz="1100" b="0"/>
              <a:t>SCORE</a:t>
            </a:r>
            <a:r>
              <a:rPr lang="en-US" altLang="en-US" sz="1100"/>
              <a:t> </a:t>
            </a:r>
          </a:p>
          <a:p>
            <a:pPr eaLnBrk="1" hangingPunct="1">
              <a:spcBef>
                <a:spcPct val="0"/>
              </a:spcBef>
              <a:defRPr/>
            </a:pPr>
            <a:r>
              <a:rPr lang="en-US" altLang="en-US" sz="1100" b="1"/>
              <a:t>Question 2</a:t>
            </a:r>
            <a:r>
              <a:rPr lang="en-US" altLang="en-US" sz="1100"/>
              <a:t>: </a:t>
            </a:r>
            <a:r>
              <a:rPr lang="en-US" altLang="en-US" sz="1100" i="1"/>
              <a:t>What agencies did we talk about in this module that have government-backed loan programs to help small businesses start, grow or expand?</a:t>
            </a:r>
            <a:endParaRPr lang="en-US" altLang="en-US" sz="1100" b="0" i="1">
              <a:cs typeface="Calibri"/>
            </a:endParaRPr>
          </a:p>
          <a:p>
            <a:pPr>
              <a:spcBef>
                <a:spcPct val="0"/>
              </a:spcBef>
              <a:defRPr/>
            </a:pPr>
            <a:r>
              <a:rPr lang="en-US" altLang="en-US" sz="1100" b="1"/>
              <a:t>Answer 2:  </a:t>
            </a:r>
            <a:r>
              <a:rPr lang="en-US" altLang="en-US" sz="1100"/>
              <a:t>The US Small Business Administration (SBA) and US Department of Agriculture (USDA)</a:t>
            </a:r>
            <a:endParaRPr lang="en-US" altLang="en-US" sz="1100">
              <a:cs typeface="Calibri"/>
            </a:endParaRPr>
          </a:p>
          <a:p>
            <a:pPr eaLnBrk="1" hangingPunct="1">
              <a:spcBef>
                <a:spcPct val="0"/>
              </a:spcBef>
              <a:defRPr/>
            </a:pPr>
            <a:endParaRPr lang="en-US" altLang="en-US" sz="1100" b="0"/>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1100" b="1">
                <a:latin typeface="+mn-lt"/>
              </a:rPr>
              <a:t>Answer any questions the group may have or if there are topics they’d like to discuss.  Afterward have them finish filling out their Business Model Canvas.  For this section, have them continue to add to the </a:t>
            </a:r>
            <a:r>
              <a:rPr lang="en-US" altLang="en-US" sz="1100" b="1" i="1">
                <a:latin typeface="+mn-lt"/>
              </a:rPr>
              <a:t>Key Partners and Key Resources </a:t>
            </a:r>
            <a:r>
              <a:rPr lang="en-US" altLang="en-US" sz="1100" b="1">
                <a:latin typeface="+mn-lt"/>
              </a:rPr>
              <a:t>sections of their Business Model Canvas (Page XX &amp; XX in the Printed workbook, page XX in the Virtual workbook).</a:t>
            </a:r>
            <a:r>
              <a:rPr lang="en-US" altLang="en-US" sz="1100" b="1" i="1">
                <a:latin typeface="+mn-lt"/>
              </a:rPr>
              <a:t> </a:t>
            </a:r>
            <a:endParaRPr lang="en-US" altLang="en-US" sz="1100"/>
          </a:p>
          <a:p>
            <a:endParaRPr lang="en-US"/>
          </a:p>
        </p:txBody>
      </p:sp>
    </p:spTree>
    <p:extLst>
      <p:ext uri="{BB962C8B-B14F-4D97-AF65-F5344CB8AC3E}">
        <p14:creationId xmlns:p14="http://schemas.microsoft.com/office/powerpoint/2010/main" val="17395611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BA Logo Slide">
    <p:bg>
      <p:bgPr>
        <a:solidFill>
          <a:srgbClr val="003E7F">
            <a:alpha val="0"/>
          </a:srgb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2260EA-3420-071B-02CA-D50E10AD2D72}"/>
              </a:ext>
            </a:extLst>
          </p:cNvPr>
          <p:cNvSpPr/>
          <p:nvPr userDrawn="1"/>
        </p:nvSpPr>
        <p:spPr>
          <a:xfrm>
            <a:off x="0" y="-7889"/>
            <a:ext cx="9144000" cy="6870412"/>
          </a:xfrm>
          <a:prstGeom prst="rect">
            <a:avLst/>
          </a:pr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312" y="1606513"/>
            <a:ext cx="3353375" cy="3644973"/>
          </a:xfrm>
          <a:prstGeom prst="rect">
            <a:avLst/>
          </a:prstGeom>
        </p:spPr>
      </p:pic>
      <p:grpSp>
        <p:nvGrpSpPr>
          <p:cNvPr id="6" name="Group 5">
            <a:extLst>
              <a:ext uri="{FF2B5EF4-FFF2-40B4-BE49-F238E27FC236}">
                <a16:creationId xmlns:a16="http://schemas.microsoft.com/office/drawing/2014/main" id="{96E10BB7-582E-8005-5992-54E6F4A88D69}"/>
              </a:ext>
            </a:extLst>
          </p:cNvPr>
          <p:cNvGrpSpPr/>
          <p:nvPr userDrawn="1"/>
        </p:nvGrpSpPr>
        <p:grpSpPr>
          <a:xfrm>
            <a:off x="-4138" y="-3943"/>
            <a:ext cx="2056283" cy="6874356"/>
            <a:chOff x="-4138" y="-3943"/>
            <a:chExt cx="2056283" cy="6874356"/>
          </a:xfrm>
        </p:grpSpPr>
        <p:sp>
          <p:nvSpPr>
            <p:cNvPr id="5" name="Rectangle 2">
              <a:extLst>
                <a:ext uri="{FF2B5EF4-FFF2-40B4-BE49-F238E27FC236}">
                  <a16:creationId xmlns:a16="http://schemas.microsoft.com/office/drawing/2014/main" id="{DF56F6D1-59E0-AB69-137A-06517D801938}"/>
                </a:ext>
              </a:extLst>
            </p:cNvPr>
            <p:cNvSpPr/>
            <p:nvPr userDrawn="1"/>
          </p:nvSpPr>
          <p:spPr>
            <a:xfrm>
              <a:off x="128752" y="-3943"/>
              <a:ext cx="1923393" cy="6865884"/>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393" h="6865884">
                  <a:moveTo>
                    <a:pt x="0" y="0"/>
                  </a:moveTo>
                  <a:lnTo>
                    <a:pt x="1923393" y="0"/>
                  </a:lnTo>
                  <a:lnTo>
                    <a:pt x="299545" y="6865884"/>
                  </a:ln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B4B311-4D36-5BBC-A5EB-6F6F1DA8B5B8}"/>
                </a:ext>
              </a:extLst>
            </p:cNvPr>
            <p:cNvSpPr/>
            <p:nvPr userDrawn="1"/>
          </p:nvSpPr>
          <p:spPr>
            <a:xfrm>
              <a:off x="-4138" y="1"/>
              <a:ext cx="1927531" cy="6870412"/>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531" h="6870412">
                  <a:moveTo>
                    <a:pt x="4138" y="0"/>
                  </a:moveTo>
                  <a:lnTo>
                    <a:pt x="1927531" y="0"/>
                  </a:lnTo>
                  <a:lnTo>
                    <a:pt x="303683" y="6865884"/>
                  </a:lnTo>
                  <a:lnTo>
                    <a:pt x="0" y="6870412"/>
                  </a:lnTo>
                  <a:cubicBezTo>
                    <a:pt x="1379" y="4583033"/>
                    <a:pt x="2759" y="2287379"/>
                    <a:pt x="4138"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C59C5A7-C9A4-747A-1402-DF4A725A4640}"/>
              </a:ext>
            </a:extLst>
          </p:cNvPr>
          <p:cNvGrpSpPr/>
          <p:nvPr userDrawn="1"/>
        </p:nvGrpSpPr>
        <p:grpSpPr>
          <a:xfrm rot="10800000">
            <a:off x="7096184" y="-7889"/>
            <a:ext cx="2056283" cy="6874356"/>
            <a:chOff x="-4138" y="-3943"/>
            <a:chExt cx="2056283" cy="6874356"/>
          </a:xfrm>
        </p:grpSpPr>
        <p:sp>
          <p:nvSpPr>
            <p:cNvPr id="8" name="Rectangle 2">
              <a:extLst>
                <a:ext uri="{FF2B5EF4-FFF2-40B4-BE49-F238E27FC236}">
                  <a16:creationId xmlns:a16="http://schemas.microsoft.com/office/drawing/2014/main" id="{ECBAF26A-4C5C-FAD9-0527-A1FBB00CEDB3}"/>
                </a:ext>
              </a:extLst>
            </p:cNvPr>
            <p:cNvSpPr/>
            <p:nvPr userDrawn="1"/>
          </p:nvSpPr>
          <p:spPr>
            <a:xfrm>
              <a:off x="128752" y="-3943"/>
              <a:ext cx="1923393" cy="6865884"/>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393" h="6865884">
                  <a:moveTo>
                    <a:pt x="0" y="0"/>
                  </a:moveTo>
                  <a:lnTo>
                    <a:pt x="1923393" y="0"/>
                  </a:lnTo>
                  <a:lnTo>
                    <a:pt x="299545" y="6865884"/>
                  </a:ln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a:extLst>
                <a:ext uri="{FF2B5EF4-FFF2-40B4-BE49-F238E27FC236}">
                  <a16:creationId xmlns:a16="http://schemas.microsoft.com/office/drawing/2014/main" id="{CD13260E-D01F-F6B4-24A7-06E2FA4FA13B}"/>
                </a:ext>
              </a:extLst>
            </p:cNvPr>
            <p:cNvSpPr/>
            <p:nvPr userDrawn="1"/>
          </p:nvSpPr>
          <p:spPr>
            <a:xfrm>
              <a:off x="-4138" y="1"/>
              <a:ext cx="1927531" cy="6870412"/>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531" h="6870412">
                  <a:moveTo>
                    <a:pt x="4138" y="0"/>
                  </a:moveTo>
                  <a:lnTo>
                    <a:pt x="1927531" y="0"/>
                  </a:lnTo>
                  <a:lnTo>
                    <a:pt x="303683" y="6865884"/>
                  </a:lnTo>
                  <a:lnTo>
                    <a:pt x="0" y="6870412"/>
                  </a:lnTo>
                  <a:cubicBezTo>
                    <a:pt x="1379" y="4583033"/>
                    <a:pt x="2759" y="2287379"/>
                    <a:pt x="4138"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3657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Slide - Texture, SBA Only">
    <p:bg>
      <p:bgPr>
        <a:solidFill>
          <a:srgbClr val="003E7F">
            <a:alpha val="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E6546-4499-ABB1-4412-0C81E29721B5}"/>
              </a:ext>
            </a:extLst>
          </p:cNvPr>
          <p:cNvPicPr>
            <a:picLocks noChangeAspect="1"/>
          </p:cNvPicPr>
          <p:nvPr userDrawn="1"/>
        </p:nvPicPr>
        <p:blipFill>
          <a:blip r:embed="rId2"/>
          <a:srcRect/>
          <a:stretch/>
        </p:blipFill>
        <p:spPr>
          <a:xfrm>
            <a:off x="-2850" y="0"/>
            <a:ext cx="9140691" cy="6858000"/>
          </a:xfrm>
          <a:prstGeom prst="rect">
            <a:avLst/>
          </a:prstGeom>
        </p:spPr>
      </p:pic>
      <p:sp>
        <p:nvSpPr>
          <p:cNvPr id="2" name="Rectangle 1">
            <a:extLst>
              <a:ext uri="{FF2B5EF4-FFF2-40B4-BE49-F238E27FC236}">
                <a16:creationId xmlns:a16="http://schemas.microsoft.com/office/drawing/2014/main" id="{A0C6324D-0DF3-401C-806B-3D8A0E62866B}"/>
              </a:ext>
            </a:extLst>
          </p:cNvPr>
          <p:cNvSpPr/>
          <p:nvPr userDrawn="1"/>
        </p:nvSpPr>
        <p:spPr>
          <a:xfrm rot="10800000">
            <a:off x="-9002" y="-399"/>
            <a:ext cx="9152997" cy="14545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87787A3-8DB7-64A8-A69B-136FE082A6F5}"/>
              </a:ext>
            </a:extLst>
          </p:cNvPr>
          <p:cNvGrpSpPr/>
          <p:nvPr userDrawn="1"/>
        </p:nvGrpSpPr>
        <p:grpSpPr>
          <a:xfrm rot="10800000">
            <a:off x="-8998" y="5538603"/>
            <a:ext cx="9152998" cy="1319397"/>
            <a:chOff x="0" y="-868826"/>
            <a:chExt cx="9152998" cy="1319397"/>
          </a:xfrm>
        </p:grpSpPr>
        <p:sp>
          <p:nvSpPr>
            <p:cNvPr id="11" name="Rectangle 10">
              <a:extLst>
                <a:ext uri="{FF2B5EF4-FFF2-40B4-BE49-F238E27FC236}">
                  <a16:creationId xmlns:a16="http://schemas.microsoft.com/office/drawing/2014/main" id="{C533F2A0-3029-4370-8773-7CA30FEF180D}"/>
                </a:ext>
              </a:extLst>
            </p:cNvPr>
            <p:cNvSpPr/>
            <p:nvPr userDrawn="1"/>
          </p:nvSpPr>
          <p:spPr>
            <a:xfrm>
              <a:off x="1" y="-868826"/>
              <a:ext cx="9152997" cy="1153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a:t>
              </a:r>
            </a:p>
          </p:txBody>
        </p:sp>
        <p:sp>
          <p:nvSpPr>
            <p:cNvPr id="12" name="Rectangle 11">
              <a:extLst>
                <a:ext uri="{FF2B5EF4-FFF2-40B4-BE49-F238E27FC236}">
                  <a16:creationId xmlns:a16="http://schemas.microsoft.com/office/drawing/2014/main" id="{1BD833B5-B2C6-1EED-F4D9-FE439D5F6F3A}"/>
                </a:ext>
              </a:extLst>
            </p:cNvPr>
            <p:cNvSpPr/>
            <p:nvPr userDrawn="1"/>
          </p:nvSpPr>
          <p:spPr>
            <a:xfrm>
              <a:off x="0" y="206205"/>
              <a:ext cx="9152997" cy="24436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1">
            <a:extLst>
              <a:ext uri="{FF2B5EF4-FFF2-40B4-BE49-F238E27FC236}">
                <a16:creationId xmlns:a16="http://schemas.microsoft.com/office/drawing/2014/main" id="{5DFC2853-1831-F2C1-7B3B-C7EB3BC79960}"/>
              </a:ext>
            </a:extLst>
          </p:cNvPr>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F80"/>
                </a:solidFill>
              </a:defRPr>
            </a:lvl1pPr>
          </a:lstStyle>
          <a:p>
            <a:r>
              <a:rPr lang="en-US"/>
              <a:t>Click to edit master title</a:t>
            </a:r>
          </a:p>
        </p:txBody>
      </p:sp>
      <p:sp>
        <p:nvSpPr>
          <p:cNvPr id="8" name="Text Placeholder 7">
            <a:extLst>
              <a:ext uri="{FF2B5EF4-FFF2-40B4-BE49-F238E27FC236}">
                <a16:creationId xmlns:a16="http://schemas.microsoft.com/office/drawing/2014/main" id="{6699BB1E-1E6B-C1A2-335F-02BA096298E4}"/>
              </a:ext>
            </a:extLst>
          </p:cNvPr>
          <p:cNvSpPr>
            <a:spLocks noGrp="1"/>
          </p:cNvSpPr>
          <p:nvPr>
            <p:ph type="body" sz="quarter" idx="10" hasCustomPrompt="1"/>
          </p:nvPr>
        </p:nvSpPr>
        <p:spPr>
          <a:xfrm>
            <a:off x="1143000" y="3796647"/>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pic>
        <p:nvPicPr>
          <p:cNvPr id="3" name="Picture 2">
            <a:extLst>
              <a:ext uri="{FF2B5EF4-FFF2-40B4-BE49-F238E27FC236}">
                <a16:creationId xmlns:a16="http://schemas.microsoft.com/office/drawing/2014/main" id="{95B666D0-0DF0-7689-7945-AB58B30F62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338" y="495318"/>
            <a:ext cx="2409324" cy="661760"/>
          </a:xfrm>
          <a:prstGeom prst="rect">
            <a:avLst/>
          </a:prstGeom>
        </p:spPr>
      </p:pic>
    </p:spTree>
    <p:extLst>
      <p:ext uri="{BB962C8B-B14F-4D97-AF65-F5344CB8AC3E}">
        <p14:creationId xmlns:p14="http://schemas.microsoft.com/office/powerpoint/2010/main" val="291296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 Texture, SBA Boots">
    <p:bg>
      <p:bgPr>
        <a:solidFill>
          <a:srgbClr val="003E7F">
            <a:alpha val="0"/>
          </a:srgbClr>
        </a:soli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8DB86856-CCF1-2756-F3AA-8F03FB107F7F}"/>
              </a:ext>
            </a:extLst>
          </p:cNvPr>
          <p:cNvPicPr>
            <a:picLocks noChangeAspect="1"/>
          </p:cNvPicPr>
          <p:nvPr userDrawn="1"/>
        </p:nvPicPr>
        <p:blipFill>
          <a:blip r:embed="rId2"/>
          <a:srcRect/>
          <a:stretch/>
        </p:blipFill>
        <p:spPr>
          <a:xfrm>
            <a:off x="1654" y="0"/>
            <a:ext cx="9141406" cy="6858535"/>
          </a:xfrm>
          <a:prstGeom prst="rect">
            <a:avLst/>
          </a:prstGeom>
        </p:spPr>
      </p:pic>
      <p:sp>
        <p:nvSpPr>
          <p:cNvPr id="2" name="Title 1"/>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E7F"/>
                </a:solidFill>
              </a:defRPr>
            </a:lvl1pPr>
          </a:lstStyle>
          <a:p>
            <a:r>
              <a:rPr lang="en-US"/>
              <a:t>Click to edit master title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566" y="664519"/>
            <a:ext cx="2407901" cy="661370"/>
          </a:xfrm>
          <a:prstGeom prst="rect">
            <a:avLst/>
          </a:prstGeom>
        </p:spPr>
      </p:pic>
      <p:pic>
        <p:nvPicPr>
          <p:cNvPr id="14" name="Picture 13" descr="A picture containing text, font, graphics, graphic design&#10;&#10;Description automatically generated">
            <a:extLst>
              <a:ext uri="{FF2B5EF4-FFF2-40B4-BE49-F238E27FC236}">
                <a16:creationId xmlns:a16="http://schemas.microsoft.com/office/drawing/2014/main" id="{1030001F-1C6C-2F14-5BA7-9350BEADA992}"/>
              </a:ext>
            </a:extLst>
          </p:cNvPr>
          <p:cNvPicPr>
            <a:picLocks noChangeAspect="1"/>
          </p:cNvPicPr>
          <p:nvPr userDrawn="1"/>
        </p:nvPicPr>
        <p:blipFill>
          <a:blip r:embed="rId4"/>
          <a:stretch>
            <a:fillRect/>
          </a:stretch>
        </p:blipFill>
        <p:spPr>
          <a:xfrm>
            <a:off x="7048981" y="665010"/>
            <a:ext cx="1578578" cy="633967"/>
          </a:xfrm>
          <a:prstGeom prst="rect">
            <a:avLst/>
          </a:prstGeom>
        </p:spPr>
      </p:pic>
      <p:sp>
        <p:nvSpPr>
          <p:cNvPr id="5" name="Text Placeholder 7">
            <a:extLst>
              <a:ext uri="{FF2B5EF4-FFF2-40B4-BE49-F238E27FC236}">
                <a16:creationId xmlns:a16="http://schemas.microsoft.com/office/drawing/2014/main" id="{E6E35A73-BE2C-8311-E082-C0587225BD11}"/>
              </a:ext>
            </a:extLst>
          </p:cNvPr>
          <p:cNvSpPr>
            <a:spLocks noGrp="1"/>
          </p:cNvSpPr>
          <p:nvPr>
            <p:ph type="body" sz="quarter" idx="11" hasCustomPrompt="1"/>
          </p:nvPr>
        </p:nvSpPr>
        <p:spPr>
          <a:xfrm>
            <a:off x="1143000" y="3796646"/>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 Texture, SBA Only">
    <p:bg>
      <p:bgPr>
        <a:solidFill>
          <a:srgbClr val="003E7F">
            <a:alpha val="0"/>
          </a:srgb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96D0959-212F-7E87-2FE9-0856DFCCDC4E}"/>
              </a:ext>
            </a:extLst>
          </p:cNvPr>
          <p:cNvPicPr>
            <a:picLocks noChangeAspect="1"/>
          </p:cNvPicPr>
          <p:nvPr userDrawn="1"/>
        </p:nvPicPr>
        <p:blipFill>
          <a:blip r:embed="rId2"/>
          <a:srcRect/>
          <a:stretch/>
        </p:blipFill>
        <p:spPr>
          <a:xfrm>
            <a:off x="1654" y="0"/>
            <a:ext cx="9141406" cy="6858536"/>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8048" y="699244"/>
            <a:ext cx="2407901" cy="661370"/>
          </a:xfrm>
          <a:prstGeom prst="rect">
            <a:avLst/>
          </a:prstGeom>
        </p:spPr>
      </p:pic>
      <p:sp>
        <p:nvSpPr>
          <p:cNvPr id="5" name="Title 1">
            <a:extLst>
              <a:ext uri="{FF2B5EF4-FFF2-40B4-BE49-F238E27FC236}">
                <a16:creationId xmlns:a16="http://schemas.microsoft.com/office/drawing/2014/main" id="{5DFC2853-1831-F2C1-7B3B-C7EB3BC79960}"/>
              </a:ext>
            </a:extLst>
          </p:cNvPr>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F80"/>
                </a:solidFill>
              </a:defRPr>
            </a:lvl1pPr>
          </a:lstStyle>
          <a:p>
            <a:r>
              <a:rPr lang="en-US"/>
              <a:t>Click to edit master title</a:t>
            </a:r>
          </a:p>
        </p:txBody>
      </p:sp>
      <p:sp>
        <p:nvSpPr>
          <p:cNvPr id="8" name="Text Placeholder 7">
            <a:extLst>
              <a:ext uri="{FF2B5EF4-FFF2-40B4-BE49-F238E27FC236}">
                <a16:creationId xmlns:a16="http://schemas.microsoft.com/office/drawing/2014/main" id="{6699BB1E-1E6B-C1A2-335F-02BA096298E4}"/>
              </a:ext>
            </a:extLst>
          </p:cNvPr>
          <p:cNvSpPr>
            <a:spLocks noGrp="1"/>
          </p:cNvSpPr>
          <p:nvPr>
            <p:ph type="body" sz="quarter" idx="10" hasCustomPrompt="1"/>
          </p:nvPr>
        </p:nvSpPr>
        <p:spPr>
          <a:xfrm>
            <a:off x="1143000" y="3796647"/>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Chapter Slide - Blue Screen Only">
    <p:bg>
      <p:bgPr>
        <a:solidFill>
          <a:srgbClr val="003E7F">
            <a:alpha val="0"/>
          </a:srgb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AB10919-14D9-0AB0-6292-0A32AF9B6BDA}"/>
              </a:ext>
            </a:extLst>
          </p:cNvPr>
          <p:cNvSpPr/>
          <p:nvPr userDrawn="1"/>
        </p:nvSpPr>
        <p:spPr>
          <a:xfrm>
            <a:off x="-11632" y="0"/>
            <a:ext cx="915563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chemeClr val="bg1"/>
                </a:solidFill>
              </a:defRPr>
            </a:lvl1pPr>
          </a:lstStyle>
          <a:p>
            <a:r>
              <a:rPr lang="en-US"/>
              <a:t>Click to edit master chapter</a:t>
            </a:r>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1800" b="1">
                <a:solidFill>
                  <a:schemeClr val="bg1">
                    <a:lumMod val="85000"/>
                  </a:schemeClr>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
        <p:nvSpPr>
          <p:cNvPr id="7" name="Rectangle 2">
            <a:extLst>
              <a:ext uri="{FF2B5EF4-FFF2-40B4-BE49-F238E27FC236}">
                <a16:creationId xmlns:a16="http://schemas.microsoft.com/office/drawing/2014/main" id="{AC6D910E-71DE-137A-93F3-A20F243E7315}"/>
              </a:ext>
            </a:extLst>
          </p:cNvPr>
          <p:cNvSpPr/>
          <p:nvPr userDrawn="1"/>
        </p:nvSpPr>
        <p:spPr>
          <a:xfrm>
            <a:off x="-11633" y="0"/>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a:extLst>
              <a:ext uri="{FF2B5EF4-FFF2-40B4-BE49-F238E27FC236}">
                <a16:creationId xmlns:a16="http://schemas.microsoft.com/office/drawing/2014/main" id="{337BB8E4-A84B-3079-497D-774CA8EB51B3}"/>
              </a:ext>
            </a:extLst>
          </p:cNvPr>
          <p:cNvSpPr/>
          <p:nvPr userDrawn="1"/>
        </p:nvSpPr>
        <p:spPr>
          <a:xfrm rot="10800000">
            <a:off x="8001000" y="1741437"/>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Chapter Slide - White Screen Only">
    <p:bg>
      <p:bgPr>
        <a:solidFill>
          <a:srgbClr val="003E7F">
            <a:alpha val="0"/>
          </a:srgbClr>
        </a:solidFill>
        <a:effectLst/>
      </p:bgPr>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A8B996D-9F42-16F9-2232-3B81DC19B39F}"/>
              </a:ext>
            </a:extLst>
          </p:cNvPr>
          <p:cNvSpPr/>
          <p:nvPr userDrawn="1"/>
        </p:nvSpPr>
        <p:spPr>
          <a:xfrm>
            <a:off x="-11633" y="0"/>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63702A93-44C1-C2FD-085F-6AAFB7D99401}"/>
              </a:ext>
            </a:extLst>
          </p:cNvPr>
          <p:cNvSpPr/>
          <p:nvPr userDrawn="1"/>
        </p:nvSpPr>
        <p:spPr>
          <a:xfrm rot="10800000">
            <a:off x="8001000" y="1741437"/>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rgbClr val="007EB4"/>
                </a:solidFill>
              </a:defRPr>
            </a:lvl1pPr>
          </a:lstStyle>
          <a:p>
            <a:r>
              <a:rPr lang="en-US"/>
              <a:t>Click to edit master chapter</a:t>
            </a:r>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1800"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Slide - Text Only">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19100" y="6194307"/>
            <a:ext cx="1767635" cy="365125"/>
          </a:xfrm>
          <a:prstGeom prst="rect">
            <a:avLst/>
          </a:prstGeom>
        </p:spPr>
        <p:txBody>
          <a:bodyPr/>
          <a:lstStyle/>
          <a:p>
            <a:endParaRPr lang="en-US"/>
          </a:p>
        </p:txBody>
      </p:sp>
      <p:sp>
        <p:nvSpPr>
          <p:cNvPr id="15" name="Subtitle 2">
            <a:extLst>
              <a:ext uri="{FF2B5EF4-FFF2-40B4-BE49-F238E27FC236}">
                <a16:creationId xmlns:a16="http://schemas.microsoft.com/office/drawing/2014/main" id="{1D7E37CD-EC9F-28DC-17D8-986843017BC1}"/>
              </a:ext>
            </a:extLst>
          </p:cNvPr>
          <p:cNvSpPr>
            <a:spLocks noGrp="1"/>
          </p:cNvSpPr>
          <p:nvPr>
            <p:ph type="subTitle" idx="11" hasCustomPrompt="1"/>
          </p:nvPr>
        </p:nvSpPr>
        <p:spPr>
          <a:xfrm>
            <a:off x="1143000" y="3602038"/>
            <a:ext cx="6858000" cy="1655762"/>
          </a:xfrm>
        </p:spPr>
        <p:txBody>
          <a:bodyPr/>
          <a:lstStyle>
            <a:lvl1pPr marL="0" indent="0" algn="ctr">
              <a:buNone/>
              <a:defRPr sz="1800"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
        <p:nvSpPr>
          <p:cNvPr id="19" name="Title 1">
            <a:extLst>
              <a:ext uri="{FF2B5EF4-FFF2-40B4-BE49-F238E27FC236}">
                <a16:creationId xmlns:a16="http://schemas.microsoft.com/office/drawing/2014/main" id="{87575A43-287C-45DC-18DC-BAA423DF852A}"/>
              </a:ext>
            </a:extLst>
          </p:cNvPr>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rgbClr val="003E7F"/>
                </a:solidFill>
              </a:defRPr>
            </a:lvl1pPr>
          </a:lstStyle>
          <a:p>
            <a:r>
              <a:rPr lang="en-US"/>
              <a:t>Click to edit master </a:t>
            </a:r>
            <a:br>
              <a:rPr lang="en-US"/>
            </a:br>
            <a:r>
              <a:rPr lang="en-US"/>
              <a:t>chapter</a:t>
            </a:r>
          </a:p>
        </p:txBody>
      </p:sp>
      <p:sp>
        <p:nvSpPr>
          <p:cNvPr id="21" name="Slide Number Placeholder 5">
            <a:extLst>
              <a:ext uri="{FF2B5EF4-FFF2-40B4-BE49-F238E27FC236}">
                <a16:creationId xmlns:a16="http://schemas.microsoft.com/office/drawing/2014/main" id="{F3D42113-899C-86FE-7250-759022FBADA6}"/>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64786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with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8650" y="1716374"/>
            <a:ext cx="7886700" cy="4315883"/>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a:xfrm>
            <a:off x="417815" y="6194307"/>
            <a:ext cx="1778243" cy="365125"/>
          </a:xfrm>
          <a:prstGeom prst="rect">
            <a:avLst/>
          </a:prstGeom>
        </p:spPr>
        <p:txBody>
          <a:bodyPr/>
          <a:lstStyle/>
          <a:p>
            <a:endParaRPr lang="en-US"/>
          </a:p>
        </p:txBody>
      </p:sp>
      <p:sp>
        <p:nvSpPr>
          <p:cNvPr id="11" name="Subtitle 2"/>
          <p:cNvSpPr>
            <a:spLocks noGrp="1"/>
          </p:cNvSpPr>
          <p:nvPr>
            <p:ph type="subTitle" idx="13" hasCustomPrompt="1"/>
          </p:nvPr>
        </p:nvSpPr>
        <p:spPr>
          <a:xfrm>
            <a:off x="628650" y="1112218"/>
            <a:ext cx="7886700" cy="604156"/>
          </a:xfrm>
        </p:spPr>
        <p:txBody>
          <a:bodyPr>
            <a:normAutofit/>
          </a:bodyPr>
          <a:lstStyle>
            <a:lvl1pPr marL="0" indent="0" algn="ctr">
              <a:buNone/>
              <a:defRPr sz="1575"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pPr marL="0" marR="0" lvl="0" indent="0" algn="ctr" defTabSz="685749" rtl="0" eaLnBrk="1" fontAlgn="auto" latinLnBrk="0" hangingPunct="1">
              <a:lnSpc>
                <a:spcPct val="90000"/>
              </a:lnSpc>
              <a:spcBef>
                <a:spcPts val="750"/>
              </a:spcBef>
              <a:spcAft>
                <a:spcPts val="0"/>
              </a:spcAft>
              <a:buClrTx/>
              <a:buSzTx/>
              <a:buFont typeface="Arial"/>
              <a:buNone/>
              <a:tabLst/>
              <a:defRPr/>
            </a:pPr>
            <a:r>
              <a:rPr lang="en-US"/>
              <a:t>Click to edit subtitle</a:t>
            </a:r>
          </a:p>
        </p:txBody>
      </p:sp>
      <p:sp>
        <p:nvSpPr>
          <p:cNvPr id="7" name="Slide Number Placeholder 5">
            <a:extLst>
              <a:ext uri="{FF2B5EF4-FFF2-40B4-BE49-F238E27FC236}">
                <a16:creationId xmlns:a16="http://schemas.microsoft.com/office/drawing/2014/main" id="{C6C61651-FA5B-2F5B-9721-4E7C0F7EBE04}"/>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3" name="Title Placeholder 1">
            <a:extLst>
              <a:ext uri="{FF2B5EF4-FFF2-40B4-BE49-F238E27FC236}">
                <a16:creationId xmlns:a16="http://schemas.microsoft.com/office/drawing/2014/main" id="{D207A640-EA07-C40E-C214-77050DDD0D6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947093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419100" y="6194307"/>
            <a:ext cx="1767635"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52AF9CC8-2034-C000-E286-BD7C67C9A5D3}"/>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0" name="Title Placeholder 1">
            <a:extLst>
              <a:ext uri="{FF2B5EF4-FFF2-40B4-BE49-F238E27FC236}">
                <a16:creationId xmlns:a16="http://schemas.microsoft.com/office/drawing/2014/main" id="{8BC063F8-763B-3669-8240-E69A0C1CF5D1}"/>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83065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F801C0A-024B-F72C-A2EC-3BFCE4E78EF2}"/>
              </a:ext>
            </a:extLst>
          </p:cNvPr>
          <p:cNvPicPr>
            <a:picLocks noChangeAspect="1"/>
          </p:cNvPicPr>
          <p:nvPr userDrawn="1"/>
        </p:nvPicPr>
        <p:blipFill>
          <a:blip r:embed="rId2"/>
          <a:srcRect/>
          <a:stretch/>
        </p:blipFill>
        <p:spPr>
          <a:xfrm>
            <a:off x="547195" y="1511730"/>
            <a:ext cx="3944209" cy="4413102"/>
          </a:xfrm>
          <a:prstGeom prst="rect">
            <a:avLst/>
          </a:prstGeom>
        </p:spPr>
      </p:pic>
      <p:sp>
        <p:nvSpPr>
          <p:cNvPr id="7" name="Date Placeholder 6"/>
          <p:cNvSpPr>
            <a:spLocks noGrp="1"/>
          </p:cNvSpPr>
          <p:nvPr>
            <p:ph type="dt" sz="half" idx="10"/>
          </p:nvPr>
        </p:nvSpPr>
        <p:spPr>
          <a:xfrm>
            <a:off x="419100" y="6194307"/>
            <a:ext cx="1767635"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7BA9D3D7-B1B2-D228-2983-C156E1EF18ED}"/>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2" name="Content Placeholder 2">
            <a:extLst>
              <a:ext uri="{FF2B5EF4-FFF2-40B4-BE49-F238E27FC236}">
                <a16:creationId xmlns:a16="http://schemas.microsoft.com/office/drawing/2014/main" id="{AFCE7EC8-3681-A3B9-F167-BB5CF5DF4D89}"/>
              </a:ext>
            </a:extLst>
          </p:cNvPr>
          <p:cNvSpPr>
            <a:spLocks noGrp="1"/>
          </p:cNvSpPr>
          <p:nvPr>
            <p:ph sz="half" idx="13" hasCustomPrompt="1"/>
          </p:nvPr>
        </p:nvSpPr>
        <p:spPr>
          <a:xfrm>
            <a:off x="664490" y="1618938"/>
            <a:ext cx="3721842" cy="4199444"/>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31" name="Picture 30">
            <a:extLst>
              <a:ext uri="{FF2B5EF4-FFF2-40B4-BE49-F238E27FC236}">
                <a16:creationId xmlns:a16="http://schemas.microsoft.com/office/drawing/2014/main" id="{8517B5C5-C8B8-E008-E51C-69FB4DBABAF0}"/>
              </a:ext>
            </a:extLst>
          </p:cNvPr>
          <p:cNvPicPr>
            <a:picLocks noChangeAspect="1"/>
          </p:cNvPicPr>
          <p:nvPr userDrawn="1"/>
        </p:nvPicPr>
        <p:blipFill>
          <a:blip r:embed="rId2"/>
          <a:srcRect/>
          <a:stretch/>
        </p:blipFill>
        <p:spPr>
          <a:xfrm>
            <a:off x="4639510" y="1511730"/>
            <a:ext cx="3944209" cy="4413102"/>
          </a:xfrm>
          <a:prstGeom prst="rect">
            <a:avLst/>
          </a:prstGeom>
        </p:spPr>
      </p:pic>
      <p:sp>
        <p:nvSpPr>
          <p:cNvPr id="32" name="Content Placeholder 2">
            <a:extLst>
              <a:ext uri="{FF2B5EF4-FFF2-40B4-BE49-F238E27FC236}">
                <a16:creationId xmlns:a16="http://schemas.microsoft.com/office/drawing/2014/main" id="{EEA0C7D2-31BB-764E-F573-2CDF5D25BCD3}"/>
              </a:ext>
            </a:extLst>
          </p:cNvPr>
          <p:cNvSpPr>
            <a:spLocks noGrp="1"/>
          </p:cNvSpPr>
          <p:nvPr>
            <p:ph sz="half" idx="16" hasCustomPrompt="1"/>
          </p:nvPr>
        </p:nvSpPr>
        <p:spPr>
          <a:xfrm>
            <a:off x="4756805" y="1618938"/>
            <a:ext cx="3721842" cy="4199444"/>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33" name="Title Placeholder 1">
            <a:extLst>
              <a:ext uri="{FF2B5EF4-FFF2-40B4-BE49-F238E27FC236}">
                <a16:creationId xmlns:a16="http://schemas.microsoft.com/office/drawing/2014/main" id="{92F48594-0CB5-843F-7125-97BD991EB100}"/>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11658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header">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419100" y="6194307"/>
            <a:ext cx="1767635"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7BA9D3D7-B1B2-D228-2983-C156E1EF18ED}"/>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pic>
        <p:nvPicPr>
          <p:cNvPr id="8" name="Picture 7">
            <a:extLst>
              <a:ext uri="{FF2B5EF4-FFF2-40B4-BE49-F238E27FC236}">
                <a16:creationId xmlns:a16="http://schemas.microsoft.com/office/drawing/2014/main" id="{442EFDD1-D228-7D91-4913-84EC99814EDE}"/>
              </a:ext>
            </a:extLst>
          </p:cNvPr>
          <p:cNvPicPr>
            <a:picLocks noChangeAspect="1"/>
          </p:cNvPicPr>
          <p:nvPr userDrawn="1"/>
        </p:nvPicPr>
        <p:blipFill>
          <a:blip r:embed="rId2"/>
          <a:srcRect/>
          <a:stretch/>
        </p:blipFill>
        <p:spPr>
          <a:xfrm>
            <a:off x="552785" y="1511729"/>
            <a:ext cx="3944210" cy="4413103"/>
          </a:xfrm>
          <a:prstGeom prst="rect">
            <a:avLst/>
          </a:prstGeom>
        </p:spPr>
      </p:pic>
      <p:sp>
        <p:nvSpPr>
          <p:cNvPr id="10" name="Text Placeholder 2">
            <a:extLst>
              <a:ext uri="{FF2B5EF4-FFF2-40B4-BE49-F238E27FC236}">
                <a16:creationId xmlns:a16="http://schemas.microsoft.com/office/drawing/2014/main" id="{17B22469-FD78-AD97-537E-2074D6A6E25A}"/>
              </a:ext>
            </a:extLst>
          </p:cNvPr>
          <p:cNvSpPr>
            <a:spLocks noGrp="1"/>
          </p:cNvSpPr>
          <p:nvPr>
            <p:ph type="body" idx="1" hasCustomPrompt="1"/>
          </p:nvPr>
        </p:nvSpPr>
        <p:spPr>
          <a:xfrm>
            <a:off x="583020" y="1538067"/>
            <a:ext cx="3868340"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2" name="Content Placeholder 2">
            <a:extLst>
              <a:ext uri="{FF2B5EF4-FFF2-40B4-BE49-F238E27FC236}">
                <a16:creationId xmlns:a16="http://schemas.microsoft.com/office/drawing/2014/main" id="{AFCE7EC8-3681-A3B9-F167-BB5CF5DF4D89}"/>
              </a:ext>
            </a:extLst>
          </p:cNvPr>
          <p:cNvSpPr>
            <a:spLocks noGrp="1"/>
          </p:cNvSpPr>
          <p:nvPr>
            <p:ph sz="half" idx="13" hasCustomPrompt="1"/>
          </p:nvPr>
        </p:nvSpPr>
        <p:spPr>
          <a:xfrm>
            <a:off x="664490" y="2298817"/>
            <a:ext cx="3721842" cy="3512070"/>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2209E1D4-D095-1C33-3762-12C19780DDD3}"/>
              </a:ext>
            </a:extLst>
          </p:cNvPr>
          <p:cNvPicPr>
            <a:picLocks noChangeAspect="1"/>
          </p:cNvPicPr>
          <p:nvPr userDrawn="1"/>
        </p:nvPicPr>
        <p:blipFill>
          <a:blip r:embed="rId2"/>
          <a:srcRect/>
          <a:stretch/>
        </p:blipFill>
        <p:spPr>
          <a:xfrm>
            <a:off x="4652595" y="1511729"/>
            <a:ext cx="3944210" cy="4413103"/>
          </a:xfrm>
          <a:prstGeom prst="rect">
            <a:avLst/>
          </a:prstGeom>
        </p:spPr>
      </p:pic>
      <p:sp>
        <p:nvSpPr>
          <p:cNvPr id="21" name="Text Placeholder 2">
            <a:extLst>
              <a:ext uri="{FF2B5EF4-FFF2-40B4-BE49-F238E27FC236}">
                <a16:creationId xmlns:a16="http://schemas.microsoft.com/office/drawing/2014/main" id="{95393E23-C904-EEC6-D0BB-F61BCD037AE2}"/>
              </a:ext>
            </a:extLst>
          </p:cNvPr>
          <p:cNvSpPr>
            <a:spLocks noGrp="1"/>
          </p:cNvSpPr>
          <p:nvPr>
            <p:ph type="body" idx="14" hasCustomPrompt="1"/>
          </p:nvPr>
        </p:nvSpPr>
        <p:spPr>
          <a:xfrm>
            <a:off x="4682830" y="1538067"/>
            <a:ext cx="3868340"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24" name="Content Placeholder 2">
            <a:extLst>
              <a:ext uri="{FF2B5EF4-FFF2-40B4-BE49-F238E27FC236}">
                <a16:creationId xmlns:a16="http://schemas.microsoft.com/office/drawing/2014/main" id="{2CC043BA-CE5C-0E81-53F1-7318DC7A0F41}"/>
              </a:ext>
            </a:extLst>
          </p:cNvPr>
          <p:cNvSpPr>
            <a:spLocks noGrp="1"/>
          </p:cNvSpPr>
          <p:nvPr>
            <p:ph sz="half" idx="15" hasCustomPrompt="1"/>
          </p:nvPr>
        </p:nvSpPr>
        <p:spPr>
          <a:xfrm>
            <a:off x="4764300" y="2298817"/>
            <a:ext cx="3721842" cy="3512070"/>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1D1CDAFF-7873-7267-8FFB-3CBC0BC514A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1920621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DD3CF75-680F-887A-DA7B-80C6828FAD6F}"/>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Picture Placeholder 7">
            <a:extLst>
              <a:ext uri="{FF2B5EF4-FFF2-40B4-BE49-F238E27FC236}">
                <a16:creationId xmlns:a16="http://schemas.microsoft.com/office/drawing/2014/main" id="{66D26E76-5670-92D7-68B7-D1D40882B4E5}"/>
              </a:ext>
            </a:extLst>
          </p:cNvPr>
          <p:cNvSpPr>
            <a:spLocks noGrp="1"/>
          </p:cNvSpPr>
          <p:nvPr>
            <p:ph type="pic" sz="quarter" idx="13"/>
          </p:nvPr>
        </p:nvSpPr>
        <p:spPr>
          <a:xfrm>
            <a:off x="0" y="0"/>
            <a:ext cx="9144000" cy="6858000"/>
          </a:xfrm>
        </p:spPr>
        <p:txBody>
          <a:bodyPr/>
          <a:lstStyle>
            <a:lvl1pPr marL="0" indent="0">
              <a:buNone/>
              <a:defRPr/>
            </a:lvl1pPr>
          </a:lstStyle>
          <a:p>
            <a:r>
              <a:rPr lang="en-US"/>
              <a:t>Click icon to add picture</a:t>
            </a:r>
          </a:p>
        </p:txBody>
      </p:sp>
      <p:sp>
        <p:nvSpPr>
          <p:cNvPr id="8" name="Slide Number Placeholder 5">
            <a:extLst>
              <a:ext uri="{FF2B5EF4-FFF2-40B4-BE49-F238E27FC236}">
                <a16:creationId xmlns:a16="http://schemas.microsoft.com/office/drawing/2014/main" id="{46AD9328-DBDB-C909-8E52-2BF6347AFE65}"/>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137248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wo Column, Header Bullet List, Paragraph">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30512" y="1208955"/>
            <a:ext cx="4629150" cy="4873625"/>
          </a:xfrm>
        </p:spPr>
        <p:txBody>
          <a:bodyPr/>
          <a:lstStyle>
            <a:lvl1pPr>
              <a:defRPr sz="2400">
                <a:solidFill>
                  <a:srgbClr val="003E7F"/>
                </a:solidFill>
              </a:defRPr>
            </a:lvl1pPr>
            <a:lvl2pPr>
              <a:defRPr sz="2100">
                <a:solidFill>
                  <a:srgbClr val="003E7F"/>
                </a:solidFill>
              </a:defRPr>
            </a:lvl2pPr>
            <a:lvl3pPr>
              <a:defRPr sz="1800">
                <a:solidFill>
                  <a:srgbClr val="003E7F"/>
                </a:solidFill>
              </a:defRPr>
            </a:lvl3pPr>
            <a:lvl4pPr>
              <a:defRPr sz="1500">
                <a:solidFill>
                  <a:srgbClr val="003E7F"/>
                </a:solidFill>
              </a:defRPr>
            </a:lvl4pPr>
            <a:lvl5pPr>
              <a:defRPr sz="1500">
                <a:solidFill>
                  <a:srgbClr val="003E7F"/>
                </a:solidFill>
              </a:defRPr>
            </a:lvl5pPr>
            <a:lvl6pPr>
              <a:defRPr sz="1500"/>
            </a:lvl6pPr>
            <a:lvl7pPr>
              <a:defRPr sz="1500"/>
            </a:lvl7pPr>
            <a:lvl8pPr>
              <a:defRPr sz="1500"/>
            </a:lvl8pPr>
            <a:lvl9pPr>
              <a:defRPr sz="15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4" name="Slide Number Placeholder 5">
            <a:extLst>
              <a:ext uri="{FF2B5EF4-FFF2-40B4-BE49-F238E27FC236}">
                <a16:creationId xmlns:a16="http://schemas.microsoft.com/office/drawing/2014/main" id="{6B59042E-05B7-0947-295E-72B8891595BB}"/>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Rectangle 5">
            <a:extLst>
              <a:ext uri="{FF2B5EF4-FFF2-40B4-BE49-F238E27FC236}">
                <a16:creationId xmlns:a16="http://schemas.microsoft.com/office/drawing/2014/main" id="{0552CD10-8002-8252-7B3B-6DBA2E87326F}"/>
              </a:ext>
            </a:extLst>
          </p:cNvPr>
          <p:cNvSpPr/>
          <p:nvPr userDrawn="1"/>
        </p:nvSpPr>
        <p:spPr>
          <a:xfrm>
            <a:off x="372912" y="1894755"/>
            <a:ext cx="3358372" cy="419733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B68F75-2406-2237-3870-8A529E4448D9}"/>
              </a:ext>
            </a:extLst>
          </p:cNvPr>
          <p:cNvSpPr/>
          <p:nvPr userDrawn="1"/>
        </p:nvSpPr>
        <p:spPr>
          <a:xfrm>
            <a:off x="372912" y="1208955"/>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28A7E99-B7FD-99E3-142B-F622BF1F0B12}"/>
              </a:ext>
            </a:extLst>
          </p:cNvPr>
          <p:cNvPicPr>
            <a:picLocks noChangeAspect="1"/>
          </p:cNvPicPr>
          <p:nvPr userDrawn="1"/>
        </p:nvPicPr>
        <p:blipFill>
          <a:blip r:embed="rId2"/>
          <a:srcRect l="3890" r="3890"/>
          <a:stretch/>
        </p:blipFill>
        <p:spPr>
          <a:xfrm>
            <a:off x="372912" y="2007272"/>
            <a:ext cx="3358372" cy="4074609"/>
          </a:xfrm>
          <a:prstGeom prst="rect">
            <a:avLst/>
          </a:prstGeom>
        </p:spPr>
      </p:pic>
      <p:sp>
        <p:nvSpPr>
          <p:cNvPr id="10" name="Text Placeholder 3">
            <a:extLst>
              <a:ext uri="{FF2B5EF4-FFF2-40B4-BE49-F238E27FC236}">
                <a16:creationId xmlns:a16="http://schemas.microsoft.com/office/drawing/2014/main" id="{311F2EB5-99C1-DB19-6F50-37ED88DDCF1F}"/>
              </a:ext>
            </a:extLst>
          </p:cNvPr>
          <p:cNvSpPr>
            <a:spLocks noGrp="1"/>
          </p:cNvSpPr>
          <p:nvPr>
            <p:ph type="body" sz="half" idx="14" hasCustomPrompt="1"/>
          </p:nvPr>
        </p:nvSpPr>
        <p:spPr>
          <a:xfrm>
            <a:off x="577509" y="2101358"/>
            <a:ext cx="2949178" cy="3827252"/>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11" name="Text Placeholder 2">
            <a:extLst>
              <a:ext uri="{FF2B5EF4-FFF2-40B4-BE49-F238E27FC236}">
                <a16:creationId xmlns:a16="http://schemas.microsoft.com/office/drawing/2014/main" id="{D07900FF-F4AC-7A31-3CD0-6232CC306FEE}"/>
              </a:ext>
            </a:extLst>
          </p:cNvPr>
          <p:cNvSpPr>
            <a:spLocks noGrp="1"/>
          </p:cNvSpPr>
          <p:nvPr>
            <p:ph type="body" idx="15" hasCustomPrompt="1"/>
          </p:nvPr>
        </p:nvSpPr>
        <p:spPr>
          <a:xfrm>
            <a:off x="484338" y="132161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2" name="Title Placeholder 1">
            <a:extLst>
              <a:ext uri="{FF2B5EF4-FFF2-40B4-BE49-F238E27FC236}">
                <a16:creationId xmlns:a16="http://schemas.microsoft.com/office/drawing/2014/main" id="{05C35AFD-A6E6-9FBD-7557-CBB1018489F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56727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wo Column, Header Bullet List, 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E96910-28C2-E07B-7597-D6DEFFDEBA76}"/>
              </a:ext>
            </a:extLst>
          </p:cNvPr>
          <p:cNvSpPr/>
          <p:nvPr userDrawn="1"/>
        </p:nvSpPr>
        <p:spPr>
          <a:xfrm>
            <a:off x="372912" y="1894755"/>
            <a:ext cx="3358372" cy="419733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FA8679-26EF-AE4D-86F4-3BDD7946B322}"/>
              </a:ext>
            </a:extLst>
          </p:cNvPr>
          <p:cNvSpPr/>
          <p:nvPr userDrawn="1"/>
        </p:nvSpPr>
        <p:spPr>
          <a:xfrm>
            <a:off x="372912" y="1208955"/>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pic>
        <p:nvPicPr>
          <p:cNvPr id="18" name="Picture 17">
            <a:extLst>
              <a:ext uri="{FF2B5EF4-FFF2-40B4-BE49-F238E27FC236}">
                <a16:creationId xmlns:a16="http://schemas.microsoft.com/office/drawing/2014/main" id="{099730C5-5867-8187-968B-7DE09B78BD37}"/>
              </a:ext>
            </a:extLst>
          </p:cNvPr>
          <p:cNvPicPr>
            <a:picLocks noChangeAspect="1"/>
          </p:cNvPicPr>
          <p:nvPr userDrawn="1"/>
        </p:nvPicPr>
        <p:blipFill>
          <a:blip r:embed="rId2"/>
          <a:srcRect l="3890" r="3890"/>
          <a:stretch/>
        </p:blipFill>
        <p:spPr>
          <a:xfrm>
            <a:off x="372912" y="2007272"/>
            <a:ext cx="3358372" cy="4074609"/>
          </a:xfrm>
          <a:prstGeom prst="rect">
            <a:avLst/>
          </a:prstGeom>
        </p:spPr>
      </p:pic>
      <p:sp>
        <p:nvSpPr>
          <p:cNvPr id="14" name="Picture Placeholder 11">
            <a:extLst>
              <a:ext uri="{FF2B5EF4-FFF2-40B4-BE49-F238E27FC236}">
                <a16:creationId xmlns:a16="http://schemas.microsoft.com/office/drawing/2014/main" id="{4C3A210F-FB0D-7D69-F90B-6D240D6E4783}"/>
              </a:ext>
            </a:extLst>
          </p:cNvPr>
          <p:cNvSpPr>
            <a:spLocks noGrp="1"/>
          </p:cNvSpPr>
          <p:nvPr>
            <p:ph type="pic" sz="quarter" idx="13"/>
          </p:nvPr>
        </p:nvSpPr>
        <p:spPr>
          <a:xfrm>
            <a:off x="4030663" y="1208375"/>
            <a:ext cx="4629150" cy="4873506"/>
          </a:xfrm>
        </p:spPr>
        <p:txBody>
          <a:bodyPr/>
          <a:lstStyle>
            <a:lvl1pPr marL="0" indent="0">
              <a:buNone/>
              <a:defRPr/>
            </a:lvl1pPr>
          </a:lstStyle>
          <a:p>
            <a:r>
              <a:rPr lang="en-US"/>
              <a:t>Click icon to add picture</a:t>
            </a:r>
          </a:p>
        </p:txBody>
      </p:sp>
      <p:sp>
        <p:nvSpPr>
          <p:cNvPr id="20" name="Text Placeholder 3">
            <a:extLst>
              <a:ext uri="{FF2B5EF4-FFF2-40B4-BE49-F238E27FC236}">
                <a16:creationId xmlns:a16="http://schemas.microsoft.com/office/drawing/2014/main" id="{DE303ECB-1495-6D4A-6548-DA3D9073D320}"/>
              </a:ext>
            </a:extLst>
          </p:cNvPr>
          <p:cNvSpPr>
            <a:spLocks noGrp="1"/>
          </p:cNvSpPr>
          <p:nvPr>
            <p:ph type="body" sz="half" idx="14" hasCustomPrompt="1"/>
          </p:nvPr>
        </p:nvSpPr>
        <p:spPr>
          <a:xfrm>
            <a:off x="577509" y="2101358"/>
            <a:ext cx="2949178" cy="3827252"/>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4" name="Slide Number Placeholder 5">
            <a:extLst>
              <a:ext uri="{FF2B5EF4-FFF2-40B4-BE49-F238E27FC236}">
                <a16:creationId xmlns:a16="http://schemas.microsoft.com/office/drawing/2014/main" id="{454B21AC-4CC7-DADD-41C5-4DE0C146DD6B}"/>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9" name="Text Placeholder 2">
            <a:extLst>
              <a:ext uri="{FF2B5EF4-FFF2-40B4-BE49-F238E27FC236}">
                <a16:creationId xmlns:a16="http://schemas.microsoft.com/office/drawing/2014/main" id="{ACA6932D-CA28-88E6-778E-AB5FE6542254}"/>
              </a:ext>
            </a:extLst>
          </p:cNvPr>
          <p:cNvSpPr>
            <a:spLocks noGrp="1"/>
          </p:cNvSpPr>
          <p:nvPr>
            <p:ph type="body" idx="15" hasCustomPrompt="1"/>
          </p:nvPr>
        </p:nvSpPr>
        <p:spPr>
          <a:xfrm>
            <a:off x="484338" y="132161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1" name="Title Placeholder 1">
            <a:extLst>
              <a:ext uri="{FF2B5EF4-FFF2-40B4-BE49-F238E27FC236}">
                <a16:creationId xmlns:a16="http://schemas.microsoft.com/office/drawing/2014/main" id="{2A0AB69B-2A6B-100F-3F6E-BA9A694987B2}"/>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682912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Header Bullet List, Paragraph">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844A4C4-D627-CB00-46FC-1F655C53E7CE}"/>
              </a:ext>
            </a:extLst>
          </p:cNvPr>
          <p:cNvSpPr>
            <a:spLocks noGrp="1"/>
          </p:cNvSpPr>
          <p:nvPr>
            <p:ph idx="1" hasCustomPrompt="1"/>
          </p:nvPr>
        </p:nvSpPr>
        <p:spPr>
          <a:xfrm>
            <a:off x="4030512" y="928091"/>
            <a:ext cx="4629150" cy="5000761"/>
          </a:xfrm>
        </p:spPr>
        <p:txBody>
          <a:bodyPr/>
          <a:lstStyle>
            <a:lvl1pPr>
              <a:defRPr sz="2400">
                <a:solidFill>
                  <a:srgbClr val="003E7F"/>
                </a:solidFill>
              </a:defRPr>
            </a:lvl1pPr>
            <a:lvl2pPr>
              <a:defRPr sz="2100">
                <a:solidFill>
                  <a:srgbClr val="003E7F"/>
                </a:solidFill>
              </a:defRPr>
            </a:lvl2pPr>
            <a:lvl3pPr>
              <a:defRPr sz="1800">
                <a:solidFill>
                  <a:srgbClr val="003E7F"/>
                </a:solidFill>
              </a:defRPr>
            </a:lvl3pPr>
            <a:lvl4pPr>
              <a:defRPr sz="1500">
                <a:solidFill>
                  <a:srgbClr val="003E7F"/>
                </a:solidFill>
              </a:defRPr>
            </a:lvl4pPr>
            <a:lvl5pPr>
              <a:defRPr sz="1500">
                <a:solidFill>
                  <a:srgbClr val="003E7F"/>
                </a:solidFill>
              </a:defRPr>
            </a:lvl5pPr>
            <a:lvl6pPr>
              <a:defRPr sz="1500"/>
            </a:lvl6pPr>
            <a:lvl7pPr>
              <a:defRPr sz="1500"/>
            </a:lvl7pPr>
            <a:lvl8pPr>
              <a:defRPr sz="1500"/>
            </a:lvl8pPr>
            <a:lvl9pPr>
              <a:defRPr sz="15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BA5CE8-51CE-9A84-49CD-6F893EAD9F3E}"/>
              </a:ext>
            </a:extLst>
          </p:cNvPr>
          <p:cNvSpPr>
            <a:spLocks noGrp="1"/>
          </p:cNvSpPr>
          <p:nvPr>
            <p:ph type="dt" sz="half" idx="10"/>
          </p:nvPr>
        </p:nvSpPr>
        <p:spPr>
          <a:xfrm>
            <a:off x="419100" y="6194307"/>
            <a:ext cx="1767635" cy="365125"/>
          </a:xfrm>
          <a:prstGeom prst="rect">
            <a:avLst/>
          </a:prstGeom>
        </p:spPr>
        <p:txBody>
          <a:bodyPr/>
          <a:lstStyle/>
          <a:p>
            <a:endParaRPr lang="en-US"/>
          </a:p>
        </p:txBody>
      </p:sp>
      <p:sp>
        <p:nvSpPr>
          <p:cNvPr id="17" name="Rectangle 16">
            <a:extLst>
              <a:ext uri="{FF2B5EF4-FFF2-40B4-BE49-F238E27FC236}">
                <a16:creationId xmlns:a16="http://schemas.microsoft.com/office/drawing/2014/main" id="{BA8CE1EC-AC86-1F52-A79A-676D7E141865}"/>
              </a:ext>
            </a:extLst>
          </p:cNvPr>
          <p:cNvSpPr/>
          <p:nvPr userDrawn="1"/>
        </p:nvSpPr>
        <p:spPr>
          <a:xfrm>
            <a:off x="372912" y="1621386"/>
            <a:ext cx="3358372" cy="429442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01D9F9F-89BD-EEF2-75C0-B99BBF272021}"/>
              </a:ext>
            </a:extLst>
          </p:cNvPr>
          <p:cNvSpPr/>
          <p:nvPr userDrawn="1"/>
        </p:nvSpPr>
        <p:spPr>
          <a:xfrm>
            <a:off x="372912" y="928091"/>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AC93D984-5E60-1556-653E-7BF3B755571E}"/>
              </a:ext>
            </a:extLst>
          </p:cNvPr>
          <p:cNvPicPr>
            <a:picLocks noChangeAspect="1"/>
          </p:cNvPicPr>
          <p:nvPr userDrawn="1"/>
        </p:nvPicPr>
        <p:blipFill>
          <a:blip r:embed="rId2"/>
          <a:srcRect l="5073" r="5073"/>
          <a:stretch/>
        </p:blipFill>
        <p:spPr>
          <a:xfrm>
            <a:off x="372912" y="1726408"/>
            <a:ext cx="3358372" cy="4181908"/>
          </a:xfrm>
          <a:prstGeom prst="rect">
            <a:avLst/>
          </a:prstGeom>
        </p:spPr>
      </p:pic>
      <p:sp>
        <p:nvSpPr>
          <p:cNvPr id="24" name="Text Placeholder 2">
            <a:extLst>
              <a:ext uri="{FF2B5EF4-FFF2-40B4-BE49-F238E27FC236}">
                <a16:creationId xmlns:a16="http://schemas.microsoft.com/office/drawing/2014/main" id="{B720E25A-B41E-0DE3-CBEA-63B9C260C7C2}"/>
              </a:ext>
            </a:extLst>
          </p:cNvPr>
          <p:cNvSpPr>
            <a:spLocks noGrp="1"/>
          </p:cNvSpPr>
          <p:nvPr>
            <p:ph type="body" idx="14" hasCustomPrompt="1"/>
          </p:nvPr>
        </p:nvSpPr>
        <p:spPr>
          <a:xfrm>
            <a:off x="484338" y="104129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25" name="Text Placeholder 3">
            <a:extLst>
              <a:ext uri="{FF2B5EF4-FFF2-40B4-BE49-F238E27FC236}">
                <a16:creationId xmlns:a16="http://schemas.microsoft.com/office/drawing/2014/main" id="{F26B96FB-62DA-96E5-ED07-30896A537052}"/>
              </a:ext>
            </a:extLst>
          </p:cNvPr>
          <p:cNvSpPr>
            <a:spLocks noGrp="1"/>
          </p:cNvSpPr>
          <p:nvPr>
            <p:ph type="body" sz="half" idx="15" hasCustomPrompt="1"/>
          </p:nvPr>
        </p:nvSpPr>
        <p:spPr>
          <a:xfrm>
            <a:off x="577509" y="1900626"/>
            <a:ext cx="2949178" cy="3850674"/>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 name="Slide Number Placeholder 5">
            <a:extLst>
              <a:ext uri="{FF2B5EF4-FFF2-40B4-BE49-F238E27FC236}">
                <a16:creationId xmlns:a16="http://schemas.microsoft.com/office/drawing/2014/main" id="{6C7F35E2-6560-4F36-09A2-2751D63731E3}"/>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557407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Header Bullet List, Photo">
    <p:spTree>
      <p:nvGrpSpPr>
        <p:cNvPr id="1" name=""/>
        <p:cNvGrpSpPr/>
        <p:nvPr/>
      </p:nvGrpSpPr>
      <p:grpSpPr>
        <a:xfrm>
          <a:off x="0" y="0"/>
          <a:ext cx="0" cy="0"/>
          <a:chOff x="0" y="0"/>
          <a:chExt cx="0" cy="0"/>
        </a:xfrm>
      </p:grpSpPr>
      <p:sp>
        <p:nvSpPr>
          <p:cNvPr id="7" name="Date Placeholder 4">
            <a:extLst>
              <a:ext uri="{FF2B5EF4-FFF2-40B4-BE49-F238E27FC236}">
                <a16:creationId xmlns:a16="http://schemas.microsoft.com/office/drawing/2014/main" id="{9EBA5CE8-51CE-9A84-49CD-6F893EAD9F3E}"/>
              </a:ext>
            </a:extLst>
          </p:cNvPr>
          <p:cNvSpPr>
            <a:spLocks noGrp="1"/>
          </p:cNvSpPr>
          <p:nvPr>
            <p:ph type="dt" sz="half" idx="10"/>
          </p:nvPr>
        </p:nvSpPr>
        <p:spPr>
          <a:xfrm>
            <a:off x="419100" y="6194307"/>
            <a:ext cx="1767635" cy="365125"/>
          </a:xfrm>
          <a:prstGeom prst="rect">
            <a:avLst/>
          </a:prstGeom>
        </p:spPr>
        <p:txBody>
          <a:bodyPr/>
          <a:lstStyle/>
          <a:p>
            <a:endParaRPr lang="en-US"/>
          </a:p>
        </p:txBody>
      </p:sp>
      <p:sp>
        <p:nvSpPr>
          <p:cNvPr id="9" name="Picture Placeholder 11">
            <a:extLst>
              <a:ext uri="{FF2B5EF4-FFF2-40B4-BE49-F238E27FC236}">
                <a16:creationId xmlns:a16="http://schemas.microsoft.com/office/drawing/2014/main" id="{FB9EA24D-5F27-8071-42B3-471CF83563E3}"/>
              </a:ext>
            </a:extLst>
          </p:cNvPr>
          <p:cNvSpPr>
            <a:spLocks noGrp="1"/>
          </p:cNvSpPr>
          <p:nvPr>
            <p:ph type="pic" sz="quarter" idx="13"/>
          </p:nvPr>
        </p:nvSpPr>
        <p:spPr>
          <a:xfrm>
            <a:off x="4030663" y="928090"/>
            <a:ext cx="4629150" cy="5002302"/>
          </a:xfrm>
        </p:spPr>
        <p:txBody>
          <a:bodyPr/>
          <a:lstStyle>
            <a:lvl1pPr marL="0" indent="0">
              <a:buNone/>
              <a:defRPr/>
            </a:lvl1pPr>
          </a:lstStyle>
          <a:p>
            <a:r>
              <a:rPr lang="en-US"/>
              <a:t>Click icon to add picture</a:t>
            </a:r>
          </a:p>
        </p:txBody>
      </p:sp>
      <p:sp>
        <p:nvSpPr>
          <p:cNvPr id="3" name="Slide Number Placeholder 5">
            <a:extLst>
              <a:ext uri="{FF2B5EF4-FFF2-40B4-BE49-F238E27FC236}">
                <a16:creationId xmlns:a16="http://schemas.microsoft.com/office/drawing/2014/main" id="{6A980C95-7F4D-2168-2A9A-833AD3F2CFBC}"/>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4" name="Rectangle 3">
            <a:extLst>
              <a:ext uri="{FF2B5EF4-FFF2-40B4-BE49-F238E27FC236}">
                <a16:creationId xmlns:a16="http://schemas.microsoft.com/office/drawing/2014/main" id="{3A178F22-FD91-85DB-A92F-C30A669B628D}"/>
              </a:ext>
            </a:extLst>
          </p:cNvPr>
          <p:cNvSpPr/>
          <p:nvPr userDrawn="1"/>
        </p:nvSpPr>
        <p:spPr>
          <a:xfrm>
            <a:off x="372912" y="1621386"/>
            <a:ext cx="3358372" cy="429442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2EB7AEA-0835-54C6-2667-77A94A372711}"/>
              </a:ext>
            </a:extLst>
          </p:cNvPr>
          <p:cNvSpPr/>
          <p:nvPr userDrawn="1"/>
        </p:nvSpPr>
        <p:spPr>
          <a:xfrm>
            <a:off x="372912" y="928091"/>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1E119D8-5105-C70D-ED6D-38F076FFD619}"/>
              </a:ext>
            </a:extLst>
          </p:cNvPr>
          <p:cNvPicPr>
            <a:picLocks noChangeAspect="1"/>
          </p:cNvPicPr>
          <p:nvPr userDrawn="1"/>
        </p:nvPicPr>
        <p:blipFill>
          <a:blip r:embed="rId2"/>
          <a:srcRect l="5073" r="5073"/>
          <a:stretch/>
        </p:blipFill>
        <p:spPr>
          <a:xfrm>
            <a:off x="372912" y="1726408"/>
            <a:ext cx="3358372" cy="4181908"/>
          </a:xfrm>
          <a:prstGeom prst="rect">
            <a:avLst/>
          </a:prstGeom>
        </p:spPr>
      </p:pic>
      <p:sp>
        <p:nvSpPr>
          <p:cNvPr id="10" name="Text Placeholder 2">
            <a:extLst>
              <a:ext uri="{FF2B5EF4-FFF2-40B4-BE49-F238E27FC236}">
                <a16:creationId xmlns:a16="http://schemas.microsoft.com/office/drawing/2014/main" id="{47AF80A7-4E61-E364-30D7-217722A1F378}"/>
              </a:ext>
            </a:extLst>
          </p:cNvPr>
          <p:cNvSpPr>
            <a:spLocks noGrp="1"/>
          </p:cNvSpPr>
          <p:nvPr>
            <p:ph type="body" idx="14" hasCustomPrompt="1"/>
          </p:nvPr>
        </p:nvSpPr>
        <p:spPr>
          <a:xfrm>
            <a:off x="484338" y="104129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1" name="Text Placeholder 3">
            <a:extLst>
              <a:ext uri="{FF2B5EF4-FFF2-40B4-BE49-F238E27FC236}">
                <a16:creationId xmlns:a16="http://schemas.microsoft.com/office/drawing/2014/main" id="{65B412C0-1B0C-B05A-C16D-9113EF641280}"/>
              </a:ext>
            </a:extLst>
          </p:cNvPr>
          <p:cNvSpPr>
            <a:spLocks noGrp="1"/>
          </p:cNvSpPr>
          <p:nvPr>
            <p:ph type="body" sz="half" idx="15" hasCustomPrompt="1"/>
          </p:nvPr>
        </p:nvSpPr>
        <p:spPr>
          <a:xfrm>
            <a:off x="577509" y="1900626"/>
            <a:ext cx="2949178" cy="3850674"/>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Tree>
    <p:extLst>
      <p:ext uri="{BB962C8B-B14F-4D97-AF65-F5344CB8AC3E}">
        <p14:creationId xmlns:p14="http://schemas.microsoft.com/office/powerpoint/2010/main" val="2154310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Horizont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26" name="Text Placeholder 3">
            <a:extLst>
              <a:ext uri="{FF2B5EF4-FFF2-40B4-BE49-F238E27FC236}">
                <a16:creationId xmlns:a16="http://schemas.microsoft.com/office/drawing/2014/main" id="{7424B591-4538-FFC3-C7E1-D71788BD47D9}"/>
              </a:ext>
            </a:extLst>
          </p:cNvPr>
          <p:cNvSpPr>
            <a:spLocks noGrp="1"/>
          </p:cNvSpPr>
          <p:nvPr>
            <p:ph type="body" sz="half" idx="16" hasCustomPrompt="1"/>
          </p:nvPr>
        </p:nvSpPr>
        <p:spPr>
          <a:xfrm>
            <a:off x="2396760" y="3226445"/>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4" name="Picture Placeholder 2">
            <a:extLst>
              <a:ext uri="{FF2B5EF4-FFF2-40B4-BE49-F238E27FC236}">
                <a16:creationId xmlns:a16="http://schemas.microsoft.com/office/drawing/2014/main" id="{0F2453BE-2588-27E3-3249-98E8577224AB}"/>
              </a:ext>
            </a:extLst>
          </p:cNvPr>
          <p:cNvSpPr>
            <a:spLocks noGrp="1"/>
          </p:cNvSpPr>
          <p:nvPr>
            <p:ph type="pic" idx="19"/>
          </p:nvPr>
        </p:nvSpPr>
        <p:spPr>
          <a:xfrm>
            <a:off x="3035846"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47" name="Text Placeholder 46">
            <a:extLst>
              <a:ext uri="{FF2B5EF4-FFF2-40B4-BE49-F238E27FC236}">
                <a16:creationId xmlns:a16="http://schemas.microsoft.com/office/drawing/2014/main" id="{4618D6B9-0518-7F09-9F5C-FED05726CEBA}"/>
              </a:ext>
            </a:extLst>
          </p:cNvPr>
          <p:cNvSpPr>
            <a:spLocks noGrp="1"/>
          </p:cNvSpPr>
          <p:nvPr>
            <p:ph type="body" sz="quarter" idx="22" hasCustomPrompt="1"/>
          </p:nvPr>
        </p:nvSpPr>
        <p:spPr>
          <a:xfrm>
            <a:off x="2396760" y="2719345"/>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118380" y="3219201"/>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753400"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118380" y="2712101"/>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3" name="Text Placeholder 3">
            <a:extLst>
              <a:ext uri="{FF2B5EF4-FFF2-40B4-BE49-F238E27FC236}">
                <a16:creationId xmlns:a16="http://schemas.microsoft.com/office/drawing/2014/main" id="{0F0501FF-08C9-BF91-D713-39F652B51BFE}"/>
              </a:ext>
            </a:extLst>
          </p:cNvPr>
          <p:cNvSpPr>
            <a:spLocks noGrp="1"/>
          </p:cNvSpPr>
          <p:nvPr>
            <p:ph type="body" sz="half" idx="28" hasCustomPrompt="1"/>
          </p:nvPr>
        </p:nvSpPr>
        <p:spPr>
          <a:xfrm>
            <a:off x="6957812" y="3226445"/>
            <a:ext cx="2067808"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4" name="Picture Placeholder 2">
            <a:extLst>
              <a:ext uri="{FF2B5EF4-FFF2-40B4-BE49-F238E27FC236}">
                <a16:creationId xmlns:a16="http://schemas.microsoft.com/office/drawing/2014/main" id="{032B68AE-1613-425C-25A7-51F3AC475EC1}"/>
              </a:ext>
            </a:extLst>
          </p:cNvPr>
          <p:cNvSpPr>
            <a:spLocks noGrp="1"/>
          </p:cNvSpPr>
          <p:nvPr>
            <p:ph type="pic" idx="29"/>
          </p:nvPr>
        </p:nvSpPr>
        <p:spPr>
          <a:xfrm>
            <a:off x="7604485"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5" name="Text Placeholder 46">
            <a:extLst>
              <a:ext uri="{FF2B5EF4-FFF2-40B4-BE49-F238E27FC236}">
                <a16:creationId xmlns:a16="http://schemas.microsoft.com/office/drawing/2014/main" id="{DCE1E016-29C3-1A24-11CC-23EFF4D237DB}"/>
              </a:ext>
            </a:extLst>
          </p:cNvPr>
          <p:cNvSpPr>
            <a:spLocks noGrp="1"/>
          </p:cNvSpPr>
          <p:nvPr>
            <p:ph type="body" sz="quarter" idx="30" hasCustomPrompt="1"/>
          </p:nvPr>
        </p:nvSpPr>
        <p:spPr>
          <a:xfrm>
            <a:off x="6957812" y="2719345"/>
            <a:ext cx="2067808"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6" name="Text Placeholder 3">
            <a:extLst>
              <a:ext uri="{FF2B5EF4-FFF2-40B4-BE49-F238E27FC236}">
                <a16:creationId xmlns:a16="http://schemas.microsoft.com/office/drawing/2014/main" id="{229B0AFB-C6DF-9071-5802-4312EE667147}"/>
              </a:ext>
            </a:extLst>
          </p:cNvPr>
          <p:cNvSpPr>
            <a:spLocks noGrp="1"/>
          </p:cNvSpPr>
          <p:nvPr>
            <p:ph type="body" sz="half" idx="31" hasCustomPrompt="1"/>
          </p:nvPr>
        </p:nvSpPr>
        <p:spPr>
          <a:xfrm>
            <a:off x="4667008" y="3226445"/>
            <a:ext cx="2060991"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7" name="Picture Placeholder 2">
            <a:extLst>
              <a:ext uri="{FF2B5EF4-FFF2-40B4-BE49-F238E27FC236}">
                <a16:creationId xmlns:a16="http://schemas.microsoft.com/office/drawing/2014/main" id="{9C33848E-EDAC-21C4-B299-4E8DB20908A0}"/>
              </a:ext>
            </a:extLst>
          </p:cNvPr>
          <p:cNvSpPr>
            <a:spLocks noGrp="1"/>
          </p:cNvSpPr>
          <p:nvPr>
            <p:ph type="pic" idx="32"/>
          </p:nvPr>
        </p:nvSpPr>
        <p:spPr>
          <a:xfrm>
            <a:off x="5322039"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8" name="Text Placeholder 46">
            <a:extLst>
              <a:ext uri="{FF2B5EF4-FFF2-40B4-BE49-F238E27FC236}">
                <a16:creationId xmlns:a16="http://schemas.microsoft.com/office/drawing/2014/main" id="{39439A9D-D114-94FB-C283-C5EA49432754}"/>
              </a:ext>
            </a:extLst>
          </p:cNvPr>
          <p:cNvSpPr>
            <a:spLocks noGrp="1"/>
          </p:cNvSpPr>
          <p:nvPr>
            <p:ph type="body" sz="quarter" idx="33" hasCustomPrompt="1"/>
          </p:nvPr>
        </p:nvSpPr>
        <p:spPr>
          <a:xfrm>
            <a:off x="4678775" y="2719345"/>
            <a:ext cx="2060991"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6F599E75-A365-B90B-1306-88331C792CF2}"/>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Title Placeholder 1">
            <a:extLst>
              <a:ext uri="{FF2B5EF4-FFF2-40B4-BE49-F238E27FC236}">
                <a16:creationId xmlns:a16="http://schemas.microsoft.com/office/drawing/2014/main" id="{E328D1A0-A1E1-3D47-942A-E5B849DED093}"/>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611248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orizont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26" name="Text Placeholder 3">
            <a:extLst>
              <a:ext uri="{FF2B5EF4-FFF2-40B4-BE49-F238E27FC236}">
                <a16:creationId xmlns:a16="http://schemas.microsoft.com/office/drawing/2014/main" id="{7424B591-4538-FFC3-C7E1-D71788BD47D9}"/>
              </a:ext>
            </a:extLst>
          </p:cNvPr>
          <p:cNvSpPr>
            <a:spLocks noGrp="1"/>
          </p:cNvSpPr>
          <p:nvPr>
            <p:ph type="body" sz="half" idx="16" hasCustomPrompt="1"/>
          </p:nvPr>
        </p:nvSpPr>
        <p:spPr>
          <a:xfrm>
            <a:off x="2396760" y="3049465"/>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4" name="Picture Placeholder 2">
            <a:extLst>
              <a:ext uri="{FF2B5EF4-FFF2-40B4-BE49-F238E27FC236}">
                <a16:creationId xmlns:a16="http://schemas.microsoft.com/office/drawing/2014/main" id="{0F2453BE-2588-27E3-3249-98E8577224AB}"/>
              </a:ext>
            </a:extLst>
          </p:cNvPr>
          <p:cNvSpPr>
            <a:spLocks noGrp="1"/>
          </p:cNvSpPr>
          <p:nvPr>
            <p:ph type="pic" idx="19"/>
          </p:nvPr>
        </p:nvSpPr>
        <p:spPr>
          <a:xfrm>
            <a:off x="3035846"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47" name="Text Placeholder 46">
            <a:extLst>
              <a:ext uri="{FF2B5EF4-FFF2-40B4-BE49-F238E27FC236}">
                <a16:creationId xmlns:a16="http://schemas.microsoft.com/office/drawing/2014/main" id="{4618D6B9-0518-7F09-9F5C-FED05726CEBA}"/>
              </a:ext>
            </a:extLst>
          </p:cNvPr>
          <p:cNvSpPr>
            <a:spLocks noGrp="1"/>
          </p:cNvSpPr>
          <p:nvPr>
            <p:ph type="body" sz="quarter" idx="22" hasCustomPrompt="1"/>
          </p:nvPr>
        </p:nvSpPr>
        <p:spPr>
          <a:xfrm>
            <a:off x="2396760" y="2542365"/>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118380" y="3042221"/>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753400"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118380" y="2535121"/>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3" name="Text Placeholder 3">
            <a:extLst>
              <a:ext uri="{FF2B5EF4-FFF2-40B4-BE49-F238E27FC236}">
                <a16:creationId xmlns:a16="http://schemas.microsoft.com/office/drawing/2014/main" id="{0F0501FF-08C9-BF91-D713-39F652B51BFE}"/>
              </a:ext>
            </a:extLst>
          </p:cNvPr>
          <p:cNvSpPr>
            <a:spLocks noGrp="1"/>
          </p:cNvSpPr>
          <p:nvPr>
            <p:ph type="body" sz="half" idx="28" hasCustomPrompt="1"/>
          </p:nvPr>
        </p:nvSpPr>
        <p:spPr>
          <a:xfrm>
            <a:off x="6957812" y="3049465"/>
            <a:ext cx="2067808"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Master text</a:t>
            </a:r>
          </a:p>
        </p:txBody>
      </p:sp>
      <p:sp>
        <p:nvSpPr>
          <p:cNvPr id="54" name="Picture Placeholder 2">
            <a:extLst>
              <a:ext uri="{FF2B5EF4-FFF2-40B4-BE49-F238E27FC236}">
                <a16:creationId xmlns:a16="http://schemas.microsoft.com/office/drawing/2014/main" id="{032B68AE-1613-425C-25A7-51F3AC475EC1}"/>
              </a:ext>
            </a:extLst>
          </p:cNvPr>
          <p:cNvSpPr>
            <a:spLocks noGrp="1"/>
          </p:cNvSpPr>
          <p:nvPr>
            <p:ph type="pic" idx="29"/>
          </p:nvPr>
        </p:nvSpPr>
        <p:spPr>
          <a:xfrm>
            <a:off x="7604485"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5" name="Text Placeholder 46">
            <a:extLst>
              <a:ext uri="{FF2B5EF4-FFF2-40B4-BE49-F238E27FC236}">
                <a16:creationId xmlns:a16="http://schemas.microsoft.com/office/drawing/2014/main" id="{DCE1E016-29C3-1A24-11CC-23EFF4D237DB}"/>
              </a:ext>
            </a:extLst>
          </p:cNvPr>
          <p:cNvSpPr>
            <a:spLocks noGrp="1"/>
          </p:cNvSpPr>
          <p:nvPr>
            <p:ph type="body" sz="quarter" idx="30" hasCustomPrompt="1"/>
          </p:nvPr>
        </p:nvSpPr>
        <p:spPr>
          <a:xfrm>
            <a:off x="6957812" y="2542365"/>
            <a:ext cx="2067808"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6" name="Text Placeholder 3">
            <a:extLst>
              <a:ext uri="{FF2B5EF4-FFF2-40B4-BE49-F238E27FC236}">
                <a16:creationId xmlns:a16="http://schemas.microsoft.com/office/drawing/2014/main" id="{229B0AFB-C6DF-9071-5802-4312EE667147}"/>
              </a:ext>
            </a:extLst>
          </p:cNvPr>
          <p:cNvSpPr>
            <a:spLocks noGrp="1"/>
          </p:cNvSpPr>
          <p:nvPr>
            <p:ph type="body" sz="half" idx="31" hasCustomPrompt="1"/>
          </p:nvPr>
        </p:nvSpPr>
        <p:spPr>
          <a:xfrm>
            <a:off x="4667008" y="3049465"/>
            <a:ext cx="2060991"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7" name="Picture Placeholder 2">
            <a:extLst>
              <a:ext uri="{FF2B5EF4-FFF2-40B4-BE49-F238E27FC236}">
                <a16:creationId xmlns:a16="http://schemas.microsoft.com/office/drawing/2014/main" id="{9C33848E-EDAC-21C4-B299-4E8DB20908A0}"/>
              </a:ext>
            </a:extLst>
          </p:cNvPr>
          <p:cNvSpPr>
            <a:spLocks noGrp="1"/>
          </p:cNvSpPr>
          <p:nvPr>
            <p:ph type="pic" idx="32"/>
          </p:nvPr>
        </p:nvSpPr>
        <p:spPr>
          <a:xfrm>
            <a:off x="5322039"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8" name="Text Placeholder 46">
            <a:extLst>
              <a:ext uri="{FF2B5EF4-FFF2-40B4-BE49-F238E27FC236}">
                <a16:creationId xmlns:a16="http://schemas.microsoft.com/office/drawing/2014/main" id="{39439A9D-D114-94FB-C283-C5EA49432754}"/>
              </a:ext>
            </a:extLst>
          </p:cNvPr>
          <p:cNvSpPr>
            <a:spLocks noGrp="1"/>
          </p:cNvSpPr>
          <p:nvPr>
            <p:ph type="body" sz="quarter" idx="33" hasCustomPrompt="1"/>
          </p:nvPr>
        </p:nvSpPr>
        <p:spPr>
          <a:xfrm>
            <a:off x="4678775" y="2542365"/>
            <a:ext cx="2060991"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21EE47AB-6B82-FED1-0260-3728FC54B2CE}"/>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497033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Vertic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30684" y="6194307"/>
            <a:ext cx="1767635" cy="365125"/>
          </a:xfrm>
          <a:prstGeom prst="rect">
            <a:avLst/>
          </a:prstGeom>
        </p:spPr>
        <p:txBody>
          <a:bodyPr/>
          <a:lstStyle/>
          <a:p>
            <a:endParaRPr lang="en-US"/>
          </a:p>
        </p:txBody>
      </p:sp>
      <p:sp>
        <p:nvSpPr>
          <p:cNvPr id="19" name="Text Placeholder 3">
            <a:extLst>
              <a:ext uri="{FF2B5EF4-FFF2-40B4-BE49-F238E27FC236}">
                <a16:creationId xmlns:a16="http://schemas.microsoft.com/office/drawing/2014/main" id="{CD776454-F822-27E5-495E-B1B439FB98B4}"/>
              </a:ext>
            </a:extLst>
          </p:cNvPr>
          <p:cNvSpPr>
            <a:spLocks noGrp="1"/>
          </p:cNvSpPr>
          <p:nvPr>
            <p:ph type="body" sz="half" idx="46" hasCustomPrompt="1"/>
          </p:nvPr>
        </p:nvSpPr>
        <p:spPr>
          <a:xfrm>
            <a:off x="2198324" y="1782650"/>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0" name="Picture Placeholder 2">
            <a:extLst>
              <a:ext uri="{FF2B5EF4-FFF2-40B4-BE49-F238E27FC236}">
                <a16:creationId xmlns:a16="http://schemas.microsoft.com/office/drawing/2014/main" id="{C70E8DBF-8CF9-AD55-6058-DDEA3F3DA977}"/>
              </a:ext>
            </a:extLst>
          </p:cNvPr>
          <p:cNvSpPr>
            <a:spLocks noGrp="1"/>
          </p:cNvSpPr>
          <p:nvPr>
            <p:ph type="pic" idx="47"/>
          </p:nvPr>
        </p:nvSpPr>
        <p:spPr>
          <a:xfrm>
            <a:off x="806168" y="1479116"/>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1" name="Text Placeholder 46">
            <a:extLst>
              <a:ext uri="{FF2B5EF4-FFF2-40B4-BE49-F238E27FC236}">
                <a16:creationId xmlns:a16="http://schemas.microsoft.com/office/drawing/2014/main" id="{3AF37FC5-E7EF-A937-9F8F-04EEEBDE8C70}"/>
              </a:ext>
            </a:extLst>
          </p:cNvPr>
          <p:cNvSpPr>
            <a:spLocks noGrp="1"/>
          </p:cNvSpPr>
          <p:nvPr>
            <p:ph type="body" sz="quarter" idx="48" hasCustomPrompt="1"/>
          </p:nvPr>
        </p:nvSpPr>
        <p:spPr>
          <a:xfrm>
            <a:off x="2198323" y="1476693"/>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5" name="Text Placeholder 3">
            <a:extLst>
              <a:ext uri="{FF2B5EF4-FFF2-40B4-BE49-F238E27FC236}">
                <a16:creationId xmlns:a16="http://schemas.microsoft.com/office/drawing/2014/main" id="{E854B770-8E26-7372-0BCA-3B8FD3B6F26E}"/>
              </a:ext>
            </a:extLst>
          </p:cNvPr>
          <p:cNvSpPr>
            <a:spLocks noGrp="1"/>
          </p:cNvSpPr>
          <p:nvPr>
            <p:ph type="body" sz="half" idx="49" hasCustomPrompt="1"/>
          </p:nvPr>
        </p:nvSpPr>
        <p:spPr>
          <a:xfrm>
            <a:off x="2198320" y="3071669"/>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6" name="Picture Placeholder 2">
            <a:extLst>
              <a:ext uri="{FF2B5EF4-FFF2-40B4-BE49-F238E27FC236}">
                <a16:creationId xmlns:a16="http://schemas.microsoft.com/office/drawing/2014/main" id="{7F62AA9A-8101-CDAB-FBB2-91F32CD1F007}"/>
              </a:ext>
            </a:extLst>
          </p:cNvPr>
          <p:cNvSpPr>
            <a:spLocks noGrp="1"/>
          </p:cNvSpPr>
          <p:nvPr>
            <p:ph type="pic" idx="50"/>
          </p:nvPr>
        </p:nvSpPr>
        <p:spPr>
          <a:xfrm>
            <a:off x="806164" y="2768135"/>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7" name="Text Placeholder 46">
            <a:extLst>
              <a:ext uri="{FF2B5EF4-FFF2-40B4-BE49-F238E27FC236}">
                <a16:creationId xmlns:a16="http://schemas.microsoft.com/office/drawing/2014/main" id="{BC623E66-66C5-7D73-F328-FD814996F935}"/>
              </a:ext>
            </a:extLst>
          </p:cNvPr>
          <p:cNvSpPr>
            <a:spLocks noGrp="1"/>
          </p:cNvSpPr>
          <p:nvPr>
            <p:ph type="body" sz="quarter" idx="51" hasCustomPrompt="1"/>
          </p:nvPr>
        </p:nvSpPr>
        <p:spPr>
          <a:xfrm>
            <a:off x="2198319" y="2765712"/>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8" name="Text Placeholder 3">
            <a:extLst>
              <a:ext uri="{FF2B5EF4-FFF2-40B4-BE49-F238E27FC236}">
                <a16:creationId xmlns:a16="http://schemas.microsoft.com/office/drawing/2014/main" id="{3D9FC10C-F672-4396-8B65-3FCE0397980D}"/>
              </a:ext>
            </a:extLst>
          </p:cNvPr>
          <p:cNvSpPr>
            <a:spLocks noGrp="1"/>
          </p:cNvSpPr>
          <p:nvPr>
            <p:ph type="body" sz="half" idx="52" hasCustomPrompt="1"/>
          </p:nvPr>
        </p:nvSpPr>
        <p:spPr>
          <a:xfrm>
            <a:off x="2198320" y="4303373"/>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2" name="Picture Placeholder 2">
            <a:extLst>
              <a:ext uri="{FF2B5EF4-FFF2-40B4-BE49-F238E27FC236}">
                <a16:creationId xmlns:a16="http://schemas.microsoft.com/office/drawing/2014/main" id="{6048C3C6-8B6D-D324-9B23-44ADB24D3EDB}"/>
              </a:ext>
            </a:extLst>
          </p:cNvPr>
          <p:cNvSpPr>
            <a:spLocks noGrp="1"/>
          </p:cNvSpPr>
          <p:nvPr>
            <p:ph type="pic" idx="53"/>
          </p:nvPr>
        </p:nvSpPr>
        <p:spPr>
          <a:xfrm>
            <a:off x="806164" y="399983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3" name="Text Placeholder 46">
            <a:extLst>
              <a:ext uri="{FF2B5EF4-FFF2-40B4-BE49-F238E27FC236}">
                <a16:creationId xmlns:a16="http://schemas.microsoft.com/office/drawing/2014/main" id="{1A423B92-3003-EB7B-8224-CDC6CC583E05}"/>
              </a:ext>
            </a:extLst>
          </p:cNvPr>
          <p:cNvSpPr>
            <a:spLocks noGrp="1"/>
          </p:cNvSpPr>
          <p:nvPr>
            <p:ph type="body" sz="quarter" idx="54" hasCustomPrompt="1"/>
          </p:nvPr>
        </p:nvSpPr>
        <p:spPr>
          <a:xfrm>
            <a:off x="2198319" y="3997416"/>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4" name="Text Placeholder 3">
            <a:extLst>
              <a:ext uri="{FF2B5EF4-FFF2-40B4-BE49-F238E27FC236}">
                <a16:creationId xmlns:a16="http://schemas.microsoft.com/office/drawing/2014/main" id="{5701D792-E166-C841-C179-799E4DE7D319}"/>
              </a:ext>
            </a:extLst>
          </p:cNvPr>
          <p:cNvSpPr>
            <a:spLocks noGrp="1"/>
          </p:cNvSpPr>
          <p:nvPr>
            <p:ph type="body" sz="half" idx="55" hasCustomPrompt="1"/>
          </p:nvPr>
        </p:nvSpPr>
        <p:spPr>
          <a:xfrm>
            <a:off x="2198319" y="5477528"/>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5" name="Picture Placeholder 2">
            <a:extLst>
              <a:ext uri="{FF2B5EF4-FFF2-40B4-BE49-F238E27FC236}">
                <a16:creationId xmlns:a16="http://schemas.microsoft.com/office/drawing/2014/main" id="{32DB5A55-84BE-7EBA-28DB-ECBCDA39C6BB}"/>
              </a:ext>
            </a:extLst>
          </p:cNvPr>
          <p:cNvSpPr>
            <a:spLocks noGrp="1"/>
          </p:cNvSpPr>
          <p:nvPr>
            <p:ph type="pic" idx="56"/>
          </p:nvPr>
        </p:nvSpPr>
        <p:spPr>
          <a:xfrm>
            <a:off x="806163" y="5173994"/>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6" name="Text Placeholder 46">
            <a:extLst>
              <a:ext uri="{FF2B5EF4-FFF2-40B4-BE49-F238E27FC236}">
                <a16:creationId xmlns:a16="http://schemas.microsoft.com/office/drawing/2014/main" id="{B807B365-A0AB-BDD4-2239-2A61889BA748}"/>
              </a:ext>
            </a:extLst>
          </p:cNvPr>
          <p:cNvSpPr>
            <a:spLocks noGrp="1"/>
          </p:cNvSpPr>
          <p:nvPr>
            <p:ph type="body" sz="quarter" idx="57" hasCustomPrompt="1"/>
          </p:nvPr>
        </p:nvSpPr>
        <p:spPr>
          <a:xfrm>
            <a:off x="2198318" y="5171571"/>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5FDD1BF8-4A79-C2CA-3873-DCBADD28D9F1}"/>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Title Placeholder 1">
            <a:extLst>
              <a:ext uri="{FF2B5EF4-FFF2-40B4-BE49-F238E27FC236}">
                <a16:creationId xmlns:a16="http://schemas.microsoft.com/office/drawing/2014/main" id="{B3F21E9F-C1BE-67DC-4A78-D0B7BF54FA1C}"/>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142104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30684" y="6194307"/>
            <a:ext cx="1767635" cy="365125"/>
          </a:xfrm>
          <a:prstGeom prst="rect">
            <a:avLst/>
          </a:prstGeom>
        </p:spPr>
        <p:txBody>
          <a:bodyPr/>
          <a:lstStyle/>
          <a:p>
            <a:endParaRPr lang="en-US"/>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2198324" y="1475230"/>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806168" y="1171696"/>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2198323" y="1169273"/>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16" name="Text Placeholder 3">
            <a:extLst>
              <a:ext uri="{FF2B5EF4-FFF2-40B4-BE49-F238E27FC236}">
                <a16:creationId xmlns:a16="http://schemas.microsoft.com/office/drawing/2014/main" id="{CCFDF1B0-BB19-1E8D-6377-A340AAE63361}"/>
              </a:ext>
            </a:extLst>
          </p:cNvPr>
          <p:cNvSpPr>
            <a:spLocks noGrp="1"/>
          </p:cNvSpPr>
          <p:nvPr>
            <p:ph type="body" sz="half" idx="37" hasCustomPrompt="1"/>
          </p:nvPr>
        </p:nvSpPr>
        <p:spPr>
          <a:xfrm>
            <a:off x="2198320" y="2764249"/>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17" name="Picture Placeholder 2">
            <a:extLst>
              <a:ext uri="{FF2B5EF4-FFF2-40B4-BE49-F238E27FC236}">
                <a16:creationId xmlns:a16="http://schemas.microsoft.com/office/drawing/2014/main" id="{D67CA144-FB95-18F9-6464-FD6EB6197D39}"/>
              </a:ext>
            </a:extLst>
          </p:cNvPr>
          <p:cNvSpPr>
            <a:spLocks noGrp="1"/>
          </p:cNvSpPr>
          <p:nvPr>
            <p:ph type="pic" idx="38"/>
          </p:nvPr>
        </p:nvSpPr>
        <p:spPr>
          <a:xfrm>
            <a:off x="806164" y="2460715"/>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18" name="Text Placeholder 46">
            <a:extLst>
              <a:ext uri="{FF2B5EF4-FFF2-40B4-BE49-F238E27FC236}">
                <a16:creationId xmlns:a16="http://schemas.microsoft.com/office/drawing/2014/main" id="{A572D5D1-F1AC-228D-A2F1-1497AB1F1E08}"/>
              </a:ext>
            </a:extLst>
          </p:cNvPr>
          <p:cNvSpPr>
            <a:spLocks noGrp="1"/>
          </p:cNvSpPr>
          <p:nvPr>
            <p:ph type="body" sz="quarter" idx="39" hasCustomPrompt="1"/>
          </p:nvPr>
        </p:nvSpPr>
        <p:spPr>
          <a:xfrm>
            <a:off x="2198319" y="2458292"/>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2" name="Text Placeholder 3">
            <a:extLst>
              <a:ext uri="{FF2B5EF4-FFF2-40B4-BE49-F238E27FC236}">
                <a16:creationId xmlns:a16="http://schemas.microsoft.com/office/drawing/2014/main" id="{DC69541D-9AEE-0DEC-F5BC-971E5BBB002F}"/>
              </a:ext>
            </a:extLst>
          </p:cNvPr>
          <p:cNvSpPr>
            <a:spLocks noGrp="1"/>
          </p:cNvSpPr>
          <p:nvPr>
            <p:ph type="body" sz="half" idx="40" hasCustomPrompt="1"/>
          </p:nvPr>
        </p:nvSpPr>
        <p:spPr>
          <a:xfrm>
            <a:off x="2198320" y="3995953"/>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3" name="Picture Placeholder 2">
            <a:extLst>
              <a:ext uri="{FF2B5EF4-FFF2-40B4-BE49-F238E27FC236}">
                <a16:creationId xmlns:a16="http://schemas.microsoft.com/office/drawing/2014/main" id="{41830E6C-BF78-7E92-6985-60790B2B8AF4}"/>
              </a:ext>
            </a:extLst>
          </p:cNvPr>
          <p:cNvSpPr>
            <a:spLocks noGrp="1"/>
          </p:cNvSpPr>
          <p:nvPr>
            <p:ph type="pic" idx="41"/>
          </p:nvPr>
        </p:nvSpPr>
        <p:spPr>
          <a:xfrm>
            <a:off x="806164" y="369241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4" name="Text Placeholder 46">
            <a:extLst>
              <a:ext uri="{FF2B5EF4-FFF2-40B4-BE49-F238E27FC236}">
                <a16:creationId xmlns:a16="http://schemas.microsoft.com/office/drawing/2014/main" id="{E9B08C83-DA0F-FF63-1FC1-BE2ED2C21389}"/>
              </a:ext>
            </a:extLst>
          </p:cNvPr>
          <p:cNvSpPr>
            <a:spLocks noGrp="1"/>
          </p:cNvSpPr>
          <p:nvPr>
            <p:ph type="body" sz="quarter" idx="42" hasCustomPrompt="1"/>
          </p:nvPr>
        </p:nvSpPr>
        <p:spPr>
          <a:xfrm>
            <a:off x="2198319" y="3689996"/>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9" name="Text Placeholder 3">
            <a:extLst>
              <a:ext uri="{FF2B5EF4-FFF2-40B4-BE49-F238E27FC236}">
                <a16:creationId xmlns:a16="http://schemas.microsoft.com/office/drawing/2014/main" id="{0EAD512F-47FE-9064-744B-C545D9F4C276}"/>
              </a:ext>
            </a:extLst>
          </p:cNvPr>
          <p:cNvSpPr>
            <a:spLocks noGrp="1"/>
          </p:cNvSpPr>
          <p:nvPr>
            <p:ph type="body" sz="half" idx="43" hasCustomPrompt="1"/>
          </p:nvPr>
        </p:nvSpPr>
        <p:spPr>
          <a:xfrm>
            <a:off x="2198319" y="5170108"/>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0" name="Picture Placeholder 2">
            <a:extLst>
              <a:ext uri="{FF2B5EF4-FFF2-40B4-BE49-F238E27FC236}">
                <a16:creationId xmlns:a16="http://schemas.microsoft.com/office/drawing/2014/main" id="{4050FC99-A2B8-EE0A-DB93-7495EB450551}"/>
              </a:ext>
            </a:extLst>
          </p:cNvPr>
          <p:cNvSpPr>
            <a:spLocks noGrp="1"/>
          </p:cNvSpPr>
          <p:nvPr>
            <p:ph type="pic" idx="44"/>
          </p:nvPr>
        </p:nvSpPr>
        <p:spPr>
          <a:xfrm>
            <a:off x="806163" y="4866574"/>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1" name="Text Placeholder 46">
            <a:extLst>
              <a:ext uri="{FF2B5EF4-FFF2-40B4-BE49-F238E27FC236}">
                <a16:creationId xmlns:a16="http://schemas.microsoft.com/office/drawing/2014/main" id="{AC8CDFF0-63C0-1681-F2BA-96C3A736CC51}"/>
              </a:ext>
            </a:extLst>
          </p:cNvPr>
          <p:cNvSpPr>
            <a:spLocks noGrp="1"/>
          </p:cNvSpPr>
          <p:nvPr>
            <p:ph type="body" sz="quarter" idx="45" hasCustomPrompt="1"/>
          </p:nvPr>
        </p:nvSpPr>
        <p:spPr>
          <a:xfrm>
            <a:off x="2198318" y="4864151"/>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916CC5E4-A9D4-E359-9980-E38077562256}"/>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007255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71600"/>
          </a:xfrm>
        </p:spPr>
        <p:txBody>
          <a:bodyPr/>
          <a:lstStyle>
            <a:lvl1pPr marL="0" marR="0" indent="0" algn="ctr" defTabSz="905957" rtl="0" eaLnBrk="1" fontAlgn="auto" latinLnBrk="0" hangingPunct="1">
              <a:lnSpc>
                <a:spcPct val="100000"/>
              </a:lnSpc>
              <a:spcBef>
                <a:spcPct val="0"/>
              </a:spcBef>
              <a:spcAft>
                <a:spcPts val="0"/>
              </a:spcAft>
              <a:buClrTx/>
              <a:buSzTx/>
              <a:buFontTx/>
              <a:buNone/>
              <a:tabLst/>
              <a:defRPr sz="4125">
                <a:latin typeface="Source Sans Pro" panose="020B0503030403020204" pitchFamily="34" charset="0"/>
                <a:ea typeface="Source Sans Pro" panose="020B0503030403020204" pitchFamily="34" charset="0"/>
                <a:cs typeface="Source Sans Pro" panose="020B0503030403020204" pitchFamily="34" charset="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7011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585748"/>
            <a:ext cx="7886700" cy="4446510"/>
          </a:xfrm>
          <a:prstGeom prst="rect">
            <a:avLst/>
          </a:prstGeom>
        </p:spPr>
        <p:txBody>
          <a:bodyPr vert="horz" lIns="91440" tIns="45720" rIns="91440" bIns="45720" rtlCol="0">
            <a:normAutofit/>
          </a:body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194307"/>
            <a:ext cx="1767635" cy="365125"/>
          </a:xfrm>
          <a:prstGeom prst="rect">
            <a:avLst/>
          </a:prstGeom>
        </p:spPr>
        <p:txBody>
          <a:bodyPr vert="horz" lIns="91440" tIns="45720" rIns="91440" bIns="45720" rtlCol="0" anchor="ctr"/>
          <a:lstStyle>
            <a:lvl1pPr algn="l">
              <a:defRPr sz="900">
                <a:solidFill>
                  <a:schemeClr val="tx1">
                    <a:tint val="75000"/>
                  </a:schemeClr>
                </a:solidFill>
                <a:latin typeface="Source Sans Pro" charset="0"/>
                <a:ea typeface="Source Sans Pro" charset="0"/>
                <a:cs typeface="Source Sans Pro" charset="0"/>
              </a:defRPr>
            </a:lvl1pPr>
          </a:lstStyle>
          <a:p>
            <a:endParaRPr lang="en-US"/>
          </a:p>
        </p:txBody>
      </p:sp>
      <p:pic>
        <p:nvPicPr>
          <p:cNvPr id="32" name="Picture 31"/>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9997" y="6512421"/>
            <a:ext cx="332145" cy="253885"/>
          </a:xfrm>
          <a:prstGeom prst="rect">
            <a:avLst/>
          </a:prstGeom>
        </p:spPr>
      </p:pic>
      <p:grpSp>
        <p:nvGrpSpPr>
          <p:cNvPr id="14" name="Group 13">
            <a:extLst>
              <a:ext uri="{FF2B5EF4-FFF2-40B4-BE49-F238E27FC236}">
                <a16:creationId xmlns:a16="http://schemas.microsoft.com/office/drawing/2014/main" id="{C91B8C4C-C45F-4FE0-B059-B75F1119F37E}"/>
              </a:ext>
            </a:extLst>
          </p:cNvPr>
          <p:cNvGrpSpPr/>
          <p:nvPr userDrawn="1"/>
        </p:nvGrpSpPr>
        <p:grpSpPr>
          <a:xfrm>
            <a:off x="96552" y="84029"/>
            <a:ext cx="8950896" cy="329742"/>
            <a:chOff x="157803" y="-1075245"/>
            <a:chExt cx="8950896" cy="329742"/>
          </a:xfrm>
        </p:grpSpPr>
        <p:sp>
          <p:nvSpPr>
            <p:cNvPr id="15" name="Rectangle 14">
              <a:extLst>
                <a:ext uri="{FF2B5EF4-FFF2-40B4-BE49-F238E27FC236}">
                  <a16:creationId xmlns:a16="http://schemas.microsoft.com/office/drawing/2014/main" id="{CF2E5174-F321-4ED7-971F-BD816C91EF90}"/>
                </a:ext>
              </a:extLst>
            </p:cNvPr>
            <p:cNvSpPr/>
            <p:nvPr userDrawn="1"/>
          </p:nvSpPr>
          <p:spPr>
            <a:xfrm rot="5400000">
              <a:off x="4506856" y="-5424296"/>
              <a:ext cx="126396" cy="8824500"/>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6" name="Rectangle 15">
              <a:extLst>
                <a:ext uri="{FF2B5EF4-FFF2-40B4-BE49-F238E27FC236}">
                  <a16:creationId xmlns:a16="http://schemas.microsoft.com/office/drawing/2014/main" id="{BA51180D-101C-43CD-B9C5-6A912EDB4DF9}"/>
                </a:ext>
              </a:extLst>
            </p:cNvPr>
            <p:cNvSpPr/>
            <p:nvPr userDrawn="1"/>
          </p:nvSpPr>
          <p:spPr>
            <a:xfrm>
              <a:off x="8982303" y="-1075245"/>
              <a:ext cx="126396" cy="329742"/>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sp>
          <p:nvSpPr>
            <p:cNvPr id="18" name="Rectangle 17">
              <a:extLst>
                <a:ext uri="{FF2B5EF4-FFF2-40B4-BE49-F238E27FC236}">
                  <a16:creationId xmlns:a16="http://schemas.microsoft.com/office/drawing/2014/main" id="{B753F74E-0A31-428C-86F1-15F22093C762}"/>
                </a:ext>
              </a:extLst>
            </p:cNvPr>
            <p:cNvSpPr/>
            <p:nvPr userDrawn="1"/>
          </p:nvSpPr>
          <p:spPr>
            <a:xfrm>
              <a:off x="157803" y="-1075245"/>
              <a:ext cx="126396" cy="329742"/>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grpSp>
      <p:sp>
        <p:nvSpPr>
          <p:cNvPr id="7" name="Rectangle 6">
            <a:extLst>
              <a:ext uri="{FF2B5EF4-FFF2-40B4-BE49-F238E27FC236}">
                <a16:creationId xmlns:a16="http://schemas.microsoft.com/office/drawing/2014/main" id="{A5527684-ED51-4D9E-8D68-CB08E0A7EB8E}"/>
              </a:ext>
            </a:extLst>
          </p:cNvPr>
          <p:cNvSpPr/>
          <p:nvPr userDrawn="1"/>
        </p:nvSpPr>
        <p:spPr>
          <a:xfrm rot="5400000">
            <a:off x="4651327" y="2502552"/>
            <a:ext cx="126396" cy="8413052"/>
          </a:xfrm>
          <a:prstGeom prst="rect">
            <a:avLst/>
          </a:prstGeom>
          <a:solidFill>
            <a:srgbClr val="CC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0" name="Rectangle 30">
            <a:extLst>
              <a:ext uri="{FF2B5EF4-FFF2-40B4-BE49-F238E27FC236}">
                <a16:creationId xmlns:a16="http://schemas.microsoft.com/office/drawing/2014/main" id="{04A2463E-B36B-4DCD-A491-95778B6D1BC9}"/>
              </a:ext>
            </a:extLst>
          </p:cNvPr>
          <p:cNvSpPr/>
          <p:nvPr userDrawn="1"/>
        </p:nvSpPr>
        <p:spPr>
          <a:xfrm>
            <a:off x="8921052" y="6328188"/>
            <a:ext cx="126396" cy="445733"/>
          </a:xfrm>
          <a:custGeom>
            <a:avLst/>
            <a:gdLst>
              <a:gd name="connsiteX0" fmla="*/ 0 w 126396"/>
              <a:gd name="connsiteY0" fmla="*/ 0 h 445733"/>
              <a:gd name="connsiteX1" fmla="*/ 126396 w 126396"/>
              <a:gd name="connsiteY1" fmla="*/ 0 h 445733"/>
              <a:gd name="connsiteX2" fmla="*/ 126396 w 126396"/>
              <a:gd name="connsiteY2" fmla="*/ 445733 h 445733"/>
              <a:gd name="connsiteX3" fmla="*/ 0 w 126396"/>
              <a:gd name="connsiteY3" fmla="*/ 445733 h 445733"/>
              <a:gd name="connsiteX4" fmla="*/ 0 w 126396"/>
              <a:gd name="connsiteY4" fmla="*/ 0 h 445733"/>
              <a:gd name="connsiteX0" fmla="*/ 0 w 126396"/>
              <a:gd name="connsiteY0" fmla="*/ 0 h 445733"/>
              <a:gd name="connsiteX1" fmla="*/ 126396 w 126396"/>
              <a:gd name="connsiteY1" fmla="*/ 0 h 445733"/>
              <a:gd name="connsiteX2" fmla="*/ 123221 w 126396"/>
              <a:gd name="connsiteY2" fmla="*/ 325083 h 445733"/>
              <a:gd name="connsiteX3" fmla="*/ 0 w 126396"/>
              <a:gd name="connsiteY3" fmla="*/ 445733 h 445733"/>
              <a:gd name="connsiteX4" fmla="*/ 0 w 126396"/>
              <a:gd name="connsiteY4" fmla="*/ 0 h 445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96" h="445733">
                <a:moveTo>
                  <a:pt x="0" y="0"/>
                </a:moveTo>
                <a:lnTo>
                  <a:pt x="126396" y="0"/>
                </a:lnTo>
                <a:cubicBezTo>
                  <a:pt x="125338" y="108361"/>
                  <a:pt x="124279" y="216722"/>
                  <a:pt x="123221" y="325083"/>
                </a:cubicBezTo>
                <a:lnTo>
                  <a:pt x="0" y="445733"/>
                </a:lnTo>
                <a:lnTo>
                  <a:pt x="0" y="0"/>
                </a:lnTo>
                <a:close/>
              </a:path>
            </a:pathLst>
          </a:cu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pic>
        <p:nvPicPr>
          <p:cNvPr id="12" name="Picture 11" descr="Text&#10;&#10;Description automatically generated">
            <a:extLst>
              <a:ext uri="{FF2B5EF4-FFF2-40B4-BE49-F238E27FC236}">
                <a16:creationId xmlns:a16="http://schemas.microsoft.com/office/drawing/2014/main" id="{AB75ABB4-74E7-4A5E-BAEC-431A7FEC364F}"/>
              </a:ext>
            </a:extLst>
          </p:cNvPr>
          <p:cNvPicPr>
            <a:picLocks noChangeAspect="1"/>
          </p:cNvPicPr>
          <p:nvPr userDrawn="1"/>
        </p:nvPicPr>
        <p:blipFill>
          <a:blip r:embed="rId24"/>
          <a:stretch>
            <a:fillRect/>
          </a:stretch>
        </p:blipFill>
        <p:spPr>
          <a:xfrm>
            <a:off x="7730178" y="6265984"/>
            <a:ext cx="1124282" cy="302901"/>
          </a:xfrm>
          <a:prstGeom prst="rect">
            <a:avLst/>
          </a:prstGeom>
        </p:spPr>
      </p:pic>
      <p:pic>
        <p:nvPicPr>
          <p:cNvPr id="13" name="Picture 12">
            <a:extLst>
              <a:ext uri="{FF2B5EF4-FFF2-40B4-BE49-F238E27FC236}">
                <a16:creationId xmlns:a16="http://schemas.microsoft.com/office/drawing/2014/main" id="{E7AC5484-207D-4F8A-97E8-735626402B05}"/>
              </a:ext>
            </a:extLst>
          </p:cNvPr>
          <p:cNvPicPr>
            <a:picLocks noChangeAspect="1"/>
          </p:cNvPicPr>
          <p:nvPr userDrawn="1"/>
        </p:nvPicPr>
        <p:blipFill>
          <a:blip r:embed="rId25"/>
          <a:srcRect/>
          <a:stretch/>
        </p:blipFill>
        <p:spPr>
          <a:xfrm>
            <a:off x="7707923" y="150443"/>
            <a:ext cx="1267824" cy="613788"/>
          </a:xfrm>
          <a:prstGeom prst="rect">
            <a:avLst/>
          </a:prstGeom>
        </p:spPr>
      </p:pic>
      <p:sp>
        <p:nvSpPr>
          <p:cNvPr id="17" name="Slide Number Placeholder 5">
            <a:extLst>
              <a:ext uri="{FF2B5EF4-FFF2-40B4-BE49-F238E27FC236}">
                <a16:creationId xmlns:a16="http://schemas.microsoft.com/office/drawing/2014/main" id="{2C191F12-8E38-477B-810E-C1D1644BDFE8}"/>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1" name="Title Placeholder 1">
            <a:extLst>
              <a:ext uri="{FF2B5EF4-FFF2-40B4-BE49-F238E27FC236}">
                <a16:creationId xmlns:a16="http://schemas.microsoft.com/office/drawing/2014/main" id="{C22CF751-32DD-43B2-839D-9CE38DA3AEC0}"/>
              </a:ext>
            </a:extLst>
          </p:cNvPr>
          <p:cNvSpPr>
            <a:spLocks noGrp="1"/>
          </p:cNvSpPr>
          <p:nvPr>
            <p:ph type="title"/>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145296608"/>
      </p:ext>
    </p:extLst>
  </p:cSld>
  <p:clrMap bg1="lt1" tx1="dk1" bg2="lt2" tx2="dk2" accent1="accent1" accent2="accent2" accent3="accent3" accent4="accent4" accent5="accent5" accent6="accent6" hlink="hlink" folHlink="folHlink"/>
  <p:sldLayoutIdLst>
    <p:sldLayoutId id="2147483686" r:id="rId1"/>
    <p:sldLayoutId id="2147483717" r:id="rId2"/>
    <p:sldLayoutId id="2147483689" r:id="rId3"/>
    <p:sldLayoutId id="2147483690" r:id="rId4"/>
    <p:sldLayoutId id="2147483691" r:id="rId5"/>
    <p:sldLayoutId id="2147483692" r:id="rId6"/>
    <p:sldLayoutId id="2147483693" r:id="rId7"/>
    <p:sldLayoutId id="2147483694" r:id="rId8"/>
    <p:sldLayoutId id="2147483701" r:id="rId9"/>
    <p:sldLayoutId id="2147483715" r:id="rId10"/>
    <p:sldLayoutId id="2147483716" r:id="rId11"/>
    <p:sldLayoutId id="2147483697" r:id="rId12"/>
    <p:sldLayoutId id="2147483707" r:id="rId13"/>
    <p:sldLayoutId id="2147483711" r:id="rId14"/>
    <p:sldLayoutId id="2147483709" r:id="rId15"/>
    <p:sldLayoutId id="2147483712" r:id="rId16"/>
    <p:sldLayoutId id="2147483708" r:id="rId17"/>
    <p:sldLayoutId id="2147483713" r:id="rId18"/>
    <p:sldLayoutId id="2147483710" r:id="rId19"/>
    <p:sldLayoutId id="2147483714" r:id="rId20"/>
    <p:sldLayoutId id="2147483718" r:id="rId21"/>
  </p:sldLayoutIdLst>
  <p:hf hdr="0" ftr="0" dt="0"/>
  <p:txStyles>
    <p:titleStyle>
      <a:lvl1pPr algn="ctr" defTabSz="685749" rtl="0" eaLnBrk="1" latinLnBrk="0" hangingPunct="1">
        <a:lnSpc>
          <a:spcPct val="90000"/>
        </a:lnSpc>
        <a:spcBef>
          <a:spcPct val="0"/>
        </a:spcBef>
        <a:buNone/>
        <a:defRPr sz="2700" b="1" i="0" kern="1200" spc="-75" baseline="0">
          <a:solidFill>
            <a:srgbClr val="003F80"/>
          </a:solidFill>
          <a:latin typeface="Source Sans Pro" charset="0"/>
          <a:ea typeface="Source Sans Pro" charset="0"/>
          <a:cs typeface="Source Sans Pro" charset="0"/>
        </a:defRPr>
      </a:lvl1pPr>
    </p:titleStyle>
    <p:body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749" rtl="0" eaLnBrk="1" latinLnBrk="0" hangingPunct="1">
        <a:defRPr sz="1350" kern="1200">
          <a:solidFill>
            <a:schemeClr val="tx1"/>
          </a:solidFill>
          <a:latin typeface="+mn-lt"/>
          <a:ea typeface="+mn-ea"/>
          <a:cs typeface="+mn-cs"/>
        </a:defRPr>
      </a:lvl1pPr>
      <a:lvl2pPr marL="342875" algn="l" defTabSz="685749" rtl="0" eaLnBrk="1" latinLnBrk="0" hangingPunct="1">
        <a:defRPr sz="1350" kern="1200">
          <a:solidFill>
            <a:schemeClr val="tx1"/>
          </a:solidFill>
          <a:latin typeface="+mn-lt"/>
          <a:ea typeface="+mn-ea"/>
          <a:cs typeface="+mn-cs"/>
        </a:defRPr>
      </a:lvl2pPr>
      <a:lvl3pPr marL="685749" algn="l" defTabSz="685749" rtl="0" eaLnBrk="1" latinLnBrk="0" hangingPunct="1">
        <a:defRPr sz="1350" kern="1200">
          <a:solidFill>
            <a:schemeClr val="tx1"/>
          </a:solidFill>
          <a:latin typeface="+mn-lt"/>
          <a:ea typeface="+mn-ea"/>
          <a:cs typeface="+mn-cs"/>
        </a:defRPr>
      </a:lvl3pPr>
      <a:lvl4pPr marL="1028624" algn="l" defTabSz="685749" rtl="0" eaLnBrk="1" latinLnBrk="0" hangingPunct="1">
        <a:defRPr sz="1350" kern="1200">
          <a:solidFill>
            <a:schemeClr val="tx1"/>
          </a:solidFill>
          <a:latin typeface="+mn-lt"/>
          <a:ea typeface="+mn-ea"/>
          <a:cs typeface="+mn-cs"/>
        </a:defRPr>
      </a:lvl4pPr>
      <a:lvl5pPr marL="1371498" algn="l" defTabSz="685749" rtl="0" eaLnBrk="1" latinLnBrk="0" hangingPunct="1">
        <a:defRPr sz="1350" kern="1200">
          <a:solidFill>
            <a:schemeClr val="tx1"/>
          </a:solidFill>
          <a:latin typeface="+mn-lt"/>
          <a:ea typeface="+mn-ea"/>
          <a:cs typeface="+mn-cs"/>
        </a:defRPr>
      </a:lvl5pPr>
      <a:lvl6pPr marL="1714373" algn="l" defTabSz="685749" rtl="0" eaLnBrk="1" latinLnBrk="0" hangingPunct="1">
        <a:defRPr sz="1350" kern="1200">
          <a:solidFill>
            <a:schemeClr val="tx1"/>
          </a:solidFill>
          <a:latin typeface="+mn-lt"/>
          <a:ea typeface="+mn-ea"/>
          <a:cs typeface="+mn-cs"/>
        </a:defRPr>
      </a:lvl6pPr>
      <a:lvl7pPr marL="2057246" algn="l" defTabSz="685749" rtl="0" eaLnBrk="1" latinLnBrk="0" hangingPunct="1">
        <a:defRPr sz="1350" kern="1200">
          <a:solidFill>
            <a:schemeClr val="tx1"/>
          </a:solidFill>
          <a:latin typeface="+mn-lt"/>
          <a:ea typeface="+mn-ea"/>
          <a:cs typeface="+mn-cs"/>
        </a:defRPr>
      </a:lvl7pPr>
      <a:lvl8pPr marL="2400120" algn="l" defTabSz="685749" rtl="0" eaLnBrk="1" latinLnBrk="0" hangingPunct="1">
        <a:defRPr sz="1350" kern="1200">
          <a:solidFill>
            <a:schemeClr val="tx1"/>
          </a:solidFill>
          <a:latin typeface="+mn-lt"/>
          <a:ea typeface="+mn-ea"/>
          <a:cs typeface="+mn-cs"/>
        </a:defRPr>
      </a:lvl8pPr>
      <a:lvl9pPr marL="2742995" algn="l" defTabSz="68574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hyperlink" Target="https://www.sba.gov/vboc"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score.org/"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www.sba.gov/tools/local-assistance/sbdc" TargetMode="Externa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hyperlink" Target="https://www.sba.gov/tools/local-assistance/wbc"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www.apexaccelerators.us/#/" TargetMode="External"/><Relationship Id="rId7" Type="http://schemas.openxmlformats.org/officeDocument/2006/relationships/hyperlink" Target="https://advocacy.sba.gov/"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hyperlink" Target="https://www.sbir.gov/about" TargetMode="External"/><Relationship Id="rId5" Type="http://schemas.openxmlformats.org/officeDocument/2006/relationships/hyperlink" Target="https://www.sba.gov/funding-programs/surety-bonds" TargetMode="External"/><Relationship Id="rId4" Type="http://schemas.openxmlformats.org/officeDocument/2006/relationships/hyperlink" Target="https://www.sba.gov/business-guide/grow-your-business/export-products"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6.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hyperlink" Target="https://www.rd.usda.gov/programs-services/community-facilities" TargetMode="External"/><Relationship Id="rId2" Type="http://schemas.openxmlformats.org/officeDocument/2006/relationships/notesSlide" Target="../notesSlides/notesSlide13.xml"/><Relationship Id="rId16" Type="http://schemas.openxmlformats.org/officeDocument/2006/relationships/hyperlink" Target="http://www.rd.usda.gov/" TargetMode="External"/><Relationship Id="rId1" Type="http://schemas.openxmlformats.org/officeDocument/2006/relationships/slideLayout" Target="../slideLayouts/slideLayout21.xml"/><Relationship Id="rId6" Type="http://schemas.openxmlformats.org/officeDocument/2006/relationships/hyperlink" Target="https://www.rd.usda.gov/programs-services/business-programs" TargetMode="External"/><Relationship Id="rId11" Type="http://schemas.openxmlformats.org/officeDocument/2006/relationships/image" Target="../media/image25.svg"/><Relationship Id="rId5" Type="http://schemas.openxmlformats.org/officeDocument/2006/relationships/image" Target="../media/image21.svg"/><Relationship Id="rId15" Type="http://schemas.openxmlformats.org/officeDocument/2006/relationships/hyperlink" Target="https://www.rd.usda.gov/programs-services/telecommunications-programs" TargetMode="External"/><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hyperlink" Target="https://www.rd.usda.gov/programs-services/single-family-housing-programs" TargetMode="External"/><Relationship Id="rId1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hyperlink" Target="https://www.rd.usda.gov/programs-services/business-programs/rural-microentrepreneur-assistance-program" TargetMode="External"/><Relationship Id="rId5" Type="http://schemas.openxmlformats.org/officeDocument/2006/relationships/hyperlink" Target="https://www.rd.usda.gov/programs-services/energy-programs/rural-energy-america-program-renewable-energy-systems-energy-efficiency-improvement-guaranteed-loans" TargetMode="External"/><Relationship Id="rId4" Type="http://schemas.openxmlformats.org/officeDocument/2006/relationships/hyperlink" Target="https://www.rd.usda.gov/programs-services/business-programs/business-industry-loan-guarantee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hyperlink" Target="https://www.rd.usda.gov/about-rd/state-offices" TargetMode="External"/><Relationship Id="rId5" Type="http://schemas.openxmlformats.org/officeDocument/2006/relationships/hyperlink" Target="https://www.maxpixel.net/America-United-States-Map-States-Geography-Usa-5974745" TargetMode="Externa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hyperlink" Target="https://sba.my.site.com/"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hyperlink" Target="https://www.sba.gov/sba-learning-platform" TargetMode="External"/><Relationship Id="rId5" Type="http://schemas.openxmlformats.org/officeDocument/2006/relationships/hyperlink" Target="https://sba.my.site.com/" TargetMode="External"/><Relationship Id="rId4" Type="http://schemas.openxmlformats.org/officeDocument/2006/relationships/hyperlink" Target="https://www.sba.gov/tools/local-assistance"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3584-46D3-54BF-7C16-C9A7F49A74BF}"/>
              </a:ext>
            </a:extLst>
          </p:cNvPr>
          <p:cNvSpPr>
            <a:spLocks noGrp="1"/>
          </p:cNvSpPr>
          <p:nvPr>
            <p:ph type="ctrTitle"/>
          </p:nvPr>
        </p:nvSpPr>
        <p:spPr/>
        <p:txBody>
          <a:bodyPr/>
          <a:lstStyle/>
          <a:p>
            <a:r>
              <a:rPr lang="en-US"/>
              <a:t>Boots to Business Module 8</a:t>
            </a:r>
          </a:p>
        </p:txBody>
      </p:sp>
      <p:sp>
        <p:nvSpPr>
          <p:cNvPr id="3" name="Text Placeholder 2">
            <a:extLst>
              <a:ext uri="{FF2B5EF4-FFF2-40B4-BE49-F238E27FC236}">
                <a16:creationId xmlns:a16="http://schemas.microsoft.com/office/drawing/2014/main" id="{E7C3900C-2F5D-BD73-1427-18A8B10E40A7}"/>
              </a:ext>
            </a:extLst>
          </p:cNvPr>
          <p:cNvSpPr>
            <a:spLocks noGrp="1"/>
          </p:cNvSpPr>
          <p:nvPr>
            <p:ph type="body" sz="quarter" idx="10"/>
          </p:nvPr>
        </p:nvSpPr>
        <p:spPr/>
        <p:txBody>
          <a:bodyPr/>
          <a:lstStyle/>
          <a:p>
            <a:r>
              <a:rPr lang="en-US"/>
              <a:t>Resources to Support Your Efforts</a:t>
            </a:r>
          </a:p>
        </p:txBody>
      </p:sp>
      <p:pic>
        <p:nvPicPr>
          <p:cNvPr id="4" name="Picture 3">
            <a:extLst>
              <a:ext uri="{FF2B5EF4-FFF2-40B4-BE49-F238E27FC236}">
                <a16:creationId xmlns:a16="http://schemas.microsoft.com/office/drawing/2014/main" id="{26EDCFFA-BE13-C243-8D56-B749D4C2B0B1}"/>
              </a:ext>
            </a:extLst>
          </p:cNvPr>
          <p:cNvPicPr>
            <a:picLocks noChangeAspect="1"/>
          </p:cNvPicPr>
          <p:nvPr/>
        </p:nvPicPr>
        <p:blipFill>
          <a:blip r:embed="rId3"/>
          <a:stretch>
            <a:fillRect/>
          </a:stretch>
        </p:blipFill>
        <p:spPr>
          <a:xfrm>
            <a:off x="0" y="5765898"/>
            <a:ext cx="9144000" cy="1190074"/>
          </a:xfrm>
          <a:prstGeom prst="rect">
            <a:avLst/>
          </a:prstGeom>
        </p:spPr>
      </p:pic>
      <p:sp>
        <p:nvSpPr>
          <p:cNvPr id="5" name="TextBox 2">
            <a:extLst>
              <a:ext uri="{FF2B5EF4-FFF2-40B4-BE49-F238E27FC236}">
                <a16:creationId xmlns:a16="http://schemas.microsoft.com/office/drawing/2014/main" id="{4376B285-9DB3-C6DE-02B5-93506953BB25}"/>
              </a:ext>
            </a:extLst>
          </p:cNvPr>
          <p:cNvSpPr txBox="1"/>
          <p:nvPr/>
        </p:nvSpPr>
        <p:spPr>
          <a:xfrm>
            <a:off x="7667066" y="5180026"/>
            <a:ext cx="1480185" cy="3508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80" b="1" i="1"/>
              <a:t>Version 5.0</a:t>
            </a:r>
          </a:p>
        </p:txBody>
      </p:sp>
    </p:spTree>
    <p:extLst>
      <p:ext uri="{BB962C8B-B14F-4D97-AF65-F5344CB8AC3E}">
        <p14:creationId xmlns:p14="http://schemas.microsoft.com/office/powerpoint/2010/main" val="85401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25509A-2646-63B5-E182-E8B3C2CD2C76}"/>
              </a:ext>
            </a:extLst>
          </p:cNvPr>
          <p:cNvSpPr>
            <a:spLocks noGrp="1"/>
          </p:cNvSpPr>
          <p:nvPr>
            <p:ph type="title"/>
          </p:nvPr>
        </p:nvSpPr>
        <p:spPr/>
        <p:txBody>
          <a:bodyPr>
            <a:normAutofit/>
          </a:bodyPr>
          <a:lstStyle/>
          <a:p>
            <a:r>
              <a:rPr lang="en-US" sz="2800"/>
              <a:t>Agenda</a:t>
            </a:r>
          </a:p>
        </p:txBody>
      </p:sp>
      <p:sp>
        <p:nvSpPr>
          <p:cNvPr id="5" name="Content Placeholder 2">
            <a:extLst>
              <a:ext uri="{FF2B5EF4-FFF2-40B4-BE49-F238E27FC236}">
                <a16:creationId xmlns:a16="http://schemas.microsoft.com/office/drawing/2014/main" id="{A9EE2C42-77F0-3ABA-B88B-869ACEEF0213}"/>
              </a:ext>
            </a:extLst>
          </p:cNvPr>
          <p:cNvSpPr txBox="1">
            <a:spLocks/>
          </p:cNvSpPr>
          <p:nvPr/>
        </p:nvSpPr>
        <p:spPr>
          <a:xfrm>
            <a:off x="431800" y="1097228"/>
            <a:ext cx="8280400" cy="474345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lvl="1" eaLnBrk="1" hangingPunct="1">
              <a:spcAft>
                <a:spcPts val="1275"/>
              </a:spcAft>
            </a:pPr>
            <a:r>
              <a:rPr lang="en-US" altLang="en-US" sz="2400">
                <a:solidFill>
                  <a:schemeClr val="tx2"/>
                </a:solidFill>
                <a:latin typeface="Source Sans Pro" panose="020B0503030403020204" pitchFamily="34" charset="0"/>
                <a:ea typeface="Source Sans Pro" panose="020B0503030403020204" pitchFamily="34" charset="0"/>
              </a:rPr>
              <a:t>SBA Resource Partner network</a:t>
            </a:r>
          </a:p>
          <a:p>
            <a:pPr lvl="1" eaLnBrk="1" hangingPunct="1">
              <a:spcAft>
                <a:spcPts val="1275"/>
              </a:spcAft>
            </a:pPr>
            <a:r>
              <a:rPr lang="en-US" altLang="en-US" sz="2400">
                <a:solidFill>
                  <a:schemeClr val="tx2"/>
                </a:solidFill>
                <a:latin typeface="Source Sans Pro" panose="020B0503030403020204" pitchFamily="34" charset="0"/>
                <a:ea typeface="Source Sans Pro" panose="020B0503030403020204" pitchFamily="34" charset="0"/>
              </a:rPr>
              <a:t>Other resources &amp; training</a:t>
            </a:r>
          </a:p>
          <a:p>
            <a:pPr lvl="1" eaLnBrk="1" hangingPunct="1">
              <a:spcAft>
                <a:spcPts val="1275"/>
              </a:spcAft>
            </a:pPr>
            <a:r>
              <a:rPr lang="en-US" altLang="en-US" sz="2400">
                <a:solidFill>
                  <a:schemeClr val="tx2"/>
                </a:solidFill>
                <a:latin typeface="Source Sans Pro" panose="020B0503030403020204" pitchFamily="34" charset="0"/>
                <a:ea typeface="Source Sans Pro" panose="020B0503030403020204" pitchFamily="34" charset="0"/>
              </a:rPr>
              <a:t>B2B Follow-On Training</a:t>
            </a:r>
          </a:p>
          <a:p>
            <a:pPr lvl="1" eaLnBrk="1" hangingPunct="1">
              <a:spcAft>
                <a:spcPts val="1275"/>
              </a:spcAft>
            </a:pPr>
            <a:r>
              <a:rPr lang="en-US" altLang="en-US" sz="2400">
                <a:solidFill>
                  <a:schemeClr val="tx2"/>
                </a:solidFill>
                <a:latin typeface="Source Sans Pro" panose="020B0503030403020204" pitchFamily="34" charset="0"/>
                <a:ea typeface="Source Sans Pro" panose="020B0503030403020204" pitchFamily="34" charset="0"/>
              </a:rPr>
              <a:t>Next Steps</a:t>
            </a:r>
          </a:p>
          <a:p>
            <a:pPr lvl="1" eaLnBrk="1" hangingPunct="1">
              <a:spcAft>
                <a:spcPts val="1275"/>
              </a:spcAft>
            </a:pPr>
            <a:r>
              <a:rPr lang="en-US" altLang="en-US" sz="2400">
                <a:solidFill>
                  <a:schemeClr val="tx2"/>
                </a:solidFill>
                <a:latin typeface="Source Sans Pro" panose="020B0503030403020204" pitchFamily="34" charset="0"/>
                <a:ea typeface="Source Sans Pro" panose="020B0503030403020204" pitchFamily="34" charset="0"/>
              </a:rPr>
              <a:t>Q&amp;A</a:t>
            </a:r>
          </a:p>
        </p:txBody>
      </p:sp>
    </p:spTree>
    <p:extLst>
      <p:ext uri="{BB962C8B-B14F-4D97-AF65-F5344CB8AC3E}">
        <p14:creationId xmlns:p14="http://schemas.microsoft.com/office/powerpoint/2010/main" val="442964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FCA230-529B-10F5-9FBC-5178E80098F1}"/>
              </a:ext>
            </a:extLst>
          </p:cNvPr>
          <p:cNvSpPr>
            <a:spLocks noGrp="1"/>
          </p:cNvSpPr>
          <p:nvPr>
            <p:ph type="sldNum" sz="quarter" idx="4"/>
          </p:nvPr>
        </p:nvSpPr>
        <p:spPr/>
        <p:txBody>
          <a:bodyPr/>
          <a:lstStyle/>
          <a:p>
            <a:fld id="{EF13FA6D-C8B2-4F7A-9B51-E7C42DF59B48}" type="slidenum">
              <a:rPr lang="en-US" smtClean="0"/>
              <a:pPr/>
              <a:t>3</a:t>
            </a:fld>
            <a:endParaRPr lang="en-US" sz="900"/>
          </a:p>
        </p:txBody>
      </p:sp>
      <p:sp>
        <p:nvSpPr>
          <p:cNvPr id="5" name="Title 4">
            <a:extLst>
              <a:ext uri="{FF2B5EF4-FFF2-40B4-BE49-F238E27FC236}">
                <a16:creationId xmlns:a16="http://schemas.microsoft.com/office/drawing/2014/main" id="{20DB0C1E-3E65-1F7E-DA79-1B9F8BB4D1C0}"/>
              </a:ext>
            </a:extLst>
          </p:cNvPr>
          <p:cNvSpPr>
            <a:spLocks noGrp="1"/>
          </p:cNvSpPr>
          <p:nvPr>
            <p:ph type="title"/>
          </p:nvPr>
        </p:nvSpPr>
        <p:spPr/>
        <p:txBody>
          <a:bodyPr>
            <a:normAutofit/>
          </a:bodyPr>
          <a:lstStyle/>
          <a:p>
            <a:r>
              <a:rPr lang="en-US" sz="2800" dirty="0"/>
              <a:t>Veterans Business Outreach Centers</a:t>
            </a:r>
          </a:p>
        </p:txBody>
      </p:sp>
      <p:sp>
        <p:nvSpPr>
          <p:cNvPr id="6" name="Rectangle 3">
            <a:extLst>
              <a:ext uri="{FF2B5EF4-FFF2-40B4-BE49-F238E27FC236}">
                <a16:creationId xmlns:a16="http://schemas.microsoft.com/office/drawing/2014/main" id="{659EB638-D841-D637-78D1-6EE1B3521DDB}"/>
              </a:ext>
            </a:extLst>
          </p:cNvPr>
          <p:cNvSpPr txBox="1">
            <a:spLocks noChangeArrowheads="1"/>
          </p:cNvSpPr>
          <p:nvPr/>
        </p:nvSpPr>
        <p:spPr bwMode="auto">
          <a:xfrm>
            <a:off x="76200" y="1068183"/>
            <a:ext cx="8991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1" tIns="48320" rIns="96641" bIns="48320"/>
          <a:lstStyle>
            <a:lvl1pPr eaLnBrk="0" hangingPunct="0">
              <a:spcBef>
                <a:spcPct val="20000"/>
              </a:spcBef>
              <a:buFont typeface="Arial" pitchFamily="34" charset="0"/>
              <a:buChar char="•"/>
              <a:defRPr sz="3400">
                <a:solidFill>
                  <a:srgbClr val="AB162B"/>
                </a:solidFill>
                <a:latin typeface="Franklin Gothic Medium" pitchFamily="34" charset="0"/>
              </a:defRPr>
            </a:lvl1pPr>
            <a:lvl2pPr marL="800100" indent="-342900" eaLnBrk="0" hangingPunct="0">
              <a:spcBef>
                <a:spcPct val="20000"/>
              </a:spcBef>
              <a:buFont typeface="Arial" pitchFamily="34" charset="0"/>
              <a:buChar char="•"/>
              <a:defRPr sz="3000">
                <a:solidFill>
                  <a:schemeClr val="tx1"/>
                </a:solidFill>
                <a:latin typeface="Franklin Gothic Book" pitchFamily="34" charset="0"/>
              </a:defRPr>
            </a:lvl2pPr>
            <a:lvl3pPr marL="914400" eaLnBrk="0" hangingPunct="0">
              <a:spcBef>
                <a:spcPct val="20000"/>
              </a:spcBef>
              <a:buFont typeface="Arial" pitchFamily="34" charset="0"/>
              <a:buChar char="•"/>
              <a:defRPr sz="2500">
                <a:solidFill>
                  <a:schemeClr val="tx1"/>
                </a:solidFill>
                <a:latin typeface="Franklin Gothic Book" pitchFamily="34" charset="0"/>
              </a:defRPr>
            </a:lvl3pPr>
            <a:lvl4pPr marL="1371600" indent="-241300" eaLnBrk="0" hangingPunct="0">
              <a:spcBef>
                <a:spcPct val="20000"/>
              </a:spcBef>
              <a:buFont typeface="Arial" pitchFamily="34" charset="0"/>
              <a:buChar char="•"/>
              <a:defRPr sz="2100">
                <a:solidFill>
                  <a:schemeClr val="tx1"/>
                </a:solidFill>
                <a:latin typeface="Franklin Gothic Book" pitchFamily="34" charset="0"/>
              </a:defRPr>
            </a:lvl4pPr>
            <a:lvl5pPr marL="1828800" indent="-241300" eaLnBrk="0" hangingPunct="0">
              <a:spcBef>
                <a:spcPct val="20000"/>
              </a:spcBef>
              <a:buFont typeface="Arial" pitchFamily="34" charset="0"/>
              <a:buChar char="•"/>
              <a:defRPr sz="2100">
                <a:solidFill>
                  <a:schemeClr val="tx1"/>
                </a:solidFill>
                <a:latin typeface="Franklin Gothic Book" pitchFamily="34" charset="0"/>
              </a:defRPr>
            </a:lvl5pPr>
            <a:lvl6pPr indent="-2413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6pPr>
            <a:lvl7pPr indent="-2413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7pPr>
            <a:lvl8pPr indent="-2413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8pPr>
            <a:lvl9pPr indent="-2413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9pPr>
          </a:lstStyle>
          <a:p>
            <a:pPr defTabSz="914400" eaLnBrk="1" hangingPunct="1">
              <a:buFont typeface="Arial" pitchFamily="34" charset="0"/>
              <a:buNone/>
            </a:pPr>
            <a:r>
              <a:rPr lang="en-US" altLang="en-US" sz="2400" b="1">
                <a:solidFill>
                  <a:schemeClr val="tx2"/>
                </a:solidFill>
                <a:latin typeface="Source Sans Pro" panose="020B0503030403020204" pitchFamily="34" charset="0"/>
                <a:ea typeface="Source Sans Pro" panose="020B0503030403020204" pitchFamily="34" charset="0"/>
              </a:rPr>
              <a:t>Services</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One-on-One Counseling &amp; Mentorship</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Pre-Business Plan Workshops/Concept Assessments</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Business Plan Assistance</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Feasibility Analysis/Strategy</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Training</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Navigation of Local Programs &amp; Resources</a:t>
            </a:r>
          </a:p>
          <a:p>
            <a:pPr lvl="1" defTabSz="914400" eaLnBrk="1" hangingPunct="1"/>
            <a:r>
              <a:rPr lang="en-US" altLang="en-US" sz="2400">
                <a:solidFill>
                  <a:schemeClr val="tx2"/>
                </a:solidFill>
                <a:latin typeface="Source Sans Pro" panose="020B0503030403020204" pitchFamily="34" charset="0"/>
                <a:ea typeface="Source Sans Pro" panose="020B0503030403020204" pitchFamily="34" charset="0"/>
              </a:rPr>
              <a:t>Other Related Business Development Services</a:t>
            </a:r>
          </a:p>
          <a:p>
            <a:pPr lvl="2" indent="0" defTabSz="914400" eaLnBrk="1" hangingPunct="1">
              <a:buFont typeface="Arial" pitchFamily="34" charset="0"/>
              <a:buNone/>
            </a:pPr>
            <a:r>
              <a:rPr lang="en-US" altLang="en-US" sz="2400">
                <a:solidFill>
                  <a:srgbClr val="000000"/>
                </a:solidFill>
                <a:latin typeface="Source Sans Pro" panose="020B0503030403020204" pitchFamily="34" charset="0"/>
                <a:ea typeface="Source Sans Pro" panose="020B0503030403020204" pitchFamily="34" charset="0"/>
                <a:cs typeface="Franklin Gothic Medium" pitchFamily="34" charset="0"/>
                <a:hlinkClick r:id="rId3"/>
              </a:rPr>
              <a:t>https://www.sba.gov/vboc</a:t>
            </a:r>
            <a:r>
              <a:rPr lang="en-US" altLang="en-US" sz="2400">
                <a:solidFill>
                  <a:srgbClr val="000000"/>
                </a:solidFill>
                <a:latin typeface="Source Sans Pro" panose="020B0503030403020204" pitchFamily="34" charset="0"/>
                <a:ea typeface="Source Sans Pro" panose="020B0503030403020204" pitchFamily="34" charset="0"/>
                <a:cs typeface="Franklin Gothic Medium" pitchFamily="34" charset="0"/>
              </a:rPr>
              <a:t> </a:t>
            </a:r>
          </a:p>
          <a:p>
            <a:pPr algn="ctr" defTabSz="914400" eaLnBrk="1" hangingPunct="1">
              <a:lnSpc>
                <a:spcPct val="90000"/>
              </a:lnSpc>
              <a:buFont typeface="Monotype Sorts"/>
              <a:buNone/>
            </a:pPr>
            <a:endParaRPr lang="en-US" altLang="en-US" sz="3200">
              <a:solidFill>
                <a:srgbClr val="000000"/>
              </a:solidFill>
              <a:ea typeface="Franklin Gothic Medium" pitchFamily="34" charset="0"/>
              <a:cs typeface="Franklin Gothic Medium" pitchFamily="34" charset="0"/>
            </a:endParaRPr>
          </a:p>
        </p:txBody>
      </p:sp>
    </p:spTree>
    <p:extLst>
      <p:ext uri="{BB962C8B-B14F-4D97-AF65-F5344CB8AC3E}">
        <p14:creationId xmlns:p14="http://schemas.microsoft.com/office/powerpoint/2010/main" val="3569456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0A20617-8FE6-67F6-CD8A-797E15ECB45E}"/>
              </a:ext>
            </a:extLst>
          </p:cNvPr>
          <p:cNvSpPr>
            <a:spLocks noGrp="1"/>
          </p:cNvSpPr>
          <p:nvPr>
            <p:ph idx="1"/>
          </p:nvPr>
        </p:nvSpPr>
        <p:spPr/>
        <p:txBody>
          <a:bodyPr>
            <a:normAutofit/>
          </a:bodyPr>
          <a:lstStyle/>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800100" lvl="1" indent="-342900" defTabSz="914400" eaLnBrk="1" hangingPunct="1">
              <a:buFont typeface="Arial" panose="020B0604020202020204" pitchFamily="34" charset="0"/>
              <a:buChar char="•"/>
            </a:pPr>
            <a:endParaRPr lang="en-US" altLang="en-US" sz="2500">
              <a:solidFill>
                <a:srgbClr val="000000"/>
              </a:solidFill>
              <a:latin typeface="Source Sans Pro" panose="020B0503030403020204" pitchFamily="34" charset="0"/>
              <a:ea typeface="Source Sans Pro" panose="020B0503030403020204" pitchFamily="34" charset="0"/>
            </a:endParaRPr>
          </a:p>
          <a:p>
            <a:pPr marL="457200" lvl="1" indent="0" defTabSz="914400" eaLnBrk="1" hangingPunct="1">
              <a:buNone/>
            </a:pPr>
            <a:endParaRPr lang="en-US" altLang="en-US" sz="2500">
              <a:solidFill>
                <a:srgbClr val="000000"/>
              </a:solidFill>
              <a:latin typeface="Source Sans Pro" panose="020B0503030403020204" pitchFamily="34" charset="0"/>
              <a:ea typeface="Source Sans Pro" panose="020B0503030403020204" pitchFamily="34" charset="0"/>
            </a:endParaRPr>
          </a:p>
          <a:p>
            <a:pPr marL="114325" indent="0" defTabSz="914400">
              <a:buNone/>
            </a:pPr>
            <a:r>
              <a:rPr lang="en-US" altLang="en-US" sz="1800" b="1">
                <a:solidFill>
                  <a:schemeClr val="tx2"/>
                </a:solidFill>
                <a:latin typeface="Source Sans Pro" panose="020B0503030403020204" pitchFamily="34" charset="0"/>
                <a:ea typeface="Source Sans Pro" panose="020B0503030403020204" pitchFamily="34" charset="0"/>
              </a:rPr>
              <a:t>Result</a:t>
            </a:r>
            <a:r>
              <a:rPr lang="en-US" altLang="en-US" sz="1800">
                <a:solidFill>
                  <a:schemeClr val="tx2"/>
                </a:solidFill>
                <a:latin typeface="Source Sans Pro" panose="020B0503030403020204" pitchFamily="34" charset="0"/>
                <a:ea typeface="Source Sans Pro" panose="020B0503030403020204" pitchFamily="34" charset="0"/>
              </a:rPr>
              <a:t>:</a:t>
            </a:r>
          </a:p>
          <a:p>
            <a:pPr marL="1200150" lvl="2" indent="-285750" defTabSz="914400" eaLnBrk="1" hangingPunct="1">
              <a:buFont typeface="Arial" panose="020B0604020202020204" pitchFamily="34" charset="0"/>
              <a:buChar char="•"/>
            </a:pPr>
            <a:r>
              <a:rPr lang="en-US" altLang="en-US">
                <a:solidFill>
                  <a:schemeClr val="tx2"/>
                </a:solidFill>
                <a:latin typeface="Source Sans Pro" panose="020B0503030403020204" pitchFamily="34" charset="0"/>
                <a:ea typeface="Source Sans Pro" panose="020B0503030403020204" pitchFamily="34" charset="0"/>
              </a:rPr>
              <a:t>The couple received an SBA-backed loan to help them get started</a:t>
            </a:r>
          </a:p>
          <a:p>
            <a:pPr marL="1200150" lvl="2" indent="-285750" defTabSz="914400" eaLnBrk="1" hangingPunct="1">
              <a:buFont typeface="Arial" panose="020B0604020202020204" pitchFamily="34" charset="0"/>
              <a:buChar char="•"/>
            </a:pPr>
            <a:r>
              <a:rPr lang="en-US" altLang="en-US">
                <a:solidFill>
                  <a:schemeClr val="tx2"/>
                </a:solidFill>
                <a:latin typeface="Source Sans Pro" panose="020B0503030403020204" pitchFamily="34" charset="0"/>
                <a:ea typeface="Source Sans Pro" panose="020B0503030403020204" pitchFamily="34" charset="0"/>
              </a:rPr>
              <a:t>Bold Mariner Brewing Company opened their doors in 2015</a:t>
            </a:r>
          </a:p>
          <a:p>
            <a:pPr marL="0" indent="0">
              <a:buNone/>
            </a:pPr>
            <a:endParaRPr lang="en-US"/>
          </a:p>
        </p:txBody>
      </p:sp>
      <p:sp>
        <p:nvSpPr>
          <p:cNvPr id="4" name="Slide Number Placeholder 3">
            <a:extLst>
              <a:ext uri="{FF2B5EF4-FFF2-40B4-BE49-F238E27FC236}">
                <a16:creationId xmlns:a16="http://schemas.microsoft.com/office/drawing/2014/main" id="{4D02AC5F-897D-FA47-4852-010B55E89F1D}"/>
              </a:ext>
            </a:extLst>
          </p:cNvPr>
          <p:cNvSpPr>
            <a:spLocks noGrp="1"/>
          </p:cNvSpPr>
          <p:nvPr>
            <p:ph type="sldNum" sz="quarter" idx="4"/>
          </p:nvPr>
        </p:nvSpPr>
        <p:spPr/>
        <p:txBody>
          <a:bodyPr/>
          <a:lstStyle/>
          <a:p>
            <a:fld id="{EF13FA6D-C8B2-4F7A-9B51-E7C42DF59B48}" type="slidenum">
              <a:rPr lang="en-US" smtClean="0"/>
              <a:pPr/>
              <a:t>4</a:t>
            </a:fld>
            <a:endParaRPr lang="en-US" sz="900"/>
          </a:p>
        </p:txBody>
      </p:sp>
      <p:sp>
        <p:nvSpPr>
          <p:cNvPr id="7" name="Text Placeholder 6">
            <a:extLst>
              <a:ext uri="{FF2B5EF4-FFF2-40B4-BE49-F238E27FC236}">
                <a16:creationId xmlns:a16="http://schemas.microsoft.com/office/drawing/2014/main" id="{3C1A3CBD-5DB0-1FDC-CC8E-4A1031A228FF}"/>
              </a:ext>
            </a:extLst>
          </p:cNvPr>
          <p:cNvSpPr>
            <a:spLocks noGrp="1"/>
          </p:cNvSpPr>
          <p:nvPr>
            <p:ph type="body" sz="half" idx="14"/>
          </p:nvPr>
        </p:nvSpPr>
        <p:spPr/>
        <p:txBody>
          <a:bodyPr>
            <a:normAutofit lnSpcReduction="10000"/>
          </a:bodyPr>
          <a:lstStyle/>
          <a:p>
            <a:pPr defTabSz="914400"/>
            <a:r>
              <a:rPr lang="en-US" altLang="en-US" sz="1800">
                <a:solidFill>
                  <a:schemeClr val="tx2"/>
                </a:solidFill>
                <a:latin typeface="Source Sans Pro" panose="020B0503030403020204" pitchFamily="34" charset="0"/>
                <a:ea typeface="Source Sans Pro" panose="020B0503030403020204" pitchFamily="34" charset="0"/>
              </a:rPr>
              <a:t>Michael &amp; Kerrie Stacks</a:t>
            </a:r>
          </a:p>
          <a:p>
            <a:pPr marL="971499" lvl="2" indent="-28575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Active-Duty sailor and spouse who wanted to start micro-brewery</a:t>
            </a:r>
          </a:p>
          <a:p>
            <a:pPr defTabSz="914400"/>
            <a:r>
              <a:rPr lang="en-US" altLang="en-US" sz="1800">
                <a:solidFill>
                  <a:schemeClr val="tx2"/>
                </a:solidFill>
                <a:latin typeface="Source Sans Pro" panose="020B0503030403020204" pitchFamily="34" charset="0"/>
                <a:ea typeface="Source Sans Pro" panose="020B0503030403020204" pitchFamily="34" charset="0"/>
              </a:rPr>
              <a:t>Connected with local VBOC, who helped them:</a:t>
            </a:r>
          </a:p>
          <a:p>
            <a:pPr marL="971499" lvl="2" indent="-28575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Develop a business plan</a:t>
            </a:r>
          </a:p>
          <a:p>
            <a:pPr marL="971499" lvl="2" indent="-28575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Create financial projections</a:t>
            </a:r>
          </a:p>
          <a:p>
            <a:pPr marL="971499" lvl="2" indent="-28575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Apply for financing</a:t>
            </a:r>
          </a:p>
          <a:p>
            <a:endParaRPr lang="en-US"/>
          </a:p>
        </p:txBody>
      </p:sp>
      <p:sp>
        <p:nvSpPr>
          <p:cNvPr id="8" name="Text Placeholder 7">
            <a:extLst>
              <a:ext uri="{FF2B5EF4-FFF2-40B4-BE49-F238E27FC236}">
                <a16:creationId xmlns:a16="http://schemas.microsoft.com/office/drawing/2014/main" id="{34EB534A-4333-0BD2-A86B-E2053B828829}"/>
              </a:ext>
            </a:extLst>
          </p:cNvPr>
          <p:cNvSpPr>
            <a:spLocks noGrp="1"/>
          </p:cNvSpPr>
          <p:nvPr>
            <p:ph type="body" idx="15"/>
          </p:nvPr>
        </p:nvSpPr>
        <p:spPr/>
        <p:txBody>
          <a:bodyPr>
            <a:normAutofit/>
          </a:bodyPr>
          <a:lstStyle/>
          <a:p>
            <a:r>
              <a:rPr lang="en-US" sz="2400"/>
              <a:t>VBOC Client</a:t>
            </a:r>
          </a:p>
        </p:txBody>
      </p:sp>
      <p:sp>
        <p:nvSpPr>
          <p:cNvPr id="13" name="Title 12">
            <a:extLst>
              <a:ext uri="{FF2B5EF4-FFF2-40B4-BE49-F238E27FC236}">
                <a16:creationId xmlns:a16="http://schemas.microsoft.com/office/drawing/2014/main" id="{9F2875FA-734D-14D7-8E9F-06D4AE1E1824}"/>
              </a:ext>
            </a:extLst>
          </p:cNvPr>
          <p:cNvSpPr>
            <a:spLocks noGrp="1"/>
          </p:cNvSpPr>
          <p:nvPr>
            <p:ph type="title"/>
          </p:nvPr>
        </p:nvSpPr>
        <p:spPr/>
        <p:txBody>
          <a:bodyPr>
            <a:normAutofit/>
          </a:bodyPr>
          <a:lstStyle/>
          <a:p>
            <a:r>
              <a:rPr lang="en-US" sz="2800" dirty="0"/>
              <a:t>Veterans Business Outreach Centers</a:t>
            </a:r>
          </a:p>
        </p:txBody>
      </p:sp>
      <p:pic>
        <p:nvPicPr>
          <p:cNvPr id="10" name="Picture 9">
            <a:extLst>
              <a:ext uri="{FF2B5EF4-FFF2-40B4-BE49-F238E27FC236}">
                <a16:creationId xmlns:a16="http://schemas.microsoft.com/office/drawing/2014/main" id="{22E5BD47-5031-49E1-BDF9-7EDD2742FB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4030512" y="1208955"/>
            <a:ext cx="4457576" cy="2603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95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5DBF2D-B200-BC61-1243-D804155362C7}"/>
              </a:ext>
            </a:extLst>
          </p:cNvPr>
          <p:cNvSpPr>
            <a:spLocks noGrp="1"/>
          </p:cNvSpPr>
          <p:nvPr>
            <p:ph type="sldNum" sz="quarter" idx="4"/>
          </p:nvPr>
        </p:nvSpPr>
        <p:spPr/>
        <p:txBody>
          <a:bodyPr/>
          <a:lstStyle/>
          <a:p>
            <a:fld id="{EF13FA6D-C8B2-4F7A-9B51-E7C42DF59B48}" type="slidenum">
              <a:rPr lang="en-US" smtClean="0"/>
              <a:pPr/>
              <a:t>5</a:t>
            </a:fld>
            <a:endParaRPr lang="en-US" sz="900"/>
          </a:p>
        </p:txBody>
      </p:sp>
      <p:sp>
        <p:nvSpPr>
          <p:cNvPr id="3" name="Title 2">
            <a:extLst>
              <a:ext uri="{FF2B5EF4-FFF2-40B4-BE49-F238E27FC236}">
                <a16:creationId xmlns:a16="http://schemas.microsoft.com/office/drawing/2014/main" id="{9D183DAA-8CF6-C648-7760-C7DB08BFD34A}"/>
              </a:ext>
            </a:extLst>
          </p:cNvPr>
          <p:cNvSpPr>
            <a:spLocks noGrp="1"/>
          </p:cNvSpPr>
          <p:nvPr>
            <p:ph type="title"/>
          </p:nvPr>
        </p:nvSpPr>
        <p:spPr/>
        <p:txBody>
          <a:bodyPr>
            <a:normAutofit/>
          </a:bodyPr>
          <a:lstStyle/>
          <a:p>
            <a:r>
              <a:rPr lang="en-US" sz="2800"/>
              <a:t>SCORE</a:t>
            </a:r>
          </a:p>
        </p:txBody>
      </p:sp>
      <p:sp>
        <p:nvSpPr>
          <p:cNvPr id="4" name="Rectangle 3">
            <a:extLst>
              <a:ext uri="{FF2B5EF4-FFF2-40B4-BE49-F238E27FC236}">
                <a16:creationId xmlns:a16="http://schemas.microsoft.com/office/drawing/2014/main" id="{41849D29-7EA0-05C7-FA33-06DA111FE381}"/>
              </a:ext>
            </a:extLst>
          </p:cNvPr>
          <p:cNvSpPr txBox="1">
            <a:spLocks noChangeArrowheads="1"/>
          </p:cNvSpPr>
          <p:nvPr/>
        </p:nvSpPr>
        <p:spPr>
          <a:xfrm>
            <a:off x="190500" y="1097228"/>
            <a:ext cx="8763000" cy="4800600"/>
          </a:xfrm>
          <a:prstGeom prst="rect">
            <a:avLst/>
          </a:prstGeom>
        </p:spPr>
        <p:txBody>
          <a:bodyPr lIns="96641" tIns="48320" rIns="96641" bIns="4832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en-US" sz="2400" b="1">
                <a:solidFill>
                  <a:schemeClr val="tx2"/>
                </a:solidFill>
                <a:latin typeface="Source Sans Pro" panose="020B0503030403020204" pitchFamily="34" charset="0"/>
                <a:ea typeface="Source Sans Pro" panose="020B0503030403020204" pitchFamily="34" charset="0"/>
              </a:rPr>
              <a:t>Services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Mentoring</a:t>
            </a:r>
          </a:p>
          <a:p>
            <a:pPr marL="1257300" lvl="2" indent="-342900" algn="l" fontAlgn="auto">
              <a:spcAft>
                <a:spcPts val="0"/>
              </a:spcAft>
              <a:buFont typeface="Arial" pitchFamily="34" charset="0"/>
              <a:buChar char="•"/>
              <a:defRPr/>
            </a:pPr>
            <a:r>
              <a:rPr lang="en-US">
                <a:solidFill>
                  <a:schemeClr val="tx2"/>
                </a:solidFill>
                <a:latin typeface="Source Sans Pro" panose="020B0503030403020204" pitchFamily="34" charset="0"/>
                <a:ea typeface="Source Sans Pro" panose="020B0503030403020204" pitchFamily="34" charset="0"/>
              </a:rPr>
              <a:t>Online</a:t>
            </a:r>
          </a:p>
          <a:p>
            <a:pPr marL="1257300" lvl="2" indent="-342900" algn="l" fontAlgn="auto">
              <a:spcAft>
                <a:spcPts val="0"/>
              </a:spcAft>
              <a:buFont typeface="Arial" pitchFamily="34" charset="0"/>
              <a:buChar char="•"/>
              <a:defRPr/>
            </a:pPr>
            <a:r>
              <a:rPr lang="en-US">
                <a:solidFill>
                  <a:schemeClr val="tx2"/>
                </a:solidFill>
                <a:latin typeface="Source Sans Pro" panose="020B0503030403020204" pitchFamily="34" charset="0"/>
                <a:ea typeface="Source Sans Pro" panose="020B0503030403020204" pitchFamily="34" charset="0"/>
              </a:rPr>
              <a:t>In-Person</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Business Tools and Templates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Workshops</a:t>
            </a:r>
          </a:p>
          <a:p>
            <a:pPr marL="1257300" lvl="2" indent="-342900" algn="l" fontAlgn="auto">
              <a:spcAft>
                <a:spcPts val="0"/>
              </a:spcAft>
              <a:buFont typeface="Arial" pitchFamily="34" charset="0"/>
              <a:buChar char="•"/>
              <a:defRPr/>
            </a:pPr>
            <a:r>
              <a:rPr lang="en-US">
                <a:solidFill>
                  <a:schemeClr val="tx2"/>
                </a:solidFill>
                <a:latin typeface="Source Sans Pro" panose="020B0503030403020204" pitchFamily="34" charset="0"/>
                <a:ea typeface="Source Sans Pro" panose="020B0503030403020204" pitchFamily="34" charset="0"/>
              </a:rPr>
              <a:t>Online</a:t>
            </a:r>
          </a:p>
          <a:p>
            <a:pPr marL="1257300" lvl="2" indent="-342900" algn="l" fontAlgn="auto">
              <a:spcAft>
                <a:spcPts val="0"/>
              </a:spcAft>
              <a:buFont typeface="Arial" pitchFamily="34" charset="0"/>
              <a:buChar char="•"/>
              <a:defRPr/>
            </a:pPr>
            <a:r>
              <a:rPr lang="en-US">
                <a:solidFill>
                  <a:schemeClr val="tx2"/>
                </a:solidFill>
                <a:latin typeface="Source Sans Pro" panose="020B0503030403020204" pitchFamily="34" charset="0"/>
                <a:ea typeface="Source Sans Pro" panose="020B0503030403020204" pitchFamily="34" charset="0"/>
              </a:rPr>
              <a:t>In-Person</a:t>
            </a:r>
          </a:p>
          <a:p>
            <a:pPr lvl="1" fontAlgn="auto">
              <a:spcAft>
                <a:spcPts val="0"/>
              </a:spcAft>
              <a:defRPr/>
            </a:pPr>
            <a:r>
              <a:rPr lang="en-US" sz="2400">
                <a:solidFill>
                  <a:schemeClr val="tx2"/>
                </a:solidFill>
                <a:latin typeface="Source Sans Pro" panose="020B0503030403020204" pitchFamily="34" charset="0"/>
                <a:ea typeface="Source Sans Pro" panose="020B0503030403020204" pitchFamily="34" charset="0"/>
                <a:hlinkClick r:id="rId3">
                  <a:extLst>
                    <a:ext uri="{A12FA001-AC4F-418D-AE19-62706E023703}">
                      <ahyp:hlinkClr xmlns:ahyp="http://schemas.microsoft.com/office/drawing/2018/hyperlinkcolor" val="tx"/>
                    </a:ext>
                  </a:extLst>
                </a:hlinkClick>
              </a:rPr>
              <a:t>https://www.score.org/</a:t>
            </a:r>
            <a:r>
              <a:rPr lang="en-US" sz="2400">
                <a:solidFill>
                  <a:schemeClr val="tx2"/>
                </a:solidFill>
                <a:latin typeface="Source Sans Pro" panose="020B0503030403020204" pitchFamily="34" charset="0"/>
                <a:ea typeface="Source Sans Pro" panose="020B0503030403020204" pitchFamily="34" charset="0"/>
              </a:rPr>
              <a:t> </a:t>
            </a:r>
          </a:p>
          <a:p>
            <a:pPr marL="2236495" indent="-1989858" fontAlgn="auto">
              <a:lnSpc>
                <a:spcPct val="90000"/>
              </a:lnSpc>
              <a:spcAft>
                <a:spcPts val="0"/>
              </a:spcAft>
              <a:defRPr/>
            </a:pPr>
            <a:endParaRPr lang="en-US" sz="2400">
              <a:solidFill>
                <a:srgbClr val="000000"/>
              </a:solidFill>
              <a:latin typeface="Source Sans Pro" panose="020B0503030403020204" pitchFamily="34" charset="0"/>
              <a:ea typeface="Source Sans Pro" panose="020B0503030403020204" pitchFamily="34" charset="0"/>
              <a:cs typeface="Franklin Gothic Medium"/>
            </a:endParaRPr>
          </a:p>
          <a:p>
            <a:pPr fontAlgn="auto">
              <a:lnSpc>
                <a:spcPct val="90000"/>
              </a:lnSpc>
              <a:spcAft>
                <a:spcPts val="0"/>
              </a:spcAft>
              <a:buFont typeface="Monotype Sorts"/>
              <a:buNone/>
              <a:defRPr/>
            </a:pPr>
            <a:endParaRPr lang="en-US">
              <a:solidFill>
                <a:srgbClr val="000000"/>
              </a:solidFill>
              <a:latin typeface="Franklin Gothic Medium"/>
              <a:cs typeface="Franklin Gothic Medium"/>
            </a:endParaRPr>
          </a:p>
        </p:txBody>
      </p:sp>
    </p:spTree>
    <p:extLst>
      <p:ext uri="{BB962C8B-B14F-4D97-AF65-F5344CB8AC3E}">
        <p14:creationId xmlns:p14="http://schemas.microsoft.com/office/powerpoint/2010/main" val="2612689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876923-AB4F-490E-2C77-EAF1E6F56169}"/>
              </a:ext>
            </a:extLst>
          </p:cNvPr>
          <p:cNvSpPr>
            <a:spLocks noGrp="1"/>
          </p:cNvSpPr>
          <p:nvPr>
            <p:ph type="sldNum" sz="quarter" idx="4"/>
          </p:nvPr>
        </p:nvSpPr>
        <p:spPr/>
        <p:txBody>
          <a:bodyPr/>
          <a:lstStyle/>
          <a:p>
            <a:fld id="{EF13FA6D-C8B2-4F7A-9B51-E7C42DF59B48}" type="slidenum">
              <a:rPr lang="en-US" smtClean="0"/>
              <a:pPr/>
              <a:t>6</a:t>
            </a:fld>
            <a:endParaRPr lang="en-US" sz="900"/>
          </a:p>
        </p:txBody>
      </p:sp>
      <p:sp>
        <p:nvSpPr>
          <p:cNvPr id="7" name="Text Placeholder 6">
            <a:extLst>
              <a:ext uri="{FF2B5EF4-FFF2-40B4-BE49-F238E27FC236}">
                <a16:creationId xmlns:a16="http://schemas.microsoft.com/office/drawing/2014/main" id="{3BA4C09E-B540-BAD5-BF93-6AA7BCD3F7C0}"/>
              </a:ext>
            </a:extLst>
          </p:cNvPr>
          <p:cNvSpPr>
            <a:spLocks noGrp="1"/>
          </p:cNvSpPr>
          <p:nvPr>
            <p:ph type="body" sz="half" idx="14"/>
          </p:nvPr>
        </p:nvSpPr>
        <p:spPr>
          <a:xfrm>
            <a:off x="0" y="2132900"/>
            <a:ext cx="3861978" cy="3827252"/>
          </a:xfrm>
        </p:spPr>
        <p:txBody>
          <a:bodyPr>
            <a:normAutofit/>
          </a:bodyPr>
          <a:lstStyle/>
          <a:p>
            <a:pPr marL="800100" lvl="1" indent="-342900" defTabSz="914400" eaLnBrk="1" hangingPunct="1">
              <a:buFont typeface="Arial" panose="020B0604020202020204" pitchFamily="34" charset="0"/>
              <a:buChar char="•"/>
            </a:pPr>
            <a:r>
              <a:rPr lang="en-US" altLang="en-US" sz="1800" b="1">
                <a:solidFill>
                  <a:schemeClr val="tx2"/>
                </a:solidFill>
                <a:latin typeface="Source Sans Pro" panose="020B0503030403020204" pitchFamily="34" charset="0"/>
                <a:ea typeface="Source Sans Pro" panose="020B0503030403020204" pitchFamily="34" charset="0"/>
              </a:rPr>
              <a:t>Gary Peterson</a:t>
            </a:r>
          </a:p>
          <a:p>
            <a:pPr marL="1257300" lvl="2" indent="-34290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Retired Air Force Major, looking to turn a passion for automobiles into a business</a:t>
            </a:r>
          </a:p>
          <a:p>
            <a:pPr marL="800100" lvl="1" indent="-342900" defTabSz="914400" eaLnBrk="1" hangingPunct="1">
              <a:buFont typeface="Arial" panose="020B0604020202020204" pitchFamily="34" charset="0"/>
              <a:buChar char="•"/>
            </a:pPr>
            <a:r>
              <a:rPr lang="en-US" altLang="en-US" sz="1800" b="1">
                <a:solidFill>
                  <a:schemeClr val="tx2"/>
                </a:solidFill>
                <a:latin typeface="Source Sans Pro" panose="020B0503030403020204" pitchFamily="34" charset="0"/>
                <a:ea typeface="Source Sans Pro" panose="020B0503030403020204" pitchFamily="34" charset="0"/>
              </a:rPr>
              <a:t>Connected with local SCORE, who helped him:</a:t>
            </a:r>
          </a:p>
          <a:p>
            <a:pPr marL="1257300" lvl="2" indent="-34290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Develop and scale his business idea</a:t>
            </a:r>
          </a:p>
          <a:p>
            <a:pPr marL="1257300" lvl="2" indent="-34290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Attend executive level training</a:t>
            </a:r>
          </a:p>
          <a:p>
            <a:pPr marL="1257300" lvl="2" indent="-342900" defTabSz="914400" eaLnBrk="1" hangingPunct="1">
              <a:buFont typeface="Arial" panose="020B0604020202020204" pitchFamily="34" charset="0"/>
              <a:buChar char="•"/>
            </a:pPr>
            <a:r>
              <a:rPr lang="en-US" altLang="en-US" sz="1800">
                <a:solidFill>
                  <a:schemeClr val="tx2"/>
                </a:solidFill>
                <a:latin typeface="Source Sans Pro" panose="020B0503030403020204" pitchFamily="34" charset="0"/>
                <a:ea typeface="Source Sans Pro" panose="020B0503030403020204" pitchFamily="34" charset="0"/>
              </a:rPr>
              <a:t>Build a network of business advisors</a:t>
            </a:r>
          </a:p>
          <a:p>
            <a:endParaRPr lang="en-US"/>
          </a:p>
        </p:txBody>
      </p:sp>
      <p:sp>
        <p:nvSpPr>
          <p:cNvPr id="8" name="Text Placeholder 7">
            <a:extLst>
              <a:ext uri="{FF2B5EF4-FFF2-40B4-BE49-F238E27FC236}">
                <a16:creationId xmlns:a16="http://schemas.microsoft.com/office/drawing/2014/main" id="{8D2BFE65-835E-E116-A230-13F07E2EE937}"/>
              </a:ext>
            </a:extLst>
          </p:cNvPr>
          <p:cNvSpPr>
            <a:spLocks noGrp="1"/>
          </p:cNvSpPr>
          <p:nvPr>
            <p:ph type="body" idx="15"/>
          </p:nvPr>
        </p:nvSpPr>
        <p:spPr/>
        <p:txBody>
          <a:bodyPr>
            <a:normAutofit/>
          </a:bodyPr>
          <a:lstStyle/>
          <a:p>
            <a:r>
              <a:rPr lang="en-US" sz="2400"/>
              <a:t>SCORE Client</a:t>
            </a:r>
          </a:p>
        </p:txBody>
      </p:sp>
      <p:sp>
        <p:nvSpPr>
          <p:cNvPr id="5" name="Title 4">
            <a:extLst>
              <a:ext uri="{FF2B5EF4-FFF2-40B4-BE49-F238E27FC236}">
                <a16:creationId xmlns:a16="http://schemas.microsoft.com/office/drawing/2014/main" id="{296FF853-F9E7-C5DB-5F94-9EC729E8CF5F}"/>
              </a:ext>
            </a:extLst>
          </p:cNvPr>
          <p:cNvSpPr>
            <a:spLocks noGrp="1"/>
          </p:cNvSpPr>
          <p:nvPr>
            <p:ph type="title"/>
          </p:nvPr>
        </p:nvSpPr>
        <p:spPr/>
        <p:txBody>
          <a:bodyPr>
            <a:normAutofit/>
          </a:bodyPr>
          <a:lstStyle/>
          <a:p>
            <a:r>
              <a:rPr lang="en-US" sz="2800"/>
              <a:t>SCORE</a:t>
            </a:r>
          </a:p>
        </p:txBody>
      </p:sp>
      <p:pic>
        <p:nvPicPr>
          <p:cNvPr id="9" name="Content Placeholder 8">
            <a:extLst>
              <a:ext uri="{FF2B5EF4-FFF2-40B4-BE49-F238E27FC236}">
                <a16:creationId xmlns:a16="http://schemas.microsoft.com/office/drawing/2014/main" id="{1D9EB939-F50C-E951-91C4-A45BF8495B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p:blipFill>
        <p:spPr bwMode="auto">
          <a:xfrm>
            <a:off x="4037743" y="1186958"/>
            <a:ext cx="41199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4720B93-1303-EE88-C9D9-323DA492E138}"/>
              </a:ext>
            </a:extLst>
          </p:cNvPr>
          <p:cNvPicPr/>
          <p:nvPr/>
        </p:nvPicPr>
        <p:blipFill>
          <a:blip r:embed="rId4">
            <a:extLst>
              <a:ext uri="{28A0092B-C50C-407E-A947-70E740481C1C}">
                <a14:useLocalDpi xmlns:a14="http://schemas.microsoft.com/office/drawing/2010/main" val="0"/>
              </a:ext>
            </a:extLst>
          </a:blip>
          <a:srcRect/>
          <a:stretch/>
        </p:blipFill>
        <p:spPr>
          <a:xfrm>
            <a:off x="5498694" y="3511888"/>
            <a:ext cx="1219200" cy="990600"/>
          </a:xfrm>
          <a:prstGeom prst="rect">
            <a:avLst/>
          </a:prstGeom>
        </p:spPr>
      </p:pic>
      <p:sp>
        <p:nvSpPr>
          <p:cNvPr id="11" name="TextBox 10">
            <a:extLst>
              <a:ext uri="{FF2B5EF4-FFF2-40B4-BE49-F238E27FC236}">
                <a16:creationId xmlns:a16="http://schemas.microsoft.com/office/drawing/2014/main" id="{C03E8A0A-B914-9203-537D-29263EAF8066}"/>
              </a:ext>
            </a:extLst>
          </p:cNvPr>
          <p:cNvSpPr txBox="1"/>
          <p:nvPr/>
        </p:nvSpPr>
        <p:spPr>
          <a:xfrm>
            <a:off x="4714524" y="5332288"/>
            <a:ext cx="45719" cy="369332"/>
          </a:xfrm>
          <a:prstGeom prst="rect">
            <a:avLst/>
          </a:prstGeom>
          <a:noFill/>
        </p:spPr>
        <p:txBody>
          <a:bodyPr wrap="square" rtlCol="0">
            <a:spAutoFit/>
          </a:bodyPr>
          <a:lstStyle/>
          <a:p>
            <a:endParaRPr lang="en-US"/>
          </a:p>
        </p:txBody>
      </p:sp>
      <p:sp>
        <p:nvSpPr>
          <p:cNvPr id="12" name="TextBox 11">
            <a:extLst>
              <a:ext uri="{FF2B5EF4-FFF2-40B4-BE49-F238E27FC236}">
                <a16:creationId xmlns:a16="http://schemas.microsoft.com/office/drawing/2014/main" id="{DF965A20-34A8-5EB7-9401-948AADCE9F5C}"/>
              </a:ext>
            </a:extLst>
          </p:cNvPr>
          <p:cNvSpPr txBox="1"/>
          <p:nvPr/>
        </p:nvSpPr>
        <p:spPr>
          <a:xfrm>
            <a:off x="3719244" y="4380716"/>
            <a:ext cx="4232953" cy="1754326"/>
          </a:xfrm>
          <a:prstGeom prst="rect">
            <a:avLst/>
          </a:prstGeom>
          <a:noFill/>
        </p:spPr>
        <p:txBody>
          <a:bodyPr wrap="square" rtlCol="0">
            <a:spAutoFit/>
          </a:bodyPr>
          <a:lstStyle/>
          <a:p>
            <a:pPr marL="800100" lvl="1" indent="-342900" defTabSz="914400" eaLnBrk="1" hangingPunct="1">
              <a:buFont typeface="Arial" panose="020B0604020202020204" pitchFamily="34" charset="0"/>
              <a:buChar char="•"/>
            </a:pPr>
            <a:r>
              <a:rPr lang="en-US" altLang="en-US" b="1">
                <a:solidFill>
                  <a:schemeClr val="tx2"/>
                </a:solidFill>
                <a:latin typeface="Source Sans Pro" panose="020B0503030403020204" pitchFamily="34" charset="0"/>
                <a:ea typeface="Source Sans Pro" panose="020B0503030403020204" pitchFamily="34" charset="0"/>
              </a:rPr>
              <a:t>Result</a:t>
            </a:r>
            <a:r>
              <a:rPr lang="en-US" altLang="en-US">
                <a:solidFill>
                  <a:schemeClr val="tx2"/>
                </a:solidFill>
                <a:latin typeface="Source Sans Pro" panose="020B0503030403020204" pitchFamily="34" charset="0"/>
                <a:ea typeface="Source Sans Pro" panose="020B0503030403020204" pitchFamily="34" charset="0"/>
              </a:rPr>
              <a:t>:</a:t>
            </a:r>
          </a:p>
          <a:p>
            <a:pPr marL="1200150" lvl="2" indent="-285750" defTabSz="914400" eaLnBrk="1" hangingPunct="1">
              <a:buFont typeface="Arial" panose="020B0604020202020204" pitchFamily="34" charset="0"/>
              <a:buChar char="•"/>
            </a:pPr>
            <a:r>
              <a:rPr lang="en-US" altLang="en-US">
                <a:solidFill>
                  <a:schemeClr val="tx2"/>
                </a:solidFill>
                <a:latin typeface="Source Sans Pro" panose="020B0503030403020204" pitchFamily="34" charset="0"/>
                <a:ea typeface="Source Sans Pro" panose="020B0503030403020204" pitchFamily="34" charset="0"/>
              </a:rPr>
              <a:t>One Community Auto opened their doors in 2017</a:t>
            </a:r>
          </a:p>
          <a:p>
            <a:pPr marL="1200150" lvl="2" indent="-285750" defTabSz="914400" eaLnBrk="1" hangingPunct="1">
              <a:buFont typeface="Arial" panose="020B0604020202020204" pitchFamily="34" charset="0"/>
              <a:buChar char="•"/>
            </a:pPr>
            <a:r>
              <a:rPr lang="en-US" altLang="en-US">
                <a:solidFill>
                  <a:schemeClr val="tx2"/>
                </a:solidFill>
                <a:latin typeface="Source Sans Pro" panose="020B0503030403020204" pitchFamily="34" charset="0"/>
                <a:ea typeface="Source Sans Pro" panose="020B0503030403020204" pitchFamily="34" charset="0"/>
              </a:rPr>
              <a:t>One Community Auto named a SCORE Small Business Champion</a:t>
            </a:r>
          </a:p>
        </p:txBody>
      </p:sp>
    </p:spTree>
    <p:extLst>
      <p:ext uri="{BB962C8B-B14F-4D97-AF65-F5344CB8AC3E}">
        <p14:creationId xmlns:p14="http://schemas.microsoft.com/office/powerpoint/2010/main" val="207586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par>
                                <p:cTn id="8" presetID="1" presetClass="entr" presetSubtype="0" fill="hold" nodeType="withEffect">
                                  <p:stCondLst>
                                    <p:cond delay="150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848616-2F24-01ED-9A6C-86E6986948D2}"/>
              </a:ext>
            </a:extLst>
          </p:cNvPr>
          <p:cNvSpPr>
            <a:spLocks noGrp="1"/>
          </p:cNvSpPr>
          <p:nvPr>
            <p:ph type="sldNum" sz="quarter" idx="4"/>
          </p:nvPr>
        </p:nvSpPr>
        <p:spPr/>
        <p:txBody>
          <a:bodyPr/>
          <a:lstStyle/>
          <a:p>
            <a:fld id="{EF13FA6D-C8B2-4F7A-9B51-E7C42DF59B48}" type="slidenum">
              <a:rPr lang="en-US" smtClean="0"/>
              <a:pPr/>
              <a:t>7</a:t>
            </a:fld>
            <a:endParaRPr lang="en-US" sz="900"/>
          </a:p>
        </p:txBody>
      </p:sp>
      <p:sp>
        <p:nvSpPr>
          <p:cNvPr id="8" name="Title 7">
            <a:extLst>
              <a:ext uri="{FF2B5EF4-FFF2-40B4-BE49-F238E27FC236}">
                <a16:creationId xmlns:a16="http://schemas.microsoft.com/office/drawing/2014/main" id="{C0BA58E0-79EA-A6B1-A544-112976CB192A}"/>
              </a:ext>
            </a:extLst>
          </p:cNvPr>
          <p:cNvSpPr>
            <a:spLocks noGrp="1"/>
          </p:cNvSpPr>
          <p:nvPr>
            <p:ph type="title"/>
          </p:nvPr>
        </p:nvSpPr>
        <p:spPr/>
        <p:txBody>
          <a:bodyPr>
            <a:normAutofit/>
          </a:bodyPr>
          <a:lstStyle/>
          <a:p>
            <a:r>
              <a:rPr lang="en-US" sz="2800"/>
              <a:t>Small Business Development Centers</a:t>
            </a:r>
          </a:p>
        </p:txBody>
      </p:sp>
      <p:sp>
        <p:nvSpPr>
          <p:cNvPr id="9" name="Rectangle 3">
            <a:extLst>
              <a:ext uri="{FF2B5EF4-FFF2-40B4-BE49-F238E27FC236}">
                <a16:creationId xmlns:a16="http://schemas.microsoft.com/office/drawing/2014/main" id="{A3953015-8AF0-7043-8B97-BD3F8CFAFC7C}"/>
              </a:ext>
            </a:extLst>
          </p:cNvPr>
          <p:cNvSpPr txBox="1">
            <a:spLocks noChangeArrowheads="1"/>
          </p:cNvSpPr>
          <p:nvPr/>
        </p:nvSpPr>
        <p:spPr>
          <a:xfrm>
            <a:off x="333024" y="1097228"/>
            <a:ext cx="8763000" cy="4800600"/>
          </a:xfrm>
          <a:prstGeom prst="rect">
            <a:avLst/>
          </a:prstGeom>
        </p:spPr>
        <p:txBody>
          <a:bodyPr lIns="96641" tIns="48320" rIns="96641" bIns="48320"/>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en-US" sz="2400" b="1">
                <a:solidFill>
                  <a:schemeClr val="tx2"/>
                </a:solidFill>
                <a:latin typeface="Source Sans Pro" panose="020B0503030403020204" pitchFamily="34" charset="0"/>
                <a:ea typeface="Source Sans Pro" panose="020B0503030403020204" pitchFamily="34" charset="0"/>
                <a:cs typeface="Franklin Gothic Medium"/>
              </a:rPr>
              <a:t>Services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Business Plan Development</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Manufacturing Assistance</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Financial Packaging and Lending Assistance</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Exporting and Importing Support</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Disaster Recovery Assistance</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Procurement and Contracting Aid</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cs typeface="Franklin Gothic Medium"/>
              </a:rPr>
              <a:t>Market Research Assistance</a:t>
            </a:r>
            <a:endParaRPr lang="en-US" sz="2400">
              <a:solidFill>
                <a:srgbClr val="0070C0"/>
              </a:solidFill>
              <a:latin typeface="Source Sans Pro" panose="020B0503030403020204" pitchFamily="34" charset="0"/>
              <a:ea typeface="Source Sans Pro" panose="020B0503030403020204" pitchFamily="34" charset="0"/>
              <a:cs typeface="Franklin Gothic Medium"/>
            </a:endParaRPr>
          </a:p>
          <a:p>
            <a:pPr lvl="1" fontAlgn="auto">
              <a:spcAft>
                <a:spcPts val="0"/>
              </a:spcAft>
              <a:defRPr/>
            </a:pPr>
            <a:r>
              <a:rPr lang="en-US" sz="2400">
                <a:solidFill>
                  <a:srgbClr val="0070C0"/>
                </a:solidFill>
                <a:latin typeface="Source Sans Pro" panose="020B0503030403020204" pitchFamily="34" charset="0"/>
                <a:ea typeface="Source Sans Pro" panose="020B0503030403020204" pitchFamily="34" charset="0"/>
                <a:cs typeface="Franklin Gothic Medium"/>
                <a:hlinkClick r:id="rId3">
                  <a:extLst>
                    <a:ext uri="{A12FA001-AC4F-418D-AE19-62706E023703}">
                      <ahyp:hlinkClr xmlns:ahyp="http://schemas.microsoft.com/office/drawing/2018/hyperlinkcolor" val="tx"/>
                    </a:ext>
                  </a:extLst>
                </a:hlinkClick>
              </a:rPr>
              <a:t>https://www.sba.gov/tools/local-assistance/sbdc</a:t>
            </a:r>
            <a:r>
              <a:rPr lang="en-US" sz="2400">
                <a:solidFill>
                  <a:srgbClr val="0070C0"/>
                </a:solidFill>
                <a:latin typeface="Source Sans Pro" panose="020B0503030403020204" pitchFamily="34" charset="0"/>
                <a:ea typeface="Source Sans Pro" panose="020B0503030403020204" pitchFamily="34" charset="0"/>
                <a:cs typeface="Franklin Gothic Medium"/>
              </a:rPr>
              <a:t> </a:t>
            </a:r>
          </a:p>
        </p:txBody>
      </p:sp>
    </p:spTree>
    <p:extLst>
      <p:ext uri="{BB962C8B-B14F-4D97-AF65-F5344CB8AC3E}">
        <p14:creationId xmlns:p14="http://schemas.microsoft.com/office/powerpoint/2010/main" val="330012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0BBE008-AEA4-6497-12DF-788CB84503D5}"/>
              </a:ext>
            </a:extLst>
          </p:cNvPr>
          <p:cNvSpPr>
            <a:spLocks noGrp="1"/>
          </p:cNvSpPr>
          <p:nvPr>
            <p:ph idx="1"/>
          </p:nvPr>
        </p:nvSpPr>
        <p:spPr>
          <a:xfrm>
            <a:off x="3708880" y="4744967"/>
            <a:ext cx="4629150" cy="1751038"/>
          </a:xfrm>
        </p:spPr>
        <p:txBody>
          <a:bodyPr>
            <a:normAutofit fontScale="92500" lnSpcReduction="10000"/>
          </a:bodyPr>
          <a:lstStyle/>
          <a:p>
            <a:pPr lvl="1" defTabSz="914400" eaLnBrk="1" hangingPunct="1"/>
            <a:r>
              <a:rPr lang="en-US" altLang="en-US" b="1">
                <a:solidFill>
                  <a:schemeClr val="tx2"/>
                </a:solidFill>
                <a:latin typeface="Source Sans Pro" panose="020B0503030403020204" pitchFamily="34" charset="0"/>
                <a:ea typeface="Source Sans Pro" panose="020B0503030403020204" pitchFamily="34" charset="0"/>
              </a:rPr>
              <a:t>Result</a:t>
            </a:r>
            <a:r>
              <a:rPr lang="en-US" altLang="en-US">
                <a:solidFill>
                  <a:schemeClr val="tx2"/>
                </a:solidFill>
                <a:latin typeface="Source Sans Pro" panose="020B0503030403020204" pitchFamily="34" charset="0"/>
                <a:ea typeface="Source Sans Pro" panose="020B0503030403020204" pitchFamily="34" charset="0"/>
              </a:rPr>
              <a:t>:</a:t>
            </a:r>
          </a:p>
          <a:p>
            <a:pPr lvl="2" defTabSz="914400" eaLnBrk="1" hangingPunct="1"/>
            <a:r>
              <a:rPr lang="en-US" altLang="en-US" sz="2100">
                <a:solidFill>
                  <a:schemeClr val="tx2"/>
                </a:solidFill>
                <a:latin typeface="Source Sans Pro" panose="020B0503030403020204" pitchFamily="34" charset="0"/>
                <a:ea typeface="Source Sans Pro" panose="020B0503030403020204" pitchFamily="34" charset="0"/>
              </a:rPr>
              <a:t>Business received an SBA 7(a) loan and a grant from city of Billings, MT</a:t>
            </a:r>
          </a:p>
          <a:p>
            <a:pPr lvl="2" defTabSz="914400" eaLnBrk="1" hangingPunct="1"/>
            <a:r>
              <a:rPr lang="en-US" altLang="en-US" sz="2100">
                <a:solidFill>
                  <a:schemeClr val="tx2"/>
                </a:solidFill>
                <a:latin typeface="Source Sans Pro" panose="020B0503030403020204" pitchFamily="34" charset="0"/>
                <a:ea typeface="Source Sans Pro" panose="020B0503030403020204" pitchFamily="34" charset="0"/>
              </a:rPr>
              <a:t>Sassy Biscuit Co successfully opened and has expanded to a second location</a:t>
            </a:r>
          </a:p>
          <a:p>
            <a:endParaRPr lang="en-US"/>
          </a:p>
        </p:txBody>
      </p:sp>
      <p:sp>
        <p:nvSpPr>
          <p:cNvPr id="3" name="Slide Number Placeholder 2">
            <a:extLst>
              <a:ext uri="{FF2B5EF4-FFF2-40B4-BE49-F238E27FC236}">
                <a16:creationId xmlns:a16="http://schemas.microsoft.com/office/drawing/2014/main" id="{81AE94AA-1684-1FA3-ECCC-3B34F0EAA88F}"/>
              </a:ext>
            </a:extLst>
          </p:cNvPr>
          <p:cNvSpPr>
            <a:spLocks noGrp="1"/>
          </p:cNvSpPr>
          <p:nvPr>
            <p:ph type="sldNum" sz="quarter" idx="4"/>
          </p:nvPr>
        </p:nvSpPr>
        <p:spPr/>
        <p:txBody>
          <a:bodyPr/>
          <a:lstStyle/>
          <a:p>
            <a:fld id="{EF13FA6D-C8B2-4F7A-9B51-E7C42DF59B48}" type="slidenum">
              <a:rPr lang="en-US" smtClean="0"/>
              <a:pPr/>
              <a:t>8</a:t>
            </a:fld>
            <a:endParaRPr lang="en-US" sz="900"/>
          </a:p>
        </p:txBody>
      </p:sp>
      <p:sp>
        <p:nvSpPr>
          <p:cNvPr id="6" name="Text Placeholder 5">
            <a:extLst>
              <a:ext uri="{FF2B5EF4-FFF2-40B4-BE49-F238E27FC236}">
                <a16:creationId xmlns:a16="http://schemas.microsoft.com/office/drawing/2014/main" id="{7DFC09ED-0695-4984-3BC1-F8CB697BD142}"/>
              </a:ext>
            </a:extLst>
          </p:cNvPr>
          <p:cNvSpPr>
            <a:spLocks noGrp="1"/>
          </p:cNvSpPr>
          <p:nvPr>
            <p:ph type="body" sz="half" idx="14"/>
          </p:nvPr>
        </p:nvSpPr>
        <p:spPr>
          <a:xfrm>
            <a:off x="382299" y="2120511"/>
            <a:ext cx="3226139" cy="3827252"/>
          </a:xfrm>
        </p:spPr>
        <p:txBody>
          <a:bodyPr>
            <a:normAutofit fontScale="92500" lnSpcReduction="10000"/>
          </a:bodyPr>
          <a:lstStyle/>
          <a:p>
            <a:pPr defTabSz="914400"/>
            <a:r>
              <a:rPr lang="en-US" altLang="en-US" sz="1900" err="1">
                <a:solidFill>
                  <a:schemeClr val="tx2"/>
                </a:solidFill>
                <a:latin typeface="Source Sans Pro" panose="020B0503030403020204" pitchFamily="34" charset="0"/>
                <a:ea typeface="Source Sans Pro" panose="020B0503030403020204" pitchFamily="34" charset="0"/>
              </a:rPr>
              <a:t>Jilan</a:t>
            </a:r>
            <a:r>
              <a:rPr lang="en-US" altLang="en-US" sz="1900">
                <a:solidFill>
                  <a:schemeClr val="tx2"/>
                </a:solidFill>
                <a:latin typeface="Source Sans Pro" panose="020B0503030403020204" pitchFamily="34" charset="0"/>
                <a:ea typeface="Source Sans Pro" panose="020B0503030403020204" pitchFamily="34" charset="0"/>
              </a:rPr>
              <a:t> Hall-Johnson</a:t>
            </a:r>
          </a:p>
          <a:p>
            <a:pPr marL="1028649" lvl="2" indent="-342900" defTabSz="914400" eaLnBrk="1" hangingPunct="1">
              <a:buFont typeface="Arial" panose="020B0604020202020204" pitchFamily="34" charset="0"/>
              <a:buChar char="•"/>
            </a:pPr>
            <a:r>
              <a:rPr lang="en-US" altLang="en-US" sz="1900">
                <a:solidFill>
                  <a:schemeClr val="tx2"/>
                </a:solidFill>
                <a:latin typeface="Source Sans Pro" panose="020B0503030403020204" pitchFamily="34" charset="0"/>
                <a:ea typeface="Source Sans Pro" panose="020B0503030403020204" pitchFamily="34" charset="0"/>
              </a:rPr>
              <a:t>Military spouse looking to turn her                                                                                   culinary ideas into a fully-baked business</a:t>
            </a:r>
          </a:p>
          <a:p>
            <a:pPr defTabSz="914400"/>
            <a:r>
              <a:rPr lang="en-US" altLang="en-US" sz="1900">
                <a:solidFill>
                  <a:schemeClr val="tx2"/>
                </a:solidFill>
                <a:latin typeface="Source Sans Pro" panose="020B0503030403020204" pitchFamily="34" charset="0"/>
                <a:ea typeface="Source Sans Pro" panose="020B0503030403020204" pitchFamily="34" charset="0"/>
              </a:rPr>
              <a:t>Connected with local SBDC, who helped her:</a:t>
            </a:r>
          </a:p>
          <a:p>
            <a:pPr marL="1028649" lvl="2" indent="-342900" defTabSz="914400" eaLnBrk="1" hangingPunct="1">
              <a:buFont typeface="Arial" panose="020B0604020202020204" pitchFamily="34" charset="0"/>
              <a:buChar char="•"/>
            </a:pPr>
            <a:r>
              <a:rPr lang="en-US" altLang="en-US" sz="1900">
                <a:solidFill>
                  <a:schemeClr val="tx2"/>
                </a:solidFill>
                <a:latin typeface="Source Sans Pro" panose="020B0503030403020204" pitchFamily="34" charset="0"/>
                <a:ea typeface="Source Sans Pro" panose="020B0503030403020204" pitchFamily="34" charset="0"/>
              </a:rPr>
              <a:t>Access pre-business counseling</a:t>
            </a:r>
          </a:p>
          <a:p>
            <a:pPr marL="1028649" lvl="2" indent="-342900" defTabSz="914400" eaLnBrk="1" hangingPunct="1">
              <a:buFont typeface="Arial" panose="020B0604020202020204" pitchFamily="34" charset="0"/>
              <a:buChar char="•"/>
            </a:pPr>
            <a:r>
              <a:rPr lang="en-US" altLang="en-US" sz="1900">
                <a:solidFill>
                  <a:schemeClr val="tx2"/>
                </a:solidFill>
                <a:latin typeface="Source Sans Pro" panose="020B0503030403020204" pitchFamily="34" charset="0"/>
                <a:ea typeface="Source Sans Pro" panose="020B0503030403020204" pitchFamily="34" charset="0"/>
              </a:rPr>
              <a:t>Put together a loan package for financing</a:t>
            </a:r>
          </a:p>
          <a:p>
            <a:pPr marL="1028649" lvl="2" indent="-342900" defTabSz="914400" eaLnBrk="1" hangingPunct="1">
              <a:buFont typeface="Arial" panose="020B0604020202020204" pitchFamily="34" charset="0"/>
              <a:buChar char="•"/>
            </a:pPr>
            <a:r>
              <a:rPr lang="en-US" altLang="en-US" sz="1900">
                <a:solidFill>
                  <a:schemeClr val="tx2"/>
                </a:solidFill>
                <a:latin typeface="Source Sans Pro" panose="020B0503030403020204" pitchFamily="34" charset="0"/>
                <a:ea typeface="Source Sans Pro" panose="020B0503030403020204" pitchFamily="34" charset="0"/>
              </a:rPr>
              <a:t>Seek out local small business grants</a:t>
            </a:r>
          </a:p>
          <a:p>
            <a:endParaRPr lang="en-US"/>
          </a:p>
        </p:txBody>
      </p:sp>
      <p:sp>
        <p:nvSpPr>
          <p:cNvPr id="7" name="Text Placeholder 6">
            <a:extLst>
              <a:ext uri="{FF2B5EF4-FFF2-40B4-BE49-F238E27FC236}">
                <a16:creationId xmlns:a16="http://schemas.microsoft.com/office/drawing/2014/main" id="{A73F6D39-55BC-3BEA-EB56-53E454A727C0}"/>
              </a:ext>
            </a:extLst>
          </p:cNvPr>
          <p:cNvSpPr>
            <a:spLocks noGrp="1"/>
          </p:cNvSpPr>
          <p:nvPr>
            <p:ph type="body" idx="15"/>
          </p:nvPr>
        </p:nvSpPr>
        <p:spPr/>
        <p:txBody>
          <a:bodyPr/>
          <a:lstStyle/>
          <a:p>
            <a:r>
              <a:rPr lang="en-US"/>
              <a:t>SBDC Client</a:t>
            </a:r>
          </a:p>
        </p:txBody>
      </p:sp>
      <p:sp>
        <p:nvSpPr>
          <p:cNvPr id="4" name="Title 3">
            <a:extLst>
              <a:ext uri="{FF2B5EF4-FFF2-40B4-BE49-F238E27FC236}">
                <a16:creationId xmlns:a16="http://schemas.microsoft.com/office/drawing/2014/main" id="{CDB53445-EE95-BA47-31B7-639D06D42803}"/>
              </a:ext>
            </a:extLst>
          </p:cNvPr>
          <p:cNvSpPr>
            <a:spLocks noGrp="1"/>
          </p:cNvSpPr>
          <p:nvPr>
            <p:ph type="title"/>
          </p:nvPr>
        </p:nvSpPr>
        <p:spPr/>
        <p:txBody>
          <a:bodyPr>
            <a:normAutofit/>
          </a:bodyPr>
          <a:lstStyle/>
          <a:p>
            <a:r>
              <a:rPr lang="en-US" sz="2800"/>
              <a:t>Small Business Development Centers</a:t>
            </a:r>
          </a:p>
        </p:txBody>
      </p:sp>
      <p:pic>
        <p:nvPicPr>
          <p:cNvPr id="8" name="Picture 7">
            <a:extLst>
              <a:ext uri="{FF2B5EF4-FFF2-40B4-BE49-F238E27FC236}">
                <a16:creationId xmlns:a16="http://schemas.microsoft.com/office/drawing/2014/main" id="{24A73C19-7616-AC6E-6331-2383F0730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670336" y="1097968"/>
            <a:ext cx="3259515" cy="32587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89B6707-9897-0D3E-7DC1-1F89C7C464EE}"/>
              </a:ext>
            </a:extLst>
          </p:cNvPr>
          <p:cNvPicPr/>
          <p:nvPr/>
        </p:nvPicPr>
        <p:blipFill>
          <a:blip r:embed="rId4">
            <a:extLst>
              <a:ext uri="{28A0092B-C50C-407E-A947-70E740481C1C}">
                <a14:useLocalDpi xmlns:a14="http://schemas.microsoft.com/office/drawing/2010/main" val="0"/>
              </a:ext>
            </a:extLst>
          </a:blip>
          <a:srcRect/>
          <a:stretch/>
        </p:blipFill>
        <p:spPr>
          <a:xfrm>
            <a:off x="5614294" y="4357511"/>
            <a:ext cx="1371600" cy="762000"/>
          </a:xfrm>
          <a:prstGeom prst="rect">
            <a:avLst/>
          </a:prstGeom>
        </p:spPr>
      </p:pic>
    </p:spTree>
    <p:extLst>
      <p:ext uri="{BB962C8B-B14F-4D97-AF65-F5344CB8AC3E}">
        <p14:creationId xmlns:p14="http://schemas.microsoft.com/office/powerpoint/2010/main" val="239754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par>
                                <p:cTn id="8" presetID="1" presetClass="entr" presetSubtype="0" fill="hold" nodeType="withEffect">
                                  <p:stCondLst>
                                    <p:cond delay="250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30048F2-E2AF-7E56-3025-0F78E10E53D2}"/>
              </a:ext>
            </a:extLst>
          </p:cNvPr>
          <p:cNvSpPr>
            <a:spLocks noGrp="1"/>
          </p:cNvSpPr>
          <p:nvPr>
            <p:ph type="sldNum" sz="quarter" idx="4"/>
          </p:nvPr>
        </p:nvSpPr>
        <p:spPr/>
        <p:txBody>
          <a:bodyPr/>
          <a:lstStyle/>
          <a:p>
            <a:fld id="{EF13FA6D-C8B2-4F7A-9B51-E7C42DF59B48}" type="slidenum">
              <a:rPr lang="en-US" smtClean="0"/>
              <a:pPr/>
              <a:t>9</a:t>
            </a:fld>
            <a:endParaRPr lang="en-US" sz="900"/>
          </a:p>
        </p:txBody>
      </p:sp>
      <p:sp>
        <p:nvSpPr>
          <p:cNvPr id="7" name="Title 6">
            <a:extLst>
              <a:ext uri="{FF2B5EF4-FFF2-40B4-BE49-F238E27FC236}">
                <a16:creationId xmlns:a16="http://schemas.microsoft.com/office/drawing/2014/main" id="{78533BEE-0ACB-F570-96FE-69C3AD8CB533}"/>
              </a:ext>
            </a:extLst>
          </p:cNvPr>
          <p:cNvSpPr>
            <a:spLocks noGrp="1"/>
          </p:cNvSpPr>
          <p:nvPr>
            <p:ph type="title"/>
          </p:nvPr>
        </p:nvSpPr>
        <p:spPr/>
        <p:txBody>
          <a:bodyPr>
            <a:normAutofit/>
          </a:bodyPr>
          <a:lstStyle/>
          <a:p>
            <a:r>
              <a:rPr lang="en-US" sz="2800"/>
              <a:t>Women’s Business Centers</a:t>
            </a:r>
          </a:p>
        </p:txBody>
      </p:sp>
      <p:sp>
        <p:nvSpPr>
          <p:cNvPr id="8" name="Rectangle 3">
            <a:extLst>
              <a:ext uri="{FF2B5EF4-FFF2-40B4-BE49-F238E27FC236}">
                <a16:creationId xmlns:a16="http://schemas.microsoft.com/office/drawing/2014/main" id="{F4F1E323-B559-2715-13AA-D4D39658889D}"/>
              </a:ext>
            </a:extLst>
          </p:cNvPr>
          <p:cNvSpPr txBox="1">
            <a:spLocks noChangeArrowheads="1"/>
          </p:cNvSpPr>
          <p:nvPr/>
        </p:nvSpPr>
        <p:spPr>
          <a:xfrm>
            <a:off x="190500" y="1393707"/>
            <a:ext cx="8763000" cy="4800600"/>
          </a:xfrm>
          <a:prstGeom prst="rect">
            <a:avLst/>
          </a:prstGeom>
        </p:spPr>
        <p:txBody>
          <a:bodyPr lIns="96641" tIns="48320" rIns="96641" bIns="4832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en-US" sz="2400" b="1">
                <a:solidFill>
                  <a:schemeClr val="tx2"/>
                </a:solidFill>
                <a:latin typeface="Source Sans Pro" panose="020B0503030403020204" pitchFamily="34" charset="0"/>
                <a:ea typeface="Source Sans Pro" panose="020B0503030403020204" pitchFamily="34" charset="0"/>
              </a:rPr>
              <a:t>Services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Training</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Counseling</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Access to Capital</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Webinars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Organizational development tools</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Fund-raising assistance</a:t>
            </a:r>
          </a:p>
          <a:p>
            <a:pPr marL="800100" lvl="1" indent="-342900" algn="l" fontAlgn="auto">
              <a:spcAft>
                <a:spcPts val="0"/>
              </a:spcAft>
              <a:buFont typeface="Arial" pitchFamily="34" charset="0"/>
              <a:buChar char="•"/>
              <a:defRPr/>
            </a:pPr>
            <a:r>
              <a:rPr lang="en-US" sz="2400">
                <a:solidFill>
                  <a:schemeClr val="tx2"/>
                </a:solidFill>
                <a:latin typeface="Source Sans Pro" panose="020B0503030403020204" pitchFamily="34" charset="0"/>
                <a:ea typeface="Source Sans Pro" panose="020B0503030403020204" pitchFamily="34" charset="0"/>
              </a:rPr>
              <a:t>Best practices in program delivery</a:t>
            </a:r>
            <a:endParaRPr lang="en-US" sz="2400">
              <a:solidFill>
                <a:srgbClr val="0070C0"/>
              </a:solidFill>
              <a:latin typeface="Source Sans Pro" panose="020B0503030403020204" pitchFamily="34" charset="0"/>
              <a:ea typeface="Source Sans Pro" panose="020B0503030403020204" pitchFamily="34" charset="0"/>
            </a:endParaRPr>
          </a:p>
          <a:p>
            <a:pPr marL="800100" lvl="1" indent="-342900" algn="l" fontAlgn="auto">
              <a:spcAft>
                <a:spcPts val="0"/>
              </a:spcAft>
              <a:buFont typeface="Arial" pitchFamily="34" charset="0"/>
              <a:buChar char="•"/>
              <a:defRPr/>
            </a:pPr>
            <a:endParaRPr lang="en-US" sz="2400">
              <a:solidFill>
                <a:srgbClr val="0070C0"/>
              </a:solidFill>
              <a:latin typeface="Source Sans Pro" panose="020B0503030403020204" pitchFamily="34" charset="0"/>
              <a:ea typeface="Source Sans Pro" panose="020B0503030403020204" pitchFamily="34" charset="0"/>
            </a:endParaRPr>
          </a:p>
          <a:p>
            <a:pPr marL="114300" lvl="1" fontAlgn="auto">
              <a:spcAft>
                <a:spcPts val="0"/>
              </a:spcAft>
              <a:defRPr/>
            </a:pPr>
            <a:r>
              <a:rPr lang="en-US" sz="2400">
                <a:solidFill>
                  <a:srgbClr val="0070C0"/>
                </a:solidFill>
                <a:latin typeface="Source Sans Pro" panose="020B0503030403020204" pitchFamily="34" charset="0"/>
                <a:ea typeface="Source Sans Pro" panose="020B0503030403020204" pitchFamily="34" charset="0"/>
                <a:hlinkClick r:id="rId3">
                  <a:extLst>
                    <a:ext uri="{A12FA001-AC4F-418D-AE19-62706E023703}">
                      <ahyp:hlinkClr xmlns:ahyp="http://schemas.microsoft.com/office/drawing/2018/hyperlinkcolor" val="tx"/>
                    </a:ext>
                  </a:extLst>
                </a:hlinkClick>
              </a:rPr>
              <a:t>https://www.sba.gov/tools/local-assistance/wbc</a:t>
            </a:r>
            <a:r>
              <a:rPr lang="en-US" sz="2400">
                <a:solidFill>
                  <a:srgbClr val="0070C0"/>
                </a:solidFill>
                <a:latin typeface="Source Sans Pro" panose="020B0503030403020204" pitchFamily="34" charset="0"/>
                <a:ea typeface="Source Sans Pro" panose="020B0503030403020204" pitchFamily="34" charset="0"/>
              </a:rPr>
              <a:t> </a:t>
            </a:r>
          </a:p>
        </p:txBody>
      </p:sp>
    </p:spTree>
    <p:extLst>
      <p:ext uri="{BB962C8B-B14F-4D97-AF65-F5344CB8AC3E}">
        <p14:creationId xmlns:p14="http://schemas.microsoft.com/office/powerpoint/2010/main" val="1509045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A7F0260-22E3-4B02-4A63-7B74BBE5F5AE}"/>
              </a:ext>
            </a:extLst>
          </p:cNvPr>
          <p:cNvSpPr>
            <a:spLocks noGrp="1"/>
          </p:cNvSpPr>
          <p:nvPr>
            <p:ph idx="1"/>
          </p:nvPr>
        </p:nvSpPr>
        <p:spPr>
          <a:xfrm>
            <a:off x="3526246" y="4930307"/>
            <a:ext cx="4629150" cy="1264000"/>
          </a:xfrm>
        </p:spPr>
        <p:txBody>
          <a:bodyPr/>
          <a:lstStyle/>
          <a:p>
            <a:pPr marL="800100" lvl="1" indent="-342900" defTabSz="914400" eaLnBrk="1" hangingPunct="1">
              <a:buFont typeface="Arial" panose="020B0604020202020204" pitchFamily="34" charset="0"/>
              <a:buChar char="•"/>
            </a:pPr>
            <a:r>
              <a:rPr lang="en-US" altLang="en-US" sz="1800" b="1">
                <a:solidFill>
                  <a:schemeClr val="tx2"/>
                </a:solidFill>
                <a:latin typeface="Source Sans Pro" panose="020B0503030403020204" pitchFamily="34" charset="0"/>
                <a:ea typeface="Source Sans Pro" panose="020B0503030403020204" pitchFamily="34" charset="0"/>
              </a:rPr>
              <a:t>Result</a:t>
            </a:r>
            <a:r>
              <a:rPr lang="en-US" altLang="en-US" sz="1800">
                <a:solidFill>
                  <a:schemeClr val="tx2"/>
                </a:solidFill>
                <a:latin typeface="Source Sans Pro" panose="020B0503030403020204" pitchFamily="34" charset="0"/>
                <a:ea typeface="Source Sans Pro" panose="020B0503030403020204" pitchFamily="34" charset="0"/>
              </a:rPr>
              <a:t>:</a:t>
            </a:r>
          </a:p>
          <a:p>
            <a:pPr marL="1200150" lvl="2" indent="-285750" defTabSz="914400" eaLnBrk="1" hangingPunct="1">
              <a:buFont typeface="Arial" panose="020B0604020202020204" pitchFamily="34" charset="0"/>
              <a:buChar char="•"/>
            </a:pPr>
            <a:r>
              <a:rPr lang="en-US" altLang="en-US">
                <a:solidFill>
                  <a:schemeClr val="tx2"/>
                </a:solidFill>
                <a:latin typeface="Source Sans Pro" panose="020B0503030403020204" pitchFamily="34" charset="0"/>
                <a:ea typeface="Source Sans Pro" panose="020B0503030403020204" pitchFamily="34" charset="0"/>
              </a:rPr>
              <a:t>The Bed N’ Biscuit Ranch is open &amp; helping dogs and owners live their best lives </a:t>
            </a:r>
          </a:p>
          <a:p>
            <a:endParaRPr lang="en-US"/>
          </a:p>
        </p:txBody>
      </p:sp>
      <p:sp>
        <p:nvSpPr>
          <p:cNvPr id="4" name="Slide Number Placeholder 3">
            <a:extLst>
              <a:ext uri="{FF2B5EF4-FFF2-40B4-BE49-F238E27FC236}">
                <a16:creationId xmlns:a16="http://schemas.microsoft.com/office/drawing/2014/main" id="{8AF89542-F7B2-90F8-B139-A3D7F19BDCDF}"/>
              </a:ext>
            </a:extLst>
          </p:cNvPr>
          <p:cNvSpPr>
            <a:spLocks noGrp="1"/>
          </p:cNvSpPr>
          <p:nvPr>
            <p:ph type="sldNum" sz="quarter" idx="4"/>
          </p:nvPr>
        </p:nvSpPr>
        <p:spPr/>
        <p:txBody>
          <a:bodyPr/>
          <a:lstStyle/>
          <a:p>
            <a:fld id="{EF13FA6D-C8B2-4F7A-9B51-E7C42DF59B48}" type="slidenum">
              <a:rPr lang="en-US" smtClean="0"/>
              <a:pPr/>
              <a:t>10</a:t>
            </a:fld>
            <a:endParaRPr lang="en-US" sz="900"/>
          </a:p>
        </p:txBody>
      </p:sp>
      <p:sp>
        <p:nvSpPr>
          <p:cNvPr id="9" name="Text Placeholder 8">
            <a:extLst>
              <a:ext uri="{FF2B5EF4-FFF2-40B4-BE49-F238E27FC236}">
                <a16:creationId xmlns:a16="http://schemas.microsoft.com/office/drawing/2014/main" id="{5091E3E0-A83E-ACF9-2ABE-6133D09708B3}"/>
              </a:ext>
            </a:extLst>
          </p:cNvPr>
          <p:cNvSpPr>
            <a:spLocks noGrp="1"/>
          </p:cNvSpPr>
          <p:nvPr>
            <p:ph type="body" sz="half" idx="14"/>
          </p:nvPr>
        </p:nvSpPr>
        <p:spPr>
          <a:xfrm>
            <a:off x="0" y="2132900"/>
            <a:ext cx="3708971" cy="3827252"/>
          </a:xfrm>
        </p:spPr>
        <p:txBody>
          <a:bodyPr>
            <a:normAutofit fontScale="47500" lnSpcReduction="20000"/>
          </a:bodyPr>
          <a:lstStyle/>
          <a:p>
            <a:pPr marL="857275" indent="-457200" defTabSz="914400"/>
            <a:r>
              <a:rPr lang="en-US" altLang="en-US" sz="3300">
                <a:solidFill>
                  <a:schemeClr val="tx2"/>
                </a:solidFill>
                <a:latin typeface="Source Sans Pro" panose="020B0503030403020204" pitchFamily="34" charset="0"/>
                <a:ea typeface="Source Sans Pro" panose="020B0503030403020204" pitchFamily="34" charset="0"/>
              </a:rPr>
              <a:t>Lila </a:t>
            </a:r>
            <a:r>
              <a:rPr lang="en-US" altLang="en-US" sz="3300" err="1">
                <a:solidFill>
                  <a:schemeClr val="tx2"/>
                </a:solidFill>
                <a:latin typeface="Source Sans Pro" panose="020B0503030403020204" pitchFamily="34" charset="0"/>
                <a:ea typeface="Source Sans Pro" panose="020B0503030403020204" pitchFamily="34" charset="0"/>
              </a:rPr>
              <a:t>Teunissen</a:t>
            </a:r>
            <a:r>
              <a:rPr lang="en-US" altLang="en-US" sz="3300">
                <a:solidFill>
                  <a:schemeClr val="tx2"/>
                </a:solidFill>
                <a:latin typeface="Source Sans Pro" panose="020B0503030403020204" pitchFamily="34" charset="0"/>
                <a:ea typeface="Source Sans Pro" panose="020B0503030403020204" pitchFamily="34" charset="0"/>
              </a:rPr>
              <a:t> &amp; Michelle Thomsen</a:t>
            </a:r>
          </a:p>
          <a:p>
            <a:pPr marL="1200150" lvl="2" indent="-285750" defTabSz="914400">
              <a:buFont typeface="Arial" panose="020B0604020202020204" pitchFamily="34" charset="0"/>
              <a:buChar char="•"/>
            </a:pPr>
            <a:r>
              <a:rPr lang="en-US" altLang="en-US" sz="3300">
                <a:solidFill>
                  <a:schemeClr val="tx2"/>
                </a:solidFill>
                <a:latin typeface="Source Sans Pro" panose="020B0503030403020204" pitchFamily="34" charset="0"/>
                <a:ea typeface="Source Sans Pro" panose="020B0503030403020204" pitchFamily="34" charset="0"/>
              </a:rPr>
              <a:t>Current and former National Guard members realized service members needed quality dog boarding while deployed or drilling</a:t>
            </a:r>
          </a:p>
          <a:p>
            <a:pPr marL="742975" indent="-342900" defTabSz="914400"/>
            <a:r>
              <a:rPr lang="en-US" altLang="en-US" sz="3300">
                <a:solidFill>
                  <a:schemeClr val="tx2"/>
                </a:solidFill>
                <a:latin typeface="Source Sans Pro" panose="020B0503030403020204" pitchFamily="34" charset="0"/>
                <a:ea typeface="Source Sans Pro" panose="020B0503030403020204" pitchFamily="34" charset="0"/>
              </a:rPr>
              <a:t>Connected with local WBC, who helped them:</a:t>
            </a:r>
          </a:p>
          <a:p>
            <a:pPr marL="1200150" lvl="2" indent="-285750" defTabSz="914400">
              <a:buFont typeface="Arial" panose="020B0604020202020204" pitchFamily="34" charset="0"/>
              <a:buChar char="•"/>
            </a:pPr>
            <a:r>
              <a:rPr lang="en-US" altLang="en-US" sz="3300">
                <a:solidFill>
                  <a:schemeClr val="tx2"/>
                </a:solidFill>
                <a:latin typeface="Source Sans Pro" panose="020B0503030403020204" pitchFamily="34" charset="0"/>
                <a:ea typeface="Source Sans Pro" panose="020B0503030403020204" pitchFamily="34" charset="0"/>
              </a:rPr>
              <a:t>With pre-business counseling</a:t>
            </a:r>
          </a:p>
          <a:p>
            <a:pPr marL="1200150" lvl="2" indent="-285750" defTabSz="914400">
              <a:buFont typeface="Arial" panose="020B0604020202020204" pitchFamily="34" charset="0"/>
              <a:buChar char="•"/>
            </a:pPr>
            <a:r>
              <a:rPr lang="en-US" altLang="en-US" sz="3300">
                <a:solidFill>
                  <a:schemeClr val="tx2"/>
                </a:solidFill>
                <a:latin typeface="Source Sans Pro" panose="020B0503030403020204" pitchFamily="34" charset="0"/>
                <a:ea typeface="Source Sans Pro" panose="020B0503030403020204" pitchFamily="34" charset="0"/>
              </a:rPr>
              <a:t>Get designated as a Women-Owned Business</a:t>
            </a:r>
          </a:p>
          <a:p>
            <a:pPr marL="1200150" lvl="2" indent="-285750" defTabSz="914400">
              <a:buFont typeface="Arial" panose="020B0604020202020204" pitchFamily="34" charset="0"/>
              <a:buChar char="•"/>
            </a:pPr>
            <a:r>
              <a:rPr lang="en-US" altLang="en-US" sz="3300">
                <a:solidFill>
                  <a:schemeClr val="tx2"/>
                </a:solidFill>
                <a:latin typeface="Source Sans Pro" panose="020B0503030403020204" pitchFamily="34" charset="0"/>
                <a:ea typeface="Source Sans Pro" panose="020B0503030403020204" pitchFamily="34" charset="0"/>
              </a:rPr>
              <a:t>Connect with other small business resources</a:t>
            </a:r>
          </a:p>
          <a:p>
            <a:endParaRPr lang="en-US"/>
          </a:p>
        </p:txBody>
      </p:sp>
      <p:sp>
        <p:nvSpPr>
          <p:cNvPr id="10" name="Text Placeholder 9">
            <a:extLst>
              <a:ext uri="{FF2B5EF4-FFF2-40B4-BE49-F238E27FC236}">
                <a16:creationId xmlns:a16="http://schemas.microsoft.com/office/drawing/2014/main" id="{E966DEED-94B3-21B5-1629-C79478177575}"/>
              </a:ext>
            </a:extLst>
          </p:cNvPr>
          <p:cNvSpPr>
            <a:spLocks noGrp="1"/>
          </p:cNvSpPr>
          <p:nvPr>
            <p:ph type="body" idx="15"/>
          </p:nvPr>
        </p:nvSpPr>
        <p:spPr/>
        <p:txBody>
          <a:bodyPr/>
          <a:lstStyle/>
          <a:p>
            <a:r>
              <a:rPr lang="en-US"/>
              <a:t>WBC Clients</a:t>
            </a:r>
          </a:p>
        </p:txBody>
      </p:sp>
      <p:sp>
        <p:nvSpPr>
          <p:cNvPr id="7" name="Title 6">
            <a:extLst>
              <a:ext uri="{FF2B5EF4-FFF2-40B4-BE49-F238E27FC236}">
                <a16:creationId xmlns:a16="http://schemas.microsoft.com/office/drawing/2014/main" id="{043D2321-CD4B-CE3C-A7B6-1F6D9CEB7884}"/>
              </a:ext>
            </a:extLst>
          </p:cNvPr>
          <p:cNvSpPr>
            <a:spLocks noGrp="1"/>
          </p:cNvSpPr>
          <p:nvPr>
            <p:ph type="title"/>
          </p:nvPr>
        </p:nvSpPr>
        <p:spPr/>
        <p:txBody>
          <a:bodyPr/>
          <a:lstStyle/>
          <a:p>
            <a:r>
              <a:rPr lang="en-US"/>
              <a:t>Women’s Business Centers</a:t>
            </a:r>
          </a:p>
        </p:txBody>
      </p:sp>
      <p:pic>
        <p:nvPicPr>
          <p:cNvPr id="11" name="Picture 10">
            <a:extLst>
              <a:ext uri="{FF2B5EF4-FFF2-40B4-BE49-F238E27FC236}">
                <a16:creationId xmlns:a16="http://schemas.microsoft.com/office/drawing/2014/main" id="{B6F24E09-86CF-6904-1833-D888DDCC7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974158" y="1208956"/>
            <a:ext cx="3802654" cy="323055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1A6D3C0C-68F8-5994-DCDC-4F2A3505AE78}"/>
              </a:ext>
            </a:extLst>
          </p:cNvPr>
          <p:cNvPicPr/>
          <p:nvPr/>
        </p:nvPicPr>
        <p:blipFill>
          <a:blip r:embed="rId4" cstate="print">
            <a:extLst>
              <a:ext uri="{28A0092B-C50C-407E-A947-70E740481C1C}">
                <a14:useLocalDpi xmlns:a14="http://schemas.microsoft.com/office/drawing/2010/main" val="0"/>
              </a:ext>
            </a:extLst>
          </a:blip>
          <a:srcRect/>
          <a:stretch/>
        </p:blipFill>
        <p:spPr>
          <a:xfrm>
            <a:off x="5636062" y="4429235"/>
            <a:ext cx="1062789" cy="762000"/>
          </a:xfrm>
          <a:prstGeom prst="rect">
            <a:avLst/>
          </a:prstGeom>
        </p:spPr>
      </p:pic>
    </p:spTree>
    <p:extLst>
      <p:ext uri="{BB962C8B-B14F-4D97-AF65-F5344CB8AC3E}">
        <p14:creationId xmlns:p14="http://schemas.microsoft.com/office/powerpoint/2010/main" val="261145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par>
                                <p:cTn id="8" presetID="1" presetClass="entr" presetSubtype="0" fill="hold" nodeType="withEffect">
                                  <p:stCondLst>
                                    <p:cond delay="125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6A68CC-D45B-2908-EEB1-1428F7695983}"/>
              </a:ext>
            </a:extLst>
          </p:cNvPr>
          <p:cNvSpPr>
            <a:spLocks noGrp="1"/>
          </p:cNvSpPr>
          <p:nvPr>
            <p:ph type="sldNum" sz="quarter" idx="4"/>
          </p:nvPr>
        </p:nvSpPr>
        <p:spPr/>
        <p:txBody>
          <a:bodyPr/>
          <a:lstStyle/>
          <a:p>
            <a:fld id="{EF13FA6D-C8B2-4F7A-9B51-E7C42DF59B48}" type="slidenum">
              <a:rPr lang="en-US" smtClean="0"/>
              <a:pPr/>
              <a:t>11</a:t>
            </a:fld>
            <a:endParaRPr lang="en-US" sz="900"/>
          </a:p>
        </p:txBody>
      </p:sp>
      <p:sp>
        <p:nvSpPr>
          <p:cNvPr id="6" name="Title 5">
            <a:extLst>
              <a:ext uri="{FF2B5EF4-FFF2-40B4-BE49-F238E27FC236}">
                <a16:creationId xmlns:a16="http://schemas.microsoft.com/office/drawing/2014/main" id="{2E0DC0F8-A2E2-2027-B1DD-C2C9BDEC21EA}"/>
              </a:ext>
            </a:extLst>
          </p:cNvPr>
          <p:cNvSpPr>
            <a:spLocks noGrp="1"/>
          </p:cNvSpPr>
          <p:nvPr>
            <p:ph type="title"/>
          </p:nvPr>
        </p:nvSpPr>
        <p:spPr>
          <a:xfrm>
            <a:off x="1191490" y="356752"/>
            <a:ext cx="6585322" cy="730202"/>
          </a:xfrm>
        </p:spPr>
        <p:txBody>
          <a:bodyPr>
            <a:normAutofit/>
          </a:bodyPr>
          <a:lstStyle/>
          <a:p>
            <a:r>
              <a:rPr lang="en-US" sz="2800"/>
              <a:t>Other Resources and Training</a:t>
            </a:r>
          </a:p>
        </p:txBody>
      </p:sp>
      <p:sp>
        <p:nvSpPr>
          <p:cNvPr id="7" name="Content Placeholder 2">
            <a:extLst>
              <a:ext uri="{FF2B5EF4-FFF2-40B4-BE49-F238E27FC236}">
                <a16:creationId xmlns:a16="http://schemas.microsoft.com/office/drawing/2014/main" id="{1A256657-473A-27DF-5400-76F66F3A50C7}"/>
              </a:ext>
            </a:extLst>
          </p:cNvPr>
          <p:cNvSpPr txBox="1">
            <a:spLocks/>
          </p:cNvSpPr>
          <p:nvPr/>
        </p:nvSpPr>
        <p:spPr>
          <a:xfrm>
            <a:off x="129665" y="1086954"/>
            <a:ext cx="9169717" cy="474345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765716" lvl="1" indent="-342900" defTabSz="966440">
              <a:defRPr/>
            </a:pPr>
            <a:r>
              <a:rPr lang="en-US" sz="2400">
                <a:solidFill>
                  <a:schemeClr val="tx2"/>
                </a:solidFill>
              </a:rPr>
              <a:t>U.S. Department of Agriculture</a:t>
            </a:r>
          </a:p>
          <a:p>
            <a:pPr marL="765716" lvl="1" indent="-342900" defTabSz="966440">
              <a:defRPr/>
            </a:pPr>
            <a:r>
              <a:rPr lang="en-US" sz="2400">
                <a:solidFill>
                  <a:schemeClr val="tx2"/>
                </a:solidFill>
              </a:rPr>
              <a:t>B2B Follow-on Training</a:t>
            </a:r>
          </a:p>
          <a:p>
            <a:pPr marL="1188534" lvl="2" indent="-342900" defTabSz="966440">
              <a:defRPr/>
            </a:pPr>
            <a:r>
              <a:rPr lang="en-US" sz="2400">
                <a:solidFill>
                  <a:schemeClr val="tx2"/>
                </a:solidFill>
              </a:rPr>
              <a:t>B2B Revenue Readiness</a:t>
            </a:r>
          </a:p>
          <a:p>
            <a:pPr marL="765716" lvl="1" indent="-342900" defTabSz="966440">
              <a:defRPr/>
            </a:pPr>
            <a:r>
              <a:rPr lang="en-US" sz="2400">
                <a:solidFill>
                  <a:schemeClr val="tx2"/>
                </a:solidFill>
              </a:rPr>
              <a:t>Things you can do now</a:t>
            </a:r>
          </a:p>
          <a:p>
            <a:pPr marL="0" indent="0">
              <a:buFont typeface="Arial" pitchFamily="34" charset="0"/>
              <a:buNone/>
            </a:pPr>
            <a:endParaRPr lang="en-US" altLang="en-US"/>
          </a:p>
        </p:txBody>
      </p:sp>
    </p:spTree>
    <p:extLst>
      <p:ext uri="{BB962C8B-B14F-4D97-AF65-F5344CB8AC3E}">
        <p14:creationId xmlns:p14="http://schemas.microsoft.com/office/powerpoint/2010/main" val="302998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1A4C35-DFB4-E61F-4F30-9C18B5F670CE}"/>
              </a:ext>
            </a:extLst>
          </p:cNvPr>
          <p:cNvSpPr>
            <a:spLocks noGrp="1"/>
          </p:cNvSpPr>
          <p:nvPr>
            <p:ph type="sldNum" sz="quarter" idx="4"/>
          </p:nvPr>
        </p:nvSpPr>
        <p:spPr/>
        <p:txBody>
          <a:bodyPr/>
          <a:lstStyle/>
          <a:p>
            <a:fld id="{EF13FA6D-C8B2-4F7A-9B51-E7C42DF59B48}" type="slidenum">
              <a:rPr lang="en-US" smtClean="0"/>
              <a:pPr/>
              <a:t>12</a:t>
            </a:fld>
            <a:endParaRPr lang="en-US" sz="900"/>
          </a:p>
        </p:txBody>
      </p:sp>
      <p:sp>
        <p:nvSpPr>
          <p:cNvPr id="6" name="Title 5">
            <a:extLst>
              <a:ext uri="{FF2B5EF4-FFF2-40B4-BE49-F238E27FC236}">
                <a16:creationId xmlns:a16="http://schemas.microsoft.com/office/drawing/2014/main" id="{03E0E876-5FC6-AA1E-5C8A-E0E636288A13}"/>
              </a:ext>
            </a:extLst>
          </p:cNvPr>
          <p:cNvSpPr>
            <a:spLocks noGrp="1"/>
          </p:cNvSpPr>
          <p:nvPr>
            <p:ph type="title"/>
          </p:nvPr>
        </p:nvSpPr>
        <p:spPr/>
        <p:txBody>
          <a:bodyPr>
            <a:normAutofit/>
          </a:bodyPr>
          <a:lstStyle/>
          <a:p>
            <a:r>
              <a:rPr lang="en-US" sz="2800"/>
              <a:t>Other Resources to Consider</a:t>
            </a:r>
          </a:p>
        </p:txBody>
      </p:sp>
      <p:sp>
        <p:nvSpPr>
          <p:cNvPr id="7" name="Content Placeholder 2">
            <a:extLst>
              <a:ext uri="{FF2B5EF4-FFF2-40B4-BE49-F238E27FC236}">
                <a16:creationId xmlns:a16="http://schemas.microsoft.com/office/drawing/2014/main" id="{9244D311-B211-DE0E-0629-EEAC80254A97}"/>
              </a:ext>
            </a:extLst>
          </p:cNvPr>
          <p:cNvSpPr txBox="1">
            <a:spLocks/>
          </p:cNvSpPr>
          <p:nvPr/>
        </p:nvSpPr>
        <p:spPr>
          <a:xfrm>
            <a:off x="339155" y="1186665"/>
            <a:ext cx="8280400" cy="474345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517587" indent="-457200" defTabSz="966440">
              <a:spcAft>
                <a:spcPts val="600"/>
              </a:spcAft>
              <a:defRPr/>
            </a:pPr>
            <a:r>
              <a:rPr lang="en-US" sz="2400">
                <a:solidFill>
                  <a:srgbClr val="000000"/>
                </a:solidFill>
                <a:hlinkClick r:id="rId3"/>
              </a:rPr>
              <a:t>APEX Accelerators</a:t>
            </a:r>
            <a:endParaRPr lang="en-US" sz="2400">
              <a:solidFill>
                <a:srgbClr val="000000"/>
              </a:solidFill>
            </a:endParaRPr>
          </a:p>
          <a:p>
            <a:pPr marL="877606" lvl="1" indent="-457200" defTabSz="966440">
              <a:spcAft>
                <a:spcPts val="600"/>
              </a:spcAft>
              <a:defRPr/>
            </a:pPr>
            <a:r>
              <a:rPr lang="en-US" sz="2400">
                <a:solidFill>
                  <a:schemeClr val="tx2"/>
                </a:solidFill>
              </a:rPr>
              <a:t>Formerly Procurement Technical Assistance Centers (PTACs)</a:t>
            </a:r>
          </a:p>
          <a:p>
            <a:pPr marL="517587" indent="-457200" defTabSz="966440">
              <a:spcAft>
                <a:spcPts val="600"/>
              </a:spcAft>
              <a:defRPr/>
            </a:pPr>
            <a:r>
              <a:rPr lang="en-US" sz="2400">
                <a:solidFill>
                  <a:srgbClr val="000000"/>
                </a:solidFill>
                <a:hlinkClick r:id="rId4"/>
              </a:rPr>
              <a:t>SBA Export Assistance</a:t>
            </a:r>
            <a:endParaRPr lang="en-US" sz="2400">
              <a:solidFill>
                <a:srgbClr val="000000"/>
              </a:solidFill>
            </a:endParaRPr>
          </a:p>
          <a:p>
            <a:pPr marL="517587" indent="-457200" defTabSz="966440">
              <a:spcAft>
                <a:spcPts val="600"/>
              </a:spcAft>
              <a:defRPr/>
            </a:pPr>
            <a:r>
              <a:rPr lang="en-US" sz="2400">
                <a:solidFill>
                  <a:srgbClr val="000000"/>
                </a:solidFill>
                <a:hlinkClick r:id="rId5"/>
              </a:rPr>
              <a:t>SBA Surety Bond Program</a:t>
            </a:r>
            <a:endParaRPr lang="en-US" sz="2400">
              <a:solidFill>
                <a:srgbClr val="000000"/>
              </a:solidFill>
            </a:endParaRPr>
          </a:p>
          <a:p>
            <a:pPr marL="517587" indent="-457200" defTabSz="966440">
              <a:spcAft>
                <a:spcPts val="600"/>
              </a:spcAft>
              <a:defRPr/>
            </a:pPr>
            <a:r>
              <a:rPr lang="en-US" sz="2400">
                <a:solidFill>
                  <a:srgbClr val="000000"/>
                </a:solidFill>
                <a:hlinkClick r:id="rId6"/>
              </a:rPr>
              <a:t>Small Business Innovation Research (SBIR) Small Business Technology Transfer (STTR) Programs</a:t>
            </a:r>
            <a:endParaRPr lang="en-US" sz="2400">
              <a:solidFill>
                <a:srgbClr val="000000"/>
              </a:solidFill>
            </a:endParaRPr>
          </a:p>
          <a:p>
            <a:pPr marL="517587" indent="-457200" defTabSz="966440">
              <a:spcAft>
                <a:spcPts val="600"/>
              </a:spcAft>
              <a:defRPr/>
            </a:pPr>
            <a:r>
              <a:rPr lang="en-US" sz="2400">
                <a:solidFill>
                  <a:srgbClr val="000000"/>
                </a:solidFill>
                <a:hlinkClick r:id="rId7"/>
              </a:rPr>
              <a:t>SBA Office of Advocacy</a:t>
            </a:r>
            <a:endParaRPr lang="en-US" sz="2400">
              <a:solidFill>
                <a:srgbClr val="000000"/>
              </a:solidFill>
            </a:endParaRPr>
          </a:p>
        </p:txBody>
      </p:sp>
    </p:spTree>
    <p:extLst>
      <p:ext uri="{BB962C8B-B14F-4D97-AF65-F5344CB8AC3E}">
        <p14:creationId xmlns:p14="http://schemas.microsoft.com/office/powerpoint/2010/main" val="3814007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3"/>
          <p:cNvSpPr>
            <a:spLocks noGrp="1"/>
          </p:cNvSpPr>
          <p:nvPr>
            <p:ph type="sldNum" sz="quarter" idx="4294967295"/>
          </p:nvPr>
        </p:nvSpPr>
        <p:spPr bwMode="auto">
          <a:xfrm>
            <a:off x="8609708" y="6331148"/>
            <a:ext cx="462855" cy="29914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781">
                <a:solidFill>
                  <a:schemeClr val="tx1"/>
                </a:solidFill>
                <a:latin typeface="Calibri" pitchFamily="34" charset="0"/>
              </a:defRPr>
            </a:lvl1pPr>
            <a:lvl2pPr marL="696516" indent="-267891">
              <a:defRPr sz="1781">
                <a:solidFill>
                  <a:schemeClr val="tx1"/>
                </a:solidFill>
                <a:latin typeface="Calibri" pitchFamily="34" charset="0"/>
              </a:defRPr>
            </a:lvl2pPr>
            <a:lvl3pPr marL="1071563" indent="-214313">
              <a:defRPr sz="1781">
                <a:solidFill>
                  <a:schemeClr val="tx1"/>
                </a:solidFill>
                <a:latin typeface="Calibri" pitchFamily="34" charset="0"/>
              </a:defRPr>
            </a:lvl3pPr>
            <a:lvl4pPr marL="1500188" indent="-214313">
              <a:defRPr sz="1781">
                <a:solidFill>
                  <a:schemeClr val="tx1"/>
                </a:solidFill>
                <a:latin typeface="Calibri" pitchFamily="34" charset="0"/>
              </a:defRPr>
            </a:lvl4pPr>
            <a:lvl5pPr marL="1928813" indent="-214313">
              <a:defRPr sz="1781">
                <a:solidFill>
                  <a:schemeClr val="tx1"/>
                </a:solidFill>
                <a:latin typeface="Calibri" pitchFamily="34" charset="0"/>
              </a:defRPr>
            </a:lvl5pPr>
            <a:lvl6pPr marL="2357438" indent="-214313" defTabSz="904875" fontAlgn="base">
              <a:spcBef>
                <a:spcPct val="0"/>
              </a:spcBef>
              <a:spcAft>
                <a:spcPct val="0"/>
              </a:spcAft>
              <a:defRPr sz="1781">
                <a:solidFill>
                  <a:schemeClr val="tx1"/>
                </a:solidFill>
                <a:latin typeface="Calibri" pitchFamily="34" charset="0"/>
              </a:defRPr>
            </a:lvl6pPr>
            <a:lvl7pPr marL="2786063" indent="-214313" defTabSz="904875" fontAlgn="base">
              <a:spcBef>
                <a:spcPct val="0"/>
              </a:spcBef>
              <a:spcAft>
                <a:spcPct val="0"/>
              </a:spcAft>
              <a:defRPr sz="1781">
                <a:solidFill>
                  <a:schemeClr val="tx1"/>
                </a:solidFill>
                <a:latin typeface="Calibri" pitchFamily="34" charset="0"/>
              </a:defRPr>
            </a:lvl7pPr>
            <a:lvl8pPr marL="3214688" indent="-214313" defTabSz="904875" fontAlgn="base">
              <a:spcBef>
                <a:spcPct val="0"/>
              </a:spcBef>
              <a:spcAft>
                <a:spcPct val="0"/>
              </a:spcAft>
              <a:defRPr sz="1781">
                <a:solidFill>
                  <a:schemeClr val="tx1"/>
                </a:solidFill>
                <a:latin typeface="Calibri" pitchFamily="34" charset="0"/>
              </a:defRPr>
            </a:lvl8pPr>
            <a:lvl9pPr marL="3643313" indent="-214313" defTabSz="904875" fontAlgn="base">
              <a:spcBef>
                <a:spcPct val="0"/>
              </a:spcBef>
              <a:spcAft>
                <a:spcPct val="0"/>
              </a:spcAft>
              <a:defRPr sz="1781">
                <a:solidFill>
                  <a:schemeClr val="tx1"/>
                </a:solidFill>
                <a:latin typeface="Calibri" pitchFamily="34" charset="0"/>
              </a:defRPr>
            </a:lvl9pPr>
          </a:lstStyle>
          <a:p>
            <a:pPr defTabSz="904875" fontAlgn="base">
              <a:spcBef>
                <a:spcPct val="0"/>
              </a:spcBef>
              <a:spcAft>
                <a:spcPct val="0"/>
              </a:spcAft>
              <a:defRPr/>
            </a:pPr>
            <a:fld id="{DBDD4928-0A56-4F80-8590-0846D075B333}" type="slidenum">
              <a:rPr lang="en-US" altLang="en-US" sz="891">
                <a:solidFill>
                  <a:srgbClr val="898989"/>
                </a:solidFill>
                <a:latin typeface="Source Sans Pro" panose="020B0503030403020204" pitchFamily="34" charset="0"/>
              </a:rPr>
              <a:pPr defTabSz="904875" fontAlgn="base">
                <a:spcBef>
                  <a:spcPct val="0"/>
                </a:spcBef>
                <a:spcAft>
                  <a:spcPct val="0"/>
                </a:spcAft>
                <a:defRPr/>
              </a:pPr>
              <a:t>13</a:t>
            </a:fld>
            <a:endParaRPr lang="en-US" altLang="en-US" sz="891">
              <a:solidFill>
                <a:srgbClr val="898989"/>
              </a:solidFill>
              <a:latin typeface="Source Sans Pro" panose="020B0503030403020204" pitchFamily="34" charset="0"/>
            </a:endParaRPr>
          </a:p>
        </p:txBody>
      </p:sp>
      <p:pic>
        <p:nvPicPr>
          <p:cNvPr id="18438" name="Picture 8" descr=" SigLockup Master PwPt.4c-whitebg.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188" y="250037"/>
            <a:ext cx="2838153" cy="43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8700B17-37D4-D1E6-F846-72B1F0364E03}"/>
              </a:ext>
            </a:extLst>
          </p:cNvPr>
          <p:cNvSpPr txBox="1"/>
          <p:nvPr/>
        </p:nvSpPr>
        <p:spPr>
          <a:xfrm>
            <a:off x="1571625" y="1214438"/>
            <a:ext cx="5929313" cy="400110"/>
          </a:xfrm>
          <a:prstGeom prst="rect">
            <a:avLst/>
          </a:prstGeom>
          <a:noFill/>
        </p:spPr>
        <p:txBody>
          <a:bodyPr wrap="square" rtlCol="0">
            <a:spAutoFit/>
          </a:bodyPr>
          <a:lstStyle/>
          <a:p>
            <a:pPr algn="ctr"/>
            <a:r>
              <a:rPr lang="en-US" sz="2000">
                <a:solidFill>
                  <a:schemeClr val="accent1"/>
                </a:solidFill>
              </a:rPr>
              <a:t>Over 40 programs to help rural America</a:t>
            </a:r>
          </a:p>
        </p:txBody>
      </p:sp>
      <p:pic>
        <p:nvPicPr>
          <p:cNvPr id="4" name="Content Placeholder 5" descr="Production with solid fill">
            <a:extLst>
              <a:ext uri="{FF2B5EF4-FFF2-40B4-BE49-F238E27FC236}">
                <a16:creationId xmlns:a16="http://schemas.microsoft.com/office/drawing/2014/main" id="{D609AEE7-756C-2C07-0B6E-3F849D029C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721" y="2000251"/>
            <a:ext cx="857250" cy="857250"/>
          </a:xfrm>
          <a:prstGeom prst="rect">
            <a:avLst/>
          </a:prstGeom>
        </p:spPr>
      </p:pic>
      <p:sp>
        <p:nvSpPr>
          <p:cNvPr id="5" name="TextBox 4">
            <a:extLst>
              <a:ext uri="{FF2B5EF4-FFF2-40B4-BE49-F238E27FC236}">
                <a16:creationId xmlns:a16="http://schemas.microsoft.com/office/drawing/2014/main" id="{D8B12408-20CF-744C-D09A-860DA71A2C54}"/>
              </a:ext>
            </a:extLst>
          </p:cNvPr>
          <p:cNvSpPr txBox="1"/>
          <p:nvPr/>
        </p:nvSpPr>
        <p:spPr>
          <a:xfrm>
            <a:off x="1817181" y="2104405"/>
            <a:ext cx="3029935" cy="1200329"/>
          </a:xfrm>
          <a:prstGeom prst="rect">
            <a:avLst/>
          </a:prstGeom>
          <a:noFill/>
        </p:spPr>
        <p:txBody>
          <a:bodyPr wrap="square" rtlCol="0">
            <a:spAutoFit/>
          </a:bodyPr>
          <a:lstStyle/>
          <a:p>
            <a:pPr defTabSz="857250">
              <a:defRPr/>
            </a:pPr>
            <a:r>
              <a:rPr lang="en-US">
                <a:solidFill>
                  <a:prstClr val="black"/>
                </a:solidFill>
                <a:latin typeface="Calibri" panose="020F0502020204030204"/>
                <a:hlinkClick r:id="rId6"/>
              </a:rPr>
              <a:t>Business and Cooperative</a:t>
            </a:r>
            <a:endParaRPr lang="en-US">
              <a:solidFill>
                <a:prstClr val="black"/>
              </a:solidFill>
              <a:latin typeface="Calibri" panose="020F0502020204030204"/>
            </a:endParaRPr>
          </a:p>
          <a:p>
            <a:pPr marL="267891" indent="-267891" defTabSz="857250">
              <a:buFont typeface="Arial" panose="020B0604020202020204" pitchFamily="34" charset="0"/>
              <a:buChar char="•"/>
              <a:defRPr/>
            </a:pPr>
            <a:r>
              <a:rPr lang="en-US">
                <a:solidFill>
                  <a:srgbClr val="003E7F"/>
                </a:solidFill>
                <a:latin typeface="Calibri" panose="020F0502020204030204"/>
              </a:rPr>
              <a:t>Business Loans</a:t>
            </a:r>
          </a:p>
          <a:p>
            <a:pPr marL="267891" indent="-267891" defTabSz="857250">
              <a:buFont typeface="Arial" panose="020B0604020202020204" pitchFamily="34" charset="0"/>
              <a:buChar char="•"/>
              <a:defRPr/>
            </a:pPr>
            <a:r>
              <a:rPr lang="en-US">
                <a:solidFill>
                  <a:srgbClr val="003E7F"/>
                </a:solidFill>
                <a:latin typeface="Calibri" panose="020F0502020204030204"/>
              </a:rPr>
              <a:t>Technical Assistance Grants</a:t>
            </a:r>
          </a:p>
          <a:p>
            <a:pPr marL="267891" indent="-267891" defTabSz="857250">
              <a:buFont typeface="Arial" panose="020B0604020202020204" pitchFamily="34" charset="0"/>
              <a:buChar char="•"/>
              <a:defRPr/>
            </a:pPr>
            <a:r>
              <a:rPr lang="en-US">
                <a:solidFill>
                  <a:srgbClr val="003E7F"/>
                </a:solidFill>
                <a:latin typeface="Calibri" panose="020F0502020204030204"/>
              </a:rPr>
              <a:t>Renewable Energy</a:t>
            </a:r>
          </a:p>
        </p:txBody>
      </p:sp>
      <p:pic>
        <p:nvPicPr>
          <p:cNvPr id="6" name="Graphic 5" descr="House with solid fill">
            <a:extLst>
              <a:ext uri="{FF2B5EF4-FFF2-40B4-BE49-F238E27FC236}">
                <a16:creationId xmlns:a16="http://schemas.microsoft.com/office/drawing/2014/main" id="{D9EB1470-7D4F-6E1C-5FAA-6FC02A0A1C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98846" y="2000251"/>
            <a:ext cx="857250" cy="857250"/>
          </a:xfrm>
          <a:prstGeom prst="rect">
            <a:avLst/>
          </a:prstGeom>
        </p:spPr>
      </p:pic>
      <p:sp>
        <p:nvSpPr>
          <p:cNvPr id="7" name="TextBox 6">
            <a:extLst>
              <a:ext uri="{FF2B5EF4-FFF2-40B4-BE49-F238E27FC236}">
                <a16:creationId xmlns:a16="http://schemas.microsoft.com/office/drawing/2014/main" id="{B99F2292-D232-6F03-4124-C23609C47C42}"/>
              </a:ext>
            </a:extLst>
          </p:cNvPr>
          <p:cNvSpPr txBox="1"/>
          <p:nvPr/>
        </p:nvSpPr>
        <p:spPr>
          <a:xfrm>
            <a:off x="6285549" y="2104405"/>
            <a:ext cx="3029935" cy="923330"/>
          </a:xfrm>
          <a:prstGeom prst="rect">
            <a:avLst/>
          </a:prstGeom>
          <a:noFill/>
        </p:spPr>
        <p:txBody>
          <a:bodyPr wrap="square" rtlCol="0">
            <a:spAutoFit/>
          </a:bodyPr>
          <a:lstStyle/>
          <a:p>
            <a:pPr defTabSz="857250">
              <a:defRPr/>
            </a:pPr>
            <a:r>
              <a:rPr lang="en-US">
                <a:solidFill>
                  <a:prstClr val="black"/>
                </a:solidFill>
                <a:latin typeface="Calibri" panose="020F0502020204030204"/>
                <a:hlinkClick r:id="rId9"/>
              </a:rPr>
              <a:t>Housing </a:t>
            </a:r>
            <a:endParaRPr lang="en-US">
              <a:solidFill>
                <a:prstClr val="black"/>
              </a:solidFill>
              <a:latin typeface="Calibri" panose="020F0502020204030204"/>
            </a:endParaRPr>
          </a:p>
          <a:p>
            <a:pPr marL="267891" indent="-267891" defTabSz="857250">
              <a:buFont typeface="Arial" panose="020B0604020202020204" pitchFamily="34" charset="0"/>
              <a:buChar char="•"/>
              <a:defRPr/>
            </a:pPr>
            <a:r>
              <a:rPr lang="en-US">
                <a:solidFill>
                  <a:srgbClr val="003E7F"/>
                </a:solidFill>
                <a:latin typeface="Calibri" panose="020F0502020204030204"/>
              </a:rPr>
              <a:t>Single Family Housing </a:t>
            </a:r>
          </a:p>
          <a:p>
            <a:pPr marL="267891" indent="-267891" defTabSz="857250">
              <a:buFont typeface="Arial" panose="020B0604020202020204" pitchFamily="34" charset="0"/>
              <a:buChar char="•"/>
              <a:defRPr/>
            </a:pPr>
            <a:r>
              <a:rPr lang="en-US">
                <a:solidFill>
                  <a:srgbClr val="003E7F"/>
                </a:solidFill>
                <a:latin typeface="Calibri" panose="020F0502020204030204"/>
              </a:rPr>
              <a:t>Multi-Family Housing</a:t>
            </a:r>
          </a:p>
        </p:txBody>
      </p:sp>
      <p:pic>
        <p:nvPicPr>
          <p:cNvPr id="8" name="Graphic 7" descr="Hospital with solid fill">
            <a:extLst>
              <a:ext uri="{FF2B5EF4-FFF2-40B4-BE49-F238E27FC236}">
                <a16:creationId xmlns:a16="http://schemas.microsoft.com/office/drawing/2014/main" id="{17DC36BE-B920-7F7B-0BED-DFDB832736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5792" y="3996000"/>
            <a:ext cx="857250" cy="857250"/>
          </a:xfrm>
          <a:prstGeom prst="rect">
            <a:avLst/>
          </a:prstGeom>
        </p:spPr>
      </p:pic>
      <p:sp>
        <p:nvSpPr>
          <p:cNvPr id="9" name="TextBox 8">
            <a:extLst>
              <a:ext uri="{FF2B5EF4-FFF2-40B4-BE49-F238E27FC236}">
                <a16:creationId xmlns:a16="http://schemas.microsoft.com/office/drawing/2014/main" id="{2F3ACC5D-55D2-0CF4-25DF-7B50CD9912C5}"/>
              </a:ext>
            </a:extLst>
          </p:cNvPr>
          <p:cNvSpPr txBox="1"/>
          <p:nvPr/>
        </p:nvSpPr>
        <p:spPr>
          <a:xfrm>
            <a:off x="1817181" y="4000810"/>
            <a:ext cx="2517727" cy="1200329"/>
          </a:xfrm>
          <a:prstGeom prst="rect">
            <a:avLst/>
          </a:prstGeom>
          <a:noFill/>
        </p:spPr>
        <p:txBody>
          <a:bodyPr wrap="square" rtlCol="0">
            <a:spAutoFit/>
          </a:bodyPr>
          <a:lstStyle/>
          <a:p>
            <a:pPr defTabSz="857250">
              <a:defRPr/>
            </a:pPr>
            <a:r>
              <a:rPr lang="en-US">
                <a:solidFill>
                  <a:prstClr val="black"/>
                </a:solidFill>
                <a:latin typeface="Calibri" panose="020F0502020204030204"/>
                <a:hlinkClick r:id="rId12"/>
              </a:rPr>
              <a:t>Community Facilities</a:t>
            </a:r>
            <a:endParaRPr lang="en-US">
              <a:solidFill>
                <a:prstClr val="black"/>
              </a:solidFill>
              <a:latin typeface="Calibri" panose="020F0502020204030204"/>
            </a:endParaRPr>
          </a:p>
          <a:p>
            <a:pPr marL="267891" indent="-267891" defTabSz="857250">
              <a:buFont typeface="Arial" panose="020B0604020202020204" pitchFamily="34" charset="0"/>
              <a:buChar char="•"/>
              <a:defRPr/>
            </a:pPr>
            <a:r>
              <a:rPr lang="en-US">
                <a:solidFill>
                  <a:srgbClr val="003E7F"/>
                </a:solidFill>
                <a:latin typeface="Calibri" panose="020F0502020204030204"/>
              </a:rPr>
              <a:t>Public Services</a:t>
            </a:r>
          </a:p>
          <a:p>
            <a:pPr marL="267891" indent="-267891" defTabSz="857250">
              <a:buFont typeface="Arial" panose="020B0604020202020204" pitchFamily="34" charset="0"/>
              <a:buChar char="•"/>
              <a:defRPr/>
            </a:pPr>
            <a:r>
              <a:rPr lang="en-US">
                <a:solidFill>
                  <a:srgbClr val="003E7F"/>
                </a:solidFill>
                <a:latin typeface="Calibri" panose="020F0502020204030204"/>
              </a:rPr>
              <a:t>Healthcare</a:t>
            </a:r>
          </a:p>
          <a:p>
            <a:pPr marL="267891" indent="-267891" defTabSz="857250">
              <a:buFont typeface="Arial" panose="020B0604020202020204" pitchFamily="34" charset="0"/>
              <a:buChar char="•"/>
              <a:defRPr/>
            </a:pPr>
            <a:r>
              <a:rPr lang="en-US">
                <a:solidFill>
                  <a:srgbClr val="003E7F"/>
                </a:solidFill>
                <a:latin typeface="Calibri" panose="020F0502020204030204"/>
              </a:rPr>
              <a:t>Education</a:t>
            </a:r>
          </a:p>
        </p:txBody>
      </p:sp>
      <p:pic>
        <p:nvPicPr>
          <p:cNvPr id="10" name="Graphic 9" descr="Electric Tower with solid fill">
            <a:extLst>
              <a:ext uri="{FF2B5EF4-FFF2-40B4-BE49-F238E27FC236}">
                <a16:creationId xmlns:a16="http://schemas.microsoft.com/office/drawing/2014/main" id="{DA642E3C-85D0-46C5-A64F-D7AE8973A31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992081" y="4134838"/>
            <a:ext cx="857250" cy="857250"/>
          </a:xfrm>
          <a:prstGeom prst="rect">
            <a:avLst/>
          </a:prstGeom>
        </p:spPr>
      </p:pic>
      <p:sp>
        <p:nvSpPr>
          <p:cNvPr id="11" name="TextBox 10">
            <a:extLst>
              <a:ext uri="{FF2B5EF4-FFF2-40B4-BE49-F238E27FC236}">
                <a16:creationId xmlns:a16="http://schemas.microsoft.com/office/drawing/2014/main" id="{8A93F002-D268-7849-B02C-86B82C2887E2}"/>
              </a:ext>
            </a:extLst>
          </p:cNvPr>
          <p:cNvSpPr txBox="1"/>
          <p:nvPr/>
        </p:nvSpPr>
        <p:spPr>
          <a:xfrm>
            <a:off x="6276068" y="3996000"/>
            <a:ext cx="2675212" cy="1200329"/>
          </a:xfrm>
          <a:prstGeom prst="rect">
            <a:avLst/>
          </a:prstGeom>
          <a:noFill/>
        </p:spPr>
        <p:txBody>
          <a:bodyPr wrap="square" rtlCol="0">
            <a:spAutoFit/>
          </a:bodyPr>
          <a:lstStyle/>
          <a:p>
            <a:pPr defTabSz="857250">
              <a:defRPr/>
            </a:pPr>
            <a:r>
              <a:rPr lang="en-US">
                <a:solidFill>
                  <a:prstClr val="black"/>
                </a:solidFill>
                <a:latin typeface="Calibri" panose="020F0502020204030204"/>
                <a:hlinkClick r:id="rId15"/>
              </a:rPr>
              <a:t>Rural Utilities</a:t>
            </a:r>
            <a:endParaRPr lang="en-US">
              <a:solidFill>
                <a:prstClr val="black"/>
              </a:solidFill>
              <a:latin typeface="Calibri" panose="020F0502020204030204"/>
            </a:endParaRPr>
          </a:p>
          <a:p>
            <a:pPr marL="267891" indent="-267891" defTabSz="857250">
              <a:buFont typeface="Arial" panose="020B0604020202020204" pitchFamily="34" charset="0"/>
              <a:buChar char="•"/>
              <a:defRPr/>
            </a:pPr>
            <a:r>
              <a:rPr lang="en-US">
                <a:solidFill>
                  <a:srgbClr val="003E7F"/>
                </a:solidFill>
                <a:latin typeface="Calibri" panose="020F0502020204030204"/>
              </a:rPr>
              <a:t>Water and Sewer</a:t>
            </a:r>
          </a:p>
          <a:p>
            <a:pPr marL="267891" indent="-267891" defTabSz="857250">
              <a:buFont typeface="Arial" panose="020B0604020202020204" pitchFamily="34" charset="0"/>
              <a:buChar char="•"/>
              <a:defRPr/>
            </a:pPr>
            <a:r>
              <a:rPr lang="en-US">
                <a:solidFill>
                  <a:srgbClr val="003E7F"/>
                </a:solidFill>
                <a:latin typeface="Calibri" panose="020F0502020204030204"/>
              </a:rPr>
              <a:t>Broadband</a:t>
            </a:r>
          </a:p>
          <a:p>
            <a:pPr marL="267891" indent="-267891" defTabSz="857250">
              <a:buFont typeface="Arial" panose="020B0604020202020204" pitchFamily="34" charset="0"/>
              <a:buChar char="•"/>
              <a:defRPr/>
            </a:pPr>
            <a:r>
              <a:rPr lang="en-US">
                <a:solidFill>
                  <a:srgbClr val="003E7F"/>
                </a:solidFill>
                <a:latin typeface="Calibri" panose="020F0502020204030204"/>
              </a:rPr>
              <a:t>Electric and Telephone</a:t>
            </a:r>
          </a:p>
        </p:txBody>
      </p:sp>
      <p:sp>
        <p:nvSpPr>
          <p:cNvPr id="12" name="TextBox 11">
            <a:extLst>
              <a:ext uri="{FF2B5EF4-FFF2-40B4-BE49-F238E27FC236}">
                <a16:creationId xmlns:a16="http://schemas.microsoft.com/office/drawing/2014/main" id="{7FD08FA1-4B00-7D94-339A-28BCFB66EE8A}"/>
              </a:ext>
            </a:extLst>
          </p:cNvPr>
          <p:cNvSpPr txBox="1"/>
          <p:nvPr/>
        </p:nvSpPr>
        <p:spPr>
          <a:xfrm>
            <a:off x="1134341" y="5909879"/>
            <a:ext cx="6875318" cy="750205"/>
          </a:xfrm>
          <a:prstGeom prst="rect">
            <a:avLst/>
          </a:prstGeom>
          <a:noFill/>
        </p:spPr>
        <p:txBody>
          <a:bodyPr wrap="square" rtlCol="0">
            <a:spAutoFit/>
          </a:bodyPr>
          <a:lstStyle/>
          <a:p>
            <a:pPr algn="ctr" defTabSz="857250">
              <a:defRPr/>
            </a:pPr>
            <a:r>
              <a:rPr lang="en-US" sz="2400">
                <a:solidFill>
                  <a:prstClr val="black"/>
                </a:solidFill>
                <a:latin typeface="Calibri" panose="020F0502020204030204"/>
                <a:hlinkClick r:id="rId16"/>
              </a:rPr>
              <a:t>www.rd.usda.gov</a:t>
            </a:r>
            <a:endParaRPr lang="en-US" sz="2400">
              <a:solidFill>
                <a:prstClr val="black"/>
              </a:solidFill>
              <a:latin typeface="Calibri" panose="020F0502020204030204"/>
            </a:endParaRPr>
          </a:p>
          <a:p>
            <a:pPr algn="ctr" defTabSz="857250">
              <a:defRPr/>
            </a:pPr>
            <a:endParaRPr lang="en-US" sz="1875">
              <a:solidFill>
                <a:prstClr val="black"/>
              </a:solidFill>
              <a:latin typeface="Calibri" panose="020F0502020204030204"/>
            </a:endParaRPr>
          </a:p>
        </p:txBody>
      </p:sp>
      <p:sp>
        <p:nvSpPr>
          <p:cNvPr id="15" name="Title 4">
            <a:extLst>
              <a:ext uri="{FF2B5EF4-FFF2-40B4-BE49-F238E27FC236}">
                <a16:creationId xmlns:a16="http://schemas.microsoft.com/office/drawing/2014/main" id="{A8F1E88F-F286-4055-2C14-CD413F276A75}"/>
              </a:ext>
            </a:extLst>
          </p:cNvPr>
          <p:cNvSpPr txBox="1">
            <a:spLocks/>
          </p:cNvSpPr>
          <p:nvPr/>
        </p:nvSpPr>
        <p:spPr>
          <a:xfrm>
            <a:off x="77181" y="849591"/>
            <a:ext cx="9001125" cy="785813"/>
          </a:xfrm>
          <a:prstGeom prst="rect">
            <a:avLst/>
          </a:prstGeom>
        </p:spPr>
        <p:txBody>
          <a:bodyPr vert="horz" lIns="85725" tIns="42863" rIns="85725" bIns="42863" rtlCol="0" anchor="t">
            <a:normAutofit/>
          </a:bodyPr>
          <a:lstStyle>
            <a:lvl1pPr algn="ctr" defTabSz="720036" rtl="0" eaLnBrk="1" latinLnBrk="0" hangingPunct="1">
              <a:lnSpc>
                <a:spcPct val="90000"/>
              </a:lnSpc>
              <a:spcBef>
                <a:spcPct val="0"/>
              </a:spcBef>
              <a:buNone/>
              <a:defRPr sz="4620" b="1" i="0" kern="1200" spc="-79" baseline="0">
                <a:solidFill>
                  <a:srgbClr val="002E6D"/>
                </a:solidFill>
                <a:latin typeface="Source Sans Pro" charset="0"/>
                <a:ea typeface="Source Sans Pro" charset="0"/>
                <a:cs typeface="Source Sans Pro" charset="0"/>
              </a:defRPr>
            </a:lvl1pPr>
          </a:lstStyle>
          <a:p>
            <a:pPr defTabSz="904875" fontAlgn="base">
              <a:spcAft>
                <a:spcPct val="0"/>
              </a:spcAft>
            </a:pPr>
            <a:r>
              <a:rPr lang="en-US" altLang="en-US" sz="2800">
                <a:latin typeface="Source Sans Pro" panose="020B0503030403020204" pitchFamily="34" charset="0"/>
                <a:ea typeface="Source Sans Pro" panose="020B0503030403020204" pitchFamily="34" charset="0"/>
                <a:cs typeface="Franklin Gothic Demi" pitchFamily="34" charset="0"/>
              </a:rPr>
              <a:t>USDA Rural Development</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92249" y="1476914"/>
            <a:ext cx="8190011" cy="0"/>
          </a:xfrm>
          <a:prstGeom prst="line">
            <a:avLst/>
          </a:prstGeom>
        </p:spPr>
        <p:style>
          <a:lnRef idx="3">
            <a:schemeClr val="accent6"/>
          </a:lnRef>
          <a:fillRef idx="0">
            <a:schemeClr val="accent6"/>
          </a:fillRef>
          <a:effectRef idx="2">
            <a:schemeClr val="accent6"/>
          </a:effectRef>
          <a:fontRef idx="minor">
            <a:schemeClr val="tx1"/>
          </a:fontRef>
        </p:style>
      </p:cxnSp>
      <p:sp>
        <p:nvSpPr>
          <p:cNvPr id="19465" name="TextBox 10"/>
          <p:cNvSpPr txBox="1">
            <a:spLocks noChangeArrowheads="1"/>
          </p:cNvSpPr>
          <p:nvPr/>
        </p:nvSpPr>
        <p:spPr bwMode="auto">
          <a:xfrm>
            <a:off x="7198817" y="1572757"/>
            <a:ext cx="1159371" cy="827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620" tIns="45310" rIns="90620" bIns="45310">
            <a:spAutoFit/>
          </a:bodyPr>
          <a:lstStyle>
            <a:lvl1pPr eaLnBrk="0" hangingPunct="0">
              <a:spcBef>
                <a:spcPct val="20000"/>
              </a:spcBef>
              <a:buFont typeface="Arial" pitchFamily="34" charset="0"/>
              <a:buChar char="•"/>
              <a:defRPr sz="3400">
                <a:solidFill>
                  <a:srgbClr val="AB162B"/>
                </a:solidFill>
                <a:latin typeface="Franklin Gothic Medium" pitchFamily="34" charset="0"/>
              </a:defRPr>
            </a:lvl1pPr>
            <a:lvl2pPr marL="742950" indent="-285750" eaLnBrk="0" hangingPunct="0">
              <a:spcBef>
                <a:spcPct val="20000"/>
              </a:spcBef>
              <a:buFont typeface="Arial" pitchFamily="34" charset="0"/>
              <a:buChar char="•"/>
              <a:defRPr sz="3000">
                <a:solidFill>
                  <a:schemeClr val="tx1"/>
                </a:solidFill>
                <a:latin typeface="Franklin Gothic Book" pitchFamily="34" charset="0"/>
              </a:defRPr>
            </a:lvl2pPr>
            <a:lvl3pPr marL="1143000" indent="-228600" eaLnBrk="0" hangingPunct="0">
              <a:spcBef>
                <a:spcPct val="20000"/>
              </a:spcBef>
              <a:buFont typeface="Arial" pitchFamily="34" charset="0"/>
              <a:buChar char="•"/>
              <a:defRPr sz="2500">
                <a:solidFill>
                  <a:schemeClr val="tx1"/>
                </a:solidFill>
                <a:latin typeface="Franklin Gothic Book" pitchFamily="34" charset="0"/>
              </a:defRPr>
            </a:lvl3pPr>
            <a:lvl4pPr marL="1600200" indent="-228600" eaLnBrk="0" hangingPunct="0">
              <a:spcBef>
                <a:spcPct val="20000"/>
              </a:spcBef>
              <a:buFont typeface="Arial" pitchFamily="34" charset="0"/>
              <a:buChar char="•"/>
              <a:defRPr sz="2100">
                <a:solidFill>
                  <a:schemeClr val="tx1"/>
                </a:solidFill>
                <a:latin typeface="Franklin Gothic Book" pitchFamily="34" charset="0"/>
              </a:defRPr>
            </a:lvl4pPr>
            <a:lvl5pPr marL="2057400" indent="-228600" eaLnBrk="0" hangingPunct="0">
              <a:spcBef>
                <a:spcPct val="20000"/>
              </a:spcBef>
              <a:buFont typeface="Arial" pitchFamily="34" charset="0"/>
              <a:buChar char="•"/>
              <a:defRPr sz="2100">
                <a:solidFill>
                  <a:schemeClr val="tx1"/>
                </a:solidFill>
                <a:latin typeface="Franklin Gothic Book" pitchFamily="34" charset="0"/>
              </a:defRPr>
            </a:lvl5pPr>
            <a:lvl6pPr marL="25146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6pPr>
            <a:lvl7pPr marL="29718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7pPr>
            <a:lvl8pPr marL="34290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8pPr>
            <a:lvl9pPr marL="38862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9pPr>
          </a:lstStyle>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USDA is</a:t>
            </a:r>
          </a:p>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OPEN for</a:t>
            </a:r>
          </a:p>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Business</a:t>
            </a:r>
          </a:p>
        </p:txBody>
      </p:sp>
      <p:pic>
        <p:nvPicPr>
          <p:cNvPr id="19466" name="Picture 12" descr=" SigLockup Master PwPt.4c-whitebg.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981" y="247055"/>
            <a:ext cx="2838153" cy="43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4DADC8C-0F3D-4F52-9515-6737928A6C9E}"/>
              </a:ext>
            </a:extLst>
          </p:cNvPr>
          <p:cNvSpPr>
            <a:spLocks noGrp="1"/>
          </p:cNvSpPr>
          <p:nvPr>
            <p:ph type="sldNum" sz="quarter" idx="4"/>
          </p:nvPr>
        </p:nvSpPr>
        <p:spPr/>
        <p:txBody>
          <a:bodyPr/>
          <a:lstStyle/>
          <a:p>
            <a:fld id="{EF13FA6D-C8B2-4F7A-9B51-E7C42DF59B48}" type="slidenum">
              <a:rPr lang="en-US" smtClean="0"/>
              <a:pPr/>
              <a:t>14</a:t>
            </a:fld>
            <a:endParaRPr lang="en-US" sz="886"/>
          </a:p>
        </p:txBody>
      </p:sp>
      <p:sp>
        <p:nvSpPr>
          <p:cNvPr id="7" name="Title 4">
            <a:extLst>
              <a:ext uri="{FF2B5EF4-FFF2-40B4-BE49-F238E27FC236}">
                <a16:creationId xmlns:a16="http://schemas.microsoft.com/office/drawing/2014/main" id="{39D7902C-0EF6-BF1B-8E62-2F47311CCA23}"/>
              </a:ext>
            </a:extLst>
          </p:cNvPr>
          <p:cNvSpPr txBox="1">
            <a:spLocks/>
          </p:cNvSpPr>
          <p:nvPr/>
        </p:nvSpPr>
        <p:spPr>
          <a:xfrm>
            <a:off x="71438" y="714375"/>
            <a:ext cx="9001125" cy="785813"/>
          </a:xfrm>
          <a:prstGeom prst="rect">
            <a:avLst/>
          </a:prstGeom>
        </p:spPr>
        <p:txBody>
          <a:bodyPr vert="horz" lIns="85725" tIns="42863" rIns="85725" bIns="42863" rtlCol="0" anchor="t">
            <a:normAutofit/>
          </a:bodyPr>
          <a:lstStyle>
            <a:lvl1pPr algn="ctr" defTabSz="720036" rtl="0" eaLnBrk="1" latinLnBrk="0" hangingPunct="1">
              <a:lnSpc>
                <a:spcPct val="90000"/>
              </a:lnSpc>
              <a:spcBef>
                <a:spcPct val="0"/>
              </a:spcBef>
              <a:buNone/>
              <a:defRPr sz="4620" b="1" i="0" kern="1200" spc="-79" baseline="0">
                <a:solidFill>
                  <a:srgbClr val="002E6D"/>
                </a:solidFill>
                <a:latin typeface="Source Sans Pro" charset="0"/>
                <a:ea typeface="Source Sans Pro" charset="0"/>
                <a:cs typeface="Source Sans Pro" charset="0"/>
              </a:defRPr>
            </a:lvl1pPr>
          </a:lstStyle>
          <a:p>
            <a:pPr defTabSz="904875" fontAlgn="base">
              <a:spcAft>
                <a:spcPct val="0"/>
              </a:spcAft>
            </a:pPr>
            <a:r>
              <a:rPr lang="en-US" altLang="en-US" sz="2800">
                <a:latin typeface="Source Sans Pro" panose="020B0503030403020204" pitchFamily="34" charset="0"/>
                <a:ea typeface="Source Sans Pro" panose="020B0503030403020204" pitchFamily="34" charset="0"/>
                <a:cs typeface="Franklin Gothic Demi" pitchFamily="34" charset="0"/>
              </a:rPr>
              <a:t>USDA Business Programs</a:t>
            </a:r>
          </a:p>
        </p:txBody>
      </p:sp>
      <p:sp>
        <p:nvSpPr>
          <p:cNvPr id="8" name="Content Placeholder 6">
            <a:extLst>
              <a:ext uri="{FF2B5EF4-FFF2-40B4-BE49-F238E27FC236}">
                <a16:creationId xmlns:a16="http://schemas.microsoft.com/office/drawing/2014/main" id="{861BE1EB-1398-574E-CBCC-6B18CE1E0D59}"/>
              </a:ext>
            </a:extLst>
          </p:cNvPr>
          <p:cNvSpPr txBox="1">
            <a:spLocks/>
          </p:cNvSpPr>
          <p:nvPr/>
        </p:nvSpPr>
        <p:spPr>
          <a:xfrm>
            <a:off x="214313" y="1175408"/>
            <a:ext cx="2914650" cy="4982642"/>
          </a:xfrm>
          <a:prstGeom prst="rect">
            <a:avLst/>
          </a:prstGeom>
          <a:ln>
            <a:solidFill>
              <a:schemeClr val="accent1">
                <a:alpha val="82000"/>
              </a:schemeClr>
            </a:solidFill>
          </a:ln>
        </p:spPr>
        <p:txBody>
          <a:bodyPr>
            <a:normAutofit/>
          </a:bodyPr>
          <a:lstStyle>
            <a:lvl1pPr marL="180010" indent="-180010" algn="l" defTabSz="720036" rtl="0" eaLnBrk="1" latinLnBrk="0" hangingPunct="1">
              <a:lnSpc>
                <a:spcPct val="90000"/>
              </a:lnSpc>
              <a:spcBef>
                <a:spcPts val="788"/>
              </a:spcBef>
              <a:buFont typeface="Arial"/>
              <a:buChar char="•"/>
              <a:defRPr sz="2205" kern="1200">
                <a:solidFill>
                  <a:srgbClr val="002E6D"/>
                </a:solidFill>
                <a:latin typeface="Source Sans Pro" charset="0"/>
                <a:ea typeface="Source Sans Pro" charset="0"/>
                <a:cs typeface="Source Sans Pro" charset="0"/>
              </a:defRPr>
            </a:lvl1pPr>
            <a:lvl2pPr marL="540029" indent="-180010" algn="l" defTabSz="720036" rtl="0" eaLnBrk="1" latinLnBrk="0" hangingPunct="1">
              <a:lnSpc>
                <a:spcPct val="90000"/>
              </a:lnSpc>
              <a:spcBef>
                <a:spcPts val="394"/>
              </a:spcBef>
              <a:buFont typeface="Arial"/>
              <a:buChar char="•"/>
              <a:defRPr sz="1890" kern="1200">
                <a:solidFill>
                  <a:srgbClr val="002E6D"/>
                </a:solidFill>
                <a:latin typeface="Source Sans Pro" charset="0"/>
                <a:ea typeface="Source Sans Pro" charset="0"/>
                <a:cs typeface="Source Sans Pro" charset="0"/>
              </a:defRPr>
            </a:lvl2pPr>
            <a:lvl3pPr marL="900045" indent="-180010" algn="l" defTabSz="720036" rtl="0" eaLnBrk="1" latinLnBrk="0" hangingPunct="1">
              <a:lnSpc>
                <a:spcPct val="90000"/>
              </a:lnSpc>
              <a:spcBef>
                <a:spcPts val="394"/>
              </a:spcBef>
              <a:buFont typeface="Arial"/>
              <a:buChar char="•"/>
              <a:defRPr sz="1575" kern="1200">
                <a:solidFill>
                  <a:srgbClr val="002E6D"/>
                </a:solidFill>
                <a:latin typeface="Source Sans Pro" charset="0"/>
                <a:ea typeface="Source Sans Pro" charset="0"/>
                <a:cs typeface="Source Sans Pro" charset="0"/>
              </a:defRPr>
            </a:lvl3pPr>
            <a:lvl4pPr marL="1260063"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4pPr>
            <a:lvl5pPr marL="1620082"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5pPr>
            <a:lvl6pPr marL="1980099"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6pPr>
            <a:lvl7pPr marL="2340118"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7pPr>
            <a:lvl8pPr marL="2700136"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8pPr>
            <a:lvl9pPr marL="3060155"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9pPr>
          </a:lstStyle>
          <a:p>
            <a:pPr marL="0" indent="0">
              <a:buNone/>
            </a:pPr>
            <a:r>
              <a:rPr lang="en-US" sz="1800" b="1">
                <a:solidFill>
                  <a:srgbClr val="003E7F"/>
                </a:solidFill>
                <a:latin typeface="Calibri" panose="020F0502020204030204" pitchFamily="34" charset="0"/>
                <a:cs typeface="Calibri" panose="020F0502020204030204" pitchFamily="34" charset="0"/>
              </a:rPr>
              <a:t>Business and Industry Loan  Guarantees</a:t>
            </a:r>
          </a:p>
          <a:p>
            <a:pPr marL="0" indent="0">
              <a:buNone/>
            </a:pPr>
            <a:r>
              <a:rPr lang="en-US" sz="1300">
                <a:solidFill>
                  <a:srgbClr val="003E7F"/>
                </a:solidFill>
              </a:rPr>
              <a:t>Eligible: Rural Businesses</a:t>
            </a:r>
          </a:p>
          <a:p>
            <a:pPr marL="0" indent="0">
              <a:buNone/>
            </a:pPr>
            <a:r>
              <a:rPr lang="en-US" sz="1300">
                <a:solidFill>
                  <a:srgbClr val="003E7F"/>
                </a:solidFill>
              </a:rPr>
              <a:t>How can guaranteed loan funds be used? </a:t>
            </a:r>
          </a:p>
          <a:p>
            <a:pPr marL="0" indent="0">
              <a:buNone/>
            </a:pPr>
            <a:r>
              <a:rPr lang="en-US" sz="1300">
                <a:solidFill>
                  <a:srgbClr val="003E7F"/>
                </a:solidFill>
              </a:rPr>
              <a:t>Examples of eligible uses include: </a:t>
            </a:r>
          </a:p>
          <a:p>
            <a:pPr marL="0" indent="0">
              <a:buNone/>
            </a:pPr>
            <a:r>
              <a:rPr lang="en-US" sz="1300">
                <a:solidFill>
                  <a:srgbClr val="003E7F"/>
                </a:solidFill>
              </a:rPr>
              <a:t>• Business development, growth, modernization, conversion, or repair </a:t>
            </a:r>
          </a:p>
          <a:p>
            <a:pPr marL="0" indent="0">
              <a:buNone/>
            </a:pPr>
            <a:r>
              <a:rPr lang="en-US" sz="1300">
                <a:solidFill>
                  <a:srgbClr val="003E7F"/>
                </a:solidFill>
              </a:rPr>
              <a:t>• Buy and develop land, buildings, and associated infrastructure for commercial or industrial use </a:t>
            </a:r>
          </a:p>
          <a:p>
            <a:pPr marL="0" indent="0">
              <a:buNone/>
            </a:pPr>
            <a:r>
              <a:rPr lang="en-US" sz="1300">
                <a:solidFill>
                  <a:srgbClr val="003E7F"/>
                </a:solidFill>
              </a:rPr>
              <a:t>• Buy and install machinery, equipment, supplies, and inventory </a:t>
            </a:r>
          </a:p>
          <a:p>
            <a:pPr marL="0" indent="0">
              <a:buNone/>
            </a:pPr>
            <a:r>
              <a:rPr lang="en-US" sz="1300">
                <a:solidFill>
                  <a:srgbClr val="003E7F"/>
                </a:solidFill>
              </a:rPr>
              <a:t>• Refinance debt to create cash flow and create jobs </a:t>
            </a:r>
          </a:p>
          <a:p>
            <a:pPr marL="0" indent="0">
              <a:buNone/>
            </a:pPr>
            <a:r>
              <a:rPr lang="en-US" sz="1300">
                <a:solidFill>
                  <a:srgbClr val="003E7F"/>
                </a:solidFill>
              </a:rPr>
              <a:t>• Acquire businesses or industries when the loan will maintain operations, and create or save jobs</a:t>
            </a:r>
          </a:p>
          <a:p>
            <a:pPr marL="0" indent="0">
              <a:buNone/>
            </a:pPr>
            <a:r>
              <a:rPr lang="en-US" sz="1219">
                <a:hlinkClick r:id="rId4"/>
              </a:rPr>
              <a:t>https://www.rd.usda.gov/programs-services/business-programs/business-industry-loan-guarantees</a:t>
            </a:r>
            <a:endParaRPr lang="en-US" sz="1219"/>
          </a:p>
          <a:p>
            <a:pPr marL="0" indent="0">
              <a:buNone/>
            </a:pPr>
            <a:endParaRPr lang="en-US" sz="1313"/>
          </a:p>
        </p:txBody>
      </p:sp>
      <p:sp>
        <p:nvSpPr>
          <p:cNvPr id="9" name="Content Placeholder 6">
            <a:extLst>
              <a:ext uri="{FF2B5EF4-FFF2-40B4-BE49-F238E27FC236}">
                <a16:creationId xmlns:a16="http://schemas.microsoft.com/office/drawing/2014/main" id="{5F89714F-186A-86EA-83E1-4CDCF17E7167}"/>
              </a:ext>
            </a:extLst>
          </p:cNvPr>
          <p:cNvSpPr txBox="1">
            <a:spLocks/>
          </p:cNvSpPr>
          <p:nvPr/>
        </p:nvSpPr>
        <p:spPr>
          <a:xfrm>
            <a:off x="3128963" y="1175408"/>
            <a:ext cx="2914650" cy="4985749"/>
          </a:xfrm>
          <a:prstGeom prst="rect">
            <a:avLst/>
          </a:prstGeom>
          <a:ln>
            <a:solidFill>
              <a:schemeClr val="accent1"/>
            </a:solidFill>
          </a:ln>
        </p:spPr>
        <p:txBody>
          <a:bodyPr vert="horz" lIns="85725" tIns="42863" rIns="85725" bIns="42863"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a:solidFill>
                  <a:srgbClr val="003E7F"/>
                </a:solidFill>
              </a:rPr>
              <a:t>Rural Energy for America Program</a:t>
            </a:r>
          </a:p>
          <a:p>
            <a:pPr marL="0" indent="0">
              <a:buNone/>
            </a:pPr>
            <a:r>
              <a:rPr lang="en-US" sz="1400">
                <a:solidFill>
                  <a:srgbClr val="003E7F"/>
                </a:solidFill>
              </a:rPr>
              <a:t>Eligible:  Rural Small Businesses and Agriculture Producers</a:t>
            </a:r>
          </a:p>
          <a:p>
            <a:pPr marL="0" indent="0">
              <a:buNone/>
            </a:pPr>
            <a:r>
              <a:rPr lang="en-US" sz="1400">
                <a:solidFill>
                  <a:srgbClr val="003E7F"/>
                </a:solidFill>
              </a:rPr>
              <a:t>Grants up to 40% of Eligible Project Costs</a:t>
            </a:r>
          </a:p>
          <a:p>
            <a:pPr marL="0" indent="0">
              <a:buNone/>
            </a:pPr>
            <a:r>
              <a:rPr lang="en-US" sz="1400">
                <a:solidFill>
                  <a:srgbClr val="003E7F"/>
                </a:solidFill>
              </a:rPr>
              <a:t>Guaranteed Loans up to 75% of Eligible Project Costs</a:t>
            </a:r>
          </a:p>
          <a:p>
            <a:pPr marL="0" indent="0">
              <a:buNone/>
            </a:pPr>
            <a:r>
              <a:rPr lang="en-US" sz="1400">
                <a:solidFill>
                  <a:srgbClr val="003E7F"/>
                </a:solidFill>
              </a:rPr>
              <a:t>How can funds be used?</a:t>
            </a:r>
          </a:p>
          <a:p>
            <a:pPr marL="0" indent="0">
              <a:buNone/>
            </a:pPr>
            <a:r>
              <a:rPr lang="en-US" sz="1400">
                <a:solidFill>
                  <a:srgbClr val="003E7F"/>
                </a:solidFill>
              </a:rPr>
              <a:t>Example of Renewable energy systems:</a:t>
            </a:r>
          </a:p>
          <a:p>
            <a:r>
              <a:rPr lang="en-US" sz="1400">
                <a:solidFill>
                  <a:srgbClr val="003E7F"/>
                </a:solidFill>
              </a:rPr>
              <a:t>Biomass</a:t>
            </a:r>
          </a:p>
          <a:p>
            <a:r>
              <a:rPr lang="en-US" sz="1400">
                <a:solidFill>
                  <a:srgbClr val="003E7F"/>
                </a:solidFill>
              </a:rPr>
              <a:t>Geothermal</a:t>
            </a:r>
          </a:p>
          <a:p>
            <a:r>
              <a:rPr lang="en-US" sz="1400">
                <a:solidFill>
                  <a:srgbClr val="003E7F"/>
                </a:solidFill>
              </a:rPr>
              <a:t>Wind and/or solar Generation</a:t>
            </a:r>
          </a:p>
          <a:p>
            <a:pPr marL="0" indent="0">
              <a:buNone/>
            </a:pPr>
            <a:r>
              <a:rPr lang="en-US" sz="1400">
                <a:solidFill>
                  <a:srgbClr val="003E7F"/>
                </a:solidFill>
              </a:rPr>
              <a:t>Examples of Energy Efficiency:</a:t>
            </a:r>
          </a:p>
          <a:p>
            <a:r>
              <a:rPr lang="en-US" sz="1400">
                <a:solidFill>
                  <a:srgbClr val="003E7F"/>
                </a:solidFill>
              </a:rPr>
              <a:t>High Efficiency HVCA</a:t>
            </a:r>
          </a:p>
          <a:p>
            <a:r>
              <a:rPr lang="en-US" sz="1400">
                <a:solidFill>
                  <a:srgbClr val="003E7F"/>
                </a:solidFill>
              </a:rPr>
              <a:t>Insulation / lighting</a:t>
            </a:r>
          </a:p>
          <a:p>
            <a:r>
              <a:rPr lang="en-US" sz="1400">
                <a:solidFill>
                  <a:srgbClr val="003E7F"/>
                </a:solidFill>
              </a:rPr>
              <a:t>Replacement to high energy efficient equipment</a:t>
            </a:r>
          </a:p>
          <a:p>
            <a:pPr marL="0" indent="0">
              <a:buNone/>
            </a:pPr>
            <a:r>
              <a:rPr lang="en-US" sz="1313">
                <a:hlinkClick r:id="rId5"/>
              </a:rPr>
              <a:t>https://www.rd.usda.gov/programs-services/energy-programs/rural-energy-america-program-renewable-energy-systems-energy-efficiency-improvement-guaranteed-loans</a:t>
            </a:r>
            <a:endParaRPr lang="en-US" sz="1313"/>
          </a:p>
          <a:p>
            <a:pPr marL="0" indent="0">
              <a:buNone/>
            </a:pPr>
            <a:endParaRPr lang="en-US" sz="1313"/>
          </a:p>
          <a:p>
            <a:pPr marL="0" indent="0">
              <a:buNone/>
            </a:pPr>
            <a:endParaRPr lang="en-US" sz="1313"/>
          </a:p>
          <a:p>
            <a:pPr marL="0" indent="0">
              <a:buNone/>
            </a:pPr>
            <a:endParaRPr lang="en-US" sz="1313"/>
          </a:p>
        </p:txBody>
      </p:sp>
      <p:sp>
        <p:nvSpPr>
          <p:cNvPr id="10" name="Content Placeholder 6">
            <a:extLst>
              <a:ext uri="{FF2B5EF4-FFF2-40B4-BE49-F238E27FC236}">
                <a16:creationId xmlns:a16="http://schemas.microsoft.com/office/drawing/2014/main" id="{78F7286D-C54B-735E-FB76-4C67EAF82C25}"/>
              </a:ext>
            </a:extLst>
          </p:cNvPr>
          <p:cNvSpPr txBox="1">
            <a:spLocks/>
          </p:cNvSpPr>
          <p:nvPr/>
        </p:nvSpPr>
        <p:spPr>
          <a:xfrm>
            <a:off x="6043613" y="1172302"/>
            <a:ext cx="2914650" cy="4985748"/>
          </a:xfrm>
          <a:prstGeom prst="rect">
            <a:avLst/>
          </a:prstGeom>
          <a:ln>
            <a:solidFill>
              <a:schemeClr val="accent1"/>
            </a:solidFill>
          </a:ln>
        </p:spPr>
        <p:txBody>
          <a:bodyPr vert="horz" lIns="85725" tIns="42863" rIns="85725" bIns="42863"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003E7F"/>
                </a:solidFill>
              </a:rPr>
              <a:t>Rural Microentrepreneur Assistance Program </a:t>
            </a:r>
          </a:p>
          <a:p>
            <a:pPr marL="0" indent="0">
              <a:buNone/>
            </a:pPr>
            <a:r>
              <a:rPr lang="en-US" sz="1400">
                <a:solidFill>
                  <a:srgbClr val="003E7F"/>
                </a:solidFill>
              </a:rPr>
              <a:t>Eligible: Rural Small Business with 10 or fewer full-time employees</a:t>
            </a:r>
          </a:p>
          <a:p>
            <a:pPr marL="0" indent="0">
              <a:buNone/>
            </a:pPr>
            <a:r>
              <a:rPr lang="en-US" sz="1400">
                <a:solidFill>
                  <a:srgbClr val="003E7F"/>
                </a:solidFill>
              </a:rPr>
              <a:t>Maximum loan amount - $50,000</a:t>
            </a:r>
          </a:p>
          <a:p>
            <a:pPr marL="0" indent="0">
              <a:buNone/>
            </a:pPr>
            <a:r>
              <a:rPr lang="en-US" sz="1400">
                <a:solidFill>
                  <a:srgbClr val="003E7F"/>
                </a:solidFill>
              </a:rPr>
              <a:t>Fixed Interest Rate</a:t>
            </a:r>
          </a:p>
          <a:p>
            <a:pPr marL="0" indent="0">
              <a:buNone/>
            </a:pPr>
            <a:r>
              <a:rPr lang="en-US" sz="1400">
                <a:solidFill>
                  <a:srgbClr val="003E7F"/>
                </a:solidFill>
              </a:rPr>
              <a:t>Limited to 75% of project costs</a:t>
            </a:r>
          </a:p>
          <a:p>
            <a:pPr marL="0" indent="0">
              <a:buNone/>
            </a:pPr>
            <a:r>
              <a:rPr lang="en-US" sz="1400">
                <a:solidFill>
                  <a:srgbClr val="003E7F"/>
                </a:solidFill>
              </a:rPr>
              <a:t>How can funds be used?</a:t>
            </a:r>
          </a:p>
          <a:p>
            <a:pPr marL="0" indent="0">
              <a:buNone/>
            </a:pPr>
            <a:r>
              <a:rPr lang="en-US" sz="1400">
                <a:solidFill>
                  <a:srgbClr val="003E7F"/>
                </a:solidFill>
              </a:rPr>
              <a:t>Examples of eligible uses include:</a:t>
            </a:r>
          </a:p>
          <a:p>
            <a:r>
              <a:rPr lang="en-US" sz="1400">
                <a:solidFill>
                  <a:srgbClr val="003E7F"/>
                </a:solidFill>
              </a:rPr>
              <a:t>Working capital</a:t>
            </a:r>
          </a:p>
          <a:p>
            <a:r>
              <a:rPr lang="en-US" sz="1400">
                <a:solidFill>
                  <a:srgbClr val="003E7F"/>
                </a:solidFill>
              </a:rPr>
              <a:t>Debt refinancing</a:t>
            </a:r>
          </a:p>
          <a:p>
            <a:r>
              <a:rPr lang="en-US" sz="1400">
                <a:solidFill>
                  <a:srgbClr val="003E7F"/>
                </a:solidFill>
              </a:rPr>
              <a:t>Purchase equipment and supplies</a:t>
            </a:r>
          </a:p>
          <a:p>
            <a:r>
              <a:rPr lang="en-US" sz="1400">
                <a:solidFill>
                  <a:srgbClr val="003E7F"/>
                </a:solidFill>
              </a:rPr>
              <a:t>Improve real estate</a:t>
            </a:r>
          </a:p>
          <a:p>
            <a:pPr marL="0" indent="0">
              <a:buNone/>
            </a:pPr>
            <a:r>
              <a:rPr lang="en-US" sz="1313">
                <a:hlinkClick r:id="rId6"/>
              </a:rPr>
              <a:t>https://www.rd.usda.gov/programs-services/business-programs/rural-microentrepreneur-assistance-program</a:t>
            </a:r>
            <a:endParaRPr lang="en-US" sz="1313"/>
          </a:p>
          <a:p>
            <a:pPr marL="0" indent="0">
              <a:buNone/>
            </a:pPr>
            <a:endParaRPr lang="en-US" sz="1313"/>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92249" y="1462490"/>
            <a:ext cx="8190011" cy="0"/>
          </a:xfrm>
          <a:prstGeom prst="line">
            <a:avLst/>
          </a:prstGeom>
        </p:spPr>
        <p:style>
          <a:lnRef idx="3">
            <a:schemeClr val="accent6"/>
          </a:lnRef>
          <a:fillRef idx="0">
            <a:schemeClr val="accent6"/>
          </a:fillRef>
          <a:effectRef idx="2">
            <a:schemeClr val="accent6"/>
          </a:effectRef>
          <a:fontRef idx="minor">
            <a:schemeClr val="tx1"/>
          </a:fontRef>
        </p:style>
      </p:cxnSp>
      <p:sp>
        <p:nvSpPr>
          <p:cNvPr id="19465" name="TextBox 10"/>
          <p:cNvSpPr txBox="1">
            <a:spLocks noChangeArrowheads="1"/>
          </p:cNvSpPr>
          <p:nvPr/>
        </p:nvSpPr>
        <p:spPr bwMode="auto">
          <a:xfrm>
            <a:off x="7198817" y="1558333"/>
            <a:ext cx="1159371" cy="827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620" tIns="45310" rIns="90620" bIns="45310">
            <a:spAutoFit/>
          </a:bodyPr>
          <a:lstStyle>
            <a:lvl1pPr eaLnBrk="0" hangingPunct="0">
              <a:spcBef>
                <a:spcPct val="20000"/>
              </a:spcBef>
              <a:buFont typeface="Arial" pitchFamily="34" charset="0"/>
              <a:buChar char="•"/>
              <a:defRPr sz="3400">
                <a:solidFill>
                  <a:srgbClr val="AB162B"/>
                </a:solidFill>
                <a:latin typeface="Franklin Gothic Medium" pitchFamily="34" charset="0"/>
              </a:defRPr>
            </a:lvl1pPr>
            <a:lvl2pPr marL="742950" indent="-285750" eaLnBrk="0" hangingPunct="0">
              <a:spcBef>
                <a:spcPct val="20000"/>
              </a:spcBef>
              <a:buFont typeface="Arial" pitchFamily="34" charset="0"/>
              <a:buChar char="•"/>
              <a:defRPr sz="3000">
                <a:solidFill>
                  <a:schemeClr val="tx1"/>
                </a:solidFill>
                <a:latin typeface="Franklin Gothic Book" pitchFamily="34" charset="0"/>
              </a:defRPr>
            </a:lvl2pPr>
            <a:lvl3pPr marL="1143000" indent="-228600" eaLnBrk="0" hangingPunct="0">
              <a:spcBef>
                <a:spcPct val="20000"/>
              </a:spcBef>
              <a:buFont typeface="Arial" pitchFamily="34" charset="0"/>
              <a:buChar char="•"/>
              <a:defRPr sz="2500">
                <a:solidFill>
                  <a:schemeClr val="tx1"/>
                </a:solidFill>
                <a:latin typeface="Franklin Gothic Book" pitchFamily="34" charset="0"/>
              </a:defRPr>
            </a:lvl3pPr>
            <a:lvl4pPr marL="1600200" indent="-228600" eaLnBrk="0" hangingPunct="0">
              <a:spcBef>
                <a:spcPct val="20000"/>
              </a:spcBef>
              <a:buFont typeface="Arial" pitchFamily="34" charset="0"/>
              <a:buChar char="•"/>
              <a:defRPr sz="2100">
                <a:solidFill>
                  <a:schemeClr val="tx1"/>
                </a:solidFill>
                <a:latin typeface="Franklin Gothic Book" pitchFamily="34" charset="0"/>
              </a:defRPr>
            </a:lvl4pPr>
            <a:lvl5pPr marL="2057400" indent="-228600" eaLnBrk="0" hangingPunct="0">
              <a:spcBef>
                <a:spcPct val="20000"/>
              </a:spcBef>
              <a:buFont typeface="Arial" pitchFamily="34" charset="0"/>
              <a:buChar char="•"/>
              <a:defRPr sz="2100">
                <a:solidFill>
                  <a:schemeClr val="tx1"/>
                </a:solidFill>
                <a:latin typeface="Franklin Gothic Book" pitchFamily="34" charset="0"/>
              </a:defRPr>
            </a:lvl5pPr>
            <a:lvl6pPr marL="25146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6pPr>
            <a:lvl7pPr marL="29718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7pPr>
            <a:lvl8pPr marL="34290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8pPr>
            <a:lvl9pPr marL="3886200" indent="-228600" defTabSz="9652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9pPr>
          </a:lstStyle>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USDA is</a:t>
            </a:r>
          </a:p>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OPEN for</a:t>
            </a:r>
          </a:p>
          <a:p>
            <a:pPr eaLnBrk="1" hangingPunct="1">
              <a:spcBef>
                <a:spcPct val="0"/>
              </a:spcBef>
              <a:buFontTx/>
              <a:buNone/>
            </a:pPr>
            <a:r>
              <a:rPr lang="en-US" altLang="en-US" sz="1594" b="1">
                <a:solidFill>
                  <a:schemeClr val="bg1"/>
                </a:solidFill>
                <a:latin typeface="Source Sans Pro" panose="020B0503030403020204" pitchFamily="34" charset="0"/>
                <a:ea typeface="Source Sans Pro" panose="020B0503030403020204" pitchFamily="34" charset="0"/>
              </a:rPr>
              <a:t>Business</a:t>
            </a:r>
          </a:p>
        </p:txBody>
      </p:sp>
      <p:pic>
        <p:nvPicPr>
          <p:cNvPr id="19466" name="Picture 12" descr=" SigLockup Master PwPt.4c-whitebg.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981" y="247055"/>
            <a:ext cx="2838153" cy="43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4DADC8C-0F3D-4F52-9515-6737928A6C9E}"/>
              </a:ext>
            </a:extLst>
          </p:cNvPr>
          <p:cNvSpPr>
            <a:spLocks noGrp="1"/>
          </p:cNvSpPr>
          <p:nvPr>
            <p:ph type="sldNum" sz="quarter" idx="4"/>
          </p:nvPr>
        </p:nvSpPr>
        <p:spPr/>
        <p:txBody>
          <a:bodyPr/>
          <a:lstStyle/>
          <a:p>
            <a:fld id="{EF13FA6D-C8B2-4F7A-9B51-E7C42DF59B48}" type="slidenum">
              <a:rPr lang="en-US" smtClean="0"/>
              <a:pPr/>
              <a:t>15</a:t>
            </a:fld>
            <a:endParaRPr lang="en-US" sz="886"/>
          </a:p>
        </p:txBody>
      </p:sp>
      <p:sp>
        <p:nvSpPr>
          <p:cNvPr id="7" name="Title 4">
            <a:extLst>
              <a:ext uri="{FF2B5EF4-FFF2-40B4-BE49-F238E27FC236}">
                <a16:creationId xmlns:a16="http://schemas.microsoft.com/office/drawing/2014/main" id="{39D7902C-0EF6-BF1B-8E62-2F47311CCA23}"/>
              </a:ext>
            </a:extLst>
          </p:cNvPr>
          <p:cNvSpPr txBox="1">
            <a:spLocks/>
          </p:cNvSpPr>
          <p:nvPr/>
        </p:nvSpPr>
        <p:spPr>
          <a:xfrm>
            <a:off x="71438" y="785812"/>
            <a:ext cx="9001125" cy="785813"/>
          </a:xfrm>
          <a:prstGeom prst="rect">
            <a:avLst/>
          </a:prstGeom>
        </p:spPr>
        <p:txBody>
          <a:bodyPr vert="horz" lIns="85725" tIns="42863" rIns="85725" bIns="42863" rtlCol="0" anchor="t">
            <a:noAutofit/>
          </a:bodyPr>
          <a:lstStyle>
            <a:lvl1pPr algn="ctr" defTabSz="720036" rtl="0" eaLnBrk="1" latinLnBrk="0" hangingPunct="1">
              <a:lnSpc>
                <a:spcPct val="90000"/>
              </a:lnSpc>
              <a:spcBef>
                <a:spcPct val="0"/>
              </a:spcBef>
              <a:buNone/>
              <a:defRPr sz="4620" b="1" i="0" kern="1200" spc="-79" baseline="0">
                <a:solidFill>
                  <a:srgbClr val="002E6D"/>
                </a:solidFill>
                <a:latin typeface="Source Sans Pro" charset="0"/>
                <a:ea typeface="Source Sans Pro" charset="0"/>
                <a:cs typeface="Source Sans Pro" charset="0"/>
              </a:defRPr>
            </a:lvl1pPr>
          </a:lstStyle>
          <a:p>
            <a:pPr defTabSz="904875" fontAlgn="base">
              <a:spcBef>
                <a:spcPts val="563"/>
              </a:spcBef>
              <a:spcAft>
                <a:spcPct val="0"/>
              </a:spcAft>
            </a:pPr>
            <a:r>
              <a:rPr lang="en-US" altLang="en-US" sz="2800">
                <a:latin typeface="Source Sans Pro" panose="020B0503030403020204" pitchFamily="34" charset="0"/>
                <a:ea typeface="Source Sans Pro" panose="020B0503030403020204" pitchFamily="34" charset="0"/>
                <a:cs typeface="Franklin Gothic Demi" pitchFamily="34" charset="0"/>
              </a:rPr>
              <a:t>To learn more about these programs and others,                           Contact Your State USDA Office</a:t>
            </a:r>
          </a:p>
        </p:txBody>
      </p:sp>
      <p:pic>
        <p:nvPicPr>
          <p:cNvPr id="3" name="Picture 2" descr="Map of United States&#10;">
            <a:extLst>
              <a:ext uri="{FF2B5EF4-FFF2-40B4-BE49-F238E27FC236}">
                <a16:creationId xmlns:a16="http://schemas.microsoft.com/office/drawing/2014/main" id="{70BACF98-2868-D762-ACDC-6523CB32CDC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643063" y="2357438"/>
            <a:ext cx="5878649" cy="3863988"/>
          </a:xfrm>
          <a:prstGeom prst="rect">
            <a:avLst/>
          </a:prstGeom>
        </p:spPr>
      </p:pic>
      <p:sp>
        <p:nvSpPr>
          <p:cNvPr id="4" name="TextBox 3">
            <a:extLst>
              <a:ext uri="{FF2B5EF4-FFF2-40B4-BE49-F238E27FC236}">
                <a16:creationId xmlns:a16="http://schemas.microsoft.com/office/drawing/2014/main" id="{1AEAC208-0B88-CF49-DCFC-DAF4464946D2}"/>
              </a:ext>
            </a:extLst>
          </p:cNvPr>
          <p:cNvSpPr txBox="1"/>
          <p:nvPr/>
        </p:nvSpPr>
        <p:spPr>
          <a:xfrm>
            <a:off x="71438" y="1652606"/>
            <a:ext cx="9030685" cy="467500"/>
          </a:xfrm>
          <a:prstGeom prst="rect">
            <a:avLst/>
          </a:prstGeom>
          <a:noFill/>
        </p:spPr>
        <p:txBody>
          <a:bodyPr wrap="square" rtlCol="0">
            <a:spAutoFit/>
          </a:bodyPr>
          <a:lstStyle/>
          <a:p>
            <a:pPr algn="ctr" defTabSz="857250">
              <a:defRPr/>
            </a:pPr>
            <a:r>
              <a:rPr lang="en-US" sz="2400">
                <a:solidFill>
                  <a:prstClr val="black"/>
                </a:solidFill>
                <a:latin typeface="Calibri" panose="020F0502020204030204"/>
                <a:hlinkClick r:id="rId6"/>
              </a:rPr>
              <a:t>https://www.rd.usda.gov/about-rd/state-offices</a:t>
            </a:r>
            <a:r>
              <a:rPr lang="en-US" sz="2400">
                <a:solidFill>
                  <a:prstClr val="black"/>
                </a:solidFill>
                <a:latin typeface="Calibri" panose="020F0502020204030204"/>
              </a:rPr>
              <a:t> </a:t>
            </a:r>
          </a:p>
        </p:txBody>
      </p:sp>
    </p:spTree>
    <p:extLst>
      <p:ext uri="{BB962C8B-B14F-4D97-AF65-F5344CB8AC3E}">
        <p14:creationId xmlns:p14="http://schemas.microsoft.com/office/powerpoint/2010/main" val="420392022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C17713D-1305-A079-AEB7-70BD11B9E126}"/>
              </a:ext>
            </a:extLst>
          </p:cNvPr>
          <p:cNvSpPr>
            <a:spLocks noGrp="1"/>
          </p:cNvSpPr>
          <p:nvPr>
            <p:ph idx="1"/>
          </p:nvPr>
        </p:nvSpPr>
        <p:spPr>
          <a:xfrm>
            <a:off x="628650" y="2661007"/>
            <a:ext cx="7886700" cy="3533300"/>
          </a:xfrm>
        </p:spPr>
        <p:txBody>
          <a:bodyPr>
            <a:normAutofit fontScale="92500" lnSpcReduction="20000"/>
          </a:bodyPr>
          <a:lstStyle/>
          <a:p>
            <a:pPr marL="517587" indent="-457200" defTabSz="966440" eaLnBrk="1" fontAlgn="auto" hangingPunct="1">
              <a:spcAft>
                <a:spcPts val="0"/>
              </a:spcAft>
              <a:defRPr/>
            </a:pPr>
            <a:r>
              <a:rPr lang="en-US" sz="2400">
                <a:solidFill>
                  <a:schemeClr val="tx2"/>
                </a:solidFill>
              </a:rPr>
              <a:t>Six-week virtual training program designed to help participants take a business idea from concept to actionable plan in a short timeframe </a:t>
            </a:r>
          </a:p>
          <a:p>
            <a:pPr marL="517587" indent="-457200" defTabSz="966440" eaLnBrk="1" fontAlgn="auto" hangingPunct="1">
              <a:spcAft>
                <a:spcPts val="0"/>
              </a:spcAft>
              <a:defRPr/>
            </a:pPr>
            <a:r>
              <a:rPr lang="en-US" sz="2400">
                <a:solidFill>
                  <a:schemeClr val="tx2"/>
                </a:solidFill>
              </a:rPr>
              <a:t>Focused on:</a:t>
            </a:r>
          </a:p>
          <a:p>
            <a:pPr marL="940403" lvl="1" indent="-457200" defTabSz="966440" eaLnBrk="1" fontAlgn="auto" hangingPunct="1">
              <a:spcAft>
                <a:spcPts val="0"/>
              </a:spcAft>
              <a:buFont typeface="Arial"/>
              <a:buChar char="•"/>
              <a:defRPr/>
            </a:pPr>
            <a:r>
              <a:rPr lang="en-US" sz="2400">
                <a:solidFill>
                  <a:schemeClr val="tx2"/>
                </a:solidFill>
              </a:rPr>
              <a:t>Identifying &amp; understanding customers</a:t>
            </a:r>
          </a:p>
          <a:p>
            <a:pPr marL="940403" lvl="1" indent="-457200" defTabSz="966440" eaLnBrk="1" fontAlgn="auto" hangingPunct="1">
              <a:spcAft>
                <a:spcPts val="0"/>
              </a:spcAft>
              <a:buFont typeface="Arial"/>
              <a:buChar char="•"/>
              <a:defRPr/>
            </a:pPr>
            <a:r>
              <a:rPr lang="en-US" sz="2400">
                <a:solidFill>
                  <a:schemeClr val="tx2"/>
                </a:solidFill>
              </a:rPr>
              <a:t>Developing a business model</a:t>
            </a:r>
          </a:p>
          <a:p>
            <a:pPr marL="940403" lvl="1" indent="-457200" defTabSz="966440" eaLnBrk="1" fontAlgn="auto" hangingPunct="1">
              <a:spcAft>
                <a:spcPts val="0"/>
              </a:spcAft>
              <a:buFont typeface="Arial"/>
              <a:buChar char="•"/>
              <a:defRPr/>
            </a:pPr>
            <a:r>
              <a:rPr lang="en-US" sz="2400">
                <a:solidFill>
                  <a:schemeClr val="tx2"/>
                </a:solidFill>
              </a:rPr>
              <a:t>Drafting a business plan</a:t>
            </a:r>
          </a:p>
          <a:p>
            <a:pPr marL="517587" indent="-457200" defTabSz="966440" eaLnBrk="1" fontAlgn="auto" hangingPunct="1">
              <a:spcAft>
                <a:spcPts val="0"/>
              </a:spcAft>
              <a:defRPr/>
            </a:pPr>
            <a:r>
              <a:rPr lang="en-US" sz="2400">
                <a:solidFill>
                  <a:schemeClr val="tx2"/>
                </a:solidFill>
              </a:rPr>
              <a:t>Upon conclusion, B2B RR staff connect participants with appropriate veteran-focused small business mentors </a:t>
            </a:r>
          </a:p>
          <a:p>
            <a:pPr marL="517587" indent="-457200" defTabSz="966440" eaLnBrk="1" fontAlgn="auto" hangingPunct="1">
              <a:spcAft>
                <a:spcPts val="0"/>
              </a:spcAft>
              <a:defRPr/>
            </a:pPr>
            <a:r>
              <a:rPr lang="en-US" sz="2400">
                <a:solidFill>
                  <a:schemeClr val="tx2"/>
                </a:solidFill>
              </a:rPr>
              <a:t>For more information, or to enroll:</a:t>
            </a:r>
          </a:p>
          <a:p>
            <a:pPr marL="785232" lvl="1" indent="-302012" defTabSz="966440" eaLnBrk="1" fontAlgn="auto" hangingPunct="1">
              <a:spcAft>
                <a:spcPts val="0"/>
              </a:spcAft>
              <a:buFont typeface="Arial"/>
              <a:buChar char="•"/>
              <a:defRPr/>
            </a:pPr>
            <a:r>
              <a:rPr lang="en-US" sz="2400">
                <a:solidFill>
                  <a:schemeClr val="tx2"/>
                </a:solidFill>
              </a:rPr>
              <a:t>Visit the B2B Portal at </a:t>
            </a:r>
            <a:r>
              <a:rPr lang="en-US" sz="2400">
                <a:solidFill>
                  <a:srgbClr val="000000"/>
                </a:solidFill>
                <a:hlinkClick r:id="rId3"/>
              </a:rPr>
              <a:t>https://sba.my.site.com/</a:t>
            </a:r>
            <a:r>
              <a:rPr lang="en-US" sz="2400">
                <a:solidFill>
                  <a:srgbClr val="000000"/>
                </a:solidFill>
              </a:rPr>
              <a:t> </a:t>
            </a:r>
          </a:p>
          <a:p>
            <a:endParaRPr lang="en-US"/>
          </a:p>
        </p:txBody>
      </p:sp>
      <p:sp>
        <p:nvSpPr>
          <p:cNvPr id="9" name="Subtitle 8">
            <a:extLst>
              <a:ext uri="{FF2B5EF4-FFF2-40B4-BE49-F238E27FC236}">
                <a16:creationId xmlns:a16="http://schemas.microsoft.com/office/drawing/2014/main" id="{00FEAA56-00FA-6D06-E617-1242A317B0B9}"/>
              </a:ext>
            </a:extLst>
          </p:cNvPr>
          <p:cNvSpPr>
            <a:spLocks noGrp="1"/>
          </p:cNvSpPr>
          <p:nvPr>
            <p:ph type="subTitle" idx="13"/>
          </p:nvPr>
        </p:nvSpPr>
        <p:spPr>
          <a:xfrm>
            <a:off x="628650" y="2214685"/>
            <a:ext cx="7886700" cy="442106"/>
          </a:xfrm>
        </p:spPr>
        <p:txBody>
          <a:bodyPr>
            <a:normAutofit/>
          </a:bodyPr>
          <a:lstStyle/>
          <a:p>
            <a:r>
              <a:rPr lang="en-US" sz="2000"/>
              <a:t>B2B Revenue Readiness (B2B RR)</a:t>
            </a:r>
          </a:p>
        </p:txBody>
      </p:sp>
      <p:sp>
        <p:nvSpPr>
          <p:cNvPr id="3" name="Slide Number Placeholder 2">
            <a:extLst>
              <a:ext uri="{FF2B5EF4-FFF2-40B4-BE49-F238E27FC236}">
                <a16:creationId xmlns:a16="http://schemas.microsoft.com/office/drawing/2014/main" id="{F041C0F5-D989-E6EF-F673-EECEB7643F93}"/>
              </a:ext>
            </a:extLst>
          </p:cNvPr>
          <p:cNvSpPr>
            <a:spLocks noGrp="1"/>
          </p:cNvSpPr>
          <p:nvPr>
            <p:ph type="sldNum" sz="quarter" idx="4"/>
          </p:nvPr>
        </p:nvSpPr>
        <p:spPr/>
        <p:txBody>
          <a:bodyPr/>
          <a:lstStyle/>
          <a:p>
            <a:fld id="{EF13FA6D-C8B2-4F7A-9B51-E7C42DF59B48}" type="slidenum">
              <a:rPr lang="en-US" smtClean="0"/>
              <a:pPr/>
              <a:t>16</a:t>
            </a:fld>
            <a:endParaRPr lang="en-US" sz="900"/>
          </a:p>
        </p:txBody>
      </p:sp>
      <p:sp>
        <p:nvSpPr>
          <p:cNvPr id="7" name="Title 6">
            <a:extLst>
              <a:ext uri="{FF2B5EF4-FFF2-40B4-BE49-F238E27FC236}">
                <a16:creationId xmlns:a16="http://schemas.microsoft.com/office/drawing/2014/main" id="{00B51489-7067-A363-951A-2EFC2FF5F344}"/>
              </a:ext>
            </a:extLst>
          </p:cNvPr>
          <p:cNvSpPr>
            <a:spLocks noGrp="1"/>
          </p:cNvSpPr>
          <p:nvPr>
            <p:ph type="title"/>
          </p:nvPr>
        </p:nvSpPr>
        <p:spPr/>
        <p:txBody>
          <a:bodyPr>
            <a:noAutofit/>
          </a:bodyPr>
          <a:lstStyle/>
          <a:p>
            <a:r>
              <a:rPr lang="en-US" sz="2800"/>
              <a:t>Next Step: Boots to Business Online Follow-on Training?</a:t>
            </a:r>
          </a:p>
        </p:txBody>
      </p:sp>
      <p:pic>
        <p:nvPicPr>
          <p:cNvPr id="10" name="Picture 2" descr="image001">
            <a:extLst>
              <a:ext uri="{FF2B5EF4-FFF2-40B4-BE49-F238E27FC236}">
                <a16:creationId xmlns:a16="http://schemas.microsoft.com/office/drawing/2014/main" id="{D4B18942-DDDC-78A6-AB6A-CF2C8AE9A0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4149" y="1295460"/>
            <a:ext cx="20304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7785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576F57-C75B-13EF-9DBD-029F7D8013FC}"/>
              </a:ext>
            </a:extLst>
          </p:cNvPr>
          <p:cNvSpPr>
            <a:spLocks noGrp="1"/>
          </p:cNvSpPr>
          <p:nvPr>
            <p:ph type="sldNum" sz="quarter" idx="4"/>
          </p:nvPr>
        </p:nvSpPr>
        <p:spPr/>
        <p:txBody>
          <a:bodyPr/>
          <a:lstStyle/>
          <a:p>
            <a:fld id="{EF13FA6D-C8B2-4F7A-9B51-E7C42DF59B48}" type="slidenum">
              <a:rPr lang="en-US" smtClean="0"/>
              <a:pPr/>
              <a:t>17</a:t>
            </a:fld>
            <a:endParaRPr lang="en-US" sz="900"/>
          </a:p>
        </p:txBody>
      </p:sp>
      <p:sp>
        <p:nvSpPr>
          <p:cNvPr id="7" name="Title 6">
            <a:extLst>
              <a:ext uri="{FF2B5EF4-FFF2-40B4-BE49-F238E27FC236}">
                <a16:creationId xmlns:a16="http://schemas.microsoft.com/office/drawing/2014/main" id="{3930A0CF-EE73-717F-EBE3-6A4663DE9433}"/>
              </a:ext>
            </a:extLst>
          </p:cNvPr>
          <p:cNvSpPr>
            <a:spLocks noGrp="1"/>
          </p:cNvSpPr>
          <p:nvPr>
            <p:ph type="title"/>
          </p:nvPr>
        </p:nvSpPr>
        <p:spPr/>
        <p:txBody>
          <a:bodyPr>
            <a:normAutofit/>
          </a:bodyPr>
          <a:lstStyle/>
          <a:p>
            <a:r>
              <a:rPr lang="en-US" sz="2800"/>
              <a:t>Next Step: Keep it Moving…</a:t>
            </a:r>
          </a:p>
        </p:txBody>
      </p:sp>
      <p:pic>
        <p:nvPicPr>
          <p:cNvPr id="8" name="Picture 1">
            <a:extLst>
              <a:ext uri="{FF2B5EF4-FFF2-40B4-BE49-F238E27FC236}">
                <a16:creationId xmlns:a16="http://schemas.microsoft.com/office/drawing/2014/main" id="{1E0CF02A-E69B-853D-1333-6297E605E2C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1955" y="1097228"/>
            <a:ext cx="411480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1F53EC08-DEB6-BBDD-A1C1-85105F4C6976}"/>
              </a:ext>
            </a:extLst>
          </p:cNvPr>
          <p:cNvSpPr txBox="1">
            <a:spLocks/>
          </p:cNvSpPr>
          <p:nvPr/>
        </p:nvSpPr>
        <p:spPr>
          <a:xfrm>
            <a:off x="381000" y="1827430"/>
            <a:ext cx="8382000" cy="487680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spcBef>
                <a:spcPct val="0"/>
              </a:spcBef>
            </a:pPr>
            <a:endParaRPr lang="en-US" altLang="en-US" sz="3100">
              <a:solidFill>
                <a:srgbClr val="000000"/>
              </a:solidFill>
            </a:endParaRPr>
          </a:p>
          <a:p>
            <a:pPr>
              <a:spcBef>
                <a:spcPct val="0"/>
              </a:spcBef>
            </a:pPr>
            <a:endParaRPr lang="en-US" altLang="en-US" sz="3100">
              <a:solidFill>
                <a:srgbClr val="000000"/>
              </a:solidFill>
            </a:endParaRPr>
          </a:p>
          <a:p>
            <a:pPr>
              <a:spcBef>
                <a:spcPct val="0"/>
              </a:spcBef>
            </a:pPr>
            <a:endParaRPr lang="en-US" altLang="en-US" sz="2400">
              <a:solidFill>
                <a:srgbClr val="000000"/>
              </a:solidFill>
            </a:endParaRPr>
          </a:p>
          <a:p>
            <a:pPr>
              <a:spcBef>
                <a:spcPct val="0"/>
              </a:spcBef>
            </a:pPr>
            <a:endParaRPr lang="en-US" altLang="en-US" sz="2400">
              <a:solidFill>
                <a:srgbClr val="000000"/>
              </a:solidFill>
            </a:endParaRPr>
          </a:p>
          <a:p>
            <a:pPr>
              <a:spcBef>
                <a:spcPct val="0"/>
              </a:spcBef>
            </a:pPr>
            <a:r>
              <a:rPr lang="en-US" altLang="en-US" sz="2400">
                <a:solidFill>
                  <a:schemeClr val="tx2"/>
                </a:solidFill>
              </a:rPr>
              <a:t>Connect with one of SBA’s local Resource Partners</a:t>
            </a:r>
          </a:p>
          <a:p>
            <a:pPr lvl="1">
              <a:spcBef>
                <a:spcPct val="0"/>
              </a:spcBef>
            </a:pPr>
            <a:r>
              <a:rPr lang="en-US" altLang="en-US" sz="2400">
                <a:solidFill>
                  <a:srgbClr val="000000"/>
                </a:solidFill>
                <a:hlinkClick r:id="rId4"/>
              </a:rPr>
              <a:t>https://www.sba.gov/local-assistance</a:t>
            </a:r>
            <a:endParaRPr lang="en-US" altLang="en-US" sz="2400">
              <a:solidFill>
                <a:srgbClr val="000000"/>
              </a:solidFill>
            </a:endParaRPr>
          </a:p>
          <a:p>
            <a:pPr>
              <a:spcBef>
                <a:spcPct val="0"/>
              </a:spcBef>
            </a:pPr>
            <a:r>
              <a:rPr lang="en-US" altLang="en-US" sz="2400">
                <a:solidFill>
                  <a:schemeClr val="tx2"/>
                </a:solidFill>
              </a:rPr>
              <a:t>Start working on your business plan</a:t>
            </a:r>
          </a:p>
          <a:p>
            <a:pPr>
              <a:spcBef>
                <a:spcPct val="0"/>
              </a:spcBef>
            </a:pPr>
            <a:r>
              <a:rPr lang="en-US" altLang="en-US" sz="2400">
                <a:solidFill>
                  <a:schemeClr val="tx2"/>
                </a:solidFill>
              </a:rPr>
              <a:t>Continue researching your business opportunity</a:t>
            </a:r>
          </a:p>
          <a:p>
            <a:pPr>
              <a:spcBef>
                <a:spcPct val="0"/>
              </a:spcBef>
            </a:pPr>
            <a:r>
              <a:rPr lang="en-US" altLang="en-US" sz="2400">
                <a:solidFill>
                  <a:schemeClr val="tx2"/>
                </a:solidFill>
              </a:rPr>
              <a:t>Sign up for free follow-on training</a:t>
            </a:r>
          </a:p>
          <a:p>
            <a:pPr lvl="1">
              <a:spcBef>
                <a:spcPct val="0"/>
              </a:spcBef>
            </a:pPr>
            <a:r>
              <a:rPr lang="en-US" altLang="en-US" sz="2400">
                <a:solidFill>
                  <a:srgbClr val="000000"/>
                </a:solidFill>
                <a:hlinkClick r:id="rId5"/>
              </a:rPr>
              <a:t>https://sba.my.site.com/</a:t>
            </a:r>
            <a:endParaRPr lang="en-US" altLang="en-US" sz="2400">
              <a:solidFill>
                <a:srgbClr val="000000"/>
              </a:solidFill>
            </a:endParaRPr>
          </a:p>
          <a:p>
            <a:pPr lvl="1">
              <a:spcBef>
                <a:spcPct val="0"/>
              </a:spcBef>
            </a:pPr>
            <a:r>
              <a:rPr lang="en-US" altLang="en-US" sz="2400">
                <a:solidFill>
                  <a:srgbClr val="000000"/>
                </a:solidFill>
                <a:hlinkClick r:id="rId6"/>
              </a:rPr>
              <a:t>https://www.sba.gov/sba-learning-platform</a:t>
            </a:r>
            <a:r>
              <a:rPr lang="en-US" altLang="en-US" sz="2400">
                <a:solidFill>
                  <a:srgbClr val="000000"/>
                </a:solidFill>
              </a:rPr>
              <a:t> </a:t>
            </a:r>
          </a:p>
        </p:txBody>
      </p:sp>
    </p:spTree>
    <p:extLst>
      <p:ext uri="{BB962C8B-B14F-4D97-AF65-F5344CB8AC3E}">
        <p14:creationId xmlns:p14="http://schemas.microsoft.com/office/powerpoint/2010/main" val="3525572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8B67B-B9EA-0108-15C8-825963589208}"/>
              </a:ext>
            </a:extLst>
          </p:cNvPr>
          <p:cNvSpPr>
            <a:spLocks noGrp="1"/>
          </p:cNvSpPr>
          <p:nvPr>
            <p:ph type="sldNum" sz="quarter" idx="4"/>
          </p:nvPr>
        </p:nvSpPr>
        <p:spPr/>
        <p:txBody>
          <a:bodyPr/>
          <a:lstStyle/>
          <a:p>
            <a:fld id="{EF13FA6D-C8B2-4F7A-9B51-E7C42DF59B48}" type="slidenum">
              <a:rPr lang="en-US" smtClean="0"/>
              <a:pPr/>
              <a:t>18</a:t>
            </a:fld>
            <a:endParaRPr lang="en-US" sz="900"/>
          </a:p>
        </p:txBody>
      </p:sp>
      <p:sp>
        <p:nvSpPr>
          <p:cNvPr id="5" name="Content Placeholder 2">
            <a:extLst>
              <a:ext uri="{FF2B5EF4-FFF2-40B4-BE49-F238E27FC236}">
                <a16:creationId xmlns:a16="http://schemas.microsoft.com/office/drawing/2014/main" id="{04FF309A-48F8-8FF4-1BBE-8819145908F2}"/>
              </a:ext>
            </a:extLst>
          </p:cNvPr>
          <p:cNvSpPr txBox="1">
            <a:spLocks/>
          </p:cNvSpPr>
          <p:nvPr/>
        </p:nvSpPr>
        <p:spPr>
          <a:xfrm>
            <a:off x="3046809" y="2141140"/>
            <a:ext cx="3050382" cy="2575719"/>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lgn="ctr" defTabSz="966440">
              <a:spcBef>
                <a:spcPts val="0"/>
              </a:spcBef>
              <a:buFont typeface="Arial" pitchFamily="34" charset="0"/>
              <a:buNone/>
              <a:defRPr/>
            </a:pPr>
            <a:r>
              <a:rPr lang="en-US" sz="4800" b="1">
                <a:solidFill>
                  <a:srgbClr val="002060"/>
                </a:solidFill>
                <a:latin typeface="Source Sans Pro" panose="020B0503030403020204" pitchFamily="34" charset="0"/>
                <a:ea typeface="Source Sans Pro" panose="020B0503030403020204" pitchFamily="34" charset="0"/>
              </a:rPr>
              <a:t>Questions  &amp; Discussion</a:t>
            </a:r>
          </a:p>
        </p:txBody>
      </p:sp>
    </p:spTree>
    <p:extLst>
      <p:ext uri="{BB962C8B-B14F-4D97-AF65-F5344CB8AC3E}">
        <p14:creationId xmlns:p14="http://schemas.microsoft.com/office/powerpoint/2010/main" val="2620183309"/>
      </p:ext>
    </p:extLst>
  </p:cSld>
  <p:clrMapOvr>
    <a:masterClrMapping/>
  </p:clrMapOvr>
</p:sld>
</file>

<file path=ppt/theme/theme1.xml><?xml version="1.0" encoding="utf-8"?>
<a:theme xmlns:a="http://schemas.openxmlformats.org/drawingml/2006/main" name="Office Theme">
  <a:themeElements>
    <a:clrScheme name="Custom 1">
      <a:dk1>
        <a:srgbClr val="1B1E29"/>
      </a:dk1>
      <a:lt1>
        <a:srgbClr val="FFFFFF"/>
      </a:lt1>
      <a:dk2>
        <a:srgbClr val="002E6D"/>
      </a:dk2>
      <a:lt2>
        <a:srgbClr val="007DBC"/>
      </a:lt2>
      <a:accent1>
        <a:srgbClr val="969696"/>
      </a:accent1>
      <a:accent2>
        <a:srgbClr val="197E4E"/>
      </a:accent2>
      <a:accent3>
        <a:srgbClr val="F1C400"/>
      </a:accent3>
      <a:accent4>
        <a:srgbClr val="7AC5EB"/>
      </a:accent4>
      <a:accent5>
        <a:srgbClr val="CC0000"/>
      </a:accent5>
      <a:accent6>
        <a:srgbClr val="FFFFFF"/>
      </a:accent6>
      <a:hlink>
        <a:srgbClr val="007DBC"/>
      </a:hlink>
      <a:folHlink>
        <a:srgbClr val="7AC5EB"/>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BA-Template-4x3" id="{10B8EB85-0603-6C4A-B199-97FFBF5C934D}" vid="{C65D1D54-2505-3642-821A-0245DDC064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4BFECC814B6A4DA79CE86AB86465EC" ma:contentTypeVersion="22" ma:contentTypeDescription="Create a new document." ma:contentTypeScope="" ma:versionID="008f63fc715ff085405af1a1033cbec8">
  <xsd:schema xmlns:xsd="http://www.w3.org/2001/XMLSchema" xmlns:xs="http://www.w3.org/2001/XMLSchema" xmlns:p="http://schemas.microsoft.com/office/2006/metadata/properties" xmlns:ns1="http://schemas.microsoft.com/sharepoint/v3" xmlns:ns2="582706d8-95c0-48cc-aef3-5e3ecbe53914" xmlns:ns3="b51dd3a9-6de1-4731-b3d5-4a5aecad7bc8" targetNamespace="http://schemas.microsoft.com/office/2006/metadata/properties" ma:root="true" ma:fieldsID="5c71598e4f1709dd972b34abb54c00bf" ns1:_="" ns2:_="" ns3:_="">
    <xsd:import namespace="http://schemas.microsoft.com/sharepoint/v3"/>
    <xsd:import namespace="582706d8-95c0-48cc-aef3-5e3ecbe53914"/>
    <xsd:import namespace="b51dd3a9-6de1-4731-b3d5-4a5aecad7bc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1:_ip_UnifiedCompliancePolicyProperties" minOccurs="0"/>
                <xsd:element ref="ns1:_ip_UnifiedCompliancePolicyUIAction" minOccurs="0"/>
                <xsd:element ref="ns3:MediaServiceEventHashCode" minOccurs="0"/>
                <xsd:element ref="ns3:MediaServiceGenerationTime"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82706d8-95c0-48cc-aef3-5e3ecbe53914"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30b4a906-f53d-4acc-9786-517b136676d0}" ma:internalName="TaxCatchAll" ma:showField="CatchAllData" ma:web="582706d8-95c0-48cc-aef3-5e3ecbe5391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51dd3a9-6de1-4731-b3d5-4a5aecad7bc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fa0e949-ffd4-4536-b9e8-54043ebe243a"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582706d8-95c0-48cc-aef3-5e3ecbe53914">
      <UserInfo>
        <DisplayName>Williams, Mark J.</DisplayName>
        <AccountId>57</AccountId>
        <AccountType/>
      </UserInfo>
      <UserInfo>
        <DisplayName>Varn, Sophie A. (Contractor)</DisplayName>
        <AccountId>2808</AccountId>
        <AccountType/>
      </UserInfo>
    </SharedWithUsers>
    <lcf76f155ced4ddcb4097134ff3c332f xmlns="b51dd3a9-6de1-4731-b3d5-4a5aecad7bc8">
      <Terms xmlns="http://schemas.microsoft.com/office/infopath/2007/PartnerControls"/>
    </lcf76f155ced4ddcb4097134ff3c332f>
    <TaxCatchAll xmlns="582706d8-95c0-48cc-aef3-5e3ecbe53914"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CB6FE93-70FA-4558-9B4E-B279BD16902D}">
  <ds:schemaRefs>
    <ds:schemaRef ds:uri="582706d8-95c0-48cc-aef3-5e3ecbe53914"/>
    <ds:schemaRef ds:uri="b51dd3a9-6de1-4731-b3d5-4a5aecad7b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5DB3626-63E2-462F-9586-1AF8B3BAA9D7}">
  <ds:schemaRefs>
    <ds:schemaRef ds:uri="http://schemas.microsoft.com/sharepoint/v3/contenttype/forms"/>
  </ds:schemaRefs>
</ds:datastoreItem>
</file>

<file path=customXml/itemProps3.xml><?xml version="1.0" encoding="utf-8"?>
<ds:datastoreItem xmlns:ds="http://schemas.openxmlformats.org/officeDocument/2006/customXml" ds:itemID="{3B4868AA-5616-4225-BE3D-74CBF4BE4004}">
  <ds:schemaRefs>
    <ds:schemaRef ds:uri="582706d8-95c0-48cc-aef3-5e3ecbe53914"/>
    <ds:schemaRef ds:uri="b51dd3a9-6de1-4731-b3d5-4a5aecad7b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3783</Words>
  <Application>Microsoft Office PowerPoint</Application>
  <PresentationFormat>On-screen Show (4:3)</PresentationFormat>
  <Paragraphs>379</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Franklin Gothic Medium</vt:lpstr>
      <vt:lpstr>Monotype Sorts</vt:lpstr>
      <vt:lpstr>Source Sans Pro</vt:lpstr>
      <vt:lpstr>Office Theme</vt:lpstr>
      <vt:lpstr>Boots to Business Module 8</vt:lpstr>
      <vt:lpstr>Agenda</vt:lpstr>
      <vt:lpstr>Veterans Business Outreach Centers</vt:lpstr>
      <vt:lpstr>Veterans Business Outreach Centers</vt:lpstr>
      <vt:lpstr>SCORE</vt:lpstr>
      <vt:lpstr>SCORE</vt:lpstr>
      <vt:lpstr>Small Business Development Centers</vt:lpstr>
      <vt:lpstr>Small Business Development Centers</vt:lpstr>
      <vt:lpstr>Women’s Business Centers</vt:lpstr>
      <vt:lpstr>Women’s Business Centers</vt:lpstr>
      <vt:lpstr>Other Resources and Training</vt:lpstr>
      <vt:lpstr>Other Resources to Consider</vt:lpstr>
      <vt:lpstr>PowerPoint Presentation</vt:lpstr>
      <vt:lpstr>PowerPoint Presentation</vt:lpstr>
      <vt:lpstr>PowerPoint Presentation</vt:lpstr>
      <vt:lpstr>Next Step: Boots to Business Online Follow-on Training?</vt:lpstr>
      <vt:lpstr>Next Step: Keep it Moving…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VBDO Sync  July 2019</dc:title>
  <dc:creator>SBA OVBD</dc:creator>
  <cp:lastModifiedBy>Robert Sewell</cp:lastModifiedBy>
  <cp:revision>3</cp:revision>
  <cp:lastPrinted>2019-10-17T13:00:55Z</cp:lastPrinted>
  <dcterms:created xsi:type="dcterms:W3CDTF">2019-07-09T20:09:35Z</dcterms:created>
  <dcterms:modified xsi:type="dcterms:W3CDTF">2026-02-15T21:25:56Z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0x0101002F4BFECC814B6A4DA79CE86AB86465EC</vt:lpwstr>
  </property>
  <property fmtid="{D5CDD505-2E9C-101B-9397-08002B2CF9AE}" pid="3" name="MediaServiceImageTags">
    <vt:lpwstr/>
  </property>
</Properties>
</file>