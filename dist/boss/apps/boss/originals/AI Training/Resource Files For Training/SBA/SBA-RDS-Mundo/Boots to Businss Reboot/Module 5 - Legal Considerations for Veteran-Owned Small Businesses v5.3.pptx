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5" r:id="rId4"/>
  </p:sldMasterIdLst>
  <p:notesMasterIdLst>
    <p:notesMasterId r:id="rId30"/>
  </p:notesMasterIdLst>
  <p:handoutMasterIdLst>
    <p:handoutMasterId r:id="rId31"/>
  </p:handoutMasterIdLst>
  <p:sldIdLst>
    <p:sldId id="257" r:id="rId5"/>
    <p:sldId id="258" r:id="rId6"/>
    <p:sldId id="276" r:id="rId7"/>
    <p:sldId id="278" r:id="rId8"/>
    <p:sldId id="259" r:id="rId9"/>
    <p:sldId id="260" r:id="rId10"/>
    <p:sldId id="572" r:id="rId11"/>
    <p:sldId id="574" r:id="rId12"/>
    <p:sldId id="575" r:id="rId13"/>
    <p:sldId id="576" r:id="rId14"/>
    <p:sldId id="577" r:id="rId15"/>
    <p:sldId id="264" r:id="rId16"/>
    <p:sldId id="571" r:id="rId17"/>
    <p:sldId id="265" r:id="rId18"/>
    <p:sldId id="266" r:id="rId19"/>
    <p:sldId id="267" r:id="rId20"/>
    <p:sldId id="1697" r:id="rId21"/>
    <p:sldId id="270" r:id="rId22"/>
    <p:sldId id="271" r:id="rId23"/>
    <p:sldId id="1696" r:id="rId24"/>
    <p:sldId id="494" r:id="rId25"/>
    <p:sldId id="493" r:id="rId26"/>
    <p:sldId id="495" r:id="rId27"/>
    <p:sldId id="272" r:id="rId28"/>
    <p:sldId id="27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D51BFA-C150-C72E-C9BB-32D95DA3C4DC}" name="Williams, Mark J." initials="MW" userId="S::MWillia1@sba.gov::55e1cc3b-d44b-4dd1-afec-acc4346cfe1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ren Killian" initials="KK" lastIdx="1" clrIdx="0"/>
  <p:cmAuthor id="2" name="Kehoe, Tyler E. (Contractor)" initials="TEK" lastIdx="1" clrIdx="1"/>
  <p:cmAuthor id="3" name="Varn, Sophie A. (Contractor)" initials="VSA(" lastIdx="1" clrIdx="2">
    <p:extLst>
      <p:ext uri="{19B8F6BF-5375-455C-9EA6-DF929625EA0E}">
        <p15:presenceInfo xmlns:p15="http://schemas.microsoft.com/office/powerpoint/2012/main" userId="S::savarn@sba.gov::67d188c9-c423-4e04-81bf-1b9d14b025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E7F"/>
    <a:srgbClr val="000000"/>
    <a:srgbClr val="F3F3F4"/>
    <a:srgbClr val="F5F6F6"/>
    <a:srgbClr val="969696"/>
    <a:srgbClr val="C00000"/>
    <a:srgbClr val="002E6D"/>
    <a:srgbClr val="898989"/>
    <a:srgbClr val="CC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75097" autoAdjust="0"/>
  </p:normalViewPr>
  <p:slideViewPr>
    <p:cSldViewPr snapToGrid="0">
      <p:cViewPr varScale="1">
        <p:scale>
          <a:sx n="75" d="100"/>
          <a:sy n="75" d="100"/>
        </p:scale>
        <p:origin x="1290" y="294"/>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17062E8F-0327-1B44-880E-F1AFCA2C073C}" type="datetimeFigureOut">
              <a:rPr lang="en-US" smtClean="0"/>
              <a:t>2/15/2026</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721A873F-EF5E-994B-9976-428F934A075E}" type="slidenum">
              <a:rPr lang="en-US" smtClean="0"/>
              <a:t>‹#›</a:t>
            </a:fld>
            <a:endParaRPr lang="en-US"/>
          </a:p>
        </p:txBody>
      </p:sp>
    </p:spTree>
    <p:extLst>
      <p:ext uri="{BB962C8B-B14F-4D97-AF65-F5344CB8AC3E}">
        <p14:creationId xmlns:p14="http://schemas.microsoft.com/office/powerpoint/2010/main" val="6426202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C0BF4D7-81BE-0B4C-B655-82AD930F9C8A}" type="datetimeFigureOut">
              <a:rPr lang="en-US" smtClean="0"/>
              <a:t>2/15/2026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452140A9-11FD-AB46-B99D-C1331D8D84D1}" type="slidenum">
              <a:rPr lang="en-US" smtClean="0"/>
              <a:t>‹#›</a:t>
            </a:fld>
            <a:endParaRPr lang="en-US"/>
          </a:p>
        </p:txBody>
      </p:sp>
    </p:spTree>
    <p:extLst>
      <p:ext uri="{BB962C8B-B14F-4D97-AF65-F5344CB8AC3E}">
        <p14:creationId xmlns:p14="http://schemas.microsoft.com/office/powerpoint/2010/main" val="7600706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irs.gov/businesses/small-businesses-self-employed/independent-contractor-self-employed-or-employe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uspto.gov/learning-and-resources/access-our-free-services"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www.uspto.gov/trademarks/protect" TargetMode="External"/><Relationship Id="rId4" Type="http://schemas.openxmlformats.org/officeDocument/2006/relationships/hyperlink" Target="https://www.uspto.gov/about-us/events"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400" b="1"/>
              <a:t>Instructor Notes:</a:t>
            </a:r>
          </a:p>
          <a:p>
            <a:pPr eaLnBrk="1" hangingPunct="1">
              <a:spcBef>
                <a:spcPct val="0"/>
              </a:spcBef>
            </a:pPr>
            <a:endParaRPr lang="en-US" altLang="en-US" b="0"/>
          </a:p>
          <a:p>
            <a:pPr eaLnBrk="1" hangingPunct="1">
              <a:spcBef>
                <a:spcPct val="0"/>
              </a:spcBef>
            </a:pPr>
            <a:r>
              <a:rPr lang="en-US" altLang="en-US" sz="1200" b="0"/>
              <a:t>The most important thing to highlight as you open this module is that you are not a lawyer or accountant (unless, of course, you are). You should be sure to let the students know that every business is different and there may be different requirements based on the state(s) they operate in. It is essential that as you build your team you have a good business lawyer and accountant on the team.</a:t>
            </a:r>
          </a:p>
          <a:p>
            <a:pPr eaLnBrk="1" hangingPunct="1">
              <a:spcBef>
                <a:spcPct val="0"/>
              </a:spcBef>
            </a:pPr>
            <a:endParaRPr lang="en-US" altLang="en-US" sz="1200" b="0"/>
          </a:p>
          <a:p>
            <a:pPr eaLnBrk="1" hangingPunct="1">
              <a:spcBef>
                <a:spcPct val="0"/>
              </a:spcBef>
            </a:pPr>
            <a:r>
              <a:rPr lang="en-US" altLang="en-US" sz="1200" b="0"/>
              <a:t>Mention that you have saved plenty of time for Q&amp;A at the end of each module, so unless its something that needs immediate clarification request that they hold questions and comments until the end.</a:t>
            </a:r>
          </a:p>
          <a:p>
            <a:endParaRPr lang="en-US"/>
          </a:p>
        </p:txBody>
      </p:sp>
    </p:spTree>
    <p:extLst>
      <p:ext uri="{BB962C8B-B14F-4D97-AF65-F5344CB8AC3E}">
        <p14:creationId xmlns:p14="http://schemas.microsoft.com/office/powerpoint/2010/main" val="2646983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400" b="1"/>
              <a:t>Instructor Notes:</a:t>
            </a:r>
          </a:p>
          <a:p>
            <a:pPr eaLnBrk="1" hangingPunct="1">
              <a:spcBef>
                <a:spcPct val="0"/>
              </a:spcBef>
            </a:pPr>
            <a:endParaRPr lang="en-US" altLang="en-US"/>
          </a:p>
          <a:p>
            <a:pPr eaLnBrk="1" hangingPunct="1">
              <a:spcBef>
                <a:spcPct val="0"/>
              </a:spcBef>
            </a:pPr>
            <a:r>
              <a:rPr lang="en-US" altLang="en-US" sz="1200"/>
              <a:t>Module Learning Objective(s): </a:t>
            </a:r>
            <a:r>
              <a:rPr lang="en-US" altLang="en-US" sz="1200" b="0"/>
              <a:t>These do not need to be expanded upon other than to ensure that the students understand what the module will cover.</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a:solidFill>
                  <a:srgbClr val="FF0000"/>
                </a:solidFill>
              </a:rPr>
              <a:t>Need to set the expectation for this module - The student is not expected to remember the information in the module – it is to prepare them to know what questions they need to ask their BAIL team (specifically lawyer, accountant, insurance agent).</a:t>
            </a:r>
          </a:p>
          <a:p>
            <a:endParaRPr lang="en-US"/>
          </a:p>
        </p:txBody>
      </p:sp>
    </p:spTree>
    <p:extLst>
      <p:ext uri="{BB962C8B-B14F-4D97-AF65-F5344CB8AC3E}">
        <p14:creationId xmlns:p14="http://schemas.microsoft.com/office/powerpoint/2010/main" val="397861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400" b="1"/>
              <a:t>Instructor Notes:</a:t>
            </a:r>
          </a:p>
          <a:p>
            <a:pPr eaLnBrk="1" hangingPunct="1">
              <a:spcBef>
                <a:spcPct val="0"/>
              </a:spcBef>
            </a:pPr>
            <a:endParaRPr lang="en-US" altLang="en-US" sz="1200"/>
          </a:p>
          <a:p>
            <a:pPr eaLnBrk="1" hangingPunct="1">
              <a:spcBef>
                <a:spcPct val="0"/>
              </a:spcBef>
            </a:pPr>
            <a:r>
              <a:rPr lang="en-US" altLang="en-US" sz="1200" b="0"/>
              <a:t>You don’t need to expand on these points. They are provided as an overview of what is to come to help focus and organize the rest of the module.  </a:t>
            </a:r>
            <a:endParaRPr lang="en-US"/>
          </a:p>
        </p:txBody>
      </p:sp>
    </p:spTree>
    <p:extLst>
      <p:ext uri="{BB962C8B-B14F-4D97-AF65-F5344CB8AC3E}">
        <p14:creationId xmlns:p14="http://schemas.microsoft.com/office/powerpoint/2010/main" val="1705208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400" b="1"/>
              <a:t>Instructor Notes:</a:t>
            </a:r>
          </a:p>
          <a:p>
            <a:pPr eaLnBrk="1" hangingPunct="1">
              <a:spcBef>
                <a:spcPct val="0"/>
              </a:spcBef>
            </a:pPr>
            <a:endParaRPr lang="en-US" altLang="en-US" sz="1400"/>
          </a:p>
          <a:p>
            <a:r>
              <a:rPr lang="en-US"/>
              <a:t>For this module, emphasize that while you would think the lawyer is the most important member of your BAIL team for legal entities, it will also involve your accountant and your insurance agent in the decision making as well.</a:t>
            </a:r>
          </a:p>
          <a:p>
            <a:endParaRPr lang="en-US"/>
          </a:p>
          <a:p>
            <a:r>
              <a:rPr lang="en-US"/>
              <a:t>Go over each BAIL team member using information in the chart.</a:t>
            </a:r>
          </a:p>
          <a:p>
            <a:endParaRPr lang="en-US"/>
          </a:p>
        </p:txBody>
      </p:sp>
    </p:spTree>
    <p:extLst>
      <p:ext uri="{BB962C8B-B14F-4D97-AF65-F5344CB8AC3E}">
        <p14:creationId xmlns:p14="http://schemas.microsoft.com/office/powerpoint/2010/main" val="1784746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defRPr/>
            </a:pPr>
            <a:r>
              <a:rPr lang="en-US" altLang="en-US" sz="1400" b="1" dirty="0"/>
              <a:t>Instructor Notes:</a:t>
            </a:r>
          </a:p>
          <a:p>
            <a:pPr eaLnBrk="1" hangingPunct="1">
              <a:spcBef>
                <a:spcPct val="0"/>
              </a:spcBef>
              <a:defRPr/>
            </a:pPr>
            <a:endParaRPr lang="en-US" altLang="en-US" sz="1100" dirty="0"/>
          </a:p>
          <a:p>
            <a:pPr marL="171450" indent="-171450" eaLnBrk="1" hangingPunct="1">
              <a:spcBef>
                <a:spcPct val="0"/>
              </a:spcBef>
              <a:buFont typeface="Arial" panose="020B0604020202020204" pitchFamily="34" charset="0"/>
              <a:buChar char="•"/>
              <a:defRPr/>
            </a:pPr>
            <a:r>
              <a:rPr lang="en-US" altLang="en-US" sz="1200" b="0" dirty="0"/>
              <a:t>Straight forward slide, be sure to highlight that each entity has many different implications with regard to tax, how the business owner gets paid, and liability</a:t>
            </a:r>
          </a:p>
          <a:p>
            <a:pPr marL="171450" indent="-171450" eaLnBrk="1" hangingPunct="1">
              <a:spcBef>
                <a:spcPct val="0"/>
              </a:spcBef>
              <a:buFont typeface="Arial" panose="020B0604020202020204" pitchFamily="34" charset="0"/>
              <a:buChar char="•"/>
              <a:defRPr/>
            </a:pPr>
            <a:r>
              <a:rPr lang="en-US" altLang="en-US" sz="1200" b="0" dirty="0"/>
              <a:t>Instructor should place forth the caveat/disclaimer that he or she is not: </a:t>
            </a:r>
          </a:p>
          <a:p>
            <a:pPr marL="711200" lvl="1" indent="-228600" eaLnBrk="1" hangingPunct="1">
              <a:spcBef>
                <a:spcPct val="0"/>
              </a:spcBef>
              <a:buFont typeface="+mj-lt"/>
              <a:buAutoNum type="alphaUcPeriod"/>
              <a:defRPr/>
            </a:pPr>
            <a:r>
              <a:rPr lang="en-US" altLang="en-US" sz="1200" dirty="0"/>
              <a:t>An attorney, </a:t>
            </a:r>
          </a:p>
          <a:p>
            <a:pPr marL="711200" lvl="1" indent="-228600" eaLnBrk="1" hangingPunct="1">
              <a:spcBef>
                <a:spcPct val="0"/>
              </a:spcBef>
              <a:buFont typeface="+mj-lt"/>
              <a:buAutoNum type="alphaUcPeriod"/>
              <a:defRPr/>
            </a:pPr>
            <a:r>
              <a:rPr lang="en-US" altLang="en-US" sz="1200" dirty="0"/>
              <a:t>The participants’ attorney, or</a:t>
            </a:r>
          </a:p>
          <a:p>
            <a:pPr marL="711200" lvl="1" indent="-228600" eaLnBrk="1" hangingPunct="1">
              <a:spcBef>
                <a:spcPct val="0"/>
              </a:spcBef>
              <a:buFont typeface="+mj-lt"/>
              <a:buAutoNum type="alphaUcPeriod"/>
              <a:defRPr/>
            </a:pPr>
            <a:r>
              <a:rPr lang="en-US" altLang="en-US" sz="1200" dirty="0"/>
              <a:t>Insurance Agent</a:t>
            </a:r>
          </a:p>
          <a:p>
            <a:pPr marL="711200" lvl="1" indent="-228600" eaLnBrk="1" hangingPunct="1">
              <a:spcBef>
                <a:spcPct val="0"/>
              </a:spcBef>
              <a:buFont typeface="+mj-lt"/>
              <a:buAutoNum type="alphaUcPeriod"/>
              <a:defRPr/>
            </a:pPr>
            <a:r>
              <a:rPr lang="en-US" altLang="en-US" sz="1200" dirty="0"/>
              <a:t>That for any specific legal advice they should consult with their attorney, accountant, and/or insurance agent</a:t>
            </a:r>
          </a:p>
          <a:p>
            <a:endParaRPr lang="en-US" dirty="0"/>
          </a:p>
        </p:txBody>
      </p:sp>
    </p:spTree>
    <p:extLst>
      <p:ext uri="{BB962C8B-B14F-4D97-AF65-F5344CB8AC3E}">
        <p14:creationId xmlns:p14="http://schemas.microsoft.com/office/powerpoint/2010/main" val="2624505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400" b="1" dirty="0"/>
              <a:t>Instructor Notes:</a:t>
            </a:r>
          </a:p>
          <a:p>
            <a:pPr eaLnBrk="1" hangingPunct="1">
              <a:spcBef>
                <a:spcPct val="0"/>
              </a:spcBef>
            </a:pPr>
            <a:endParaRPr lang="en-US" altLang="en-US" sz="1400" dirty="0"/>
          </a:p>
          <a:p>
            <a:pPr eaLnBrk="1" hangingPunct="1">
              <a:spcBef>
                <a:spcPct val="0"/>
              </a:spcBef>
            </a:pPr>
            <a:r>
              <a:rPr lang="en-US" altLang="en-US" sz="1200" dirty="0"/>
              <a:t>Discuss the pitfalls of using an online service such as Legal Zoom: </a:t>
            </a:r>
            <a:r>
              <a:rPr lang="en-US" altLang="en-US" sz="1200" b="0" dirty="0"/>
              <a:t>They tend to be document preparation services only . A company like LegalZoom will do a good job assisting you in one thing, and one thing only: getting you the documents you need in order to incorporate. But the devil is in the details. Purchasing LegalZoom's services is not equivalent to receiving legal advice, so speak with an attorney if you need the services that only an attorney can provide. If you've already received legal counsel on how to incorporate, you might also be able to find less expensive outlets for receiving those common documents. </a:t>
            </a:r>
          </a:p>
          <a:p>
            <a:pPr eaLnBrk="1" hangingPunct="1">
              <a:spcBef>
                <a:spcPct val="0"/>
              </a:spcBef>
            </a:pPr>
            <a:endParaRPr lang="en-US" altLang="en-US" sz="1200" dirty="0"/>
          </a:p>
          <a:p>
            <a:pPr eaLnBrk="1" hangingPunct="1">
              <a:spcBef>
                <a:spcPct val="0"/>
              </a:spcBef>
            </a:pPr>
            <a:r>
              <a:rPr lang="en-US" altLang="en-US" sz="1200" b="1" dirty="0"/>
              <a:t>Instructor Reference:</a:t>
            </a:r>
          </a:p>
          <a:p>
            <a:pPr eaLnBrk="1" hangingPunct="1">
              <a:spcBef>
                <a:spcPct val="0"/>
              </a:spcBef>
            </a:pPr>
            <a:endParaRPr lang="en-US" altLang="en-US" sz="1200" b="0" dirty="0"/>
          </a:p>
          <a:p>
            <a:pPr eaLnBrk="1" hangingPunct="1">
              <a:spcBef>
                <a:spcPct val="0"/>
              </a:spcBef>
            </a:pPr>
            <a:r>
              <a:rPr lang="en-US" altLang="en-US" sz="1200" b="0" dirty="0"/>
              <a:t>A quick reference chart that breaks down  the various types of entities occurs later in this module and can be found on the SBA website here: </a:t>
            </a:r>
            <a:r>
              <a:rPr lang="en-US" altLang="en-US" sz="1200" b="0" u="sng" dirty="0">
                <a:solidFill>
                  <a:srgbClr val="0070C0"/>
                </a:solidFill>
              </a:rPr>
              <a:t>https://www.sba.gov/business-guide/launch-your-business/choose-business-structure </a:t>
            </a:r>
            <a:endParaRPr lang="en-US" altLang="en-US" sz="1200" u="sng" dirty="0">
              <a:solidFill>
                <a:srgbClr val="0070C0"/>
              </a:solidFill>
            </a:endParaRPr>
          </a:p>
          <a:p>
            <a:endParaRPr lang="en-US" dirty="0"/>
          </a:p>
        </p:txBody>
      </p:sp>
    </p:spTree>
    <p:extLst>
      <p:ext uri="{BB962C8B-B14F-4D97-AF65-F5344CB8AC3E}">
        <p14:creationId xmlns:p14="http://schemas.microsoft.com/office/powerpoint/2010/main" val="2398483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r>
              <a:rPr lang="en-US" altLang="en-US" sz="1400" b="1" dirty="0"/>
              <a:t>Instructor Notes:</a:t>
            </a:r>
          </a:p>
          <a:p>
            <a:pPr eaLnBrk="1" hangingPunct="1">
              <a:spcBef>
                <a:spcPct val="0"/>
              </a:spcBef>
              <a:defRPr/>
            </a:pPr>
            <a:endParaRPr lang="en-US" altLang="en-US" dirty="0"/>
          </a:p>
          <a:p>
            <a:pPr marL="228600" indent="-228600" eaLnBrk="1" hangingPunct="1">
              <a:spcBef>
                <a:spcPct val="0"/>
              </a:spcBef>
              <a:buFont typeface="Arial" panose="020B0604020202020204" pitchFamily="34" charset="0"/>
              <a:buChar char="•"/>
              <a:defRPr/>
            </a:pPr>
            <a:r>
              <a:rPr lang="en-US" altLang="en-US" sz="1200" b="0" dirty="0"/>
              <a:t>If there is a lawyer in the group, we know that this is not a “legal entity” but a default structure.</a:t>
            </a:r>
          </a:p>
          <a:p>
            <a:pPr marL="685800" lvl="1" indent="-228600" eaLnBrk="1" hangingPunct="1">
              <a:spcBef>
                <a:spcPct val="0"/>
              </a:spcBef>
              <a:buFont typeface="Arial" panose="020B0604020202020204" pitchFamily="34" charset="0"/>
              <a:buChar char="•"/>
              <a:defRPr/>
            </a:pPr>
            <a:r>
              <a:rPr lang="en-US" altLang="en-US" sz="1200" b="0" dirty="0"/>
              <a:t>DBA = Doing Business As</a:t>
            </a:r>
          </a:p>
          <a:p>
            <a:pPr marL="228600" indent="-228600" eaLnBrk="1" hangingPunct="1">
              <a:spcBef>
                <a:spcPct val="0"/>
              </a:spcBef>
              <a:buFont typeface="Arial" panose="020B0604020202020204" pitchFamily="34" charset="0"/>
              <a:buChar char="•"/>
              <a:defRPr/>
            </a:pPr>
            <a:r>
              <a:rPr lang="en-US" altLang="en-US" sz="1200" b="0" dirty="0"/>
              <a:t>Discuss that this is how many businesses have operated in the past. </a:t>
            </a:r>
          </a:p>
          <a:p>
            <a:pPr marL="711200" lvl="1" indent="-228600" eaLnBrk="1" hangingPunct="1">
              <a:spcBef>
                <a:spcPct val="0"/>
              </a:spcBef>
              <a:buFont typeface="Arial" panose="020B0604020202020204" pitchFamily="34" charset="0"/>
              <a:buChar char="•"/>
              <a:defRPr/>
            </a:pPr>
            <a:r>
              <a:rPr lang="en-US" altLang="en-US" sz="1200" dirty="0"/>
              <a:t>These were solo entrepreneurs who operated as a sole proprietorship. </a:t>
            </a:r>
          </a:p>
          <a:p>
            <a:pPr marL="711200" lvl="1" indent="-228600" eaLnBrk="1" hangingPunct="1">
              <a:spcBef>
                <a:spcPct val="0"/>
              </a:spcBef>
              <a:buFont typeface="Arial" panose="020B0604020202020204" pitchFamily="34" charset="0"/>
              <a:buChar char="•"/>
              <a:defRPr/>
            </a:pPr>
            <a:r>
              <a:rPr lang="en-US" altLang="en-US" sz="1200" dirty="0"/>
              <a:t>They are very easy and inexpensive to setup and operate. </a:t>
            </a:r>
          </a:p>
          <a:p>
            <a:pPr marL="711200" lvl="1" indent="-228600" eaLnBrk="1" hangingPunct="1">
              <a:spcBef>
                <a:spcPct val="0"/>
              </a:spcBef>
              <a:buFont typeface="Arial" panose="020B0604020202020204" pitchFamily="34" charset="0"/>
              <a:buChar char="•"/>
              <a:defRPr/>
            </a:pPr>
            <a:r>
              <a:rPr lang="en-US" altLang="en-US" sz="1200" dirty="0"/>
              <a:t>The obvious drawback is that there is no separation between the individual and the business when it comes to liability.  Insurance Agent to protect for liability will be important.</a:t>
            </a:r>
          </a:p>
          <a:p>
            <a:pPr marL="1193800" lvl="2" indent="-228600" eaLnBrk="1" hangingPunct="1">
              <a:spcBef>
                <a:spcPct val="0"/>
              </a:spcBef>
              <a:buFont typeface="Arial" panose="020B0604020202020204" pitchFamily="34" charset="0"/>
              <a:buChar char="•"/>
              <a:defRPr/>
            </a:pPr>
            <a:r>
              <a:rPr lang="en-US" altLang="en-US" sz="1200" dirty="0"/>
              <a:t>If home based business, make sure you have appropriate insurance coverage.</a:t>
            </a:r>
          </a:p>
          <a:p>
            <a:pPr marL="228600" indent="-228600" eaLnBrk="1" hangingPunct="1">
              <a:spcBef>
                <a:spcPct val="0"/>
              </a:spcBef>
              <a:buFont typeface="Arial" panose="020B0604020202020204" pitchFamily="34" charset="0"/>
              <a:buChar char="•"/>
              <a:defRPr/>
            </a:pPr>
            <a:r>
              <a:rPr lang="en-US" altLang="en-US" sz="1200" b="0" dirty="0"/>
              <a:t>Instructor should mention that if the participants are operating their business and have done no legal entity setup they are operating as a sole proprietorship</a:t>
            </a:r>
          </a:p>
          <a:p>
            <a:pPr marL="228600" indent="-228600" eaLnBrk="1" hangingPunct="1">
              <a:spcBef>
                <a:spcPct val="0"/>
              </a:spcBef>
              <a:buFont typeface="Arial" panose="020B0604020202020204" pitchFamily="34" charset="0"/>
              <a:buChar char="•"/>
              <a:defRPr/>
            </a:pPr>
            <a:r>
              <a:rPr lang="en-US" altLang="en-US" sz="1200" b="0" dirty="0"/>
              <a:t>Instructor should also emphasize the personal liability one has when operating as a sole proprietorship – i.e. you have not separated your personal life from your business.</a:t>
            </a:r>
          </a:p>
          <a:p>
            <a:pPr marL="228600" indent="-228600" eaLnBrk="1" hangingPunct="1">
              <a:spcBef>
                <a:spcPct val="0"/>
              </a:spcBef>
              <a:buFont typeface="Arial" panose="020B0604020202020204" pitchFamily="34" charset="0"/>
              <a:buChar char="•"/>
              <a:defRPr/>
            </a:pPr>
            <a:r>
              <a:rPr lang="en-US" altLang="en-US" sz="1200" b="0" dirty="0"/>
              <a:t>While not required, it is a best practice to have a separate bank account for the business.</a:t>
            </a:r>
          </a:p>
          <a:p>
            <a:pPr marL="228600" indent="-228600" eaLnBrk="1" hangingPunct="1">
              <a:spcBef>
                <a:spcPct val="0"/>
              </a:spcBef>
              <a:buFont typeface="Arial" panose="020B0604020202020204" pitchFamily="34" charset="0"/>
              <a:buChar char="•"/>
              <a:defRPr/>
            </a:pPr>
            <a:r>
              <a:rPr lang="en-US" altLang="en-US" sz="1200" b="0" dirty="0"/>
              <a:t>Briefly talk about the three types of taxes responsible for:</a:t>
            </a:r>
          </a:p>
          <a:p>
            <a:pPr marL="711200" lvl="1" indent="-228600" eaLnBrk="1" hangingPunct="1">
              <a:spcBef>
                <a:spcPct val="0"/>
              </a:spcBef>
              <a:buFont typeface="Arial" panose="020B0604020202020204" pitchFamily="34" charset="0"/>
              <a:buChar char="•"/>
              <a:defRPr/>
            </a:pPr>
            <a:r>
              <a:rPr lang="en-US" altLang="en-US" sz="1200" b="0" dirty="0"/>
              <a:t>Federal – income or loss from business is added to other income you report</a:t>
            </a:r>
          </a:p>
          <a:p>
            <a:pPr marL="711200" lvl="1" indent="-228600" eaLnBrk="1" hangingPunct="1">
              <a:spcBef>
                <a:spcPct val="0"/>
              </a:spcBef>
              <a:buFont typeface="Arial" panose="020B0604020202020204" pitchFamily="34" charset="0"/>
              <a:buChar char="•"/>
              <a:defRPr/>
            </a:pPr>
            <a:r>
              <a:rPr lang="en-US" altLang="en-US" sz="1200" b="0" dirty="0"/>
              <a:t>State – if you are in a state that has income tax</a:t>
            </a:r>
          </a:p>
          <a:p>
            <a:pPr marL="711200" lvl="1" indent="-228600" eaLnBrk="1" hangingPunct="1">
              <a:spcBef>
                <a:spcPct val="0"/>
              </a:spcBef>
              <a:buFont typeface="Arial" panose="020B0604020202020204" pitchFamily="34" charset="0"/>
              <a:buChar char="•"/>
              <a:defRPr/>
            </a:pPr>
            <a:r>
              <a:rPr lang="en-US" altLang="en-US" sz="1200" b="0" dirty="0"/>
              <a:t>Self Employment Tax – 15.3%!   </a:t>
            </a:r>
          </a:p>
          <a:p>
            <a:pPr marL="1193800" lvl="2" indent="-228600" eaLnBrk="1" hangingPunct="1">
              <a:spcBef>
                <a:spcPct val="0"/>
              </a:spcBef>
              <a:buFont typeface="Arial" panose="020B0604020202020204" pitchFamily="34" charset="0"/>
              <a:buChar char="•"/>
              <a:defRPr/>
            </a:pPr>
            <a:r>
              <a:rPr lang="en-US" altLang="en-US" sz="1200" b="0" dirty="0"/>
              <a:t>When you are an employee, your employer withholds 7.65% from you and matches it with 7.65% for a total of 15.3%</a:t>
            </a:r>
          </a:p>
          <a:p>
            <a:pPr marL="1193800" lvl="2" indent="-228600" eaLnBrk="1" hangingPunct="1">
              <a:spcBef>
                <a:spcPct val="0"/>
              </a:spcBef>
              <a:buFont typeface="Arial" panose="020B0604020202020204" pitchFamily="34" charset="0"/>
              <a:buChar char="•"/>
              <a:defRPr/>
            </a:pPr>
            <a:r>
              <a:rPr lang="en-US" altLang="en-US" sz="1200" b="0" dirty="0"/>
              <a:t>When you are self-employed – YOU pay the whole 15.3% on the net profit.</a:t>
            </a:r>
          </a:p>
          <a:p>
            <a:pPr marL="228600" lvl="0" indent="-228600" eaLnBrk="1" hangingPunct="1">
              <a:spcBef>
                <a:spcPct val="0"/>
              </a:spcBef>
              <a:buFont typeface="Arial" panose="020B0604020202020204" pitchFamily="34" charset="0"/>
              <a:buChar char="•"/>
              <a:defRPr/>
            </a:pPr>
            <a:r>
              <a:rPr lang="en-US" altLang="en-US" sz="1200" b="0" dirty="0"/>
              <a:t>Good time to discuss difference between employee and 1099 (independent contractor) - </a:t>
            </a:r>
            <a:r>
              <a:rPr lang="en-US" sz="1200" dirty="0">
                <a:hlinkClick r:id="rId3">
                  <a:extLst>
                    <a:ext uri="{A12FA001-AC4F-418D-AE19-62706E023703}">
                      <ahyp:hlinkClr xmlns:ahyp="http://schemas.microsoft.com/office/drawing/2018/hyperlinkcolor" val="tx"/>
                    </a:ext>
                  </a:extLst>
                </a:hlinkClick>
              </a:rPr>
              <a:t>Independent Contractor (Self-Employed) or Employee? | Internal Revenue Service (irs.gov)</a:t>
            </a:r>
            <a:endParaRPr lang="en-US" sz="1200" dirty="0"/>
          </a:p>
          <a:p>
            <a:pPr marL="0" indent="0" eaLnBrk="1" hangingPunct="1">
              <a:spcBef>
                <a:spcPct val="0"/>
              </a:spcBef>
              <a:buFont typeface="Arial" panose="020B0604020202020204" pitchFamily="34" charset="0"/>
              <a:buNone/>
              <a:defRPr/>
            </a:pPr>
            <a:endParaRPr lang="en-US" altLang="en-US" sz="1200" b="0" dirty="0">
              <a:solidFill>
                <a:srgbClr val="FF0000"/>
              </a:solidFill>
            </a:endParaRPr>
          </a:p>
          <a:p>
            <a:pPr eaLnBrk="1" hangingPunct="1">
              <a:spcBef>
                <a:spcPct val="0"/>
              </a:spcBef>
              <a:defRPr/>
            </a:pPr>
            <a:endParaRPr lang="en-US" altLang="en-US" dirty="0"/>
          </a:p>
        </p:txBody>
      </p:sp>
      <p:sp>
        <p:nvSpPr>
          <p:cNvPr id="3584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Calibri" pitchFamily="34" charset="0"/>
              </a:defRPr>
            </a:lvl1pPr>
            <a:lvl2pPr marL="742950" indent="-285750">
              <a:defRPr sz="1900">
                <a:solidFill>
                  <a:schemeClr val="tx1"/>
                </a:solidFill>
                <a:latin typeface="Calibri" pitchFamily="34" charset="0"/>
              </a:defRPr>
            </a:lvl2pPr>
            <a:lvl3pPr marL="1143000" indent="-228600">
              <a:defRPr sz="1900">
                <a:solidFill>
                  <a:schemeClr val="tx1"/>
                </a:solidFill>
                <a:latin typeface="Calibri" pitchFamily="34" charset="0"/>
              </a:defRPr>
            </a:lvl3pPr>
            <a:lvl4pPr marL="1600200" indent="-228600">
              <a:defRPr sz="1900">
                <a:solidFill>
                  <a:schemeClr val="tx1"/>
                </a:solidFill>
                <a:latin typeface="Calibri" pitchFamily="34" charset="0"/>
              </a:defRPr>
            </a:lvl4pPr>
            <a:lvl5pPr marL="2057400" indent="-228600">
              <a:defRPr sz="1900">
                <a:solidFill>
                  <a:schemeClr val="tx1"/>
                </a:solidFill>
                <a:latin typeface="Calibri" pitchFamily="34" charset="0"/>
              </a:defRPr>
            </a:lvl5pPr>
            <a:lvl6pPr marL="2514600" indent="-228600" defTabSz="965200" fontAlgn="base">
              <a:spcBef>
                <a:spcPct val="0"/>
              </a:spcBef>
              <a:spcAft>
                <a:spcPct val="0"/>
              </a:spcAft>
              <a:defRPr sz="1900">
                <a:solidFill>
                  <a:schemeClr val="tx1"/>
                </a:solidFill>
                <a:latin typeface="Calibri" pitchFamily="34" charset="0"/>
              </a:defRPr>
            </a:lvl6pPr>
            <a:lvl7pPr marL="2971800" indent="-228600" defTabSz="965200" fontAlgn="base">
              <a:spcBef>
                <a:spcPct val="0"/>
              </a:spcBef>
              <a:spcAft>
                <a:spcPct val="0"/>
              </a:spcAft>
              <a:defRPr sz="1900">
                <a:solidFill>
                  <a:schemeClr val="tx1"/>
                </a:solidFill>
                <a:latin typeface="Calibri" pitchFamily="34" charset="0"/>
              </a:defRPr>
            </a:lvl7pPr>
            <a:lvl8pPr marL="3429000" indent="-228600" defTabSz="965200" fontAlgn="base">
              <a:spcBef>
                <a:spcPct val="0"/>
              </a:spcBef>
              <a:spcAft>
                <a:spcPct val="0"/>
              </a:spcAft>
              <a:defRPr sz="1900">
                <a:solidFill>
                  <a:schemeClr val="tx1"/>
                </a:solidFill>
                <a:latin typeface="Calibri" pitchFamily="34" charset="0"/>
              </a:defRPr>
            </a:lvl8pPr>
            <a:lvl9pPr marL="3886200" indent="-228600" defTabSz="965200" fontAlgn="base">
              <a:spcBef>
                <a:spcPct val="0"/>
              </a:spcBef>
              <a:spcAft>
                <a:spcPct val="0"/>
              </a:spcAft>
              <a:defRPr sz="1900">
                <a:solidFill>
                  <a:schemeClr val="tx1"/>
                </a:solidFill>
                <a:latin typeface="Calibri"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C1C08EC3-61A3-4622-9DAE-6C8B19A92E71}" type="slidenum">
              <a:rPr kumimoji="0" lang="en-US" altLang="en-US" sz="1100" b="0" i="0" u="none" strike="noStrike" kern="1200" cap="none" spc="0" normalizeH="0" baseline="0" noProof="0" smtClean="0">
                <a:ln>
                  <a:noFill/>
                </a:ln>
                <a:solidFill>
                  <a:prstClr val="black"/>
                </a:solidFill>
                <a:effectLst/>
                <a:uLnTx/>
                <a:uFillTx/>
                <a:latin typeface="Calibri"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7</a:t>
            </a:fld>
            <a:endParaRPr kumimoji="0" lang="en-US" altLang="en-US" sz="1100" b="0" i="0" u="none" strike="noStrike" kern="1200" cap="none" spc="0" normalizeH="0" baseline="0" noProof="0">
              <a:ln>
                <a:noFill/>
              </a:ln>
              <a:solidFill>
                <a:prstClr val="black"/>
              </a:solidFill>
              <a:effectLst/>
              <a:uLnTx/>
              <a:uFillTx/>
              <a:latin typeface="Calibri" pitchFamily="34" charset="0"/>
              <a:ea typeface="+mn-ea"/>
              <a:cs typeface="+mn-cs"/>
            </a:endParaRPr>
          </a:p>
        </p:txBody>
      </p:sp>
    </p:spTree>
    <p:extLst>
      <p:ext uri="{BB962C8B-B14F-4D97-AF65-F5344CB8AC3E}">
        <p14:creationId xmlns:p14="http://schemas.microsoft.com/office/powerpoint/2010/main" val="1965908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r>
              <a:rPr lang="en-US" altLang="en-US" sz="1600" b="1" dirty="0"/>
              <a:t>Instructor Notes:</a:t>
            </a:r>
          </a:p>
          <a:p>
            <a:pPr eaLnBrk="1" hangingPunct="1">
              <a:spcBef>
                <a:spcPct val="0"/>
              </a:spcBef>
              <a:defRPr/>
            </a:pPr>
            <a:endParaRPr lang="en-US" altLang="en-US" sz="1400" dirty="0"/>
          </a:p>
          <a:p>
            <a:pPr marL="171450" indent="-171450" eaLnBrk="1" hangingPunct="1">
              <a:spcBef>
                <a:spcPct val="0"/>
              </a:spcBef>
              <a:buFont typeface="Arial" panose="020B0604020202020204" pitchFamily="34" charset="0"/>
              <a:buChar char="•"/>
              <a:defRPr/>
            </a:pPr>
            <a:r>
              <a:rPr lang="en-US" altLang="en-US" sz="1400" b="0" dirty="0"/>
              <a:t>Another straightforward slide. </a:t>
            </a:r>
          </a:p>
          <a:p>
            <a:pPr marL="171450" indent="-171450" eaLnBrk="1" hangingPunct="1">
              <a:spcBef>
                <a:spcPct val="0"/>
              </a:spcBef>
              <a:buFont typeface="Arial" panose="020B0604020202020204" pitchFamily="34" charset="0"/>
              <a:buChar char="•"/>
              <a:defRPr/>
            </a:pPr>
            <a:r>
              <a:rPr lang="en-US" altLang="en-US" sz="1400" b="0" dirty="0"/>
              <a:t>It simply takes everything from the sole proprietorship and adds on the shared financial and liability within the business. </a:t>
            </a:r>
          </a:p>
          <a:p>
            <a:pPr marL="171450" indent="-171450" eaLnBrk="1" hangingPunct="1">
              <a:spcBef>
                <a:spcPct val="0"/>
              </a:spcBef>
              <a:buFont typeface="Arial" panose="020B0604020202020204" pitchFamily="34" charset="0"/>
              <a:buChar char="•"/>
              <a:defRPr/>
            </a:pPr>
            <a:r>
              <a:rPr lang="en-US" altLang="en-US" sz="1400" b="0" dirty="0"/>
              <a:t>Talk about the importance of having a partnership agreement and operating agreements upfront to protect both parties.</a:t>
            </a:r>
          </a:p>
          <a:p>
            <a:pPr marL="171450" indent="-171450" eaLnBrk="1" hangingPunct="1">
              <a:spcBef>
                <a:spcPct val="0"/>
              </a:spcBef>
              <a:buFont typeface="Arial" panose="020B0604020202020204" pitchFamily="34" charset="0"/>
              <a:buChar char="•"/>
              <a:defRPr/>
            </a:pPr>
            <a:r>
              <a:rPr lang="en-US" altLang="en-US" sz="1400" b="0" dirty="0"/>
              <a:t>Main difference between Sole Proprietorship and Partnership is that while both flow through to the personal return, a Partnership has to file a Partnership return (Form 1065) before splitting the shares to each partner on a K-1.</a:t>
            </a:r>
          </a:p>
          <a:p>
            <a:pPr marL="171450" indent="-171450" eaLnBrk="1" hangingPunct="1">
              <a:spcBef>
                <a:spcPct val="0"/>
              </a:spcBef>
              <a:buFont typeface="Arial" panose="020B0604020202020204" pitchFamily="34" charset="0"/>
              <a:buChar char="•"/>
              <a:defRPr/>
            </a:pPr>
            <a:r>
              <a:rPr lang="en-US" altLang="en-US" sz="1400" b="0" dirty="0"/>
              <a:t>Reiterate again, the three types of taxes paid (Federal, State and Self Employment).</a:t>
            </a:r>
          </a:p>
          <a:p>
            <a:pPr marL="0" indent="0" eaLnBrk="1" hangingPunct="1">
              <a:spcBef>
                <a:spcPct val="0"/>
              </a:spcBef>
              <a:buFont typeface="Arial" panose="020B0604020202020204" pitchFamily="34" charset="0"/>
              <a:buNone/>
              <a:defRPr/>
            </a:pPr>
            <a:endParaRPr lang="en-US" altLang="en-US" sz="1400" b="0" dirty="0"/>
          </a:p>
          <a:p>
            <a:pPr eaLnBrk="1" hangingPunct="1">
              <a:spcBef>
                <a:spcPct val="0"/>
              </a:spcBef>
              <a:defRPr/>
            </a:pPr>
            <a:endParaRPr lang="en-US" altLang="en-US" dirty="0"/>
          </a:p>
        </p:txBody>
      </p:sp>
      <p:sp>
        <p:nvSpPr>
          <p:cNvPr id="3584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Calibri" pitchFamily="34" charset="0"/>
              </a:defRPr>
            </a:lvl1pPr>
            <a:lvl2pPr marL="742950" indent="-285750">
              <a:defRPr sz="1900">
                <a:solidFill>
                  <a:schemeClr val="tx1"/>
                </a:solidFill>
                <a:latin typeface="Calibri" pitchFamily="34" charset="0"/>
              </a:defRPr>
            </a:lvl2pPr>
            <a:lvl3pPr marL="1143000" indent="-228600">
              <a:defRPr sz="1900">
                <a:solidFill>
                  <a:schemeClr val="tx1"/>
                </a:solidFill>
                <a:latin typeface="Calibri" pitchFamily="34" charset="0"/>
              </a:defRPr>
            </a:lvl3pPr>
            <a:lvl4pPr marL="1600200" indent="-228600">
              <a:defRPr sz="1900">
                <a:solidFill>
                  <a:schemeClr val="tx1"/>
                </a:solidFill>
                <a:latin typeface="Calibri" pitchFamily="34" charset="0"/>
              </a:defRPr>
            </a:lvl4pPr>
            <a:lvl5pPr marL="2057400" indent="-228600">
              <a:defRPr sz="1900">
                <a:solidFill>
                  <a:schemeClr val="tx1"/>
                </a:solidFill>
                <a:latin typeface="Calibri" pitchFamily="34" charset="0"/>
              </a:defRPr>
            </a:lvl5pPr>
            <a:lvl6pPr marL="2514600" indent="-228600" defTabSz="965200" fontAlgn="base">
              <a:spcBef>
                <a:spcPct val="0"/>
              </a:spcBef>
              <a:spcAft>
                <a:spcPct val="0"/>
              </a:spcAft>
              <a:defRPr sz="1900">
                <a:solidFill>
                  <a:schemeClr val="tx1"/>
                </a:solidFill>
                <a:latin typeface="Calibri" pitchFamily="34" charset="0"/>
              </a:defRPr>
            </a:lvl6pPr>
            <a:lvl7pPr marL="2971800" indent="-228600" defTabSz="965200" fontAlgn="base">
              <a:spcBef>
                <a:spcPct val="0"/>
              </a:spcBef>
              <a:spcAft>
                <a:spcPct val="0"/>
              </a:spcAft>
              <a:defRPr sz="1900">
                <a:solidFill>
                  <a:schemeClr val="tx1"/>
                </a:solidFill>
                <a:latin typeface="Calibri" pitchFamily="34" charset="0"/>
              </a:defRPr>
            </a:lvl7pPr>
            <a:lvl8pPr marL="3429000" indent="-228600" defTabSz="965200" fontAlgn="base">
              <a:spcBef>
                <a:spcPct val="0"/>
              </a:spcBef>
              <a:spcAft>
                <a:spcPct val="0"/>
              </a:spcAft>
              <a:defRPr sz="1900">
                <a:solidFill>
                  <a:schemeClr val="tx1"/>
                </a:solidFill>
                <a:latin typeface="Calibri" pitchFamily="34" charset="0"/>
              </a:defRPr>
            </a:lvl8pPr>
            <a:lvl9pPr marL="3886200" indent="-228600" defTabSz="965200" fontAlgn="base">
              <a:spcBef>
                <a:spcPct val="0"/>
              </a:spcBef>
              <a:spcAft>
                <a:spcPct val="0"/>
              </a:spcAft>
              <a:defRPr sz="1900">
                <a:solidFill>
                  <a:schemeClr val="tx1"/>
                </a:solidFill>
                <a:latin typeface="Calibri"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C1C08EC3-61A3-4622-9DAE-6C8B19A92E71}" type="slidenum">
              <a:rPr kumimoji="0" lang="en-US" altLang="en-US" sz="1100" b="0" i="0" u="none" strike="noStrike" kern="1200" cap="none" spc="0" normalizeH="0" baseline="0" noProof="0" smtClean="0">
                <a:ln>
                  <a:noFill/>
                </a:ln>
                <a:solidFill>
                  <a:prstClr val="black"/>
                </a:solidFill>
                <a:effectLst/>
                <a:uLnTx/>
                <a:uFillTx/>
                <a:latin typeface="Calibri"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8</a:t>
            </a:fld>
            <a:endParaRPr kumimoji="0" lang="en-US" altLang="en-US" sz="1100" b="0" i="0" u="none" strike="noStrike" kern="1200" cap="none" spc="0" normalizeH="0" baseline="0" noProof="0">
              <a:ln>
                <a:noFill/>
              </a:ln>
              <a:solidFill>
                <a:prstClr val="black"/>
              </a:solidFill>
              <a:effectLst/>
              <a:uLnTx/>
              <a:uFillTx/>
              <a:latin typeface="Calibri" pitchFamily="34" charset="0"/>
              <a:ea typeface="+mn-ea"/>
              <a:cs typeface="+mn-cs"/>
            </a:endParaRPr>
          </a:p>
        </p:txBody>
      </p:sp>
    </p:spTree>
    <p:extLst>
      <p:ext uri="{BB962C8B-B14F-4D97-AF65-F5344CB8AC3E}">
        <p14:creationId xmlns:p14="http://schemas.microsoft.com/office/powerpoint/2010/main" val="106122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r>
              <a:rPr lang="en-US" altLang="en-US" sz="1400" b="1" dirty="0"/>
              <a:t>Instructor Notes:</a:t>
            </a:r>
          </a:p>
          <a:p>
            <a:pPr>
              <a:defRPr/>
            </a:pPr>
            <a:endParaRPr lang="en-US" altLang="en-US" sz="1200" dirty="0"/>
          </a:p>
          <a:p>
            <a:pPr marL="171450" indent="-171450">
              <a:buFont typeface="Arial" panose="020B0604020202020204" pitchFamily="34" charset="0"/>
              <a:buChar char="•"/>
              <a:defRPr/>
            </a:pPr>
            <a:r>
              <a:rPr lang="en-US" altLang="en-US" sz="1200" b="0" dirty="0"/>
              <a:t>Talk about the history of the LLC and how comparatively it is a new type of business entity. </a:t>
            </a:r>
          </a:p>
          <a:p>
            <a:pPr marL="654050" lvl="1" indent="-171450">
              <a:buFont typeface="Arial" panose="020B0604020202020204" pitchFamily="34" charset="0"/>
              <a:buChar char="•"/>
              <a:defRPr/>
            </a:pPr>
            <a:r>
              <a:rPr lang="en-US" altLang="en-US" sz="1200" b="0" dirty="0"/>
              <a:t>Allowed small businesses to have some protections like a corporation has without the administrative burden of the corporation. First one in 1977.</a:t>
            </a:r>
          </a:p>
          <a:p>
            <a:pPr marL="171450" indent="-171450">
              <a:buFont typeface="Arial" panose="020B0604020202020204" pitchFamily="34" charset="0"/>
              <a:buChar char="•"/>
              <a:defRPr/>
            </a:pPr>
            <a:r>
              <a:rPr lang="en-US" altLang="en-US" sz="1200" b="0" dirty="0"/>
              <a:t>The slide introduces the LLC and gives some of the limitations of the entity as well as some of the extra pieces that you have to do such as the Articles of Organization.</a:t>
            </a:r>
          </a:p>
          <a:p>
            <a:pPr marL="171450" indent="-171450" eaLnBrk="1" hangingPunct="1">
              <a:spcBef>
                <a:spcPct val="0"/>
              </a:spcBef>
              <a:buFont typeface="Arial" panose="020B0604020202020204" pitchFamily="34" charset="0"/>
              <a:buChar char="•"/>
              <a:defRPr/>
            </a:pPr>
            <a:r>
              <a:rPr lang="en-US" altLang="en-US" sz="1200" b="0" dirty="0"/>
              <a:t>The slide is also meant to illustrate why the LLC is so attractive to business owners and entrepreneurs, that is, the limited personal exposure – the ‘limited liability’. </a:t>
            </a:r>
          </a:p>
          <a:p>
            <a:pPr marL="171450" indent="-171450" eaLnBrk="1" hangingPunct="1">
              <a:spcBef>
                <a:spcPct val="0"/>
              </a:spcBef>
              <a:buFont typeface="Arial" panose="020B0604020202020204" pitchFamily="34" charset="0"/>
              <a:buChar char="•"/>
              <a:defRPr/>
            </a:pPr>
            <a:r>
              <a:rPr lang="en-US" altLang="en-US" sz="1200" b="0" dirty="0"/>
              <a:t>The LLC means you are separating business finances and assets from personal finances and assets.</a:t>
            </a:r>
          </a:p>
          <a:p>
            <a:pPr marL="171450" indent="-171450" eaLnBrk="1" hangingPunct="1">
              <a:spcBef>
                <a:spcPct val="0"/>
              </a:spcBef>
              <a:buFont typeface="Arial" panose="020B0604020202020204" pitchFamily="34" charset="0"/>
              <a:buChar char="•"/>
              <a:defRPr/>
            </a:pPr>
            <a:r>
              <a:rPr lang="en-US" altLang="en-US" sz="1200" b="0" dirty="0"/>
              <a:t>You can risk losing your limited liability protection if you don’t keep them separate (bank account, etc.)</a:t>
            </a:r>
          </a:p>
          <a:p>
            <a:pPr marL="171450" indent="-171450" eaLnBrk="1" hangingPunct="1">
              <a:spcBef>
                <a:spcPct val="0"/>
              </a:spcBef>
              <a:buFont typeface="Arial" panose="020B0604020202020204" pitchFamily="34" charset="0"/>
              <a:buChar char="•"/>
              <a:defRPr/>
            </a:pPr>
            <a:r>
              <a:rPr lang="en-US" altLang="en-US" sz="1200" b="0" dirty="0"/>
              <a:t>Unless the LLC elects to be taxed as an S-Corp by filing a form with the IRS (next slide), then taxes are similar to sole proprietorship and/or partnership – flows thru to personal return, and all three taxes are paid.</a:t>
            </a:r>
          </a:p>
          <a:p>
            <a:pPr marL="171450" indent="-171450" eaLnBrk="1" hangingPunct="1">
              <a:spcBef>
                <a:spcPct val="0"/>
              </a:spcBef>
              <a:buFont typeface="Arial" panose="020B0604020202020204" pitchFamily="34" charset="0"/>
              <a:buChar char="•"/>
              <a:defRPr/>
            </a:pPr>
            <a:endParaRPr lang="en-US" altLang="en-US" sz="1200" b="0" dirty="0"/>
          </a:p>
          <a:p>
            <a:pPr marL="171450" indent="-171450">
              <a:buFont typeface="Arial" panose="020B0604020202020204" pitchFamily="34" charset="0"/>
              <a:buChar char="•"/>
              <a:defRPr/>
            </a:pPr>
            <a:endParaRPr lang="en-US" altLang="en-US" sz="1200" b="0" dirty="0"/>
          </a:p>
          <a:p>
            <a:pPr eaLnBrk="1" hangingPunct="1">
              <a:spcBef>
                <a:spcPct val="0"/>
              </a:spcBef>
              <a:defRPr/>
            </a:pPr>
            <a:endParaRPr lang="en-US" altLang="en-US" dirty="0"/>
          </a:p>
        </p:txBody>
      </p:sp>
      <p:sp>
        <p:nvSpPr>
          <p:cNvPr id="3584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Calibri" pitchFamily="34" charset="0"/>
              </a:defRPr>
            </a:lvl1pPr>
            <a:lvl2pPr marL="742950" indent="-285750">
              <a:defRPr sz="1900">
                <a:solidFill>
                  <a:schemeClr val="tx1"/>
                </a:solidFill>
                <a:latin typeface="Calibri" pitchFamily="34" charset="0"/>
              </a:defRPr>
            </a:lvl2pPr>
            <a:lvl3pPr marL="1143000" indent="-228600">
              <a:defRPr sz="1900">
                <a:solidFill>
                  <a:schemeClr val="tx1"/>
                </a:solidFill>
                <a:latin typeface="Calibri" pitchFamily="34" charset="0"/>
              </a:defRPr>
            </a:lvl3pPr>
            <a:lvl4pPr marL="1600200" indent="-228600">
              <a:defRPr sz="1900">
                <a:solidFill>
                  <a:schemeClr val="tx1"/>
                </a:solidFill>
                <a:latin typeface="Calibri" pitchFamily="34" charset="0"/>
              </a:defRPr>
            </a:lvl4pPr>
            <a:lvl5pPr marL="2057400" indent="-228600">
              <a:defRPr sz="1900">
                <a:solidFill>
                  <a:schemeClr val="tx1"/>
                </a:solidFill>
                <a:latin typeface="Calibri" pitchFamily="34" charset="0"/>
              </a:defRPr>
            </a:lvl5pPr>
            <a:lvl6pPr marL="2514600" indent="-228600" defTabSz="965200" fontAlgn="base">
              <a:spcBef>
                <a:spcPct val="0"/>
              </a:spcBef>
              <a:spcAft>
                <a:spcPct val="0"/>
              </a:spcAft>
              <a:defRPr sz="1900">
                <a:solidFill>
                  <a:schemeClr val="tx1"/>
                </a:solidFill>
                <a:latin typeface="Calibri" pitchFamily="34" charset="0"/>
              </a:defRPr>
            </a:lvl6pPr>
            <a:lvl7pPr marL="2971800" indent="-228600" defTabSz="965200" fontAlgn="base">
              <a:spcBef>
                <a:spcPct val="0"/>
              </a:spcBef>
              <a:spcAft>
                <a:spcPct val="0"/>
              </a:spcAft>
              <a:defRPr sz="1900">
                <a:solidFill>
                  <a:schemeClr val="tx1"/>
                </a:solidFill>
                <a:latin typeface="Calibri" pitchFamily="34" charset="0"/>
              </a:defRPr>
            </a:lvl7pPr>
            <a:lvl8pPr marL="3429000" indent="-228600" defTabSz="965200" fontAlgn="base">
              <a:spcBef>
                <a:spcPct val="0"/>
              </a:spcBef>
              <a:spcAft>
                <a:spcPct val="0"/>
              </a:spcAft>
              <a:defRPr sz="1900">
                <a:solidFill>
                  <a:schemeClr val="tx1"/>
                </a:solidFill>
                <a:latin typeface="Calibri" pitchFamily="34" charset="0"/>
              </a:defRPr>
            </a:lvl8pPr>
            <a:lvl9pPr marL="3886200" indent="-228600" defTabSz="965200" fontAlgn="base">
              <a:spcBef>
                <a:spcPct val="0"/>
              </a:spcBef>
              <a:spcAft>
                <a:spcPct val="0"/>
              </a:spcAft>
              <a:defRPr sz="1900">
                <a:solidFill>
                  <a:schemeClr val="tx1"/>
                </a:solidFill>
                <a:latin typeface="Calibri"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C1C08EC3-61A3-4622-9DAE-6C8B19A92E71}" type="slidenum">
              <a:rPr kumimoji="0" lang="en-US" altLang="en-US" sz="1100" b="0" i="0" u="none" strike="noStrike" kern="1200" cap="none" spc="0" normalizeH="0" baseline="0" noProof="0" smtClean="0">
                <a:ln>
                  <a:noFill/>
                </a:ln>
                <a:solidFill>
                  <a:prstClr val="black"/>
                </a:solidFill>
                <a:effectLst/>
                <a:uLnTx/>
                <a:uFillTx/>
                <a:latin typeface="Calibri"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9</a:t>
            </a:fld>
            <a:endParaRPr kumimoji="0" lang="en-US" altLang="en-US" sz="1100" b="0" i="0" u="none" strike="noStrike" kern="1200" cap="none" spc="0" normalizeH="0" baseline="0" noProof="0">
              <a:ln>
                <a:noFill/>
              </a:ln>
              <a:solidFill>
                <a:prstClr val="black"/>
              </a:solidFill>
              <a:effectLst/>
              <a:uLnTx/>
              <a:uFillTx/>
              <a:latin typeface="Calibri" pitchFamily="34" charset="0"/>
              <a:ea typeface="+mn-ea"/>
              <a:cs typeface="+mn-cs"/>
            </a:endParaRPr>
          </a:p>
        </p:txBody>
      </p:sp>
    </p:spTree>
    <p:extLst>
      <p:ext uri="{BB962C8B-B14F-4D97-AF65-F5344CB8AC3E}">
        <p14:creationId xmlns:p14="http://schemas.microsoft.com/office/powerpoint/2010/main" val="2953640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r>
              <a:rPr lang="en-US" altLang="en-US" sz="1400" b="1" dirty="0"/>
              <a:t>Instructor Notes:</a:t>
            </a:r>
          </a:p>
          <a:p>
            <a:pPr eaLnBrk="1" hangingPunct="1">
              <a:spcBef>
                <a:spcPct val="0"/>
              </a:spcBef>
              <a:defRPr/>
            </a:pPr>
            <a:endParaRPr lang="en-US" altLang="en-US" dirty="0"/>
          </a:p>
          <a:p>
            <a:pPr marL="171450" indent="-171450" eaLnBrk="1" hangingPunct="1">
              <a:spcBef>
                <a:spcPct val="0"/>
              </a:spcBef>
              <a:buFont typeface="Arial" panose="020B0604020202020204" pitchFamily="34" charset="0"/>
              <a:buChar char="•"/>
              <a:defRPr/>
            </a:pPr>
            <a:r>
              <a:rPr lang="en-US" altLang="en-US" sz="1200" b="0" dirty="0">
                <a:solidFill>
                  <a:srgbClr val="FF0000"/>
                </a:solidFill>
              </a:rPr>
              <a:t>Corporations offer the strongest protection to its owners from personal liability, but the cost to form a corporation is higher than other structures. Corporations also require more extensive record-keeping, operational processes, and reporting.</a:t>
            </a:r>
          </a:p>
          <a:p>
            <a:pPr marL="171450" indent="-171450" eaLnBrk="1" hangingPunct="1">
              <a:spcBef>
                <a:spcPct val="0"/>
              </a:spcBef>
              <a:buFont typeface="Arial" panose="020B0604020202020204" pitchFamily="34" charset="0"/>
              <a:buChar char="•"/>
              <a:defRPr/>
            </a:pPr>
            <a:r>
              <a:rPr lang="en-US" altLang="en-US" sz="1200" b="0" dirty="0">
                <a:solidFill>
                  <a:srgbClr val="FF0000"/>
                </a:solidFill>
              </a:rPr>
              <a:t>Unlike sole proprietors, partnerships, and LLCs, corporations pay income tax on their profits. In some cases, corporate profits are taxed twice — first, when the company makes a profit, and again when dividends are paid to shareholders on their personal tax returns.</a:t>
            </a:r>
          </a:p>
          <a:p>
            <a:pPr marL="171450" indent="-171450" eaLnBrk="1" hangingPunct="1">
              <a:spcBef>
                <a:spcPct val="0"/>
              </a:spcBef>
              <a:buFont typeface="Arial" panose="020B0604020202020204" pitchFamily="34" charset="0"/>
              <a:buChar char="•"/>
              <a:defRPr/>
            </a:pPr>
            <a:r>
              <a:rPr lang="en-US" altLang="en-US" sz="1200" b="0" dirty="0">
                <a:solidFill>
                  <a:srgbClr val="FF0000"/>
                </a:solidFill>
              </a:rPr>
              <a:t>Corporations have a completely independent life separate from its shareholders. If a shareholder leaves the company or sells his or her shares, the C-</a:t>
            </a:r>
            <a:r>
              <a:rPr lang="en-US" altLang="en-US" sz="1200" b="0" dirty="0" err="1">
                <a:solidFill>
                  <a:srgbClr val="FF0000"/>
                </a:solidFill>
              </a:rPr>
              <a:t>corp</a:t>
            </a:r>
            <a:r>
              <a:rPr lang="en-US" altLang="en-US" sz="1200" b="0" dirty="0">
                <a:solidFill>
                  <a:srgbClr val="FF0000"/>
                </a:solidFill>
              </a:rPr>
              <a:t> can continue doing business relatively undisturbed.</a:t>
            </a:r>
          </a:p>
          <a:p>
            <a:pPr marL="171450" indent="-171450" eaLnBrk="1" hangingPunct="1">
              <a:spcBef>
                <a:spcPct val="0"/>
              </a:spcBef>
              <a:buFont typeface="Arial" panose="020B0604020202020204" pitchFamily="34" charset="0"/>
              <a:buChar char="•"/>
              <a:defRPr/>
            </a:pPr>
            <a:r>
              <a:rPr lang="en-US" altLang="en-US" sz="1200" b="0" dirty="0">
                <a:solidFill>
                  <a:srgbClr val="FF0000"/>
                </a:solidFill>
              </a:rPr>
              <a:t>Corporations have an advantage when it comes to raising capital because they can raise funds through the sale of stock, which can also be a benefit in attracting employees.</a:t>
            </a:r>
          </a:p>
          <a:p>
            <a:pPr marL="171450" indent="-171450" eaLnBrk="1" hangingPunct="1">
              <a:spcBef>
                <a:spcPct val="0"/>
              </a:spcBef>
              <a:buFont typeface="Arial" panose="020B0604020202020204" pitchFamily="34" charset="0"/>
              <a:buChar char="•"/>
              <a:defRPr/>
            </a:pPr>
            <a:r>
              <a:rPr lang="en-US" altLang="en-US" sz="1200" b="0" dirty="0">
                <a:solidFill>
                  <a:srgbClr val="FF0000"/>
                </a:solidFill>
              </a:rPr>
              <a:t>Corporations can be a good choice for medium- or higher-risk businesses, those that need to raise money, and businesses that plan to "go public" or eventually be sold.</a:t>
            </a:r>
          </a:p>
          <a:p>
            <a:pPr marL="0" indent="0" eaLnBrk="1" hangingPunct="1">
              <a:spcBef>
                <a:spcPct val="0"/>
              </a:spcBef>
              <a:buFont typeface="Arial" panose="020B0604020202020204" pitchFamily="34" charset="0"/>
              <a:buNone/>
              <a:defRPr/>
            </a:pPr>
            <a:endParaRPr lang="en-US" altLang="en-US" sz="1200" b="0" dirty="0">
              <a:solidFill>
                <a:srgbClr val="FF0000"/>
              </a:solidFill>
            </a:endParaRPr>
          </a:p>
          <a:p>
            <a:pPr eaLnBrk="1" hangingPunct="1">
              <a:spcBef>
                <a:spcPct val="0"/>
              </a:spcBef>
              <a:defRPr/>
            </a:pPr>
            <a:endParaRPr lang="en-US" altLang="en-US" dirty="0"/>
          </a:p>
        </p:txBody>
      </p:sp>
      <p:sp>
        <p:nvSpPr>
          <p:cNvPr id="3584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Calibri" pitchFamily="34" charset="0"/>
              </a:defRPr>
            </a:lvl1pPr>
            <a:lvl2pPr marL="742950" indent="-285750">
              <a:defRPr sz="1900">
                <a:solidFill>
                  <a:schemeClr val="tx1"/>
                </a:solidFill>
                <a:latin typeface="Calibri" pitchFamily="34" charset="0"/>
              </a:defRPr>
            </a:lvl2pPr>
            <a:lvl3pPr marL="1143000" indent="-228600">
              <a:defRPr sz="1900">
                <a:solidFill>
                  <a:schemeClr val="tx1"/>
                </a:solidFill>
                <a:latin typeface="Calibri" pitchFamily="34" charset="0"/>
              </a:defRPr>
            </a:lvl3pPr>
            <a:lvl4pPr marL="1600200" indent="-228600">
              <a:defRPr sz="1900">
                <a:solidFill>
                  <a:schemeClr val="tx1"/>
                </a:solidFill>
                <a:latin typeface="Calibri" pitchFamily="34" charset="0"/>
              </a:defRPr>
            </a:lvl4pPr>
            <a:lvl5pPr marL="2057400" indent="-228600">
              <a:defRPr sz="1900">
                <a:solidFill>
                  <a:schemeClr val="tx1"/>
                </a:solidFill>
                <a:latin typeface="Calibri" pitchFamily="34" charset="0"/>
              </a:defRPr>
            </a:lvl5pPr>
            <a:lvl6pPr marL="2514600" indent="-228600" defTabSz="965200" fontAlgn="base">
              <a:spcBef>
                <a:spcPct val="0"/>
              </a:spcBef>
              <a:spcAft>
                <a:spcPct val="0"/>
              </a:spcAft>
              <a:defRPr sz="1900">
                <a:solidFill>
                  <a:schemeClr val="tx1"/>
                </a:solidFill>
                <a:latin typeface="Calibri" pitchFamily="34" charset="0"/>
              </a:defRPr>
            </a:lvl6pPr>
            <a:lvl7pPr marL="2971800" indent="-228600" defTabSz="965200" fontAlgn="base">
              <a:spcBef>
                <a:spcPct val="0"/>
              </a:spcBef>
              <a:spcAft>
                <a:spcPct val="0"/>
              </a:spcAft>
              <a:defRPr sz="1900">
                <a:solidFill>
                  <a:schemeClr val="tx1"/>
                </a:solidFill>
                <a:latin typeface="Calibri" pitchFamily="34" charset="0"/>
              </a:defRPr>
            </a:lvl7pPr>
            <a:lvl8pPr marL="3429000" indent="-228600" defTabSz="965200" fontAlgn="base">
              <a:spcBef>
                <a:spcPct val="0"/>
              </a:spcBef>
              <a:spcAft>
                <a:spcPct val="0"/>
              </a:spcAft>
              <a:defRPr sz="1900">
                <a:solidFill>
                  <a:schemeClr val="tx1"/>
                </a:solidFill>
                <a:latin typeface="Calibri" pitchFamily="34" charset="0"/>
              </a:defRPr>
            </a:lvl8pPr>
            <a:lvl9pPr marL="3886200" indent="-228600" defTabSz="965200" fontAlgn="base">
              <a:spcBef>
                <a:spcPct val="0"/>
              </a:spcBef>
              <a:spcAft>
                <a:spcPct val="0"/>
              </a:spcAft>
              <a:defRPr sz="1900">
                <a:solidFill>
                  <a:schemeClr val="tx1"/>
                </a:solidFill>
                <a:latin typeface="Calibri"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C1C08EC3-61A3-4622-9DAE-6C8B19A92E71}" type="slidenum">
              <a:rPr kumimoji="0" lang="en-US" altLang="en-US" sz="1100" b="0" i="0" u="none" strike="noStrike" kern="1200" cap="none" spc="0" normalizeH="0" baseline="0" noProof="0" smtClean="0">
                <a:ln>
                  <a:noFill/>
                </a:ln>
                <a:solidFill>
                  <a:prstClr val="black"/>
                </a:solidFill>
                <a:effectLst/>
                <a:uLnTx/>
                <a:uFillTx/>
                <a:latin typeface="Calibri"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10</a:t>
            </a:fld>
            <a:endParaRPr kumimoji="0" lang="en-US" altLang="en-US" sz="1100" b="0" i="0" u="none" strike="noStrike" kern="1200" cap="none" spc="0" normalizeH="0" baseline="0" noProof="0">
              <a:ln>
                <a:noFill/>
              </a:ln>
              <a:solidFill>
                <a:prstClr val="black"/>
              </a:solidFill>
              <a:effectLst/>
              <a:uLnTx/>
              <a:uFillTx/>
              <a:latin typeface="Calibri" pitchFamily="34" charset="0"/>
              <a:ea typeface="+mn-ea"/>
              <a:cs typeface="+mn-cs"/>
            </a:endParaRPr>
          </a:p>
        </p:txBody>
      </p:sp>
    </p:spTree>
    <p:extLst>
      <p:ext uri="{BB962C8B-B14F-4D97-AF65-F5344CB8AC3E}">
        <p14:creationId xmlns:p14="http://schemas.microsoft.com/office/powerpoint/2010/main" val="1882011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r>
              <a:rPr lang="en-US" altLang="en-US" sz="1400" b="1" dirty="0"/>
              <a:t>Instructor Notes:</a:t>
            </a:r>
          </a:p>
          <a:p>
            <a:pPr eaLnBrk="1" hangingPunct="1">
              <a:spcBef>
                <a:spcPct val="0"/>
              </a:spcBef>
              <a:defRPr/>
            </a:pPr>
            <a:endParaRPr lang="en-US" altLang="en-US" dirty="0"/>
          </a:p>
          <a:p>
            <a:pPr marL="228600" indent="-228600" eaLnBrk="1" hangingPunct="1">
              <a:spcBef>
                <a:spcPct val="0"/>
              </a:spcBef>
              <a:buFont typeface="Arial" panose="020B0604020202020204" pitchFamily="34" charset="0"/>
              <a:buChar char="•"/>
              <a:defRPr/>
            </a:pPr>
            <a:r>
              <a:rPr lang="en-US" altLang="en-US" sz="1200" b="0" dirty="0"/>
              <a:t>An S-Corporation, sometimes called an S-Corp, is a special type of corporation that's designed to avoid the double taxation drawback of regular C-Corps. S-Corps allow profits, and some losses, to be passed through directly to owners' personal income without ever being subject to corporate tax rates.</a:t>
            </a:r>
          </a:p>
          <a:p>
            <a:pPr marL="228600" indent="-228600" eaLnBrk="1" hangingPunct="1">
              <a:spcBef>
                <a:spcPct val="0"/>
              </a:spcBef>
              <a:buFont typeface="Arial" panose="020B0604020202020204" pitchFamily="34" charset="0"/>
              <a:buChar char="•"/>
              <a:defRPr/>
            </a:pPr>
            <a:endParaRPr lang="en-US" altLang="en-US" sz="1200" b="0" dirty="0"/>
          </a:p>
          <a:p>
            <a:pPr marL="228600" indent="-228600" eaLnBrk="1" hangingPunct="1">
              <a:spcBef>
                <a:spcPct val="0"/>
              </a:spcBef>
              <a:buFont typeface="Arial" panose="020B0604020202020204" pitchFamily="34" charset="0"/>
              <a:buChar char="•"/>
              <a:defRPr/>
            </a:pPr>
            <a:r>
              <a:rPr lang="en-US" altLang="en-US" sz="1200" b="0" dirty="0"/>
              <a:t>Not all states tax S-Corps equally, but most recognize them the same way the federal government does and tax the shareholders accordingly. Some states tax S-Corps on profits above a specified limit and other states don't recognize the S-Corp election at all, simply treating the business as a C-Corp.</a:t>
            </a:r>
          </a:p>
          <a:p>
            <a:pPr marL="228600" indent="-228600" eaLnBrk="1" hangingPunct="1">
              <a:spcBef>
                <a:spcPct val="0"/>
              </a:spcBef>
              <a:buFont typeface="Arial" panose="020B0604020202020204" pitchFamily="34" charset="0"/>
              <a:buChar char="•"/>
              <a:defRPr/>
            </a:pPr>
            <a:endParaRPr lang="en-US" altLang="en-US" sz="1200" b="0" dirty="0"/>
          </a:p>
          <a:p>
            <a:pPr marL="228600" indent="-228600" eaLnBrk="1" hangingPunct="1">
              <a:spcBef>
                <a:spcPct val="0"/>
              </a:spcBef>
              <a:buFont typeface="Arial" panose="020B0604020202020204" pitchFamily="34" charset="0"/>
              <a:buChar char="•"/>
              <a:defRPr/>
            </a:pPr>
            <a:r>
              <a:rPr lang="en-US" altLang="en-US" sz="1200" b="0" dirty="0"/>
              <a:t>S-Corps must file with the IRS to get S-Corp status, a different process from registering with their state.</a:t>
            </a:r>
          </a:p>
          <a:p>
            <a:pPr marL="228600" indent="-228600" eaLnBrk="1" hangingPunct="1">
              <a:spcBef>
                <a:spcPct val="0"/>
              </a:spcBef>
              <a:buFont typeface="Arial" panose="020B0604020202020204" pitchFamily="34" charset="0"/>
              <a:buChar char="•"/>
              <a:defRPr/>
            </a:pPr>
            <a:endParaRPr lang="en-US" altLang="en-US" sz="1200" b="0" dirty="0"/>
          </a:p>
          <a:p>
            <a:pPr marL="228600" indent="-228600" eaLnBrk="1" hangingPunct="1">
              <a:spcBef>
                <a:spcPct val="0"/>
              </a:spcBef>
              <a:buFont typeface="Arial" panose="020B0604020202020204" pitchFamily="34" charset="0"/>
              <a:buChar char="•"/>
              <a:defRPr/>
            </a:pPr>
            <a:r>
              <a:rPr lang="en-US" altLang="en-US" sz="1200" b="0" dirty="0"/>
              <a:t>There are special limits on S-Corps. Check the IRS website for eligibility requirements. You'll still have to follow the strict filing and operational processes of a C-Corp.</a:t>
            </a:r>
          </a:p>
          <a:p>
            <a:pPr marL="228600" indent="-228600" eaLnBrk="1" hangingPunct="1">
              <a:spcBef>
                <a:spcPct val="0"/>
              </a:spcBef>
              <a:buFont typeface="Arial" panose="020B0604020202020204" pitchFamily="34" charset="0"/>
              <a:buChar char="•"/>
              <a:defRPr/>
            </a:pPr>
            <a:endParaRPr lang="en-US" altLang="en-US" sz="1200" b="0" dirty="0"/>
          </a:p>
          <a:p>
            <a:pPr marL="228600" indent="-228600" eaLnBrk="1" hangingPunct="1">
              <a:spcBef>
                <a:spcPct val="0"/>
              </a:spcBef>
              <a:buFont typeface="Arial" panose="020B0604020202020204" pitchFamily="34" charset="0"/>
              <a:buChar char="•"/>
              <a:defRPr/>
            </a:pPr>
            <a:r>
              <a:rPr lang="en-US" altLang="en-US" sz="1200" b="0" dirty="0"/>
              <a:t>S-Corps also have an independent life, just like C-Corps. If a shareholder leaves the company or sells his or her shares, the S-Corp can continue doing business relatively undisturbed.</a:t>
            </a:r>
          </a:p>
          <a:p>
            <a:pPr marL="228600" indent="-228600" eaLnBrk="1" hangingPunct="1">
              <a:spcBef>
                <a:spcPct val="0"/>
              </a:spcBef>
              <a:buFont typeface="Arial" panose="020B0604020202020204" pitchFamily="34" charset="0"/>
              <a:buChar char="•"/>
              <a:defRPr/>
            </a:pPr>
            <a:endParaRPr lang="en-US" altLang="en-US" sz="1200" b="0" dirty="0"/>
          </a:p>
          <a:p>
            <a:pPr marL="228600" indent="-228600" eaLnBrk="1" hangingPunct="1">
              <a:spcBef>
                <a:spcPct val="0"/>
              </a:spcBef>
              <a:buFont typeface="Arial" panose="020B0604020202020204" pitchFamily="34" charset="0"/>
              <a:buChar char="•"/>
              <a:defRPr/>
            </a:pPr>
            <a:r>
              <a:rPr lang="en-US" altLang="en-US" sz="1200" b="0" dirty="0"/>
              <a:t>S-Corps can be a good choice for a businesses that would otherwise be a C-Corp, but meet the criteria to file as an S-Corp</a:t>
            </a:r>
            <a:endParaRPr lang="en-US" altLang="en-US" dirty="0"/>
          </a:p>
        </p:txBody>
      </p:sp>
      <p:sp>
        <p:nvSpPr>
          <p:cNvPr id="3584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900">
                <a:solidFill>
                  <a:schemeClr val="tx1"/>
                </a:solidFill>
                <a:latin typeface="Calibri" pitchFamily="34" charset="0"/>
              </a:defRPr>
            </a:lvl1pPr>
            <a:lvl2pPr marL="742950" indent="-285750">
              <a:defRPr sz="1900">
                <a:solidFill>
                  <a:schemeClr val="tx1"/>
                </a:solidFill>
                <a:latin typeface="Calibri" pitchFamily="34" charset="0"/>
              </a:defRPr>
            </a:lvl2pPr>
            <a:lvl3pPr marL="1143000" indent="-228600">
              <a:defRPr sz="1900">
                <a:solidFill>
                  <a:schemeClr val="tx1"/>
                </a:solidFill>
                <a:latin typeface="Calibri" pitchFamily="34" charset="0"/>
              </a:defRPr>
            </a:lvl3pPr>
            <a:lvl4pPr marL="1600200" indent="-228600">
              <a:defRPr sz="1900">
                <a:solidFill>
                  <a:schemeClr val="tx1"/>
                </a:solidFill>
                <a:latin typeface="Calibri" pitchFamily="34" charset="0"/>
              </a:defRPr>
            </a:lvl4pPr>
            <a:lvl5pPr marL="2057400" indent="-228600">
              <a:defRPr sz="1900">
                <a:solidFill>
                  <a:schemeClr val="tx1"/>
                </a:solidFill>
                <a:latin typeface="Calibri" pitchFamily="34" charset="0"/>
              </a:defRPr>
            </a:lvl5pPr>
            <a:lvl6pPr marL="2514600" indent="-228600" defTabSz="965200" fontAlgn="base">
              <a:spcBef>
                <a:spcPct val="0"/>
              </a:spcBef>
              <a:spcAft>
                <a:spcPct val="0"/>
              </a:spcAft>
              <a:defRPr sz="1900">
                <a:solidFill>
                  <a:schemeClr val="tx1"/>
                </a:solidFill>
                <a:latin typeface="Calibri" pitchFamily="34" charset="0"/>
              </a:defRPr>
            </a:lvl6pPr>
            <a:lvl7pPr marL="2971800" indent="-228600" defTabSz="965200" fontAlgn="base">
              <a:spcBef>
                <a:spcPct val="0"/>
              </a:spcBef>
              <a:spcAft>
                <a:spcPct val="0"/>
              </a:spcAft>
              <a:defRPr sz="1900">
                <a:solidFill>
                  <a:schemeClr val="tx1"/>
                </a:solidFill>
                <a:latin typeface="Calibri" pitchFamily="34" charset="0"/>
              </a:defRPr>
            </a:lvl7pPr>
            <a:lvl8pPr marL="3429000" indent="-228600" defTabSz="965200" fontAlgn="base">
              <a:spcBef>
                <a:spcPct val="0"/>
              </a:spcBef>
              <a:spcAft>
                <a:spcPct val="0"/>
              </a:spcAft>
              <a:defRPr sz="1900">
                <a:solidFill>
                  <a:schemeClr val="tx1"/>
                </a:solidFill>
                <a:latin typeface="Calibri" pitchFamily="34" charset="0"/>
              </a:defRPr>
            </a:lvl8pPr>
            <a:lvl9pPr marL="3886200" indent="-228600" defTabSz="965200" fontAlgn="base">
              <a:spcBef>
                <a:spcPct val="0"/>
              </a:spcBef>
              <a:spcAft>
                <a:spcPct val="0"/>
              </a:spcAft>
              <a:defRPr sz="1900">
                <a:solidFill>
                  <a:schemeClr val="tx1"/>
                </a:solidFill>
                <a:latin typeface="Calibri" pitchFamily="34" charset="0"/>
              </a:defRPr>
            </a:lvl9pPr>
          </a:lstStyle>
          <a:p>
            <a:pPr marL="0" marR="0" lvl="0" indent="0" algn="r" defTabSz="965200" rtl="0" eaLnBrk="1" fontAlgn="base" latinLnBrk="0" hangingPunct="1">
              <a:lnSpc>
                <a:spcPct val="100000"/>
              </a:lnSpc>
              <a:spcBef>
                <a:spcPct val="0"/>
              </a:spcBef>
              <a:spcAft>
                <a:spcPct val="0"/>
              </a:spcAft>
              <a:buClrTx/>
              <a:buSzTx/>
              <a:buFontTx/>
              <a:buNone/>
              <a:tabLst/>
              <a:defRPr/>
            </a:pPr>
            <a:fld id="{C1C08EC3-61A3-4622-9DAE-6C8B19A92E71}" type="slidenum">
              <a:rPr kumimoji="0" lang="en-US" altLang="en-US" sz="1100" b="0" i="0" u="none" strike="noStrike" kern="1200" cap="none" spc="0" normalizeH="0" baseline="0" noProof="0" smtClean="0">
                <a:ln>
                  <a:noFill/>
                </a:ln>
                <a:solidFill>
                  <a:prstClr val="black"/>
                </a:solidFill>
                <a:effectLst/>
                <a:uLnTx/>
                <a:uFillTx/>
                <a:latin typeface="Calibri" pitchFamily="34" charset="0"/>
                <a:ea typeface="+mn-ea"/>
                <a:cs typeface="+mn-cs"/>
              </a:rPr>
              <a:pPr marL="0" marR="0" lvl="0" indent="0" algn="r" defTabSz="965200" rtl="0" eaLnBrk="1" fontAlgn="base" latinLnBrk="0" hangingPunct="1">
                <a:lnSpc>
                  <a:spcPct val="100000"/>
                </a:lnSpc>
                <a:spcBef>
                  <a:spcPct val="0"/>
                </a:spcBef>
                <a:spcAft>
                  <a:spcPct val="0"/>
                </a:spcAft>
                <a:buClrTx/>
                <a:buSzTx/>
                <a:buFontTx/>
                <a:buNone/>
                <a:tabLst/>
                <a:defRPr/>
              </a:pPr>
              <a:t>11</a:t>
            </a:fld>
            <a:endParaRPr kumimoji="0" lang="en-US" altLang="en-US" sz="1100" b="0" i="0" u="none" strike="noStrike" kern="1200" cap="none" spc="0" normalizeH="0" baseline="0" noProof="0">
              <a:ln>
                <a:noFill/>
              </a:ln>
              <a:solidFill>
                <a:prstClr val="black"/>
              </a:solidFill>
              <a:effectLst/>
              <a:uLnTx/>
              <a:uFillTx/>
              <a:latin typeface="Calibri" pitchFamily="34" charset="0"/>
              <a:ea typeface="+mn-ea"/>
              <a:cs typeface="+mn-cs"/>
            </a:endParaRPr>
          </a:p>
        </p:txBody>
      </p:sp>
    </p:spTree>
    <p:extLst>
      <p:ext uri="{BB962C8B-B14F-4D97-AF65-F5344CB8AC3E}">
        <p14:creationId xmlns:p14="http://schemas.microsoft.com/office/powerpoint/2010/main" val="1778439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defRPr/>
            </a:pPr>
            <a:r>
              <a:rPr lang="en-US" altLang="en-US" sz="1400" b="1" dirty="0"/>
              <a:t>Instructor Notes:</a:t>
            </a:r>
          </a:p>
          <a:p>
            <a:pPr eaLnBrk="1" hangingPunct="1">
              <a:spcBef>
                <a:spcPct val="0"/>
              </a:spcBef>
              <a:defRPr/>
            </a:pPr>
            <a:endParaRPr lang="en-US" altLang="en-US" dirty="0"/>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200" b="1" dirty="0"/>
              <a:t>B-Corporation </a:t>
            </a:r>
            <a:r>
              <a:rPr lang="en-US" sz="1200" b="0" dirty="0"/>
              <a:t>– Main point is that they are still a </a:t>
            </a:r>
            <a:r>
              <a:rPr lang="en-US" sz="1200" b="0" dirty="0" err="1"/>
              <a:t>FOR-profit</a:t>
            </a:r>
            <a:r>
              <a:rPr lang="en-US" sz="1200" b="0" dirty="0"/>
              <a:t> entity.  Main reason to be a B-Corp is so that corporations that have a social benefit or mission – Board of Directors are protected from shareholders because their primary purpose is not necessarily to increase stockholder value.</a:t>
            </a:r>
          </a:p>
          <a:p>
            <a:pPr marL="171450" indent="-171450" eaLnBrk="1" hangingPunct="1">
              <a:spcBef>
                <a:spcPct val="0"/>
              </a:spcBef>
              <a:buFont typeface="Arial" panose="020B0604020202020204" pitchFamily="34" charset="0"/>
              <a:buChar char="•"/>
              <a:defRPr/>
            </a:pPr>
            <a:r>
              <a:rPr lang="en-US" sz="1200" b="1" dirty="0"/>
              <a:t>Nonprofit Corporation </a:t>
            </a:r>
            <a:r>
              <a:rPr lang="en-US" sz="1200" b="0" dirty="0"/>
              <a:t>– Nonprofits are often called 501 (c)(3) corporations.  They must file with the IRS to get a tax exemption, which is different from registering with their state.</a:t>
            </a:r>
          </a:p>
          <a:p>
            <a:pPr marL="171450" indent="-171450" eaLnBrk="1" hangingPunct="1">
              <a:spcBef>
                <a:spcPct val="0"/>
              </a:spcBef>
              <a:buFont typeface="Arial" panose="020B0604020202020204" pitchFamily="34" charset="0"/>
              <a:buChar char="•"/>
              <a:defRPr/>
            </a:pPr>
            <a:r>
              <a:rPr lang="en-US" sz="1200" b="1" dirty="0"/>
              <a:t>Family LLC/LLP – </a:t>
            </a:r>
            <a:r>
              <a:rPr lang="en-US" sz="1200" b="0" dirty="0"/>
              <a:t>As says on slide Used by families to conduct business operations with ownership among legally-related individuals, assist in protecting assets, sharing income, and estate planning </a:t>
            </a:r>
          </a:p>
          <a:p>
            <a:pPr marL="171450" indent="-171450" eaLnBrk="1" hangingPunct="1">
              <a:spcBef>
                <a:spcPct val="0"/>
              </a:spcBef>
              <a:buFont typeface="Arial" panose="020B0604020202020204" pitchFamily="34" charset="0"/>
              <a:buChar char="•"/>
              <a:defRPr/>
            </a:pPr>
            <a:r>
              <a:rPr lang="en-US" sz="1200" b="1" dirty="0"/>
              <a:t>Limited (LP) &amp; Limited Liability Partnership </a:t>
            </a:r>
          </a:p>
          <a:p>
            <a:pPr marL="628650" lvl="1" indent="-171450" eaLnBrk="1" hangingPunct="1">
              <a:spcBef>
                <a:spcPct val="0"/>
              </a:spcBef>
              <a:buFont typeface="Arial" panose="020B0604020202020204" pitchFamily="34" charset="0"/>
              <a:buChar char="•"/>
              <a:defRPr/>
            </a:pPr>
            <a:r>
              <a:rPr lang="en-US" sz="1200" b="0" i="0" dirty="0">
                <a:solidFill>
                  <a:srgbClr val="202124"/>
                </a:solidFill>
                <a:effectLst/>
                <a:latin typeface="Google Sans"/>
              </a:rPr>
              <a:t>LPs required to have at least one general partner, and one or more limited partners.   Limited partners generally not involved in management, and their liability is limited to the amount of their investment in the LP.</a:t>
            </a:r>
          </a:p>
          <a:p>
            <a:pPr marL="628650" lvl="1" indent="-171450" eaLnBrk="1" hangingPunct="1">
              <a:spcBef>
                <a:spcPct val="0"/>
              </a:spcBef>
              <a:buFont typeface="Arial" panose="020B0604020202020204" pitchFamily="34" charset="0"/>
              <a:buChar char="•"/>
              <a:defRPr/>
            </a:pPr>
            <a:r>
              <a:rPr lang="en-US" sz="1200" b="0" i="0" dirty="0">
                <a:solidFill>
                  <a:srgbClr val="202124"/>
                </a:solidFill>
                <a:effectLst/>
                <a:latin typeface="Google Sans"/>
              </a:rPr>
              <a:t>Limited liability partnerships (LLPs) are a flexible legal and tax entity that allows partners to benefit from working together, while also reducing their liability for the actions of other partners.  LLPs are common among licensed professionals such as accountants, attorneys and architects.  The definition and regulations of LLPs vary by state, including how limited liability is defined, and it’s important to keep in mind that not every state recognizes the LLPs of other states. </a:t>
            </a:r>
            <a:endParaRPr lang="en-US" sz="1200" b="0" dirty="0"/>
          </a:p>
          <a:p>
            <a:pPr eaLnBrk="1" hangingPunct="1">
              <a:spcBef>
                <a:spcPct val="0"/>
              </a:spcBef>
              <a:defRPr/>
            </a:pPr>
            <a:endParaRPr lang="en-US" sz="1200" b="0" dirty="0"/>
          </a:p>
          <a:p>
            <a:pPr eaLnBrk="1" hangingPunct="1">
              <a:spcBef>
                <a:spcPct val="0"/>
              </a:spcBef>
              <a:defRPr/>
            </a:pPr>
            <a:r>
              <a:rPr lang="en-US" sz="1200" b="0" dirty="0"/>
              <a:t>Not necessary to spend too much time on these entities as they are more advanced.</a:t>
            </a:r>
            <a:endParaRPr lang="en-US" altLang="en-US" sz="1200" dirty="0"/>
          </a:p>
        </p:txBody>
      </p:sp>
    </p:spTree>
    <p:extLst>
      <p:ext uri="{BB962C8B-B14F-4D97-AF65-F5344CB8AC3E}">
        <p14:creationId xmlns:p14="http://schemas.microsoft.com/office/powerpoint/2010/main" val="1185992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1" dirty="0"/>
              <a:t>Instructor Notes:</a:t>
            </a:r>
          </a:p>
          <a:p>
            <a:endParaRPr lang="en-US" dirty="0"/>
          </a:p>
          <a:p>
            <a:r>
              <a:rPr lang="en-US" b="0" dirty="0"/>
              <a:t>Chart, from the SBA’s “Choose a Business Structure” page (https://www.sba.gov/business-guide/launch-your-business/choose-business-structure ) comparing types of business entities, and how each type affects taxes and liability for the business. </a:t>
            </a:r>
          </a:p>
        </p:txBody>
      </p:sp>
    </p:spTree>
    <p:extLst>
      <p:ext uri="{BB962C8B-B14F-4D97-AF65-F5344CB8AC3E}">
        <p14:creationId xmlns:p14="http://schemas.microsoft.com/office/powerpoint/2010/main" val="4042185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defRPr/>
            </a:pPr>
            <a:r>
              <a:rPr lang="en-US" altLang="en-US" sz="1400" b="1"/>
              <a:t>Instructor Notes:</a:t>
            </a:r>
            <a:endParaRPr lang="en-US" altLang="en-US" sz="1400" b="1">
              <a:cs typeface="Calibri"/>
            </a:endParaRPr>
          </a:p>
          <a:p>
            <a:pPr eaLnBrk="1" hangingPunct="1">
              <a:spcBef>
                <a:spcPct val="0"/>
              </a:spcBef>
              <a:defRPr/>
            </a:pPr>
            <a:endParaRPr lang="en-US" altLang="en-US"/>
          </a:p>
          <a:p>
            <a:pPr marL="285750" indent="-285750">
              <a:buFont typeface="Arial" panose="020B0604020202020204" pitchFamily="34" charset="0"/>
              <a:buChar char="•"/>
              <a:defRPr/>
            </a:pPr>
            <a:r>
              <a:rPr lang="en-US" altLang="en-US" sz="1200" b="0"/>
              <a:t>You should once again stress the importance of finding a good lawyer and accountant.</a:t>
            </a:r>
            <a:r>
              <a:rPr lang="en-US" altLang="en-US"/>
              <a:t> </a:t>
            </a:r>
          </a:p>
          <a:p>
            <a:pPr marL="285750" indent="-285750">
              <a:buFont typeface="Arial" panose="020B0604020202020204" pitchFamily="34" charset="0"/>
              <a:buChar char="•"/>
              <a:defRPr/>
            </a:pPr>
            <a:r>
              <a:rPr lang="en-US" altLang="en-US" sz="1200" b="0"/>
              <a:t>Keep in mind that filing and operating costs differ across states as well.</a:t>
            </a:r>
            <a:r>
              <a:rPr lang="en-US" altLang="en-US"/>
              <a:t> </a:t>
            </a:r>
            <a:endParaRPr lang="en-US" altLang="en-US" sz="1200" b="0">
              <a:cs typeface="Calibri"/>
            </a:endParaRPr>
          </a:p>
          <a:p>
            <a:pPr marL="285750" indent="-285750">
              <a:buFont typeface="Arial" panose="020B0604020202020204" pitchFamily="34" charset="0"/>
              <a:buChar char="•"/>
              <a:defRPr/>
            </a:pPr>
            <a:r>
              <a:rPr lang="en-US" altLang="en-US" sz="1200" b="0"/>
              <a:t>This is a good time to plug the resource partner network and talk to your local SBA counselor who may have recommendations in your local area.</a:t>
            </a:r>
            <a:r>
              <a:rPr lang="en-US" altLang="en-US"/>
              <a:t> </a:t>
            </a:r>
            <a:endParaRPr lang="en-US" altLang="en-US" sz="1200" b="0">
              <a:cs typeface="Calibri"/>
            </a:endParaRPr>
          </a:p>
          <a:p>
            <a:pPr marL="285750" indent="-285750">
              <a:buFont typeface="Arial" panose="020B0604020202020204" pitchFamily="34" charset="0"/>
              <a:buChar char="•"/>
              <a:defRPr/>
            </a:pPr>
            <a:r>
              <a:rPr lang="en-US" altLang="en-US" sz="1200" b="0"/>
              <a:t>You should also encourage them to seek out references from other small business owners or their state/local bar association.</a:t>
            </a:r>
            <a:endParaRPr lang="en-US" altLang="en-US" sz="1200" b="0">
              <a:cs typeface="Calibri"/>
            </a:endParaRPr>
          </a:p>
          <a:p>
            <a:endParaRPr lang="en-US"/>
          </a:p>
        </p:txBody>
      </p:sp>
    </p:spTree>
    <p:extLst>
      <p:ext uri="{BB962C8B-B14F-4D97-AF65-F5344CB8AC3E}">
        <p14:creationId xmlns:p14="http://schemas.microsoft.com/office/powerpoint/2010/main" val="3166466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400" b="1" dirty="0"/>
              <a:t>Instructor Notes:</a:t>
            </a:r>
          </a:p>
          <a:p>
            <a:endParaRPr lang="en-US" sz="1200" dirty="0"/>
          </a:p>
          <a:p>
            <a:r>
              <a:rPr lang="en-US" sz="1200" b="1" dirty="0"/>
              <a:t>Registration: </a:t>
            </a:r>
            <a:r>
              <a:rPr lang="en-US" sz="1200" b="0" dirty="0"/>
              <a:t>most states allow you to register or renew your business and pay fees online. It isn’t always necessary to use a lawyer for such services; in some states it’s a fairly easy process and could provide substantial savings over using a lawyer or Legal Zoom</a:t>
            </a:r>
          </a:p>
          <a:p>
            <a:r>
              <a:rPr lang="en-US" sz="1200" b="1" dirty="0"/>
              <a:t>Domestic/Foreign: </a:t>
            </a:r>
            <a:r>
              <a:rPr lang="en-US" sz="1200" b="0" dirty="0"/>
              <a:t>if you are operating in more than one state, you must register in each state: domestic is primary place of business, foreign is when you have a presence in another state</a:t>
            </a:r>
          </a:p>
          <a:p>
            <a:r>
              <a:rPr lang="en-US" sz="1200" b="1" dirty="0"/>
              <a:t>Multiple/Holding: </a:t>
            </a:r>
            <a:r>
              <a:rPr lang="en-US" sz="1200" b="0" dirty="0"/>
              <a:t>for multiple lines of business, it may make sense to organize them in separate companies</a:t>
            </a:r>
          </a:p>
          <a:p>
            <a:r>
              <a:rPr lang="en-US" sz="1200" b="1" dirty="0"/>
              <a:t>EIN: </a:t>
            </a:r>
            <a:r>
              <a:rPr lang="en-US" sz="1200" b="0" dirty="0"/>
              <a:t>this is free and easy on IRS.GOV (IRS.com will charge you for it; so will LegalZoom</a:t>
            </a:r>
          </a:p>
          <a:p>
            <a:r>
              <a:rPr lang="en-US" sz="1200" dirty="0"/>
              <a:t>States</a:t>
            </a:r>
            <a:r>
              <a:rPr lang="en-US" sz="1200" b="0" dirty="0"/>
              <a:t>: some states may require additional registrations for the taxes listed</a:t>
            </a:r>
          </a:p>
          <a:p>
            <a:r>
              <a:rPr lang="en-US" sz="1200" b="1" dirty="0"/>
              <a:t>Local/Other: </a:t>
            </a:r>
            <a:r>
              <a:rPr lang="en-US" sz="1200" b="0" dirty="0"/>
              <a:t>ditto; emphasize not “shortcutting the process”; neighbors &amp; HOA’s can be nitpicky and could inquire or report you</a:t>
            </a:r>
          </a:p>
          <a:p>
            <a:endParaRPr lang="en-US" dirty="0"/>
          </a:p>
        </p:txBody>
      </p:sp>
    </p:spTree>
    <p:extLst>
      <p:ext uri="{BB962C8B-B14F-4D97-AF65-F5344CB8AC3E}">
        <p14:creationId xmlns:p14="http://schemas.microsoft.com/office/powerpoint/2010/main" val="1474971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400" b="1"/>
              <a:t>Instructor Notes:</a:t>
            </a:r>
          </a:p>
          <a:p>
            <a:endParaRPr lang="en-US" sz="1200" b="0"/>
          </a:p>
          <a:p>
            <a:r>
              <a:rPr lang="en-US" sz="1200" b="0"/>
              <a:t>Separating personal and business matters, especially financial, should be emphasized. Legal cases and audits are often won or lost based on this delineation.</a:t>
            </a:r>
          </a:p>
          <a:p>
            <a:r>
              <a:rPr lang="en-US" sz="1200" b="0"/>
              <a:t>Emphasize noting who, what, when, where, and why on the receipt, and scanning it. Businesses can repay appropriate expenses when possible.</a:t>
            </a:r>
          </a:p>
          <a:p>
            <a:endParaRPr lang="en-US"/>
          </a:p>
        </p:txBody>
      </p:sp>
    </p:spTree>
    <p:extLst>
      <p:ext uri="{BB962C8B-B14F-4D97-AF65-F5344CB8AC3E}">
        <p14:creationId xmlns:p14="http://schemas.microsoft.com/office/powerpoint/2010/main" val="8650492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400" b="1"/>
              <a:t>Instructor Notes:</a:t>
            </a:r>
            <a:endParaRPr lang="en-US" altLang="en-US" sz="1400" b="1">
              <a:cs typeface="Calibri"/>
            </a:endParaRPr>
          </a:p>
          <a:p>
            <a:pPr eaLnBrk="1" hangingPunct="1">
              <a:spcBef>
                <a:spcPct val="0"/>
              </a:spcBef>
            </a:pPr>
            <a:endParaRPr lang="en-US" altLang="en-US"/>
          </a:p>
          <a:p>
            <a:pPr eaLnBrk="1" hangingPunct="1">
              <a:spcBef>
                <a:spcPct val="0"/>
              </a:spcBef>
            </a:pPr>
            <a:r>
              <a:rPr lang="en-US" altLang="en-US" sz="1200" b="0"/>
              <a:t>Agenda slide detailing what’s coming next…</a:t>
            </a:r>
            <a:endParaRPr lang="en-US" altLang="en-US" sz="1200" b="0">
              <a:cs typeface="Calibri"/>
            </a:endParaRPr>
          </a:p>
          <a:p>
            <a:endParaRPr lang="en-US"/>
          </a:p>
        </p:txBody>
      </p:sp>
    </p:spTree>
    <p:extLst>
      <p:ext uri="{BB962C8B-B14F-4D97-AF65-F5344CB8AC3E}">
        <p14:creationId xmlns:p14="http://schemas.microsoft.com/office/powerpoint/2010/main" val="10292584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defRPr/>
            </a:pPr>
            <a:r>
              <a:rPr lang="en-US" altLang="en-US" sz="1400" b="1" dirty="0"/>
              <a:t>Instructor Notes:</a:t>
            </a:r>
            <a:endParaRPr lang="en-US" altLang="en-US" sz="1400" b="1" dirty="0">
              <a:cs typeface="Calibri"/>
            </a:endParaRPr>
          </a:p>
          <a:p>
            <a:pPr eaLnBrk="1" hangingPunct="1">
              <a:spcBef>
                <a:spcPct val="0"/>
              </a:spcBef>
              <a:defRPr/>
            </a:pPr>
            <a:endParaRPr lang="en-US" altLang="en-US" sz="1200" dirty="0"/>
          </a:p>
          <a:p>
            <a:pPr eaLnBrk="1" hangingPunct="1">
              <a:spcBef>
                <a:spcPct val="0"/>
              </a:spcBef>
              <a:defRPr/>
            </a:pPr>
            <a:r>
              <a:rPr lang="en-US" altLang="en-US" sz="1200" b="0" dirty="0"/>
              <a:t>All contracts, whether for partnership or ventures between businesses should be read over for multiple times and an attorney consulted before executing.</a:t>
            </a:r>
            <a:endParaRPr lang="en-US" altLang="en-US" sz="1200" b="0" dirty="0">
              <a:cs typeface="Calibri"/>
            </a:endParaRPr>
          </a:p>
          <a:p>
            <a:pPr eaLnBrk="1" hangingPunct="1">
              <a:spcBef>
                <a:spcPct val="0"/>
              </a:spcBef>
              <a:defRPr/>
            </a:pPr>
            <a:endParaRPr lang="en-US" altLang="en-US" sz="1200" b="0" dirty="0"/>
          </a:p>
          <a:p>
            <a:pPr eaLnBrk="1" hangingPunct="1">
              <a:spcBef>
                <a:spcPct val="0"/>
              </a:spcBef>
              <a:defRPr/>
            </a:pPr>
            <a:r>
              <a:rPr lang="en-US" altLang="en-US" sz="1200" b="0" dirty="0"/>
              <a:t>Remember:</a:t>
            </a:r>
            <a:endParaRPr lang="en-US" altLang="en-US" sz="1200" b="0" dirty="0">
              <a:cs typeface="Calibri"/>
            </a:endParaRPr>
          </a:p>
          <a:p>
            <a:pPr eaLnBrk="1" hangingPunct="1">
              <a:spcBef>
                <a:spcPct val="0"/>
              </a:spcBef>
              <a:defRPr/>
            </a:pPr>
            <a:endParaRPr lang="en-US" altLang="en-US" sz="1200" b="0" dirty="0"/>
          </a:p>
          <a:p>
            <a:pPr marL="171450" indent="-171450" eaLnBrk="1" hangingPunct="1">
              <a:spcBef>
                <a:spcPct val="0"/>
              </a:spcBef>
              <a:buFont typeface="Arial" panose="020B0604020202020204" pitchFamily="34" charset="0"/>
              <a:buChar char="•"/>
              <a:defRPr/>
            </a:pPr>
            <a:r>
              <a:rPr lang="en-US" altLang="en-US" sz="1200" b="0" dirty="0"/>
              <a:t>Contracts essentially require:</a:t>
            </a:r>
            <a:endParaRPr lang="en-US" altLang="en-US" sz="1200" b="0" dirty="0">
              <a:cs typeface="Calibri"/>
            </a:endParaRPr>
          </a:p>
          <a:p>
            <a:pPr marL="711200" lvl="1" indent="-228600" eaLnBrk="1" hangingPunct="1">
              <a:spcBef>
                <a:spcPct val="0"/>
              </a:spcBef>
              <a:buFont typeface="+mj-lt"/>
              <a:buAutoNum type="arabicPeriod"/>
              <a:defRPr/>
            </a:pPr>
            <a:r>
              <a:rPr lang="en-US" altLang="en-US" dirty="0"/>
              <a:t>An offer</a:t>
            </a:r>
            <a:endParaRPr lang="en-US" altLang="en-US" dirty="0">
              <a:cs typeface="Calibri"/>
            </a:endParaRPr>
          </a:p>
          <a:p>
            <a:pPr marL="711200" lvl="1" indent="-228600" eaLnBrk="1" hangingPunct="1">
              <a:spcBef>
                <a:spcPct val="0"/>
              </a:spcBef>
              <a:buFont typeface="+mj-lt"/>
              <a:buAutoNum type="arabicPeriod"/>
              <a:defRPr/>
            </a:pPr>
            <a:r>
              <a:rPr lang="en-US" altLang="en-US" dirty="0"/>
              <a:t>Acceptance of the offer</a:t>
            </a:r>
            <a:endParaRPr lang="en-US" altLang="en-US" dirty="0">
              <a:cs typeface="Calibri"/>
            </a:endParaRPr>
          </a:p>
          <a:p>
            <a:pPr marL="711200" lvl="1" indent="-228600" eaLnBrk="1" hangingPunct="1">
              <a:spcBef>
                <a:spcPct val="0"/>
              </a:spcBef>
              <a:buFont typeface="+mj-lt"/>
              <a:buAutoNum type="arabicPeriod"/>
              <a:defRPr/>
            </a:pPr>
            <a:r>
              <a:rPr lang="en-US" altLang="en-US" dirty="0"/>
              <a:t>Consideration</a:t>
            </a:r>
            <a:endParaRPr lang="en-US" altLang="en-US" dirty="0">
              <a:cs typeface="Calibri"/>
            </a:endParaRPr>
          </a:p>
          <a:p>
            <a:pPr marL="171450" indent="-171450" eaLnBrk="1" hangingPunct="1">
              <a:spcBef>
                <a:spcPct val="0"/>
              </a:spcBef>
              <a:buFont typeface="Arial" panose="020B0604020202020204" pitchFamily="34" charset="0"/>
              <a:buChar char="•"/>
              <a:defRPr/>
            </a:pPr>
            <a:r>
              <a:rPr lang="en-US" altLang="en-US" sz="1200" b="0" dirty="0"/>
              <a:t>Not all contracts need to be in writing, but they SHOULD be.</a:t>
            </a:r>
            <a:endParaRPr lang="en-US" altLang="en-US" sz="1200" b="0" dirty="0">
              <a:cs typeface="Calibri"/>
            </a:endParaRPr>
          </a:p>
          <a:p>
            <a:pPr marL="654050" lvl="1" indent="-171450">
              <a:spcBef>
                <a:spcPct val="0"/>
              </a:spcBef>
              <a:buFont typeface="Arial" panose="020B0604020202020204" pitchFamily="34" charset="0"/>
              <a:buChar char="•"/>
              <a:defRPr/>
            </a:pPr>
            <a:r>
              <a:rPr lang="en-US" altLang="en-US" dirty="0"/>
              <a:t>Legally, only certain contracts are required to be in writing to be valid.  </a:t>
            </a:r>
            <a:endParaRPr lang="en-US" altLang="en-US" dirty="0">
              <a:cs typeface="Calibri"/>
            </a:endParaRPr>
          </a:p>
          <a:p>
            <a:pPr marL="1136650" lvl="2" indent="-171450" eaLnBrk="1" hangingPunct="1">
              <a:spcBef>
                <a:spcPct val="0"/>
              </a:spcBef>
              <a:buFont typeface="Arial" panose="020B0604020202020204" pitchFamily="34" charset="0"/>
              <a:buChar char="•"/>
              <a:defRPr/>
            </a:pPr>
            <a:r>
              <a:rPr lang="en-US" altLang="en-US" dirty="0"/>
              <a:t>However, you should try to get ALL contracts in writing.</a:t>
            </a:r>
            <a:endParaRPr lang="en-US" altLang="en-US" dirty="0">
              <a:cs typeface="Calibri"/>
            </a:endParaRPr>
          </a:p>
          <a:p>
            <a:pPr marL="171450" indent="-171450" eaLnBrk="1" hangingPunct="1">
              <a:spcBef>
                <a:spcPct val="0"/>
              </a:spcBef>
              <a:buFont typeface="Arial" panose="020B0604020202020204" pitchFamily="34" charset="0"/>
              <a:buChar char="•"/>
              <a:defRPr/>
            </a:pPr>
            <a:r>
              <a:rPr lang="en-US" altLang="en-US" sz="1200" b="0" dirty="0"/>
              <a:t>Consult a lawyer when necessary</a:t>
            </a:r>
            <a:endParaRPr lang="en-US" altLang="en-US" sz="1200" b="0" dirty="0">
              <a:cs typeface="Calibri"/>
            </a:endParaRPr>
          </a:p>
          <a:p>
            <a:pPr marL="654050" lvl="1" indent="-171450" eaLnBrk="1" hangingPunct="1">
              <a:spcBef>
                <a:spcPct val="0"/>
              </a:spcBef>
              <a:buFont typeface="Arial" panose="020B0604020202020204" pitchFamily="34" charset="0"/>
              <a:buChar char="•"/>
              <a:defRPr/>
            </a:pPr>
            <a:r>
              <a:rPr lang="en-US" altLang="en-US" dirty="0"/>
              <a:t>When there is a lot of money at stake, when it’s vital, or if the contract is full of legalese, it’s time to get a lawyer involved</a:t>
            </a:r>
            <a:endParaRPr lang="en-US" altLang="en-US" dirty="0">
              <a:cs typeface="Calibri"/>
            </a:endParaRPr>
          </a:p>
          <a:p>
            <a:pPr eaLnBrk="1" hangingPunct="1">
              <a:spcBef>
                <a:spcPct val="0"/>
              </a:spcBef>
              <a:defRPr/>
            </a:pPr>
            <a:endParaRPr lang="en-US" altLang="en-US" sz="1200" b="0" dirty="0"/>
          </a:p>
          <a:p>
            <a:pPr eaLnBrk="1" hangingPunct="1">
              <a:spcBef>
                <a:spcPct val="0"/>
              </a:spcBef>
              <a:defRPr/>
            </a:pPr>
            <a:r>
              <a:rPr lang="en-US" altLang="en-US" sz="1200" b="0" u="sng" dirty="0">
                <a:solidFill>
                  <a:srgbClr val="0070C0"/>
                </a:solidFill>
              </a:rPr>
              <a:t>https://www.score.org/resource/business-contract-rules</a:t>
            </a:r>
            <a:endParaRPr lang="en-US" altLang="en-US" sz="1200" b="0" u="sng" dirty="0">
              <a:solidFill>
                <a:srgbClr val="0070C0"/>
              </a:solidFill>
              <a:cs typeface="Calibri"/>
            </a:endParaRPr>
          </a:p>
          <a:p>
            <a:endParaRPr lang="en-US" dirty="0"/>
          </a:p>
        </p:txBody>
      </p:sp>
    </p:spTree>
    <p:extLst>
      <p:ext uri="{BB962C8B-B14F-4D97-AF65-F5344CB8AC3E}">
        <p14:creationId xmlns:p14="http://schemas.microsoft.com/office/powerpoint/2010/main" val="1865805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defRPr/>
            </a:pPr>
            <a:r>
              <a:rPr lang="en-US" altLang="en-US" sz="1400" b="1"/>
              <a:t>Instructor Notes:</a:t>
            </a:r>
            <a:endParaRPr lang="en-US" altLang="en-US" sz="1400" b="1">
              <a:cs typeface="Calibri"/>
            </a:endParaRPr>
          </a:p>
          <a:p>
            <a:pPr eaLnBrk="1" hangingPunct="1">
              <a:spcBef>
                <a:spcPct val="0"/>
              </a:spcBef>
              <a:defRPr/>
            </a:pPr>
            <a:endParaRPr lang="en-US" altLang="en-US" sz="1100">
              <a:latin typeface="+mj-lt"/>
            </a:endParaRPr>
          </a:p>
          <a:p>
            <a:pPr marL="0" indent="0" eaLnBrk="1" hangingPunct="1">
              <a:spcBef>
                <a:spcPct val="0"/>
              </a:spcBef>
              <a:buFont typeface="+mj-lt"/>
              <a:buNone/>
              <a:defRPr/>
            </a:pPr>
            <a:r>
              <a:rPr lang="en-US" altLang="en-US" sz="1200" b="0" u="none"/>
              <a:t>Basic Requirements for Government Contracting:</a:t>
            </a:r>
            <a:endParaRPr lang="en-US" altLang="en-US" sz="1200" b="0" u="none">
              <a:cs typeface="Calibri Light"/>
            </a:endParaRPr>
          </a:p>
          <a:p>
            <a:pPr marL="0" indent="0" eaLnBrk="1" hangingPunct="1">
              <a:spcBef>
                <a:spcPct val="0"/>
              </a:spcBef>
              <a:buFont typeface="Arial" panose="020B0604020202020204" pitchFamily="34" charset="0"/>
              <a:buNone/>
              <a:defRPr/>
            </a:pPr>
            <a:endParaRPr lang="en-US" altLang="en-US" sz="1200" b="0" u="none"/>
          </a:p>
          <a:p>
            <a:pPr marL="171450" indent="-171450">
              <a:spcBef>
                <a:spcPct val="0"/>
              </a:spcBef>
              <a:buFont typeface="Arial" panose="020B0604020202020204" pitchFamily="34" charset="0"/>
              <a:buChar char="•"/>
              <a:defRPr/>
            </a:pPr>
            <a:r>
              <a:rPr lang="en-US" altLang="en-US" sz="1200" b="0" u="none"/>
              <a:t>Example: To be eligible for veteran-owned small business (VOSB) or service-disabled veteran-owned small business (SDVOSB) contracts, the business must be at least 51% owned and controlled by a veteran or service-disabled veteran.</a:t>
            </a:r>
            <a:r>
              <a:rPr lang="en-US" altLang="en-US" sz="1200"/>
              <a:t>  </a:t>
            </a:r>
            <a:endParaRPr lang="en-US" altLang="en-US" sz="1200">
              <a:cs typeface="Calibri Light"/>
            </a:endParaRPr>
          </a:p>
          <a:p>
            <a:pPr marL="171450" indent="-171450" eaLnBrk="1" hangingPunct="1">
              <a:spcBef>
                <a:spcPct val="0"/>
              </a:spcBef>
              <a:buFont typeface="Arial" panose="020B0604020202020204" pitchFamily="34" charset="0"/>
              <a:buChar char="•"/>
              <a:defRPr/>
            </a:pPr>
            <a:r>
              <a:rPr lang="en-US" altLang="en-US" sz="1200" b="0" u="none"/>
              <a:t>Control = the veteran (or service-disabled veteran, as the case may be) must exercise unconditional authority over the company’s day-to-day affairs and long-term strategic decision-making</a:t>
            </a:r>
            <a:endParaRPr lang="en-US" altLang="en-US" sz="1200" b="0" u="none">
              <a:cs typeface="Calibri Light"/>
            </a:endParaRPr>
          </a:p>
          <a:p>
            <a:pPr marL="171450" indent="-171450" eaLnBrk="1" hangingPunct="1">
              <a:spcBef>
                <a:spcPct val="0"/>
              </a:spcBef>
              <a:buFont typeface="Arial" panose="020B0604020202020204" pitchFamily="34" charset="0"/>
              <a:buChar char="•"/>
              <a:defRPr/>
            </a:pPr>
            <a:endParaRPr lang="en-US" altLang="en-US" sz="1200" b="0" u="none"/>
          </a:p>
          <a:p>
            <a:pPr marL="171450" indent="-171450" eaLnBrk="1" hangingPunct="1">
              <a:spcBef>
                <a:spcPct val="0"/>
              </a:spcBef>
              <a:buFont typeface="Arial" panose="020B0604020202020204" pitchFamily="34" charset="0"/>
              <a:buChar char="•"/>
              <a:defRPr/>
            </a:pPr>
            <a:r>
              <a:rPr lang="en-US" altLang="en-US" sz="1200" b="0" u="none"/>
              <a:t>Look up the North American Industry Classification System </a:t>
            </a:r>
            <a:r>
              <a:rPr lang="en-US" altLang="en-US" sz="1200" b="1" u="none"/>
              <a:t>(NAICS) code </a:t>
            </a:r>
            <a:r>
              <a:rPr lang="en-US" altLang="en-US" sz="1200" b="0" u="none"/>
              <a:t>for your industry</a:t>
            </a:r>
            <a:endParaRPr lang="en-US" altLang="en-US" sz="1200" b="0" u="none">
              <a:cs typeface="Calibri Light"/>
            </a:endParaRPr>
          </a:p>
          <a:p>
            <a:pPr marL="654050" lvl="1" indent="-171450" eaLnBrk="1" hangingPunct="1">
              <a:spcBef>
                <a:spcPct val="0"/>
              </a:spcBef>
              <a:buFont typeface="Arial" panose="020B0604020202020204" pitchFamily="34" charset="0"/>
              <a:buChar char="•"/>
              <a:defRPr/>
            </a:pPr>
            <a:r>
              <a:rPr lang="en-US" altLang="en-US" sz="1200" b="0" u="none"/>
              <a:t>You must know your six-digit NAICS code to compete for federal contracts.</a:t>
            </a:r>
            <a:endParaRPr lang="en-US" altLang="en-US" sz="1200" b="0" u="none">
              <a:cs typeface="Calibri Light"/>
            </a:endParaRPr>
          </a:p>
          <a:p>
            <a:pPr marL="654050" lvl="1" indent="-171450" eaLnBrk="1" hangingPunct="1">
              <a:spcBef>
                <a:spcPct val="0"/>
              </a:spcBef>
              <a:buFont typeface="Arial" panose="020B0604020202020204" pitchFamily="34" charset="0"/>
              <a:buChar char="•"/>
              <a:defRPr/>
            </a:pPr>
            <a:endParaRPr lang="en-US" altLang="en-US" sz="1200" b="0" u="none"/>
          </a:p>
          <a:p>
            <a:pPr marL="285750" indent="-285750">
              <a:spcBef>
                <a:spcPct val="0"/>
              </a:spcBef>
              <a:buFont typeface="Arial" panose="020B0604020202020204" pitchFamily="34" charset="0"/>
              <a:buChar char="•"/>
              <a:defRPr/>
            </a:pPr>
            <a:r>
              <a:rPr lang="en-US" sz="1200" b="0" i="0" u="none">
                <a:effectLst/>
              </a:rPr>
              <a:t>Register for a DUNS Code (DUNS= Data Universal Numbering System Code)</a:t>
            </a:r>
            <a:r>
              <a:rPr lang="en-US" sz="1200"/>
              <a:t> </a:t>
            </a:r>
            <a:endParaRPr lang="en-US" sz="1200" b="0" i="0" u="none">
              <a:effectLst/>
              <a:cs typeface="Calibri Light"/>
            </a:endParaRPr>
          </a:p>
          <a:p>
            <a:pPr marL="768350" lvl="1" indent="-285750">
              <a:spcBef>
                <a:spcPct val="0"/>
              </a:spcBef>
              <a:buFont typeface="Arial" panose="020B0604020202020204" pitchFamily="34" charset="0"/>
              <a:buChar char="•"/>
              <a:defRPr/>
            </a:pPr>
            <a:r>
              <a:rPr lang="en-US" sz="1200" b="0" i="0" u="none">
                <a:effectLst/>
              </a:rPr>
              <a:t>You’ll need a DUNS code to compete for federal contracts.</a:t>
            </a:r>
            <a:r>
              <a:rPr lang="en-US" sz="1200"/>
              <a:t> </a:t>
            </a:r>
            <a:endParaRPr lang="en-US" sz="1200" b="0" i="0" u="none">
              <a:effectLst/>
              <a:cs typeface="Calibri Light"/>
            </a:endParaRPr>
          </a:p>
          <a:p>
            <a:pPr marL="768350" lvl="1" indent="-285750">
              <a:spcBef>
                <a:spcPct val="0"/>
              </a:spcBef>
              <a:buFont typeface="Arial" panose="020B0604020202020204" pitchFamily="34" charset="0"/>
              <a:buChar char="•"/>
              <a:defRPr/>
            </a:pPr>
            <a:r>
              <a:rPr lang="en-US" sz="1200" b="0" i="0" u="none">
                <a:effectLst/>
              </a:rPr>
              <a:t>This system is managed by Dun &amp; Bradstreet, which is a private company.</a:t>
            </a:r>
            <a:r>
              <a:rPr lang="en-US" sz="1200"/>
              <a:t> </a:t>
            </a:r>
            <a:endParaRPr lang="en-US" sz="1200" b="0" i="0" u="none">
              <a:effectLst/>
              <a:cs typeface="Calibri Light"/>
            </a:endParaRPr>
          </a:p>
          <a:p>
            <a:pPr marL="768350" lvl="1" indent="-285750" eaLnBrk="1" hangingPunct="1">
              <a:spcBef>
                <a:spcPct val="0"/>
              </a:spcBef>
              <a:buFont typeface="Arial" panose="020B0604020202020204" pitchFamily="34" charset="0"/>
              <a:buChar char="•"/>
              <a:defRPr/>
            </a:pPr>
            <a:r>
              <a:rPr lang="en-US" sz="1200" b="0" i="0" u="none">
                <a:effectLst/>
              </a:rPr>
              <a:t>Registration is free for federal contractors.</a:t>
            </a:r>
            <a:endParaRPr lang="en-US" sz="1200" b="0" i="0" u="none">
              <a:effectLst/>
              <a:cs typeface="Calibri Light"/>
            </a:endParaRPr>
          </a:p>
          <a:p>
            <a:pPr marL="482600" lvl="1" indent="0" eaLnBrk="1" hangingPunct="1">
              <a:spcBef>
                <a:spcPct val="0"/>
              </a:spcBef>
              <a:buFont typeface="Arial" panose="020B0604020202020204" pitchFamily="34" charset="0"/>
              <a:buNone/>
              <a:defRPr/>
            </a:pPr>
            <a:endParaRPr lang="en-US" sz="1200" b="0" i="0" u="none">
              <a:effectLst/>
            </a:endParaRPr>
          </a:p>
          <a:p>
            <a:pPr marL="285750" indent="-285750">
              <a:spcBef>
                <a:spcPct val="0"/>
              </a:spcBef>
              <a:buFont typeface="Arial" panose="020B0604020202020204" pitchFamily="34" charset="0"/>
              <a:buChar char="•"/>
              <a:defRPr/>
            </a:pPr>
            <a:r>
              <a:rPr lang="en-US" sz="1200" b="0" i="0" u="none">
                <a:effectLst/>
              </a:rPr>
              <a:t>Register in the System for Award Management (SAM).</a:t>
            </a:r>
            <a:r>
              <a:rPr lang="en-US" sz="1200"/>
              <a:t> </a:t>
            </a:r>
            <a:endParaRPr lang="en-US" sz="1200" b="0" i="0" u="none">
              <a:effectLst/>
              <a:cs typeface="Calibri Light"/>
            </a:endParaRPr>
          </a:p>
          <a:p>
            <a:pPr marL="768350" lvl="1" indent="-285750">
              <a:spcBef>
                <a:spcPct val="0"/>
              </a:spcBef>
              <a:buFont typeface="Arial" panose="020B0604020202020204" pitchFamily="34" charset="0"/>
              <a:buChar char="•"/>
              <a:defRPr/>
            </a:pPr>
            <a:r>
              <a:rPr lang="en-US" sz="1200" b="0" i="0" u="none">
                <a:effectLst/>
              </a:rPr>
              <a:t>You must have a SAM account to compete for federal contracts.</a:t>
            </a:r>
            <a:r>
              <a:rPr lang="en-US" sz="1200"/>
              <a:t> </a:t>
            </a:r>
            <a:endParaRPr lang="en-US" sz="1200" b="0" i="0" u="none">
              <a:effectLst/>
              <a:cs typeface="Calibri Light"/>
            </a:endParaRPr>
          </a:p>
          <a:p>
            <a:pPr marL="768350" lvl="1" indent="-285750">
              <a:spcBef>
                <a:spcPct val="0"/>
              </a:spcBef>
              <a:buFont typeface="Arial" panose="020B0604020202020204" pitchFamily="34" charset="0"/>
              <a:buChar char="•"/>
              <a:defRPr/>
            </a:pPr>
            <a:r>
              <a:rPr lang="en-US" sz="1200" b="0" i="0" u="none">
                <a:effectLst/>
              </a:rPr>
              <a:t>The government uses this system to store information about your business, including certifications, so it’s important to keep your SAM profile updated.</a:t>
            </a:r>
            <a:r>
              <a:rPr lang="en-US" sz="1200"/>
              <a:t> </a:t>
            </a:r>
            <a:endParaRPr lang="en-US" sz="1200" b="0" i="0" u="none">
              <a:effectLst/>
              <a:cs typeface="Calibri Light"/>
            </a:endParaRPr>
          </a:p>
          <a:p>
            <a:pPr marL="768350" lvl="1" indent="-285750" eaLnBrk="1" hangingPunct="1">
              <a:spcBef>
                <a:spcPct val="0"/>
              </a:spcBef>
              <a:buFont typeface="Arial" panose="020B0604020202020204" pitchFamily="34" charset="0"/>
              <a:buChar char="•"/>
              <a:defRPr/>
            </a:pPr>
            <a:r>
              <a:rPr lang="en-US" sz="1200" b="0" i="0" u="none">
                <a:effectLst/>
              </a:rPr>
              <a:t>Registration is free.</a:t>
            </a:r>
            <a:endParaRPr lang="en-US" sz="1200" b="0" i="0" u="none">
              <a:effectLst/>
              <a:cs typeface="Calibri Light"/>
            </a:endParaRPr>
          </a:p>
          <a:p>
            <a:pPr marL="768350" lvl="1" indent="-285750" eaLnBrk="1" hangingPunct="1">
              <a:spcBef>
                <a:spcPct val="0"/>
              </a:spcBef>
              <a:buFont typeface="Arial" panose="020B0604020202020204" pitchFamily="34" charset="0"/>
              <a:buChar char="•"/>
              <a:defRPr/>
            </a:pPr>
            <a:endParaRPr lang="en-US" sz="1200" b="0" i="0" u="none">
              <a:effectLst/>
            </a:endParaRPr>
          </a:p>
          <a:p>
            <a:pPr marL="285750" indent="-285750" defTabSz="965200" fontAlgn="base">
              <a:spcBef>
                <a:spcPct val="0"/>
              </a:spcBef>
              <a:spcAft>
                <a:spcPct val="0"/>
              </a:spcAft>
              <a:buFont typeface="Arial" panose="020B0604020202020204" pitchFamily="34" charset="0"/>
              <a:buChar char="•"/>
              <a:defRPr/>
            </a:pPr>
            <a:r>
              <a:rPr lang="en-US" altLang="en-US" sz="1200" b="0" u="none"/>
              <a:t>Research regulations and laws for federal contractors on SBA’s website.</a:t>
            </a:r>
            <a:r>
              <a:rPr lang="en-US" altLang="en-US" sz="1200"/>
              <a:t> </a:t>
            </a:r>
            <a:r>
              <a:rPr lang="en-US" altLang="en-US" sz="1200" b="0" u="none"/>
              <a:t> The link at bottom of the slide</a:t>
            </a:r>
            <a:r>
              <a:rPr lang="en-US" altLang="en-US" sz="1200"/>
              <a:t> </a:t>
            </a:r>
            <a:endParaRPr lang="en-US" altLang="en-US" sz="1200" b="0" u="none">
              <a:cs typeface="Calibri Light"/>
            </a:endParaRPr>
          </a:p>
          <a:p>
            <a:endParaRPr lang="en-US"/>
          </a:p>
        </p:txBody>
      </p:sp>
    </p:spTree>
    <p:extLst>
      <p:ext uri="{BB962C8B-B14F-4D97-AF65-F5344CB8AC3E}">
        <p14:creationId xmlns:p14="http://schemas.microsoft.com/office/powerpoint/2010/main" val="5653944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Segoe UI"/>
                <a:ea typeface="+mn-ea"/>
                <a:cs typeface="+mn-cs"/>
              </a:rPr>
              <a:t>Instructor Notes:</a:t>
            </a:r>
            <a:endParaRPr lang="en-US" sz="1400" b="1" i="0" kern="1200" dirty="0">
              <a:solidFill>
                <a:schemeClr val="tx1"/>
              </a:solidFill>
              <a:effectLst/>
              <a:latin typeface="Segoe UI"/>
              <a:cs typeface="Segoe UI"/>
            </a:endParaRPr>
          </a:p>
          <a:p>
            <a:endParaRPr lang="en-US" dirty="0"/>
          </a:p>
          <a:p>
            <a:pPr>
              <a:lnSpc>
                <a:spcPct val="150000"/>
              </a:lnSpc>
              <a:spcAft>
                <a:spcPts val="1800"/>
              </a:spcAft>
            </a:pPr>
            <a:r>
              <a:rPr lang="en-US" b="1" dirty="0"/>
              <a:t>Trademarks: </a:t>
            </a:r>
            <a:r>
              <a:rPr lang="en-US" b="0" dirty="0"/>
              <a:t>Protect brands — including their logos, taglines, and even company names — from imitation.</a:t>
            </a:r>
          </a:p>
          <a:p>
            <a:pPr>
              <a:lnSpc>
                <a:spcPct val="150000"/>
              </a:lnSpc>
              <a:spcAft>
                <a:spcPts val="600"/>
              </a:spcAft>
            </a:pPr>
            <a:r>
              <a:rPr lang="en-US" b="1" dirty="0"/>
              <a:t>Copyrights:  </a:t>
            </a:r>
            <a:r>
              <a:rPr lang="en-US" b="0" dirty="0"/>
              <a:t>Don’t require you to file anything; instead, it begins at the moment something is created. Federally registering your copyrighted work allows for your business to have a stronger case of ownership, should infringement occur.</a:t>
            </a:r>
          </a:p>
          <a:p>
            <a:pPr>
              <a:lnSpc>
                <a:spcPct val="150000"/>
              </a:lnSpc>
              <a:spcAft>
                <a:spcPts val="600"/>
              </a:spcAft>
            </a:pPr>
            <a:r>
              <a:rPr lang="en-US" b="1" dirty="0"/>
              <a:t>Patents:  </a:t>
            </a:r>
            <a:r>
              <a:rPr lang="en-US" b="0" dirty="0"/>
              <a:t>Can protect a company’s method or process for </a:t>
            </a:r>
            <a:r>
              <a:rPr lang="en-US" b="0" i="1" dirty="0">
                <a:solidFill>
                  <a:srgbClr val="C00000"/>
                </a:solidFill>
              </a:rPr>
              <a:t>up to 20 years </a:t>
            </a:r>
            <a:r>
              <a:rPr lang="en-US" b="0" dirty="0"/>
              <a:t>if the creation is deemed useful and novel.</a:t>
            </a:r>
          </a:p>
          <a:p>
            <a:pPr>
              <a:lnSpc>
                <a:spcPct val="150000"/>
              </a:lnSpc>
              <a:spcAft>
                <a:spcPts val="600"/>
              </a:spcAft>
            </a:pPr>
            <a:r>
              <a:rPr lang="en-US" b="1" dirty="0"/>
              <a:t>Trade Secrets: </a:t>
            </a:r>
            <a:r>
              <a:rPr lang="en-US" b="0" dirty="0"/>
              <a:t>Businesses that have commercially valuable information</a:t>
            </a:r>
          </a:p>
          <a:p>
            <a:pPr>
              <a:lnSpc>
                <a:spcPct val="150000"/>
              </a:lnSpc>
              <a:spcAft>
                <a:spcPts val="600"/>
              </a:spcAft>
            </a:pPr>
            <a:endParaRPr lang="en-US" b="0" dirty="0"/>
          </a:p>
          <a:p>
            <a:pPr>
              <a:lnSpc>
                <a:spcPct val="150000"/>
              </a:lnSpc>
              <a:spcAft>
                <a:spcPts val="600"/>
              </a:spcAft>
            </a:pPr>
            <a:r>
              <a:rPr lang="en-US" b="0" dirty="0"/>
              <a:t>We will delve into these in greater detail on the following slides.</a:t>
            </a:r>
          </a:p>
          <a:p>
            <a:pPr>
              <a:lnSpc>
                <a:spcPct val="150000"/>
              </a:lnSpc>
              <a:spcAft>
                <a:spcPts val="600"/>
              </a:spcAft>
            </a:pPr>
            <a:endParaRPr lang="en-US" b="0" dirty="0"/>
          </a:p>
          <a:p>
            <a:pPr>
              <a:lnSpc>
                <a:spcPct val="150000"/>
              </a:lnSpc>
              <a:spcAft>
                <a:spcPts val="600"/>
              </a:spcAft>
            </a:pPr>
            <a:r>
              <a:rPr lang="en-US" b="0" dirty="0"/>
              <a:t> </a:t>
            </a:r>
          </a:p>
        </p:txBody>
      </p:sp>
    </p:spTree>
    <p:extLst>
      <p:ext uri="{BB962C8B-B14F-4D97-AF65-F5344CB8AC3E}">
        <p14:creationId xmlns:p14="http://schemas.microsoft.com/office/powerpoint/2010/main" val="15493653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i="0" kern="1200" dirty="0">
                <a:solidFill>
                  <a:schemeClr val="tx1"/>
                </a:solidFill>
                <a:effectLst/>
                <a:latin typeface="Segoe UI"/>
                <a:ea typeface="+mn-ea"/>
                <a:cs typeface="+mn-cs"/>
              </a:rPr>
              <a:t>Instructor Notes:</a:t>
            </a:r>
            <a:endParaRPr lang="en-US" sz="1400" b="1" i="0" kern="1200" dirty="0">
              <a:solidFill>
                <a:schemeClr val="tx1"/>
              </a:solidFill>
              <a:effectLst/>
              <a:latin typeface="Segoe UI"/>
              <a:cs typeface="Segoe UI"/>
            </a:endParaRPr>
          </a:p>
          <a:p>
            <a:endParaRPr lang="en-US" sz="1400" b="1" i="0" kern="1200" dirty="0">
              <a:solidFill>
                <a:schemeClr val="tx1"/>
              </a:solidFill>
              <a:effectLst/>
              <a:latin typeface="Segoe UI"/>
              <a:ea typeface="+mn-ea"/>
              <a:cs typeface="+mn-cs"/>
            </a:endParaRPr>
          </a:p>
          <a:p>
            <a:pPr defTabSz="457200"/>
            <a:r>
              <a:rPr lang="en-US" sz="1200" b="1" i="0" kern="1200" dirty="0">
                <a:solidFill>
                  <a:schemeClr val="tx1"/>
                </a:solidFill>
                <a:effectLst/>
                <a:latin typeface="+mn-lt"/>
                <a:ea typeface="+mn-ea"/>
                <a:cs typeface="+mn-cs"/>
              </a:rPr>
              <a:t>Trademarks:</a:t>
            </a:r>
            <a:r>
              <a:rPr lang="en-US" sz="1200" b="1" dirty="0">
                <a:latin typeface="+mn-lt"/>
              </a:rPr>
              <a:t> </a:t>
            </a:r>
          </a:p>
          <a:p>
            <a:pPr marL="0" algn="l" defTabSz="457200" rtl="0" eaLnBrk="1" latinLnBrk="0" hangingPunct="1"/>
            <a:r>
              <a:rPr lang="en-US" sz="1200" dirty="0">
                <a:latin typeface="+mn-lt"/>
              </a:rPr>
              <a:t>Provides a legal protection for your brand. </a:t>
            </a:r>
            <a:r>
              <a:rPr lang="en-US" sz="1200" b="0" i="0" kern="1200" dirty="0">
                <a:solidFill>
                  <a:schemeClr val="tx1"/>
                </a:solidFill>
                <a:effectLst/>
                <a:latin typeface="+mn-lt"/>
                <a:ea typeface="+mn-ea"/>
                <a:cs typeface="+mn-cs"/>
              </a:rPr>
              <a:t>A trademark is very different from a patented invention or copyrighted creative work.</a:t>
            </a:r>
            <a:r>
              <a:rPr lang="en-US" sz="1200" dirty="0">
                <a:latin typeface="+mn-lt"/>
              </a:rPr>
              <a:t> </a:t>
            </a:r>
            <a:endParaRPr lang="en-US" sz="1200" b="0" i="0" kern="1200" dirty="0">
              <a:solidFill>
                <a:schemeClr val="tx1"/>
              </a:solidFill>
              <a:effectLst/>
              <a:latin typeface="+mn-lt"/>
              <a:cs typeface="Segoe UI"/>
            </a:endParaRPr>
          </a:p>
          <a:p>
            <a:endParaRPr lang="en-US" sz="1200" dirty="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Trademark rights may be used to prevent others from using a confusingly similar mark, but not to prevent others from making the same goods or from selling the same goods or services under a clearly different mark. Helps you guard against counterfeiting and fraud.</a:t>
            </a:r>
            <a:endParaRPr lang="en-US" sz="1200" b="0" i="0" kern="1200" dirty="0">
              <a:solidFill>
                <a:schemeClr val="tx1"/>
              </a:solidFill>
              <a:effectLst/>
              <a:latin typeface="+mn-lt"/>
              <a:cs typeface="Segoe UI"/>
            </a:endParaRPr>
          </a:p>
          <a:p>
            <a:br>
              <a:rPr lang="en-US" sz="1200" b="0" i="0" kern="1200" dirty="0">
                <a:effectLst/>
                <a:latin typeface="+mn-lt"/>
                <a:cs typeface="Segoe UI"/>
              </a:rPr>
            </a:br>
            <a:r>
              <a:rPr lang="en-US" sz="1200" b="0" i="0" kern="1200" dirty="0">
                <a:solidFill>
                  <a:schemeClr val="tx1"/>
                </a:solidFill>
                <a:effectLst/>
                <a:latin typeface="+mn-lt"/>
                <a:ea typeface="+mn-ea"/>
                <a:cs typeface="+mn-cs"/>
              </a:rPr>
              <a:t>A trademark can be any word, phrase, symbol, design, or a combination of these things that identifies your goods or services. It’s how customers recognize you in the marketplace and distinguish you from your competitors.</a:t>
            </a:r>
            <a:endParaRPr lang="en-US" sz="1200" b="0" i="0" kern="1200" dirty="0">
              <a:solidFill>
                <a:schemeClr val="tx1"/>
              </a:solidFill>
              <a:effectLst/>
              <a:latin typeface="+mn-lt"/>
              <a:cs typeface="Segoe UI"/>
            </a:endParaRPr>
          </a:p>
          <a:p>
            <a:br>
              <a:rPr lang="en-US" sz="1200" b="0" i="0" kern="1200" dirty="0">
                <a:effectLst/>
                <a:latin typeface="+mn-lt"/>
                <a:cs typeface="Segoe UI"/>
              </a:rPr>
            </a:br>
            <a:r>
              <a:rPr lang="en-US" sz="1200" b="0" i="0" kern="1200" dirty="0">
                <a:solidFill>
                  <a:schemeClr val="tx1"/>
                </a:solidFill>
                <a:effectLst/>
                <a:latin typeface="+mn-lt"/>
                <a:ea typeface="+mn-ea"/>
                <a:cs typeface="+mn-cs"/>
              </a:rPr>
              <a:t>The word “trademark” can refer to both trademarks and service marks. A trademark is used for goods, while a service mark is used for services.</a:t>
            </a:r>
            <a:endParaRPr lang="en-US" sz="1200" b="0" i="0" kern="1200" dirty="0">
              <a:solidFill>
                <a:schemeClr val="tx1"/>
              </a:solidFill>
              <a:effectLst/>
              <a:latin typeface="+mn-lt"/>
              <a:cs typeface="Segoe UI"/>
            </a:endParaRPr>
          </a:p>
          <a:p>
            <a:br>
              <a:rPr lang="en-US" sz="1200" b="1" i="0" kern="1200" dirty="0">
                <a:effectLst/>
                <a:latin typeface="+mn-lt"/>
                <a:cs typeface="Segoe UI"/>
              </a:rPr>
            </a:br>
            <a:r>
              <a:rPr lang="en-US" sz="1200" b="1" i="0" kern="1200" dirty="0">
                <a:solidFill>
                  <a:schemeClr val="tx1"/>
                </a:solidFill>
                <a:effectLst/>
                <a:latin typeface="+mn-lt"/>
                <a:ea typeface="+mn-ea"/>
                <a:cs typeface="+mn-cs"/>
              </a:rPr>
              <a:t>Using the trademark symbols TM, SM, and ®</a:t>
            </a:r>
            <a:endParaRPr lang="en-US" sz="1200" b="1" i="0" kern="1200" dirty="0">
              <a:solidFill>
                <a:schemeClr val="tx1"/>
              </a:solidFill>
              <a:effectLst/>
              <a:latin typeface="+mn-lt"/>
              <a:cs typeface="Segoe UI"/>
            </a:endParaRPr>
          </a:p>
          <a:p>
            <a:r>
              <a:rPr lang="en-US" sz="1200" b="0" i="0" kern="1200" dirty="0">
                <a:solidFill>
                  <a:schemeClr val="tx1"/>
                </a:solidFill>
                <a:effectLst/>
                <a:latin typeface="+mn-lt"/>
                <a:ea typeface="+mn-ea"/>
                <a:cs typeface="+mn-cs"/>
              </a:rPr>
              <a:t>Every time you use your trademark, you can use a symbol with it. The symbol lets consumers and competitors know you’re claiming the trademark as yours. You can use “TM” for goods or “SM” for services even if you haven’t filed an application to register your trademark.</a:t>
            </a:r>
            <a:endParaRPr lang="en-US" sz="1200" b="0" i="0" kern="1200" dirty="0">
              <a:solidFill>
                <a:schemeClr val="tx1"/>
              </a:solidFill>
              <a:effectLst/>
              <a:latin typeface="+mn-lt"/>
              <a:cs typeface="Segoe UI"/>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Once you register your trademark with us, use an ® with the trademark. You may use the registration symbol anywhere around the trademark, although most trademark owners use the symbol in a superscript or subscript manner to the right of the trademark. You may only use the registration symbol with the trademark for the goods or services listed in the federal trademark registration.</a:t>
            </a:r>
            <a:endParaRPr lang="en-US" sz="1200" b="0" i="0" kern="1200" dirty="0">
              <a:solidFill>
                <a:schemeClr val="tx1"/>
              </a:solidFill>
              <a:effectLst/>
              <a:latin typeface="+mn-lt"/>
              <a:cs typeface="Segoe UI"/>
            </a:endParaRPr>
          </a:p>
          <a:p>
            <a:endParaRPr lang="en-US" sz="1200" dirty="0">
              <a:latin typeface="+mn-lt"/>
            </a:endParaRPr>
          </a:p>
          <a:p>
            <a:r>
              <a:rPr lang="en-US" sz="1200" dirty="0">
                <a:latin typeface="+mn-lt"/>
              </a:rPr>
              <a:t>McDonald’s Story: </a:t>
            </a:r>
          </a:p>
          <a:p>
            <a:r>
              <a:rPr lang="en-US" sz="1200" dirty="0">
                <a:latin typeface="+mn-lt"/>
              </a:rPr>
              <a:t>When we see a restaurant bearing by the golden arches trademark, a yellow stylized letter “M”, we can easily predict the quality and consistency of the restaurant.</a:t>
            </a:r>
            <a:endParaRPr lang="en-US" sz="1200" dirty="0">
              <a:latin typeface="+mn-lt"/>
              <a:cs typeface="Calibri"/>
            </a:endParaRPr>
          </a:p>
          <a:p>
            <a:endParaRPr lang="en-US" sz="1200" dirty="0">
              <a:latin typeface="+mn-lt"/>
            </a:endParaRPr>
          </a:p>
          <a:p>
            <a:r>
              <a:rPr lang="en-US" sz="1200" dirty="0">
                <a:latin typeface="+mn-lt"/>
              </a:rPr>
              <a:t>The wording, McDonald’s is a registered service mark for restaurant services. The stylized “M” design is a registered trademark for coffee beverages; and downloadable multimedia files containing artwork relating to food, beverages, and restaurants authenticated by non-fungible tokens (NFTs). The stylized “M” design is also a registered service mark for franchise and restaurant services.  And, the wording, “McNuggets” is registered trademark for products made of poultry.  All of these marks are owned by </a:t>
            </a:r>
            <a:r>
              <a:rPr lang="en-US" sz="1200" dirty="0" err="1">
                <a:latin typeface="+mn-lt"/>
              </a:rPr>
              <a:t>McDonald’S</a:t>
            </a:r>
            <a:r>
              <a:rPr lang="en-US" sz="1200" dirty="0">
                <a:latin typeface="+mn-lt"/>
              </a:rPr>
              <a:t>-Corporation.</a:t>
            </a:r>
            <a:endParaRPr lang="en-US" sz="1200" dirty="0">
              <a:latin typeface="+mn-lt"/>
              <a:cs typeface="Calibri"/>
            </a:endParaRPr>
          </a:p>
          <a:p>
            <a:endParaRPr lang="en-US" sz="1200" dirty="0">
              <a:latin typeface="+mn-lt"/>
            </a:endParaRPr>
          </a:p>
          <a:p>
            <a:r>
              <a:rPr lang="en-US" sz="1200" dirty="0">
                <a:latin typeface="+mn-lt"/>
              </a:rPr>
              <a:t>So one business can own multiple trademarks for a variety goods and services. </a:t>
            </a:r>
            <a:endParaRPr lang="en-US" sz="1200" dirty="0">
              <a:latin typeface="+mn-lt"/>
              <a:cs typeface="Calibri"/>
            </a:endParaRPr>
          </a:p>
          <a:p>
            <a:endParaRPr lang="en-US" sz="1200" dirty="0">
              <a:latin typeface="+mn-lt"/>
            </a:endParaRPr>
          </a:p>
          <a:p>
            <a:pPr defTabSz="457200">
              <a:defRPr/>
            </a:pPr>
            <a:r>
              <a:rPr lang="en-US" sz="1200" kern="1200" dirty="0">
                <a:solidFill>
                  <a:schemeClr val="tx1"/>
                </a:solidFill>
                <a:effectLst/>
                <a:latin typeface="+mn-lt"/>
                <a:ea typeface="+mn-ea"/>
                <a:cs typeface="+mn-cs"/>
              </a:rPr>
              <a:t>The federal trademark registration process typically takes 12-18 months.</a:t>
            </a:r>
            <a:r>
              <a:rPr lang="en-US" sz="1200" dirty="0">
                <a:latin typeface="+mn-lt"/>
              </a:rPr>
              <a:t> </a:t>
            </a:r>
            <a:r>
              <a:rPr lang="en-US" sz="1200" kern="1200" dirty="0">
                <a:solidFill>
                  <a:schemeClr val="tx1"/>
                </a:solidFill>
                <a:effectLst/>
                <a:latin typeface="+mn-lt"/>
                <a:ea typeface="+mn-ea"/>
                <a:cs typeface="+mn-cs"/>
              </a:rPr>
              <a:t> To help you navigate this process, the USPTO provides a variety of </a:t>
            </a:r>
            <a:r>
              <a:rPr lang="en-US" sz="1200" kern="1200" dirty="0">
                <a:solidFill>
                  <a:schemeClr val="tx1"/>
                </a:solidFill>
                <a:effectLst/>
                <a:latin typeface="+mn-lt"/>
                <a:ea typeface="+mn-ea"/>
                <a:cs typeface="+mn-cs"/>
                <a:hlinkClick r:id="rId3"/>
              </a:rPr>
              <a:t>free resources</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4"/>
              </a:rPr>
              <a:t>events</a:t>
            </a:r>
            <a:r>
              <a:rPr lang="en-US" sz="1200" kern="1200" dirty="0">
                <a:solidFill>
                  <a:schemeClr val="tx1"/>
                </a:solidFill>
                <a:effectLst/>
                <a:latin typeface="+mn-lt"/>
                <a:ea typeface="+mn-ea"/>
                <a:cs typeface="+mn-cs"/>
              </a:rPr>
              <a:t>, and </a:t>
            </a:r>
            <a:r>
              <a:rPr lang="en-US" sz="1200" kern="1200" dirty="0">
                <a:solidFill>
                  <a:schemeClr val="tx1"/>
                </a:solidFill>
                <a:effectLst/>
                <a:latin typeface="+mn-lt"/>
                <a:ea typeface="+mn-ea"/>
                <a:cs typeface="+mn-cs"/>
                <a:hlinkClick r:id="rId5"/>
              </a:rPr>
              <a:t>systems to prevent trademark scams</a:t>
            </a:r>
            <a:r>
              <a:rPr lang="en-US" sz="1200" kern="1200" dirty="0">
                <a:solidFill>
                  <a:schemeClr val="tx1"/>
                </a:solidFill>
                <a:effectLst/>
                <a:latin typeface="+mn-lt"/>
                <a:ea typeface="+mn-ea"/>
                <a:cs typeface="+mn-cs"/>
              </a:rPr>
              <a:t>.</a:t>
            </a:r>
            <a:endParaRPr lang="en-US" sz="1200" kern="1200" dirty="0">
              <a:solidFill>
                <a:schemeClr val="tx1"/>
              </a:solidFill>
              <a:effectLst/>
              <a:latin typeface="+mn-lt"/>
              <a:cs typeface="Segoe UI"/>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defTabSz="457200">
              <a:defRPr/>
            </a:pPr>
            <a:r>
              <a:rPr lang="en-US" sz="1200" kern="1200" dirty="0">
                <a:solidFill>
                  <a:schemeClr val="tx1"/>
                </a:solidFill>
                <a:effectLst/>
                <a:latin typeface="+mn-lt"/>
                <a:ea typeface="+mn-ea"/>
                <a:cs typeface="+mn-cs"/>
              </a:rPr>
              <a:t>https://www.uspto.gov/sites/default/files/documents/TM-Registration-Toolkit.pdf</a:t>
            </a:r>
            <a:r>
              <a:rPr lang="en-US" sz="1200" dirty="0">
                <a:latin typeface="+mn-lt"/>
              </a:rPr>
              <a:t> </a:t>
            </a:r>
            <a:endParaRPr lang="en-US" sz="1200" kern="1200" dirty="0">
              <a:solidFill>
                <a:schemeClr val="tx1"/>
              </a:solidFill>
              <a:effectLst/>
              <a:latin typeface="+mn-lt"/>
              <a:cs typeface="Segoe UI"/>
            </a:endParaRPr>
          </a:p>
          <a:p>
            <a:endParaRPr lang="en-US" sz="1200" dirty="0">
              <a:latin typeface="+mn-lt"/>
            </a:endParaRPr>
          </a:p>
          <a:p>
            <a:pPr defTabSz="457200"/>
            <a:r>
              <a:rPr lang="en-US" sz="1200" b="1" i="0" kern="1200" dirty="0">
                <a:solidFill>
                  <a:schemeClr val="tx1"/>
                </a:solidFill>
                <a:effectLst/>
                <a:latin typeface="+mn-lt"/>
                <a:ea typeface="+mn-ea"/>
                <a:cs typeface="+mn-cs"/>
              </a:rPr>
              <a:t>Copyrights:</a:t>
            </a:r>
            <a:r>
              <a:rPr lang="en-US" sz="1200" b="1" dirty="0">
                <a:latin typeface="+mn-lt"/>
              </a:rPr>
              <a:t> </a:t>
            </a:r>
            <a:endParaRPr lang="en-US" sz="1200" b="1" i="0" kern="1200" dirty="0">
              <a:solidFill>
                <a:schemeClr val="tx1"/>
              </a:solidFill>
              <a:effectLst/>
              <a:latin typeface="+mn-lt"/>
              <a:cs typeface="Segoe UI"/>
            </a:endParaRPr>
          </a:p>
          <a:p>
            <a:pPr defTabSz="457200">
              <a:defRPr/>
            </a:pPr>
            <a:r>
              <a:rPr lang="en-US" sz="1200" dirty="0">
                <a:latin typeface="+mn-lt"/>
              </a:rPr>
              <a:t>Copyright is </a:t>
            </a:r>
            <a:r>
              <a:rPr lang="en-US" altLang="en-US" sz="1200" dirty="0">
                <a:latin typeface="+mn-lt"/>
              </a:rPr>
              <a:t>a form of protection provided by the laws of the United States to the authors of “original works of authorship”, including literary, dramatic, musical, artistic, and certain other intellectual works.  </a:t>
            </a:r>
            <a:endParaRPr lang="en-US" altLang="en-US" sz="1200" dirty="0">
              <a:latin typeface="+mn-lt"/>
              <a:cs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latin typeface="+mn-lt"/>
            </a:endParaRPr>
          </a:p>
          <a:p>
            <a:pPr defTabSz="457200">
              <a:defRPr/>
            </a:pPr>
            <a:r>
              <a:rPr lang="en-US" altLang="en-US" sz="1200" dirty="0">
                <a:latin typeface="+mn-lt"/>
              </a:rPr>
              <a:t>Copyright is a bundle of rights that gives the owner the right to </a:t>
            </a:r>
            <a:endParaRPr lang="en-US" altLang="en-US" sz="1200" dirty="0">
              <a:latin typeface="+mn-lt"/>
              <a:cs typeface="Calibri"/>
            </a:endParaRPr>
          </a:p>
          <a:p>
            <a:pPr marL="228600" indent="-228600" defTabSz="457200">
              <a:buFontTx/>
              <a:buAutoNum type="arabicParenR"/>
              <a:defRPr/>
            </a:pPr>
            <a:r>
              <a:rPr lang="en-US" altLang="en-US" sz="1200" dirty="0">
                <a:latin typeface="+mn-lt"/>
              </a:rPr>
              <a:t>Make copies </a:t>
            </a:r>
            <a:endParaRPr lang="en-US" altLang="en-US" sz="1200" dirty="0">
              <a:latin typeface="+mn-lt"/>
              <a:cs typeface="Calibri"/>
            </a:endParaRPr>
          </a:p>
          <a:p>
            <a:pPr marL="228600" indent="-228600" defTabSz="457200">
              <a:buFontTx/>
              <a:buAutoNum type="arabicParenR"/>
              <a:defRPr/>
            </a:pPr>
            <a:r>
              <a:rPr lang="en-US" altLang="en-US" sz="1200" dirty="0">
                <a:latin typeface="+mn-lt"/>
              </a:rPr>
              <a:t>Prepare derivative works (modifying) </a:t>
            </a:r>
            <a:endParaRPr lang="en-US" altLang="en-US" sz="1200" dirty="0">
              <a:latin typeface="+mn-lt"/>
              <a:cs typeface="Calibri"/>
            </a:endParaRPr>
          </a:p>
          <a:p>
            <a:pPr marL="228600" indent="-228600" defTabSz="457200">
              <a:buFontTx/>
              <a:buAutoNum type="arabicParenR"/>
              <a:defRPr/>
            </a:pPr>
            <a:r>
              <a:rPr lang="en-US" altLang="en-US" sz="1200" dirty="0">
                <a:latin typeface="+mn-lt"/>
              </a:rPr>
              <a:t>Distribute copies </a:t>
            </a:r>
            <a:endParaRPr lang="en-US" altLang="en-US" sz="1200" dirty="0">
              <a:latin typeface="+mn-lt"/>
              <a:cs typeface="Calibri"/>
            </a:endParaRP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en-US" altLang="en-US" sz="1200" dirty="0">
                <a:latin typeface="+mn-lt"/>
              </a:rPr>
              <a:t>Perform the work publicly and</a:t>
            </a:r>
            <a:endParaRPr lang="en-US" altLang="en-US" sz="1200" dirty="0">
              <a:latin typeface="+mn-lt"/>
              <a:cs typeface="Calibri"/>
            </a:endParaRP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en-US" altLang="en-US" sz="1200" dirty="0">
                <a:latin typeface="+mn-lt"/>
              </a:rPr>
              <a:t>Display the work publicly</a:t>
            </a:r>
            <a:endParaRPr lang="en-US" altLang="en-US" sz="1200" dirty="0">
              <a:latin typeface="+mn-lt"/>
              <a:cs typeface="Calibri"/>
            </a:endParaRP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endParaRPr lang="en-US" sz="1200" dirty="0">
              <a:latin typeface="+mn-lt"/>
            </a:endParaRPr>
          </a:p>
          <a:p>
            <a:pPr defTabSz="457200">
              <a:defRPr/>
            </a:pPr>
            <a:r>
              <a:rPr lang="en-US" altLang="en-US" sz="1200" dirty="0">
                <a:latin typeface="+mn-lt"/>
              </a:rPr>
              <a:t>Works protected by copyright include: </a:t>
            </a:r>
            <a:endParaRPr lang="en-US" sz="1200" dirty="0">
              <a:latin typeface="+mn-lt"/>
            </a:endParaRPr>
          </a:p>
          <a:p>
            <a:pPr marL="228600" indent="-228600">
              <a:buFont typeface="+mj-lt"/>
              <a:buAutoNum type="arabicPeriod"/>
            </a:pPr>
            <a:r>
              <a:rPr lang="en-US" altLang="en-US" sz="1200" dirty="0">
                <a:latin typeface="+mn-lt"/>
              </a:rPr>
              <a:t>Logos</a:t>
            </a:r>
            <a:endParaRPr lang="en-US" altLang="en-US" sz="1200" dirty="0">
              <a:latin typeface="+mn-lt"/>
              <a:cs typeface="Calibri"/>
            </a:endParaRPr>
          </a:p>
          <a:p>
            <a:pPr marL="228600" indent="-228600">
              <a:buFont typeface="+mj-lt"/>
              <a:buAutoNum type="arabicPeriod"/>
            </a:pPr>
            <a:r>
              <a:rPr lang="en-US" altLang="en-US" sz="1200" dirty="0">
                <a:latin typeface="+mn-lt"/>
              </a:rPr>
              <a:t>Product design and packaging</a:t>
            </a:r>
            <a:endParaRPr lang="en-US" altLang="en-US" sz="1200" dirty="0">
              <a:latin typeface="+mn-lt"/>
              <a:cs typeface="Calibri"/>
            </a:endParaRPr>
          </a:p>
          <a:p>
            <a:pPr marL="228600" indent="-228600">
              <a:buFont typeface="+mj-lt"/>
              <a:buAutoNum type="arabicPeriod"/>
            </a:pPr>
            <a:r>
              <a:rPr lang="en-US" altLang="en-US" sz="1200" dirty="0">
                <a:latin typeface="+mn-lt"/>
              </a:rPr>
              <a:t>Advertising and promotional materials</a:t>
            </a:r>
            <a:endParaRPr lang="en-US" altLang="en-US" sz="1200" dirty="0">
              <a:latin typeface="+mn-lt"/>
              <a:cs typeface="Calibri"/>
            </a:endParaRPr>
          </a:p>
          <a:p>
            <a:pPr marL="228600" indent="-228600">
              <a:buFont typeface="+mj-lt"/>
              <a:buAutoNum type="arabicPeriod"/>
            </a:pPr>
            <a:r>
              <a:rPr lang="en-US" altLang="en-US" sz="1200" dirty="0">
                <a:latin typeface="+mn-lt"/>
              </a:rPr>
              <a:t>Instruction manuals</a:t>
            </a:r>
            <a:endParaRPr lang="en-US" altLang="en-US" sz="1200" dirty="0">
              <a:latin typeface="+mn-lt"/>
              <a:cs typeface="Calibri"/>
            </a:endParaRPr>
          </a:p>
          <a:p>
            <a:pPr marL="228600" indent="-228600">
              <a:buFont typeface="+mj-lt"/>
              <a:buAutoNum type="arabicPeriod"/>
            </a:pPr>
            <a:r>
              <a:rPr lang="en-US" altLang="en-US" sz="1200" dirty="0">
                <a:latin typeface="+mn-lt"/>
              </a:rPr>
              <a:t>Educational materials</a:t>
            </a:r>
            <a:endParaRPr lang="en-US" altLang="en-US" sz="1200" dirty="0">
              <a:latin typeface="+mn-lt"/>
              <a:cs typeface="Calibri"/>
            </a:endParaRPr>
          </a:p>
          <a:p>
            <a:pPr marL="228600" indent="-228600">
              <a:buFont typeface="+mj-lt"/>
              <a:buAutoNum type="arabicPeriod"/>
            </a:pPr>
            <a:r>
              <a:rPr lang="en-US" altLang="en-US" sz="1200" dirty="0">
                <a:latin typeface="+mn-lt"/>
              </a:rPr>
              <a:t>Software source code</a:t>
            </a:r>
            <a:endParaRPr lang="en-US" altLang="en-US" sz="1200" dirty="0">
              <a:latin typeface="+mn-lt"/>
              <a:cs typeface="Calibri"/>
            </a:endParaRPr>
          </a:p>
          <a:p>
            <a:pPr marL="228600" indent="-228600">
              <a:buFont typeface="+mj-lt"/>
              <a:buAutoNum type="arabicPeriod"/>
            </a:pPr>
            <a:r>
              <a:rPr lang="en-US" altLang="en-US" sz="1200" dirty="0">
                <a:latin typeface="+mn-lt"/>
              </a:rPr>
              <a:t>Website content</a:t>
            </a:r>
            <a:endParaRPr lang="en-US" altLang="en-US" sz="1200" dirty="0">
              <a:latin typeface="+mn-lt"/>
              <a:cs typeface="Calibri"/>
            </a:endParaRPr>
          </a:p>
          <a:p>
            <a:pPr marL="228600" indent="-228600">
              <a:buFont typeface="+mj-lt"/>
              <a:buAutoNum type="arabicPeriod"/>
            </a:pPr>
            <a:endParaRPr lang="en-US" altLang="en-US" sz="1200" dirty="0">
              <a:latin typeface="+mn-lt"/>
            </a:endParaRPr>
          </a:p>
          <a:p>
            <a:pPr marL="0" indent="0">
              <a:buFont typeface="+mj-lt"/>
              <a:buNone/>
            </a:pPr>
            <a:r>
              <a:rPr lang="en-US" sz="1200" b="0" i="0" kern="1200" dirty="0">
                <a:solidFill>
                  <a:schemeClr val="tx1"/>
                </a:solidFill>
                <a:effectLst/>
                <a:latin typeface="+mn-lt"/>
                <a:ea typeface="+mn-ea"/>
                <a:cs typeface="+mn-cs"/>
              </a:rPr>
              <a:t>Under copyright law, the “work for hire” doctrine governs ownership of copyrightable works created by employees. Under the work for hire doctrine, the employer is considered the author of works created within an employee’s scope of employment.</a:t>
            </a:r>
            <a:endParaRPr lang="en-US" sz="1200" b="0" i="0" kern="1200" dirty="0">
              <a:solidFill>
                <a:schemeClr val="tx1"/>
              </a:solidFill>
              <a:effectLst/>
              <a:latin typeface="+mn-lt"/>
              <a:cs typeface="Segoe UI"/>
            </a:endParaRPr>
          </a:p>
          <a:p>
            <a:endParaRPr lang="en-US" dirty="0"/>
          </a:p>
        </p:txBody>
      </p:sp>
    </p:spTree>
    <p:extLst>
      <p:ext uri="{BB962C8B-B14F-4D97-AF65-F5344CB8AC3E}">
        <p14:creationId xmlns:p14="http://schemas.microsoft.com/office/powerpoint/2010/main" val="3388887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i="0" kern="1200">
                <a:solidFill>
                  <a:schemeClr val="tx1"/>
                </a:solidFill>
                <a:effectLst/>
                <a:latin typeface="+mn-lt"/>
                <a:ea typeface="+mn-ea"/>
                <a:cs typeface="+mn-cs"/>
              </a:rPr>
              <a:t>Instructor Notes:</a:t>
            </a:r>
          </a:p>
          <a:p>
            <a:endParaRPr lang="en-US" sz="1200" b="1"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Patents:</a:t>
            </a:r>
          </a:p>
          <a:p>
            <a:pPr marL="285750" indent="-285750">
              <a:buFont typeface="Arial" panose="020B0604020202020204" pitchFamily="34" charset="0"/>
              <a:buChar char="•"/>
            </a:pPr>
            <a:r>
              <a:rPr lang="en-US" sz="1200" b="0" i="0" kern="1200">
                <a:solidFill>
                  <a:schemeClr val="tx1"/>
                </a:solidFill>
                <a:effectLst/>
                <a:latin typeface="+mn-lt"/>
                <a:ea typeface="+mn-ea"/>
                <a:cs typeface="+mn-cs"/>
              </a:rPr>
              <a:t>A patent for an invention is the grant of a property right to an inventor, issued by the United States Patent and Trademark Office. </a:t>
            </a:r>
          </a:p>
          <a:p>
            <a:pPr marL="285750" indent="-285750">
              <a:buFont typeface="Arial" panose="020B0604020202020204" pitchFamily="34" charset="0"/>
              <a:buChar char="•"/>
            </a:pPr>
            <a:r>
              <a:rPr lang="en-US" sz="1200" b="0" i="0" kern="1200">
                <a:solidFill>
                  <a:schemeClr val="tx1"/>
                </a:solidFill>
                <a:effectLst/>
                <a:latin typeface="+mn-lt"/>
                <a:ea typeface="+mn-ea"/>
                <a:cs typeface="+mn-cs"/>
              </a:rPr>
              <a:t>The right conferred by the patent grant is, in the language of the statute and of the grant itself, “the right to exclude others from making, using, offering for sale, or selling” the invention in the United States or “importing” the invention into the United States.</a:t>
            </a:r>
          </a:p>
          <a:p>
            <a:pPr marL="285750" indent="-285750">
              <a:buFont typeface="Arial" panose="020B0604020202020204" pitchFamily="34" charset="0"/>
              <a:buChar char="•"/>
            </a:pPr>
            <a:r>
              <a:rPr lang="en-US" sz="1200" b="0" i="0" kern="1200">
                <a:solidFill>
                  <a:schemeClr val="tx1"/>
                </a:solidFill>
                <a:effectLst/>
                <a:latin typeface="+mn-lt"/>
                <a:ea typeface="+mn-ea"/>
                <a:cs typeface="+mn-cs"/>
              </a:rPr>
              <a:t>What is granted is not the right to make, use, offer for sale, sell or import, but the right to exclude others from making, using, offering for sale, selling or importing the invention. </a:t>
            </a:r>
          </a:p>
          <a:p>
            <a:pPr marL="285750" indent="-285750">
              <a:buFont typeface="Arial" panose="020B0604020202020204" pitchFamily="34" charset="0"/>
              <a:buChar char="•"/>
            </a:pPr>
            <a:r>
              <a:rPr lang="en-US" sz="1200" b="0" i="0" kern="1200">
                <a:solidFill>
                  <a:schemeClr val="tx1"/>
                </a:solidFill>
                <a:effectLst/>
                <a:latin typeface="+mn-lt"/>
                <a:ea typeface="+mn-ea"/>
                <a:cs typeface="+mn-cs"/>
              </a:rPr>
              <a:t>Once a patent is issued, the patentee must enforce the patent without aid of the USPTO.</a:t>
            </a:r>
          </a:p>
          <a:p>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Trade Secrets: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To meet the most common definition of a trade secret, the information must be </a:t>
            </a:r>
            <a:r>
              <a:rPr lang="en-US" sz="1200">
                <a:solidFill>
                  <a:schemeClr val="tx2"/>
                </a:solidFill>
                <a:latin typeface="+mn-lt"/>
              </a:rPr>
              <a:t>used in business</a:t>
            </a:r>
            <a:r>
              <a:rPr lang="en-US" sz="1200">
                <a:latin typeface="+mn-lt"/>
              </a:rPr>
              <a:t>, and give an opportunity to obtain an economic advantage over competitors who do not know or use it. </a:t>
            </a:r>
          </a:p>
          <a:p>
            <a:pPr marL="285750" indent="-285750">
              <a:buFont typeface="Arial" panose="020B0604020202020204" pitchFamily="34" charset="0"/>
              <a:buChar char="•"/>
            </a:pPr>
            <a:r>
              <a:rPr lang="en-US" sz="1200">
                <a:latin typeface="+mn-lt"/>
              </a:rPr>
              <a:t>A trade secret last as long as it remains a secret.</a:t>
            </a:r>
          </a:p>
          <a:p>
            <a:pPr marL="285750" indent="-285750">
              <a:buFont typeface="Arial" panose="020B0604020202020204" pitchFamily="34" charset="0"/>
              <a:buChar char="•"/>
            </a:pPr>
            <a:r>
              <a:rPr lang="en-US" sz="1200">
                <a:latin typeface="+mn-lt"/>
              </a:rPr>
              <a:t>You must take reasonable steps to keep your trade secret secure.</a:t>
            </a:r>
          </a:p>
          <a:p>
            <a:pPr marL="285750" indent="-285750">
              <a:buFont typeface="Arial" panose="020B0604020202020204" pitchFamily="34" charset="0"/>
              <a:buChar char="•"/>
            </a:pPr>
            <a:r>
              <a:rPr lang="en-US" sz="1200">
                <a:latin typeface="+mn-lt"/>
              </a:rPr>
              <a:t>There may be legal remedies should someone steal your trade secret.</a:t>
            </a:r>
          </a:p>
          <a:p>
            <a:pPr marL="285750" indent="-285750">
              <a:buFont typeface="Arial" panose="020B0604020202020204" pitchFamily="34" charset="0"/>
              <a:buChar char="•"/>
            </a:pPr>
            <a:r>
              <a:rPr lang="en-US" sz="1200">
                <a:latin typeface="+mn-lt"/>
              </a:rPr>
              <a:t>Someone may reverse engineer what you have done.</a:t>
            </a:r>
          </a:p>
          <a:p>
            <a:pPr marL="0" marR="0" indent="0" algn="l" defTabSz="914400" rtl="0" eaLnBrk="1" fontAlgn="auto" latinLnBrk="0" hangingPunct="1">
              <a:buClrTx/>
              <a:buSzTx/>
              <a:buFont typeface="Arial" panose="020B0604020202020204" pitchFamily="34" charset="0"/>
              <a:buNone/>
              <a:tabLst/>
              <a:defRPr/>
            </a:pPr>
            <a:r>
              <a:rPr lang="en-US" sz="1200">
                <a:latin typeface="+mn-lt"/>
              </a:rPr>
              <a:t>Examples include: </a:t>
            </a:r>
          </a:p>
          <a:p>
            <a:pPr marL="285750" marR="0" indent="-285750" algn="l" defTabSz="914400" rtl="0" eaLnBrk="1" fontAlgn="auto" latinLnBrk="0" hangingPunct="1">
              <a:buClrTx/>
              <a:buSzTx/>
              <a:buFont typeface="Arial" panose="020B0604020202020204" pitchFamily="34" charset="0"/>
              <a:buChar char="•"/>
              <a:tabLst/>
              <a:defRPr/>
            </a:pPr>
            <a:r>
              <a:rPr lang="en-US" sz="1200" kern="1200">
                <a:solidFill>
                  <a:schemeClr val="tx1"/>
                </a:solidFill>
                <a:effectLst/>
                <a:latin typeface="+mn-lt"/>
                <a:ea typeface="+mn-ea"/>
                <a:cs typeface="+mn-cs"/>
              </a:rPr>
              <a:t>Krispy Kreme got its start in 1937 when Vernon Rudolph bought a secret yeast-raised doughnut recipe from a French chef from New Orleans.  </a:t>
            </a:r>
          </a:p>
          <a:p>
            <a:pPr marL="285750" marR="0" indent="-285750" algn="l" defTabSz="914400" rtl="0" eaLnBrk="1" fontAlgn="auto" latinLnBrk="0" hangingPunct="1">
              <a:buClrTx/>
              <a:buSzTx/>
              <a:buFont typeface="Arial" panose="020B0604020202020204" pitchFamily="34" charset="0"/>
              <a:buChar char="•"/>
              <a:tabLst/>
              <a:defRPr/>
            </a:pPr>
            <a:r>
              <a:rPr lang="en-US" sz="1200" kern="1200">
                <a:solidFill>
                  <a:schemeClr val="tx1"/>
                </a:solidFill>
                <a:effectLst/>
                <a:latin typeface="+mn-lt"/>
                <a:ea typeface="+mn-ea"/>
                <a:cs typeface="+mn-cs"/>
              </a:rPr>
              <a:t>Coca-Cola's formula for classic coke.</a:t>
            </a:r>
            <a:r>
              <a:rPr lang="en-US" sz="1200" kern="1200" baseline="0">
                <a:solidFill>
                  <a:schemeClr val="tx1"/>
                </a:solidFill>
                <a:effectLst/>
                <a:latin typeface="+mn-lt"/>
                <a:ea typeface="+mn-ea"/>
                <a:cs typeface="+mn-cs"/>
              </a:rPr>
              <a:t> </a:t>
            </a:r>
          </a:p>
          <a:p>
            <a:pPr marL="285750" marR="0" indent="-285750" algn="l" defTabSz="914400" rtl="0" eaLnBrk="1" fontAlgn="auto" latinLnBrk="0" hangingPunct="1">
              <a:buClrTx/>
              <a:buSzTx/>
              <a:buFont typeface="Arial" panose="020B0604020202020204" pitchFamily="34" charset="0"/>
              <a:buChar char="•"/>
              <a:tabLst/>
              <a:defRPr/>
            </a:pPr>
            <a:r>
              <a:rPr lang="en-US" sz="1200" kern="1200" baseline="0">
                <a:solidFill>
                  <a:schemeClr val="tx1"/>
                </a:solidFill>
                <a:effectLst/>
                <a:latin typeface="+mn-lt"/>
                <a:ea typeface="+mn-ea"/>
                <a:cs typeface="+mn-cs"/>
              </a:rPr>
              <a:t>KFC’s 11 herbs and spices is a trade secret, in fact, even the head chef at KFC has claimed that he doesn’t know what is in the 11 herbs and spices</a:t>
            </a:r>
          </a:p>
          <a:p>
            <a:pPr marL="0" marR="0" indent="0" algn="l" defTabSz="914400" rtl="0" eaLnBrk="1" fontAlgn="auto" latinLnBrk="0" hangingPunct="1">
              <a:buClrTx/>
              <a:buSzTx/>
              <a:buFontTx/>
              <a:buNone/>
              <a:tabLst/>
              <a:defRPr/>
            </a:pPr>
            <a:r>
              <a:rPr lang="en-US" sz="1200" kern="1200">
                <a:solidFill>
                  <a:schemeClr val="tx1"/>
                </a:solidFill>
                <a:effectLst/>
                <a:latin typeface="+mn-lt"/>
                <a:ea typeface="+mn-ea"/>
                <a:cs typeface="+mn-cs"/>
              </a:rPr>
              <a:t>Some products may be protected by both patents and trade secrets.  A structural configuration of ink pen may be patented, and the formulation of ink in the pen may be a trade secret</a:t>
            </a:r>
            <a:r>
              <a:rPr lang="en-US" sz="1200" kern="1200" baseline="0">
                <a:solidFill>
                  <a:schemeClr val="tx1"/>
                </a:solidFill>
                <a:effectLst/>
                <a:latin typeface="+mn-lt"/>
                <a:ea typeface="+mn-ea"/>
                <a:cs typeface="+mn-cs"/>
              </a:rPr>
              <a:t>. </a:t>
            </a:r>
          </a:p>
          <a:p>
            <a:pPr marL="0" marR="0" indent="0" algn="l" defTabSz="914400" rtl="0" eaLnBrk="1" fontAlgn="auto" latinLnBrk="0" hangingPunct="1">
              <a:buClrTx/>
              <a:buSzTx/>
              <a:buFontTx/>
              <a:buNone/>
              <a:tabLst/>
              <a:defRPr/>
            </a:pPr>
            <a:r>
              <a:rPr lang="en-US" sz="1200" b="1">
                <a:latin typeface="+mn-lt"/>
              </a:rPr>
              <a:t>Patents and trade secrets in many ways are really different sides of the same coin.</a:t>
            </a:r>
            <a:endParaRPr lang="en-US" sz="1200" b="1" kern="1200">
              <a:solidFill>
                <a:schemeClr val="tx1"/>
              </a:solidFill>
              <a:effectLst/>
              <a:latin typeface="+mn-lt"/>
              <a:ea typeface="+mn-ea"/>
              <a:cs typeface="+mn-cs"/>
            </a:endParaRPr>
          </a:p>
          <a:p>
            <a:endParaRPr lang="en-US"/>
          </a:p>
        </p:txBody>
      </p:sp>
    </p:spTree>
    <p:extLst>
      <p:ext uri="{BB962C8B-B14F-4D97-AF65-F5344CB8AC3E}">
        <p14:creationId xmlns:p14="http://schemas.microsoft.com/office/powerpoint/2010/main" val="3458207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defRPr/>
            </a:pPr>
            <a:r>
              <a:rPr lang="en-US" altLang="en-US" sz="1400" b="1"/>
              <a:t>Instructor Notes:</a:t>
            </a:r>
          </a:p>
          <a:p>
            <a:pPr eaLnBrk="1" hangingPunct="1">
              <a:spcBef>
                <a:spcPct val="0"/>
              </a:spcBef>
              <a:defRPr/>
            </a:pPr>
            <a:endParaRPr lang="en-US" altLang="en-US"/>
          </a:p>
          <a:p>
            <a:r>
              <a:rPr lang="en-US" sz="1200"/>
              <a:t>The USPTO and USCO websites are a great source of information regarding IP topics. Subscribe to updates via email for the latest information on educational programming, resources and services. </a:t>
            </a:r>
          </a:p>
          <a:p>
            <a:endParaRPr lang="en-US" sz="1200"/>
          </a:p>
          <a:p>
            <a:r>
              <a:rPr lang="en-US" sz="1200" b="0" i="0" kern="1200">
                <a:solidFill>
                  <a:schemeClr val="tx1"/>
                </a:solidFill>
                <a:effectLst/>
                <a:ea typeface="+mn-ea"/>
                <a:cs typeface="+mn-cs"/>
              </a:rPr>
              <a:t>The United States Patent and Trademark Office (USPTO) offers a wide range of intellectual property (IP) resources, including application assistance, education and training, and other services that support the full spectrum of customers—from independent patent and trademark filers, to attorneys and business advisors in both the private and public sectors. </a:t>
            </a:r>
          </a:p>
        </p:txBody>
      </p:sp>
    </p:spTree>
    <p:extLst>
      <p:ext uri="{BB962C8B-B14F-4D97-AF65-F5344CB8AC3E}">
        <p14:creationId xmlns:p14="http://schemas.microsoft.com/office/powerpoint/2010/main" val="35006807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sz="1400" b="1" dirty="0"/>
              <a:t>Instructor Notes:</a:t>
            </a:r>
            <a:endParaRPr lang="en-US" altLang="en-US" sz="1400" b="1" dirty="0">
              <a:cs typeface="Calibri"/>
            </a:endParaRPr>
          </a:p>
          <a:p>
            <a:pPr eaLnBrk="1" hangingPunct="1">
              <a:spcBef>
                <a:spcPct val="0"/>
              </a:spcBef>
            </a:pPr>
            <a:endParaRPr lang="en-US" altLang="en-US" dirty="0"/>
          </a:p>
          <a:p>
            <a:pPr eaLnBrk="1" hangingPunct="1">
              <a:spcBef>
                <a:spcPct val="0"/>
              </a:spcBef>
            </a:pPr>
            <a:r>
              <a:rPr lang="en-US" altLang="en-US" sz="1200" b="0" dirty="0"/>
              <a:t>Emphasize again “Don’t shortcut the process”</a:t>
            </a:r>
          </a:p>
          <a:p>
            <a:endParaRPr lang="en-US" sz="1200" dirty="0"/>
          </a:p>
          <a:p>
            <a:pPr eaLnBrk="1" hangingPunct="1">
              <a:spcBef>
                <a:spcPct val="0"/>
              </a:spcBef>
            </a:pPr>
            <a:r>
              <a:rPr lang="en-US" altLang="en-US" sz="1200" b="0" dirty="0"/>
              <a:t>As a summary, emphasize that this module is an introduction to legal entity aspect of small business ownership. </a:t>
            </a:r>
            <a:r>
              <a:rPr lang="en-US" altLang="en-US" sz="1200" dirty="0"/>
              <a:t>It is Intended so that participants are more equipped to know what questions to ask </a:t>
            </a:r>
            <a:r>
              <a:rPr lang="en-US" altLang="en-US" sz="1200" b="0" dirty="0"/>
              <a:t>of their BAIL team.  It is not legal or accounting advice.  Seeking advice also depends on their personal comfort level.</a:t>
            </a:r>
          </a:p>
          <a:p>
            <a:pPr eaLnBrk="1" hangingPunct="1">
              <a:spcBef>
                <a:spcPct val="0"/>
              </a:spcBef>
            </a:pPr>
            <a:endParaRPr lang="en-US" altLang="en-US" sz="1200" b="0" dirty="0"/>
          </a:p>
          <a:p>
            <a:pPr eaLnBrk="1" hangingPunct="1">
              <a:spcBef>
                <a:spcPct val="0"/>
              </a:spcBef>
            </a:pPr>
            <a:r>
              <a:rPr lang="en-US" altLang="en-US" sz="1200" b="0" dirty="0"/>
              <a:t>Businesses should be transparent when meeting with their lawyer, accountant, insurance agent – In order to advise you, they will need to know about your business in the context of your life.  For example, a business owner whose spouse is dealing with lawyers over alimony/child support, may want to be the 100% owner of a corporation vs 51/49.</a:t>
            </a:r>
            <a:r>
              <a:rPr lang="en-US" altLang="en-US" sz="1100" b="0" dirty="0"/>
              <a:t>  </a:t>
            </a:r>
          </a:p>
          <a:p>
            <a:endParaRPr lang="en-US" dirty="0"/>
          </a:p>
        </p:txBody>
      </p:sp>
    </p:spTree>
    <p:extLst>
      <p:ext uri="{BB962C8B-B14F-4D97-AF65-F5344CB8AC3E}">
        <p14:creationId xmlns:p14="http://schemas.microsoft.com/office/powerpoint/2010/main" val="14313192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defRPr/>
            </a:pPr>
            <a:r>
              <a:rPr lang="en-US" altLang="en-US" sz="1400" b="1"/>
              <a:t>Q&amp;A  / Discussion Starters:</a:t>
            </a:r>
          </a:p>
          <a:p>
            <a:pPr>
              <a:spcBef>
                <a:spcPct val="0"/>
              </a:spcBef>
              <a:defRPr/>
            </a:pPr>
            <a:endParaRPr lang="en-US" altLang="en-US" b="1">
              <a:cs typeface="Calibri"/>
            </a:endParaRPr>
          </a:p>
          <a:p>
            <a:pPr eaLnBrk="1" hangingPunct="1">
              <a:spcBef>
                <a:spcPct val="0"/>
              </a:spcBef>
              <a:defRPr/>
            </a:pPr>
            <a:r>
              <a:rPr lang="en-US" altLang="en-US" sz="1200" b="0"/>
              <a:t>The below questions (or other questions you may choose to use instead) are provided to either ask in question form or use to start a dialogue, and are meant to help check for understanding and emphasize key information from the module they have just completed.  </a:t>
            </a:r>
          </a:p>
          <a:p>
            <a:pPr eaLnBrk="1" hangingPunct="1">
              <a:spcBef>
                <a:spcPct val="0"/>
              </a:spcBef>
              <a:defRPr/>
            </a:pPr>
            <a:endParaRPr lang="en-US" altLang="en-US" sz="1200" b="1">
              <a:cs typeface="Calibri"/>
            </a:endParaRPr>
          </a:p>
          <a:p>
            <a:pPr eaLnBrk="1" hangingPunct="1">
              <a:spcBef>
                <a:spcPct val="0"/>
              </a:spcBef>
              <a:defRPr/>
            </a:pPr>
            <a:r>
              <a:rPr lang="en-US" altLang="en-US" sz="1200" b="1"/>
              <a:t>Question 1</a:t>
            </a:r>
            <a:r>
              <a:rPr lang="en-US" altLang="en-US" sz="1200"/>
              <a:t>: </a:t>
            </a:r>
            <a:r>
              <a:rPr lang="en-US" altLang="en-US" sz="1200" b="0" i="1"/>
              <a:t>What are some of the things affected by which form (i.e. Sole Proprietorship, LLC, LLP, C-Corporation, S-Corporation, B-Corporation, etc.) your business incorporates under?</a:t>
            </a:r>
          </a:p>
          <a:p>
            <a:pPr eaLnBrk="1" hangingPunct="1">
              <a:spcBef>
                <a:spcPct val="0"/>
              </a:spcBef>
              <a:buFont typeface="Arial" panose="020B0604020202020204" pitchFamily="34" charset="0"/>
              <a:buNone/>
              <a:defRPr/>
            </a:pPr>
            <a:r>
              <a:rPr lang="en-US" altLang="en-US" sz="1200"/>
              <a:t>Answer 1:  </a:t>
            </a:r>
            <a:r>
              <a:rPr lang="en-US" altLang="en-US" sz="1200" b="0"/>
              <a:t>(Some or all of these are correct). </a:t>
            </a:r>
          </a:p>
          <a:p>
            <a:pPr marL="285750" indent="-285750" eaLnBrk="1" hangingPunct="1">
              <a:spcBef>
                <a:spcPct val="0"/>
              </a:spcBef>
              <a:buFont typeface="Arial" panose="020B0604020202020204" pitchFamily="34" charset="0"/>
              <a:buChar char="•"/>
              <a:defRPr/>
            </a:pPr>
            <a:r>
              <a:rPr lang="en-US" altLang="en-US" sz="1200" b="0"/>
              <a:t>Taxation</a:t>
            </a:r>
          </a:p>
          <a:p>
            <a:pPr marL="285750" indent="-285750" eaLnBrk="1" hangingPunct="1">
              <a:spcBef>
                <a:spcPct val="0"/>
              </a:spcBef>
              <a:buFont typeface="Arial" panose="020B0604020202020204" pitchFamily="34" charset="0"/>
              <a:buChar char="•"/>
              <a:defRPr/>
            </a:pPr>
            <a:r>
              <a:rPr lang="en-US" altLang="en-US" sz="1200" b="0"/>
              <a:t>How you get paid</a:t>
            </a:r>
          </a:p>
          <a:p>
            <a:pPr marL="285750" indent="-285750" eaLnBrk="1" hangingPunct="1">
              <a:spcBef>
                <a:spcPct val="0"/>
              </a:spcBef>
              <a:buFont typeface="Arial" panose="020B0604020202020204" pitchFamily="34" charset="0"/>
              <a:buChar char="•"/>
              <a:defRPr/>
            </a:pPr>
            <a:r>
              <a:rPr lang="en-US" altLang="en-US" sz="1200" b="0"/>
              <a:t>Liability    </a:t>
            </a:r>
          </a:p>
          <a:p>
            <a:pPr eaLnBrk="1" hangingPunct="1">
              <a:spcBef>
                <a:spcPct val="0"/>
              </a:spcBef>
              <a:defRPr/>
            </a:pPr>
            <a:endParaRPr lang="en-US" altLang="en-US" sz="1200" b="0"/>
          </a:p>
          <a:p>
            <a:pPr eaLnBrk="1" hangingPunct="1">
              <a:spcBef>
                <a:spcPct val="0"/>
              </a:spcBef>
              <a:defRPr/>
            </a:pPr>
            <a:r>
              <a:rPr lang="en-US" altLang="en-US" sz="1200" b="1"/>
              <a:t>Question 2</a:t>
            </a:r>
            <a:r>
              <a:rPr lang="en-US" altLang="en-US" sz="1200"/>
              <a:t>: </a:t>
            </a:r>
            <a:r>
              <a:rPr lang="en-US" altLang="en-US" sz="1200" b="0" i="1"/>
              <a:t>What is the difference between a trademark and a copyright?</a:t>
            </a:r>
          </a:p>
          <a:p>
            <a:pPr>
              <a:buFont typeface="Arial" panose="020B0604020202020204" pitchFamily="34" charset="0"/>
              <a:buNone/>
              <a:defRPr/>
            </a:pPr>
            <a:r>
              <a:rPr lang="en-US" altLang="en-US" sz="1200"/>
              <a:t>Answer 2: </a:t>
            </a:r>
            <a:r>
              <a:rPr lang="en-US" sz="1200"/>
              <a:t>Trademarks</a:t>
            </a:r>
            <a:r>
              <a:rPr lang="en-US" sz="1200" b="0"/>
              <a:t> protect words, phrases, symbols or designs identifying the source of the goods or services of one party that distinguishes them from others  A </a:t>
            </a:r>
            <a:r>
              <a:rPr lang="en-US" sz="1200"/>
              <a:t>copyright</a:t>
            </a:r>
            <a:r>
              <a:rPr lang="en-US" sz="1200" b="0" i="1"/>
              <a:t> </a:t>
            </a:r>
            <a:r>
              <a:rPr lang="en-US" sz="1200" b="0"/>
              <a:t>protects original works of authorship</a:t>
            </a:r>
          </a:p>
          <a:p>
            <a:pPr eaLnBrk="1" hangingPunct="1">
              <a:spcBef>
                <a:spcPct val="0"/>
              </a:spcBef>
              <a:defRPr/>
            </a:pPr>
            <a:r>
              <a:rPr lang="en-US" altLang="en-US" sz="1200" b="0"/>
              <a:t>  </a:t>
            </a:r>
          </a:p>
          <a:p>
            <a:pPr eaLnBrk="1" hangingPunct="1">
              <a:spcBef>
                <a:spcPct val="0"/>
              </a:spcBef>
              <a:defRPr/>
            </a:pPr>
            <a:r>
              <a:rPr lang="en-US" altLang="en-US" sz="1200" b="1"/>
              <a:t>Question 3</a:t>
            </a:r>
            <a:r>
              <a:rPr lang="en-US" altLang="en-US" sz="1200"/>
              <a:t>: </a:t>
            </a:r>
            <a:r>
              <a:rPr lang="en-US" altLang="en-US" sz="1200" b="0" i="1"/>
              <a:t>What do the “B,” “A,” “I,” &amp; “L” in the BAIL team acronym stand for?</a:t>
            </a:r>
          </a:p>
          <a:p>
            <a:pPr eaLnBrk="1" hangingPunct="1">
              <a:spcBef>
                <a:spcPct val="0"/>
              </a:spcBef>
              <a:buFont typeface="Arial" panose="020B0604020202020204" pitchFamily="34" charset="0"/>
              <a:buNone/>
              <a:defRPr/>
            </a:pPr>
            <a:r>
              <a:rPr lang="en-US" altLang="en-US" sz="1200"/>
              <a:t>Answer 3: </a:t>
            </a:r>
            <a:endParaRPr lang="en-US" altLang="en-US" sz="1200" b="0"/>
          </a:p>
          <a:p>
            <a:pPr marL="285750" indent="-285750" eaLnBrk="1" hangingPunct="1">
              <a:spcBef>
                <a:spcPct val="0"/>
              </a:spcBef>
              <a:buFont typeface="Arial" panose="020B0604020202020204" pitchFamily="34" charset="0"/>
              <a:buChar char="•"/>
              <a:defRPr/>
            </a:pPr>
            <a:r>
              <a:rPr lang="en-US" altLang="en-US" sz="1200"/>
              <a:t>B</a:t>
            </a:r>
            <a:r>
              <a:rPr lang="en-US" altLang="en-US" sz="1200" b="0"/>
              <a:t>anker</a:t>
            </a:r>
          </a:p>
          <a:p>
            <a:pPr marL="285750" indent="-285750" eaLnBrk="1" hangingPunct="1">
              <a:spcBef>
                <a:spcPct val="0"/>
              </a:spcBef>
              <a:buFont typeface="Arial" panose="020B0604020202020204" pitchFamily="34" charset="0"/>
              <a:buChar char="•"/>
              <a:defRPr/>
            </a:pPr>
            <a:r>
              <a:rPr lang="en-US" altLang="en-US" sz="1200"/>
              <a:t>A</a:t>
            </a:r>
            <a:r>
              <a:rPr lang="en-US" altLang="en-US" sz="1200" b="0"/>
              <a:t>ccountant</a:t>
            </a:r>
          </a:p>
          <a:p>
            <a:pPr marL="285750" indent="-285750" eaLnBrk="1" hangingPunct="1">
              <a:spcBef>
                <a:spcPct val="0"/>
              </a:spcBef>
              <a:buFont typeface="Arial" panose="020B0604020202020204" pitchFamily="34" charset="0"/>
              <a:buChar char="•"/>
              <a:defRPr/>
            </a:pPr>
            <a:r>
              <a:rPr lang="en-US" altLang="en-US" sz="1200"/>
              <a:t>I</a:t>
            </a:r>
            <a:r>
              <a:rPr lang="en-US" altLang="en-US" sz="1200" b="0"/>
              <a:t>nsurance Agent</a:t>
            </a:r>
          </a:p>
          <a:p>
            <a:pPr marL="285750" indent="-285750" eaLnBrk="1" hangingPunct="1">
              <a:spcBef>
                <a:spcPct val="0"/>
              </a:spcBef>
              <a:buFont typeface="Arial" panose="020B0604020202020204" pitchFamily="34" charset="0"/>
              <a:buChar char="•"/>
              <a:defRPr/>
            </a:pPr>
            <a:r>
              <a:rPr lang="en-US" altLang="en-US" sz="1200"/>
              <a:t>L</a:t>
            </a:r>
            <a:r>
              <a:rPr lang="en-US" altLang="en-US" sz="1200" b="0"/>
              <a:t>awyer</a:t>
            </a:r>
          </a:p>
          <a:p>
            <a:pPr eaLnBrk="1" hangingPunct="1">
              <a:spcBef>
                <a:spcPct val="0"/>
              </a:spcBef>
              <a:defRPr/>
            </a:pPr>
            <a:endParaRPr lang="en-US" altLang="en-US" sz="1200" b="0"/>
          </a:p>
          <a:p>
            <a:pPr eaLnBrk="1" hangingPunct="1">
              <a:spcBef>
                <a:spcPct val="0"/>
              </a:spcBef>
              <a:defRPr/>
            </a:pPr>
            <a:r>
              <a:rPr lang="en-US" altLang="en-US" sz="1200" b="1">
                <a:latin typeface="+mn-lt"/>
              </a:rPr>
              <a:t>Answer any questions the group may have or if there are topics they’d like to discuss.  Please let them know they’ll get back to working on their business model canvas after the next module.</a:t>
            </a:r>
            <a:endParaRPr lang="en-US"/>
          </a:p>
        </p:txBody>
      </p:sp>
    </p:spTree>
    <p:extLst>
      <p:ext uri="{BB962C8B-B14F-4D97-AF65-F5344CB8AC3E}">
        <p14:creationId xmlns:p14="http://schemas.microsoft.com/office/powerpoint/2010/main" val="34299564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BA Logo Slide">
    <p:bg>
      <p:bgPr>
        <a:solidFill>
          <a:srgbClr val="003E7F">
            <a:alpha val="0"/>
          </a:srgb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2260EA-3420-071B-02CA-D50E10AD2D72}"/>
              </a:ext>
            </a:extLst>
          </p:cNvPr>
          <p:cNvSpPr/>
          <p:nvPr userDrawn="1"/>
        </p:nvSpPr>
        <p:spPr>
          <a:xfrm>
            <a:off x="0" y="-7889"/>
            <a:ext cx="9144000" cy="6870412"/>
          </a:xfrm>
          <a:prstGeom prst="rect">
            <a:avLst/>
          </a:prstGeom>
          <a:solidFill>
            <a:srgbClr val="003E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312" y="1606513"/>
            <a:ext cx="3353375" cy="3644973"/>
          </a:xfrm>
          <a:prstGeom prst="rect">
            <a:avLst/>
          </a:prstGeom>
        </p:spPr>
      </p:pic>
      <p:grpSp>
        <p:nvGrpSpPr>
          <p:cNvPr id="6" name="Group 5">
            <a:extLst>
              <a:ext uri="{FF2B5EF4-FFF2-40B4-BE49-F238E27FC236}">
                <a16:creationId xmlns:a16="http://schemas.microsoft.com/office/drawing/2014/main" id="{96E10BB7-582E-8005-5992-54E6F4A88D69}"/>
              </a:ext>
            </a:extLst>
          </p:cNvPr>
          <p:cNvGrpSpPr/>
          <p:nvPr userDrawn="1"/>
        </p:nvGrpSpPr>
        <p:grpSpPr>
          <a:xfrm>
            <a:off x="-4138" y="-3943"/>
            <a:ext cx="2056283" cy="6874356"/>
            <a:chOff x="-4138" y="-3943"/>
            <a:chExt cx="2056283" cy="6874356"/>
          </a:xfrm>
        </p:grpSpPr>
        <p:sp>
          <p:nvSpPr>
            <p:cNvPr id="5" name="Rectangle 2">
              <a:extLst>
                <a:ext uri="{FF2B5EF4-FFF2-40B4-BE49-F238E27FC236}">
                  <a16:creationId xmlns:a16="http://schemas.microsoft.com/office/drawing/2014/main" id="{DF56F6D1-59E0-AB69-137A-06517D801938}"/>
                </a:ext>
              </a:extLst>
            </p:cNvPr>
            <p:cNvSpPr/>
            <p:nvPr userDrawn="1"/>
          </p:nvSpPr>
          <p:spPr>
            <a:xfrm>
              <a:off x="128752" y="-3943"/>
              <a:ext cx="1923393" cy="6865884"/>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393" h="6865884">
                  <a:moveTo>
                    <a:pt x="0" y="0"/>
                  </a:moveTo>
                  <a:lnTo>
                    <a:pt x="1923393" y="0"/>
                  </a:lnTo>
                  <a:lnTo>
                    <a:pt x="299545" y="6865884"/>
                  </a:lnTo>
                  <a:lnTo>
                    <a:pt x="0" y="6858000"/>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B4B311-4D36-5BBC-A5EB-6F6F1DA8B5B8}"/>
                </a:ext>
              </a:extLst>
            </p:cNvPr>
            <p:cNvSpPr/>
            <p:nvPr userDrawn="1"/>
          </p:nvSpPr>
          <p:spPr>
            <a:xfrm>
              <a:off x="-4138" y="1"/>
              <a:ext cx="1927531" cy="6870412"/>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531" h="6870412">
                  <a:moveTo>
                    <a:pt x="4138" y="0"/>
                  </a:moveTo>
                  <a:lnTo>
                    <a:pt x="1927531" y="0"/>
                  </a:lnTo>
                  <a:lnTo>
                    <a:pt x="303683" y="6865884"/>
                  </a:lnTo>
                  <a:lnTo>
                    <a:pt x="0" y="6870412"/>
                  </a:lnTo>
                  <a:cubicBezTo>
                    <a:pt x="1379" y="4583033"/>
                    <a:pt x="2759" y="2287379"/>
                    <a:pt x="4138"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C59C5A7-C9A4-747A-1402-DF4A725A4640}"/>
              </a:ext>
            </a:extLst>
          </p:cNvPr>
          <p:cNvGrpSpPr/>
          <p:nvPr userDrawn="1"/>
        </p:nvGrpSpPr>
        <p:grpSpPr>
          <a:xfrm rot="10800000">
            <a:off x="7096184" y="-7889"/>
            <a:ext cx="2056283" cy="6874356"/>
            <a:chOff x="-4138" y="-3943"/>
            <a:chExt cx="2056283" cy="6874356"/>
          </a:xfrm>
        </p:grpSpPr>
        <p:sp>
          <p:nvSpPr>
            <p:cNvPr id="8" name="Rectangle 2">
              <a:extLst>
                <a:ext uri="{FF2B5EF4-FFF2-40B4-BE49-F238E27FC236}">
                  <a16:creationId xmlns:a16="http://schemas.microsoft.com/office/drawing/2014/main" id="{ECBAF26A-4C5C-FAD9-0527-A1FBB00CEDB3}"/>
                </a:ext>
              </a:extLst>
            </p:cNvPr>
            <p:cNvSpPr/>
            <p:nvPr userDrawn="1"/>
          </p:nvSpPr>
          <p:spPr>
            <a:xfrm>
              <a:off x="128752" y="-3943"/>
              <a:ext cx="1923393" cy="6865884"/>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3393" h="6865884">
                  <a:moveTo>
                    <a:pt x="0" y="0"/>
                  </a:moveTo>
                  <a:lnTo>
                    <a:pt x="1923393" y="0"/>
                  </a:lnTo>
                  <a:lnTo>
                    <a:pt x="299545" y="6865884"/>
                  </a:lnTo>
                  <a:lnTo>
                    <a:pt x="0" y="6858000"/>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2">
              <a:extLst>
                <a:ext uri="{FF2B5EF4-FFF2-40B4-BE49-F238E27FC236}">
                  <a16:creationId xmlns:a16="http://schemas.microsoft.com/office/drawing/2014/main" id="{CD13260E-D01F-F6B4-24A7-06E2FA4FA13B}"/>
                </a:ext>
              </a:extLst>
            </p:cNvPr>
            <p:cNvSpPr/>
            <p:nvPr userDrawn="1"/>
          </p:nvSpPr>
          <p:spPr>
            <a:xfrm>
              <a:off x="-4138" y="1"/>
              <a:ext cx="1927531" cy="6870412"/>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7531" h="6870412">
                  <a:moveTo>
                    <a:pt x="4138" y="0"/>
                  </a:moveTo>
                  <a:lnTo>
                    <a:pt x="1927531" y="0"/>
                  </a:lnTo>
                  <a:lnTo>
                    <a:pt x="303683" y="6865884"/>
                  </a:lnTo>
                  <a:lnTo>
                    <a:pt x="0" y="6870412"/>
                  </a:lnTo>
                  <a:cubicBezTo>
                    <a:pt x="1379" y="4583033"/>
                    <a:pt x="2759" y="2287379"/>
                    <a:pt x="4138"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3657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Title Slide - Texture, SBA Only">
    <p:bg>
      <p:bgPr>
        <a:solidFill>
          <a:srgbClr val="003E7F">
            <a:alpha val="0"/>
          </a:srgb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5E6546-4499-ABB1-4412-0C81E29721B5}"/>
              </a:ext>
            </a:extLst>
          </p:cNvPr>
          <p:cNvPicPr>
            <a:picLocks noChangeAspect="1"/>
          </p:cNvPicPr>
          <p:nvPr userDrawn="1"/>
        </p:nvPicPr>
        <p:blipFill>
          <a:blip r:embed="rId2"/>
          <a:srcRect/>
          <a:stretch/>
        </p:blipFill>
        <p:spPr>
          <a:xfrm>
            <a:off x="-2850" y="0"/>
            <a:ext cx="9140691" cy="6858000"/>
          </a:xfrm>
          <a:prstGeom prst="rect">
            <a:avLst/>
          </a:prstGeom>
        </p:spPr>
      </p:pic>
      <p:sp>
        <p:nvSpPr>
          <p:cNvPr id="2" name="Rectangle 1">
            <a:extLst>
              <a:ext uri="{FF2B5EF4-FFF2-40B4-BE49-F238E27FC236}">
                <a16:creationId xmlns:a16="http://schemas.microsoft.com/office/drawing/2014/main" id="{A0C6324D-0DF3-401C-806B-3D8A0E62866B}"/>
              </a:ext>
            </a:extLst>
          </p:cNvPr>
          <p:cNvSpPr/>
          <p:nvPr userDrawn="1"/>
        </p:nvSpPr>
        <p:spPr>
          <a:xfrm rot="10800000">
            <a:off x="-9002" y="-399"/>
            <a:ext cx="9152997" cy="145454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087787A3-8DB7-64A8-A69B-136FE082A6F5}"/>
              </a:ext>
            </a:extLst>
          </p:cNvPr>
          <p:cNvGrpSpPr/>
          <p:nvPr userDrawn="1"/>
        </p:nvGrpSpPr>
        <p:grpSpPr>
          <a:xfrm rot="10800000">
            <a:off x="-8998" y="5538603"/>
            <a:ext cx="9152998" cy="1319397"/>
            <a:chOff x="0" y="-868826"/>
            <a:chExt cx="9152998" cy="1319397"/>
          </a:xfrm>
        </p:grpSpPr>
        <p:sp>
          <p:nvSpPr>
            <p:cNvPr id="11" name="Rectangle 10">
              <a:extLst>
                <a:ext uri="{FF2B5EF4-FFF2-40B4-BE49-F238E27FC236}">
                  <a16:creationId xmlns:a16="http://schemas.microsoft.com/office/drawing/2014/main" id="{C533F2A0-3029-4370-8773-7CA30FEF180D}"/>
                </a:ext>
              </a:extLst>
            </p:cNvPr>
            <p:cNvSpPr/>
            <p:nvPr userDrawn="1"/>
          </p:nvSpPr>
          <p:spPr>
            <a:xfrm>
              <a:off x="1" y="-868826"/>
              <a:ext cx="9152997" cy="11539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a:t>
              </a:r>
            </a:p>
          </p:txBody>
        </p:sp>
        <p:sp>
          <p:nvSpPr>
            <p:cNvPr id="12" name="Rectangle 11">
              <a:extLst>
                <a:ext uri="{FF2B5EF4-FFF2-40B4-BE49-F238E27FC236}">
                  <a16:creationId xmlns:a16="http://schemas.microsoft.com/office/drawing/2014/main" id="{1BD833B5-B2C6-1EED-F4D9-FE439D5F6F3A}"/>
                </a:ext>
              </a:extLst>
            </p:cNvPr>
            <p:cNvSpPr/>
            <p:nvPr userDrawn="1"/>
          </p:nvSpPr>
          <p:spPr>
            <a:xfrm>
              <a:off x="0" y="206205"/>
              <a:ext cx="9152997" cy="244366"/>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1">
            <a:extLst>
              <a:ext uri="{FF2B5EF4-FFF2-40B4-BE49-F238E27FC236}">
                <a16:creationId xmlns:a16="http://schemas.microsoft.com/office/drawing/2014/main" id="{5DFC2853-1831-F2C1-7B3B-C7EB3BC79960}"/>
              </a:ext>
            </a:extLst>
          </p:cNvPr>
          <p:cNvSpPr>
            <a:spLocks noGrp="1"/>
          </p:cNvSpPr>
          <p:nvPr>
            <p:ph type="ctrTitle" hasCustomPrompt="1"/>
          </p:nvPr>
        </p:nvSpPr>
        <p:spPr>
          <a:xfrm>
            <a:off x="1143000" y="1527676"/>
            <a:ext cx="6858000" cy="2136039"/>
          </a:xfrm>
          <a:prstGeom prst="rect">
            <a:avLst/>
          </a:prstGeom>
        </p:spPr>
        <p:txBody>
          <a:bodyPr anchor="b">
            <a:normAutofit/>
          </a:bodyPr>
          <a:lstStyle>
            <a:lvl1pPr algn="ctr">
              <a:lnSpc>
                <a:spcPct val="75000"/>
              </a:lnSpc>
              <a:defRPr sz="6000" spc="-225">
                <a:solidFill>
                  <a:srgbClr val="003F80"/>
                </a:solidFill>
              </a:defRPr>
            </a:lvl1pPr>
          </a:lstStyle>
          <a:p>
            <a:r>
              <a:rPr lang="en-US"/>
              <a:t>Click to edit master title</a:t>
            </a:r>
          </a:p>
        </p:txBody>
      </p:sp>
      <p:sp>
        <p:nvSpPr>
          <p:cNvPr id="8" name="Text Placeholder 7">
            <a:extLst>
              <a:ext uri="{FF2B5EF4-FFF2-40B4-BE49-F238E27FC236}">
                <a16:creationId xmlns:a16="http://schemas.microsoft.com/office/drawing/2014/main" id="{6699BB1E-1E6B-C1A2-335F-02BA096298E4}"/>
              </a:ext>
            </a:extLst>
          </p:cNvPr>
          <p:cNvSpPr>
            <a:spLocks noGrp="1"/>
          </p:cNvSpPr>
          <p:nvPr>
            <p:ph type="body" sz="quarter" idx="10" hasCustomPrompt="1"/>
          </p:nvPr>
        </p:nvSpPr>
        <p:spPr>
          <a:xfrm>
            <a:off x="1143000" y="3796647"/>
            <a:ext cx="6858000" cy="1646237"/>
          </a:xfrm>
        </p:spPr>
        <p:txBody>
          <a:bodyPr>
            <a:noAutofit/>
          </a:bodyPr>
          <a:lstStyle>
            <a:lvl1pPr marL="0" indent="0" algn="ctr">
              <a:buNone/>
              <a:defRPr sz="2800" b="1">
                <a:solidFill>
                  <a:srgbClr val="C00000"/>
                </a:solidFill>
              </a:defRPr>
            </a:lvl1pPr>
            <a:lvl2pPr marL="342875" indent="0" algn="ctr">
              <a:buNone/>
              <a:defRPr sz="2400" b="1">
                <a:solidFill>
                  <a:srgbClr val="898989"/>
                </a:solidFill>
              </a:defRPr>
            </a:lvl2pPr>
            <a:lvl3pPr marL="685749" indent="0" algn="ctr">
              <a:buNone/>
              <a:defRPr sz="2400" b="1">
                <a:solidFill>
                  <a:srgbClr val="898989"/>
                </a:solidFill>
              </a:defRPr>
            </a:lvl3pPr>
            <a:lvl4pPr marL="1028624" indent="0" algn="ctr">
              <a:buNone/>
              <a:defRPr sz="2400" b="1">
                <a:solidFill>
                  <a:srgbClr val="898989"/>
                </a:solidFill>
              </a:defRPr>
            </a:lvl4pPr>
            <a:lvl5pPr marL="1371498" indent="0" algn="ctr">
              <a:buNone/>
              <a:defRPr sz="2400" b="1">
                <a:solidFill>
                  <a:srgbClr val="898989"/>
                </a:solidFill>
              </a:defRPr>
            </a:lvl5pPr>
          </a:lstStyle>
          <a:p>
            <a:pPr lvl="0"/>
            <a:r>
              <a:rPr lang="en-US"/>
              <a:t>Click to edit subtitle</a:t>
            </a:r>
          </a:p>
        </p:txBody>
      </p:sp>
      <p:pic>
        <p:nvPicPr>
          <p:cNvPr id="3" name="Picture 2">
            <a:extLst>
              <a:ext uri="{FF2B5EF4-FFF2-40B4-BE49-F238E27FC236}">
                <a16:creationId xmlns:a16="http://schemas.microsoft.com/office/drawing/2014/main" id="{95B666D0-0DF0-7689-7945-AB58B30F62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7338" y="495318"/>
            <a:ext cx="2409324" cy="661760"/>
          </a:xfrm>
          <a:prstGeom prst="rect">
            <a:avLst/>
          </a:prstGeom>
        </p:spPr>
      </p:pic>
    </p:spTree>
    <p:extLst>
      <p:ext uri="{BB962C8B-B14F-4D97-AF65-F5344CB8AC3E}">
        <p14:creationId xmlns:p14="http://schemas.microsoft.com/office/powerpoint/2010/main" val="2912967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 Texture, SBA Boots">
    <p:bg>
      <p:bgPr>
        <a:solidFill>
          <a:srgbClr val="003E7F">
            <a:alpha val="0"/>
          </a:srgbClr>
        </a:solid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8DB86856-CCF1-2756-F3AA-8F03FB107F7F}"/>
              </a:ext>
            </a:extLst>
          </p:cNvPr>
          <p:cNvPicPr>
            <a:picLocks noChangeAspect="1"/>
          </p:cNvPicPr>
          <p:nvPr userDrawn="1"/>
        </p:nvPicPr>
        <p:blipFill>
          <a:blip r:embed="rId2"/>
          <a:srcRect/>
          <a:stretch/>
        </p:blipFill>
        <p:spPr>
          <a:xfrm>
            <a:off x="1654" y="0"/>
            <a:ext cx="9141406" cy="6858535"/>
          </a:xfrm>
          <a:prstGeom prst="rect">
            <a:avLst/>
          </a:prstGeom>
        </p:spPr>
      </p:pic>
      <p:sp>
        <p:nvSpPr>
          <p:cNvPr id="2" name="Title 1"/>
          <p:cNvSpPr>
            <a:spLocks noGrp="1"/>
          </p:cNvSpPr>
          <p:nvPr>
            <p:ph type="ctrTitle" hasCustomPrompt="1"/>
          </p:nvPr>
        </p:nvSpPr>
        <p:spPr>
          <a:xfrm>
            <a:off x="1143000" y="1527676"/>
            <a:ext cx="6858000" cy="2136039"/>
          </a:xfrm>
          <a:prstGeom prst="rect">
            <a:avLst/>
          </a:prstGeom>
        </p:spPr>
        <p:txBody>
          <a:bodyPr anchor="b">
            <a:normAutofit/>
          </a:bodyPr>
          <a:lstStyle>
            <a:lvl1pPr algn="ctr">
              <a:lnSpc>
                <a:spcPct val="75000"/>
              </a:lnSpc>
              <a:defRPr sz="6000" spc="-225">
                <a:solidFill>
                  <a:srgbClr val="003E7F"/>
                </a:solidFill>
              </a:defRPr>
            </a:lvl1pPr>
          </a:lstStyle>
          <a:p>
            <a:r>
              <a:rPr lang="en-US"/>
              <a:t>Click to edit master title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566" y="664519"/>
            <a:ext cx="2407901" cy="661370"/>
          </a:xfrm>
          <a:prstGeom prst="rect">
            <a:avLst/>
          </a:prstGeom>
        </p:spPr>
      </p:pic>
      <p:pic>
        <p:nvPicPr>
          <p:cNvPr id="14" name="Picture 13" descr="A picture containing text, font, graphics, graphic design&#10;&#10;Description automatically generated">
            <a:extLst>
              <a:ext uri="{FF2B5EF4-FFF2-40B4-BE49-F238E27FC236}">
                <a16:creationId xmlns:a16="http://schemas.microsoft.com/office/drawing/2014/main" id="{1030001F-1C6C-2F14-5BA7-9350BEADA992}"/>
              </a:ext>
            </a:extLst>
          </p:cNvPr>
          <p:cNvPicPr>
            <a:picLocks noChangeAspect="1"/>
          </p:cNvPicPr>
          <p:nvPr userDrawn="1"/>
        </p:nvPicPr>
        <p:blipFill>
          <a:blip r:embed="rId4"/>
          <a:stretch>
            <a:fillRect/>
          </a:stretch>
        </p:blipFill>
        <p:spPr>
          <a:xfrm>
            <a:off x="7048981" y="665010"/>
            <a:ext cx="1578578" cy="633967"/>
          </a:xfrm>
          <a:prstGeom prst="rect">
            <a:avLst/>
          </a:prstGeom>
        </p:spPr>
      </p:pic>
      <p:sp>
        <p:nvSpPr>
          <p:cNvPr id="5" name="Text Placeholder 7">
            <a:extLst>
              <a:ext uri="{FF2B5EF4-FFF2-40B4-BE49-F238E27FC236}">
                <a16:creationId xmlns:a16="http://schemas.microsoft.com/office/drawing/2014/main" id="{E6E35A73-BE2C-8311-E082-C0587225BD11}"/>
              </a:ext>
            </a:extLst>
          </p:cNvPr>
          <p:cNvSpPr>
            <a:spLocks noGrp="1"/>
          </p:cNvSpPr>
          <p:nvPr>
            <p:ph type="body" sz="quarter" idx="11" hasCustomPrompt="1"/>
          </p:nvPr>
        </p:nvSpPr>
        <p:spPr>
          <a:xfrm>
            <a:off x="1143000" y="3796646"/>
            <a:ext cx="6858000" cy="1646237"/>
          </a:xfrm>
        </p:spPr>
        <p:txBody>
          <a:bodyPr>
            <a:noAutofit/>
          </a:bodyPr>
          <a:lstStyle>
            <a:lvl1pPr marL="0" indent="0" algn="ctr">
              <a:buNone/>
              <a:defRPr sz="2800" b="1">
                <a:solidFill>
                  <a:srgbClr val="C00000"/>
                </a:solidFill>
              </a:defRPr>
            </a:lvl1pPr>
            <a:lvl2pPr marL="342875" indent="0" algn="ctr">
              <a:buNone/>
              <a:defRPr sz="2400" b="1">
                <a:solidFill>
                  <a:srgbClr val="898989"/>
                </a:solidFill>
              </a:defRPr>
            </a:lvl2pPr>
            <a:lvl3pPr marL="685749" indent="0" algn="ctr">
              <a:buNone/>
              <a:defRPr sz="2400" b="1">
                <a:solidFill>
                  <a:srgbClr val="898989"/>
                </a:solidFill>
              </a:defRPr>
            </a:lvl3pPr>
            <a:lvl4pPr marL="1028624" indent="0" algn="ctr">
              <a:buNone/>
              <a:defRPr sz="2400" b="1">
                <a:solidFill>
                  <a:srgbClr val="898989"/>
                </a:solidFill>
              </a:defRPr>
            </a:lvl4pPr>
            <a:lvl5pPr marL="1371498" indent="0" algn="ctr">
              <a:buNone/>
              <a:defRPr sz="2400" b="1">
                <a:solidFill>
                  <a:srgbClr val="898989"/>
                </a:solidFill>
              </a:defRPr>
            </a:lvl5pPr>
          </a:lstStyle>
          <a:p>
            <a:pPr lvl="0"/>
            <a:r>
              <a:rPr lang="en-US"/>
              <a:t>Click to edit subtitle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 Texture, SBA Only">
    <p:bg>
      <p:bgPr>
        <a:solidFill>
          <a:srgbClr val="003E7F">
            <a:alpha val="0"/>
          </a:srgb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96D0959-212F-7E87-2FE9-0856DFCCDC4E}"/>
              </a:ext>
            </a:extLst>
          </p:cNvPr>
          <p:cNvPicPr>
            <a:picLocks noChangeAspect="1"/>
          </p:cNvPicPr>
          <p:nvPr userDrawn="1"/>
        </p:nvPicPr>
        <p:blipFill>
          <a:blip r:embed="rId2"/>
          <a:srcRect/>
          <a:stretch/>
        </p:blipFill>
        <p:spPr>
          <a:xfrm>
            <a:off x="1654" y="0"/>
            <a:ext cx="9141406" cy="6858536"/>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8048" y="699244"/>
            <a:ext cx="2407901" cy="661370"/>
          </a:xfrm>
          <a:prstGeom prst="rect">
            <a:avLst/>
          </a:prstGeom>
        </p:spPr>
      </p:pic>
      <p:sp>
        <p:nvSpPr>
          <p:cNvPr id="5" name="Title 1">
            <a:extLst>
              <a:ext uri="{FF2B5EF4-FFF2-40B4-BE49-F238E27FC236}">
                <a16:creationId xmlns:a16="http://schemas.microsoft.com/office/drawing/2014/main" id="{5DFC2853-1831-F2C1-7B3B-C7EB3BC79960}"/>
              </a:ext>
            </a:extLst>
          </p:cNvPr>
          <p:cNvSpPr>
            <a:spLocks noGrp="1"/>
          </p:cNvSpPr>
          <p:nvPr>
            <p:ph type="ctrTitle" hasCustomPrompt="1"/>
          </p:nvPr>
        </p:nvSpPr>
        <p:spPr>
          <a:xfrm>
            <a:off x="1143000" y="1527676"/>
            <a:ext cx="6858000" cy="2136039"/>
          </a:xfrm>
          <a:prstGeom prst="rect">
            <a:avLst/>
          </a:prstGeom>
        </p:spPr>
        <p:txBody>
          <a:bodyPr anchor="b">
            <a:normAutofit/>
          </a:bodyPr>
          <a:lstStyle>
            <a:lvl1pPr algn="ctr">
              <a:lnSpc>
                <a:spcPct val="75000"/>
              </a:lnSpc>
              <a:defRPr sz="6000" spc="-225">
                <a:solidFill>
                  <a:srgbClr val="003F80"/>
                </a:solidFill>
              </a:defRPr>
            </a:lvl1pPr>
          </a:lstStyle>
          <a:p>
            <a:r>
              <a:rPr lang="en-US"/>
              <a:t>Click to edit master title</a:t>
            </a:r>
          </a:p>
        </p:txBody>
      </p:sp>
      <p:sp>
        <p:nvSpPr>
          <p:cNvPr id="8" name="Text Placeholder 7">
            <a:extLst>
              <a:ext uri="{FF2B5EF4-FFF2-40B4-BE49-F238E27FC236}">
                <a16:creationId xmlns:a16="http://schemas.microsoft.com/office/drawing/2014/main" id="{6699BB1E-1E6B-C1A2-335F-02BA096298E4}"/>
              </a:ext>
            </a:extLst>
          </p:cNvPr>
          <p:cNvSpPr>
            <a:spLocks noGrp="1"/>
          </p:cNvSpPr>
          <p:nvPr>
            <p:ph type="body" sz="quarter" idx="10" hasCustomPrompt="1"/>
          </p:nvPr>
        </p:nvSpPr>
        <p:spPr>
          <a:xfrm>
            <a:off x="1143000" y="3796647"/>
            <a:ext cx="6858000" cy="1646237"/>
          </a:xfrm>
        </p:spPr>
        <p:txBody>
          <a:bodyPr>
            <a:noAutofit/>
          </a:bodyPr>
          <a:lstStyle>
            <a:lvl1pPr marL="0" indent="0" algn="ctr">
              <a:buNone/>
              <a:defRPr sz="2800" b="1">
                <a:solidFill>
                  <a:srgbClr val="C00000"/>
                </a:solidFill>
              </a:defRPr>
            </a:lvl1pPr>
            <a:lvl2pPr marL="342875" indent="0" algn="ctr">
              <a:buNone/>
              <a:defRPr sz="2400" b="1">
                <a:solidFill>
                  <a:srgbClr val="898989"/>
                </a:solidFill>
              </a:defRPr>
            </a:lvl2pPr>
            <a:lvl3pPr marL="685749" indent="0" algn="ctr">
              <a:buNone/>
              <a:defRPr sz="2400" b="1">
                <a:solidFill>
                  <a:srgbClr val="898989"/>
                </a:solidFill>
              </a:defRPr>
            </a:lvl3pPr>
            <a:lvl4pPr marL="1028624" indent="0" algn="ctr">
              <a:buNone/>
              <a:defRPr sz="2400" b="1">
                <a:solidFill>
                  <a:srgbClr val="898989"/>
                </a:solidFill>
              </a:defRPr>
            </a:lvl4pPr>
            <a:lvl5pPr marL="1371498" indent="0" algn="ctr">
              <a:buNone/>
              <a:defRPr sz="2400" b="1">
                <a:solidFill>
                  <a:srgbClr val="898989"/>
                </a:solidFill>
              </a:defRPr>
            </a:lvl5pPr>
          </a:lstStyle>
          <a:p>
            <a:pPr lvl="0"/>
            <a:r>
              <a:rPr lang="en-US"/>
              <a:t>Click to edit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Chapter Slide - Blue Screen Only">
    <p:bg>
      <p:bgPr>
        <a:solidFill>
          <a:srgbClr val="003E7F">
            <a:alpha val="0"/>
          </a:srgb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AB10919-14D9-0AB0-6292-0A32AF9B6BDA}"/>
              </a:ext>
            </a:extLst>
          </p:cNvPr>
          <p:cNvSpPr/>
          <p:nvPr userDrawn="1"/>
        </p:nvSpPr>
        <p:spPr>
          <a:xfrm>
            <a:off x="-11632" y="0"/>
            <a:ext cx="915563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1143000" y="1122363"/>
            <a:ext cx="6858000" cy="2387600"/>
          </a:xfrm>
          <a:prstGeom prst="rect">
            <a:avLst/>
          </a:prstGeom>
        </p:spPr>
        <p:txBody>
          <a:bodyPr anchor="b"/>
          <a:lstStyle>
            <a:lvl1pPr algn="ctr">
              <a:lnSpc>
                <a:spcPts val="4500"/>
              </a:lnSpc>
              <a:defRPr sz="4500">
                <a:solidFill>
                  <a:schemeClr val="bg1"/>
                </a:solidFill>
              </a:defRPr>
            </a:lvl1pPr>
          </a:lstStyle>
          <a:p>
            <a:r>
              <a:rPr lang="en-US"/>
              <a:t>Click to edit master chapter</a:t>
            </a:r>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1800" b="1">
                <a:solidFill>
                  <a:schemeClr val="bg1">
                    <a:lumMod val="85000"/>
                  </a:schemeClr>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r>
              <a:rPr lang="en-US"/>
              <a:t>Click to edit subtitle</a:t>
            </a:r>
          </a:p>
        </p:txBody>
      </p:sp>
      <p:sp>
        <p:nvSpPr>
          <p:cNvPr id="7" name="Rectangle 2">
            <a:extLst>
              <a:ext uri="{FF2B5EF4-FFF2-40B4-BE49-F238E27FC236}">
                <a16:creationId xmlns:a16="http://schemas.microsoft.com/office/drawing/2014/main" id="{AC6D910E-71DE-137A-93F3-A20F243E7315}"/>
              </a:ext>
            </a:extLst>
          </p:cNvPr>
          <p:cNvSpPr/>
          <p:nvPr userDrawn="1"/>
        </p:nvSpPr>
        <p:spPr>
          <a:xfrm>
            <a:off x="-11633" y="0"/>
            <a:ext cx="1170528" cy="5116563"/>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 name="connsiteX0" fmla="*/ 4138 w 825754"/>
              <a:gd name="connsiteY0" fmla="*/ 22485 h 6892897"/>
              <a:gd name="connsiteX1" fmla="*/ 825754 w 825754"/>
              <a:gd name="connsiteY1" fmla="*/ 0 h 6892897"/>
              <a:gd name="connsiteX2" fmla="*/ 303683 w 825754"/>
              <a:gd name="connsiteY2" fmla="*/ 6888369 h 6892897"/>
              <a:gd name="connsiteX3" fmla="*/ 0 w 825754"/>
              <a:gd name="connsiteY3" fmla="*/ 6892897 h 6892897"/>
              <a:gd name="connsiteX4" fmla="*/ 4138 w 825754"/>
              <a:gd name="connsiteY4" fmla="*/ 22485 h 6892897"/>
              <a:gd name="connsiteX0" fmla="*/ 4138 w 1163033"/>
              <a:gd name="connsiteY0" fmla="*/ 0 h 6870412"/>
              <a:gd name="connsiteX1" fmla="*/ 1163033 w 1163033"/>
              <a:gd name="connsiteY1" fmla="*/ 0 h 6870412"/>
              <a:gd name="connsiteX2" fmla="*/ 303683 w 1163033"/>
              <a:gd name="connsiteY2" fmla="*/ 6865884 h 6870412"/>
              <a:gd name="connsiteX3" fmla="*/ 0 w 1163033"/>
              <a:gd name="connsiteY3" fmla="*/ 6870412 h 6870412"/>
              <a:gd name="connsiteX4" fmla="*/ 4138 w 1163033"/>
              <a:gd name="connsiteY4" fmla="*/ 0 h 6870412"/>
              <a:gd name="connsiteX0" fmla="*/ 4138 w 1163033"/>
              <a:gd name="connsiteY0" fmla="*/ 0 h 6873379"/>
              <a:gd name="connsiteX1" fmla="*/ 1163033 w 1163033"/>
              <a:gd name="connsiteY1" fmla="*/ 0 h 6873379"/>
              <a:gd name="connsiteX2" fmla="*/ 108811 w 1163033"/>
              <a:gd name="connsiteY2" fmla="*/ 6873379 h 6873379"/>
              <a:gd name="connsiteX3" fmla="*/ 0 w 1163033"/>
              <a:gd name="connsiteY3" fmla="*/ 6870412 h 6873379"/>
              <a:gd name="connsiteX4" fmla="*/ 4138 w 1163033"/>
              <a:gd name="connsiteY4" fmla="*/ 0 h 6873379"/>
              <a:gd name="connsiteX0" fmla="*/ 4138 w 1163033"/>
              <a:gd name="connsiteY0" fmla="*/ 0 h 6870412"/>
              <a:gd name="connsiteX1" fmla="*/ 1163033 w 1163033"/>
              <a:gd name="connsiteY1" fmla="*/ 0 h 6870412"/>
              <a:gd name="connsiteX2" fmla="*/ 146287 w 1163033"/>
              <a:gd name="connsiteY2" fmla="*/ 4894678 h 6870412"/>
              <a:gd name="connsiteX3" fmla="*/ 0 w 1163033"/>
              <a:gd name="connsiteY3" fmla="*/ 6870412 h 6870412"/>
              <a:gd name="connsiteX4" fmla="*/ 4138 w 1163033"/>
              <a:gd name="connsiteY4" fmla="*/ 0 h 6870412"/>
              <a:gd name="connsiteX0" fmla="*/ 562389 w 1721284"/>
              <a:gd name="connsiteY0" fmla="*/ 0 h 6870412"/>
              <a:gd name="connsiteX1" fmla="*/ 1721284 w 1721284"/>
              <a:gd name="connsiteY1" fmla="*/ 0 h 6870412"/>
              <a:gd name="connsiteX2" fmla="*/ 0 w 1721284"/>
              <a:gd name="connsiteY2" fmla="*/ 4362527 h 6870412"/>
              <a:gd name="connsiteX3" fmla="*/ 558251 w 1721284"/>
              <a:gd name="connsiteY3" fmla="*/ 6870412 h 6870412"/>
              <a:gd name="connsiteX4" fmla="*/ 562389 w 1721284"/>
              <a:gd name="connsiteY4" fmla="*/ 0 h 6870412"/>
              <a:gd name="connsiteX0" fmla="*/ 157655 w 1316550"/>
              <a:gd name="connsiteY0" fmla="*/ 0 h 6870412"/>
              <a:gd name="connsiteX1" fmla="*/ 1316550 w 1316550"/>
              <a:gd name="connsiteY1" fmla="*/ 0 h 6870412"/>
              <a:gd name="connsiteX2" fmla="*/ 0 w 1316550"/>
              <a:gd name="connsiteY2" fmla="*/ 5606710 h 6870412"/>
              <a:gd name="connsiteX3" fmla="*/ 153517 w 1316550"/>
              <a:gd name="connsiteY3" fmla="*/ 6870412 h 6870412"/>
              <a:gd name="connsiteX4" fmla="*/ 157655 w 1316550"/>
              <a:gd name="connsiteY4" fmla="*/ 0 h 6870412"/>
              <a:gd name="connsiteX0" fmla="*/ 7753 w 1166648"/>
              <a:gd name="connsiteY0" fmla="*/ 0 h 6870412"/>
              <a:gd name="connsiteX1" fmla="*/ 1166648 w 1166648"/>
              <a:gd name="connsiteY1" fmla="*/ 0 h 6870412"/>
              <a:gd name="connsiteX2" fmla="*/ 0 w 1166648"/>
              <a:gd name="connsiteY2" fmla="*/ 4992114 h 6870412"/>
              <a:gd name="connsiteX3" fmla="*/ 3615 w 1166648"/>
              <a:gd name="connsiteY3" fmla="*/ 6870412 h 6870412"/>
              <a:gd name="connsiteX4" fmla="*/ 7753 w 1166648"/>
              <a:gd name="connsiteY4" fmla="*/ 0 h 6870412"/>
              <a:gd name="connsiteX0" fmla="*/ 11633 w 1170528"/>
              <a:gd name="connsiteY0" fmla="*/ 0 h 5004137"/>
              <a:gd name="connsiteX1" fmla="*/ 1170528 w 1170528"/>
              <a:gd name="connsiteY1" fmla="*/ 0 h 5004137"/>
              <a:gd name="connsiteX2" fmla="*/ 3880 w 1170528"/>
              <a:gd name="connsiteY2" fmla="*/ 4992114 h 5004137"/>
              <a:gd name="connsiteX3" fmla="*/ 0 w 1170528"/>
              <a:gd name="connsiteY3" fmla="*/ 5004137 h 5004137"/>
              <a:gd name="connsiteX4" fmla="*/ 11633 w 1170528"/>
              <a:gd name="connsiteY4" fmla="*/ 0 h 5004137"/>
              <a:gd name="connsiteX0" fmla="*/ 11633 w 1170528"/>
              <a:gd name="connsiteY0" fmla="*/ 0 h 5116563"/>
              <a:gd name="connsiteX1" fmla="*/ 1170528 w 1170528"/>
              <a:gd name="connsiteY1" fmla="*/ 0 h 5116563"/>
              <a:gd name="connsiteX2" fmla="*/ 3880 w 1170528"/>
              <a:gd name="connsiteY2" fmla="*/ 4992114 h 5116563"/>
              <a:gd name="connsiteX3" fmla="*/ 0 w 1170528"/>
              <a:gd name="connsiteY3" fmla="*/ 5116563 h 5116563"/>
              <a:gd name="connsiteX4" fmla="*/ 11633 w 1170528"/>
              <a:gd name="connsiteY4" fmla="*/ 0 h 5116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528" h="5116563">
                <a:moveTo>
                  <a:pt x="11633" y="0"/>
                </a:moveTo>
                <a:lnTo>
                  <a:pt x="1170528" y="0"/>
                </a:lnTo>
                <a:lnTo>
                  <a:pt x="3880" y="4992114"/>
                </a:lnTo>
                <a:lnTo>
                  <a:pt x="0" y="5116563"/>
                </a:lnTo>
                <a:cubicBezTo>
                  <a:pt x="1379" y="2829184"/>
                  <a:pt x="10254" y="2287379"/>
                  <a:pt x="11633" y="0"/>
                </a:cubicBezTo>
                <a:close/>
              </a:path>
            </a:pathLst>
          </a:custGeom>
          <a:solidFill>
            <a:srgbClr val="003E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2">
            <a:extLst>
              <a:ext uri="{FF2B5EF4-FFF2-40B4-BE49-F238E27FC236}">
                <a16:creationId xmlns:a16="http://schemas.microsoft.com/office/drawing/2014/main" id="{337BB8E4-A84B-3079-497D-774CA8EB51B3}"/>
              </a:ext>
            </a:extLst>
          </p:cNvPr>
          <p:cNvSpPr/>
          <p:nvPr userDrawn="1"/>
        </p:nvSpPr>
        <p:spPr>
          <a:xfrm rot="10800000">
            <a:off x="8001000" y="1741437"/>
            <a:ext cx="1170528" cy="5116563"/>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 name="connsiteX0" fmla="*/ 4138 w 825754"/>
              <a:gd name="connsiteY0" fmla="*/ 22485 h 6892897"/>
              <a:gd name="connsiteX1" fmla="*/ 825754 w 825754"/>
              <a:gd name="connsiteY1" fmla="*/ 0 h 6892897"/>
              <a:gd name="connsiteX2" fmla="*/ 303683 w 825754"/>
              <a:gd name="connsiteY2" fmla="*/ 6888369 h 6892897"/>
              <a:gd name="connsiteX3" fmla="*/ 0 w 825754"/>
              <a:gd name="connsiteY3" fmla="*/ 6892897 h 6892897"/>
              <a:gd name="connsiteX4" fmla="*/ 4138 w 825754"/>
              <a:gd name="connsiteY4" fmla="*/ 22485 h 6892897"/>
              <a:gd name="connsiteX0" fmla="*/ 4138 w 1163033"/>
              <a:gd name="connsiteY0" fmla="*/ 0 h 6870412"/>
              <a:gd name="connsiteX1" fmla="*/ 1163033 w 1163033"/>
              <a:gd name="connsiteY1" fmla="*/ 0 h 6870412"/>
              <a:gd name="connsiteX2" fmla="*/ 303683 w 1163033"/>
              <a:gd name="connsiteY2" fmla="*/ 6865884 h 6870412"/>
              <a:gd name="connsiteX3" fmla="*/ 0 w 1163033"/>
              <a:gd name="connsiteY3" fmla="*/ 6870412 h 6870412"/>
              <a:gd name="connsiteX4" fmla="*/ 4138 w 1163033"/>
              <a:gd name="connsiteY4" fmla="*/ 0 h 6870412"/>
              <a:gd name="connsiteX0" fmla="*/ 4138 w 1163033"/>
              <a:gd name="connsiteY0" fmla="*/ 0 h 6873379"/>
              <a:gd name="connsiteX1" fmla="*/ 1163033 w 1163033"/>
              <a:gd name="connsiteY1" fmla="*/ 0 h 6873379"/>
              <a:gd name="connsiteX2" fmla="*/ 108811 w 1163033"/>
              <a:gd name="connsiteY2" fmla="*/ 6873379 h 6873379"/>
              <a:gd name="connsiteX3" fmla="*/ 0 w 1163033"/>
              <a:gd name="connsiteY3" fmla="*/ 6870412 h 6873379"/>
              <a:gd name="connsiteX4" fmla="*/ 4138 w 1163033"/>
              <a:gd name="connsiteY4" fmla="*/ 0 h 6873379"/>
              <a:gd name="connsiteX0" fmla="*/ 4138 w 1163033"/>
              <a:gd name="connsiteY0" fmla="*/ 0 h 6870412"/>
              <a:gd name="connsiteX1" fmla="*/ 1163033 w 1163033"/>
              <a:gd name="connsiteY1" fmla="*/ 0 h 6870412"/>
              <a:gd name="connsiteX2" fmla="*/ 146287 w 1163033"/>
              <a:gd name="connsiteY2" fmla="*/ 4894678 h 6870412"/>
              <a:gd name="connsiteX3" fmla="*/ 0 w 1163033"/>
              <a:gd name="connsiteY3" fmla="*/ 6870412 h 6870412"/>
              <a:gd name="connsiteX4" fmla="*/ 4138 w 1163033"/>
              <a:gd name="connsiteY4" fmla="*/ 0 h 6870412"/>
              <a:gd name="connsiteX0" fmla="*/ 562389 w 1721284"/>
              <a:gd name="connsiteY0" fmla="*/ 0 h 6870412"/>
              <a:gd name="connsiteX1" fmla="*/ 1721284 w 1721284"/>
              <a:gd name="connsiteY1" fmla="*/ 0 h 6870412"/>
              <a:gd name="connsiteX2" fmla="*/ 0 w 1721284"/>
              <a:gd name="connsiteY2" fmla="*/ 4362527 h 6870412"/>
              <a:gd name="connsiteX3" fmla="*/ 558251 w 1721284"/>
              <a:gd name="connsiteY3" fmla="*/ 6870412 h 6870412"/>
              <a:gd name="connsiteX4" fmla="*/ 562389 w 1721284"/>
              <a:gd name="connsiteY4" fmla="*/ 0 h 6870412"/>
              <a:gd name="connsiteX0" fmla="*/ 157655 w 1316550"/>
              <a:gd name="connsiteY0" fmla="*/ 0 h 6870412"/>
              <a:gd name="connsiteX1" fmla="*/ 1316550 w 1316550"/>
              <a:gd name="connsiteY1" fmla="*/ 0 h 6870412"/>
              <a:gd name="connsiteX2" fmla="*/ 0 w 1316550"/>
              <a:gd name="connsiteY2" fmla="*/ 5606710 h 6870412"/>
              <a:gd name="connsiteX3" fmla="*/ 153517 w 1316550"/>
              <a:gd name="connsiteY3" fmla="*/ 6870412 h 6870412"/>
              <a:gd name="connsiteX4" fmla="*/ 157655 w 1316550"/>
              <a:gd name="connsiteY4" fmla="*/ 0 h 6870412"/>
              <a:gd name="connsiteX0" fmla="*/ 7753 w 1166648"/>
              <a:gd name="connsiteY0" fmla="*/ 0 h 6870412"/>
              <a:gd name="connsiteX1" fmla="*/ 1166648 w 1166648"/>
              <a:gd name="connsiteY1" fmla="*/ 0 h 6870412"/>
              <a:gd name="connsiteX2" fmla="*/ 0 w 1166648"/>
              <a:gd name="connsiteY2" fmla="*/ 4992114 h 6870412"/>
              <a:gd name="connsiteX3" fmla="*/ 3615 w 1166648"/>
              <a:gd name="connsiteY3" fmla="*/ 6870412 h 6870412"/>
              <a:gd name="connsiteX4" fmla="*/ 7753 w 1166648"/>
              <a:gd name="connsiteY4" fmla="*/ 0 h 6870412"/>
              <a:gd name="connsiteX0" fmla="*/ 11633 w 1170528"/>
              <a:gd name="connsiteY0" fmla="*/ 0 h 5004137"/>
              <a:gd name="connsiteX1" fmla="*/ 1170528 w 1170528"/>
              <a:gd name="connsiteY1" fmla="*/ 0 h 5004137"/>
              <a:gd name="connsiteX2" fmla="*/ 3880 w 1170528"/>
              <a:gd name="connsiteY2" fmla="*/ 4992114 h 5004137"/>
              <a:gd name="connsiteX3" fmla="*/ 0 w 1170528"/>
              <a:gd name="connsiteY3" fmla="*/ 5004137 h 5004137"/>
              <a:gd name="connsiteX4" fmla="*/ 11633 w 1170528"/>
              <a:gd name="connsiteY4" fmla="*/ 0 h 5004137"/>
              <a:gd name="connsiteX0" fmla="*/ 11633 w 1170528"/>
              <a:gd name="connsiteY0" fmla="*/ 0 h 5116563"/>
              <a:gd name="connsiteX1" fmla="*/ 1170528 w 1170528"/>
              <a:gd name="connsiteY1" fmla="*/ 0 h 5116563"/>
              <a:gd name="connsiteX2" fmla="*/ 3880 w 1170528"/>
              <a:gd name="connsiteY2" fmla="*/ 4992114 h 5116563"/>
              <a:gd name="connsiteX3" fmla="*/ 0 w 1170528"/>
              <a:gd name="connsiteY3" fmla="*/ 5116563 h 5116563"/>
              <a:gd name="connsiteX4" fmla="*/ 11633 w 1170528"/>
              <a:gd name="connsiteY4" fmla="*/ 0 h 5116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528" h="5116563">
                <a:moveTo>
                  <a:pt x="11633" y="0"/>
                </a:moveTo>
                <a:lnTo>
                  <a:pt x="1170528" y="0"/>
                </a:lnTo>
                <a:lnTo>
                  <a:pt x="3880" y="4992114"/>
                </a:lnTo>
                <a:lnTo>
                  <a:pt x="0" y="5116563"/>
                </a:lnTo>
                <a:cubicBezTo>
                  <a:pt x="1379" y="2829184"/>
                  <a:pt x="10254" y="2287379"/>
                  <a:pt x="11633" y="0"/>
                </a:cubicBezTo>
                <a:close/>
              </a:path>
            </a:pathLst>
          </a:custGeom>
          <a:solidFill>
            <a:srgbClr val="003E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Chapter Slide - White Screen Only">
    <p:bg>
      <p:bgPr>
        <a:solidFill>
          <a:srgbClr val="003E7F">
            <a:alpha val="0"/>
          </a:srgbClr>
        </a:solidFill>
        <a:effectLst/>
      </p:bgPr>
    </p:bg>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A8B996D-9F42-16F9-2232-3B81DC19B39F}"/>
              </a:ext>
            </a:extLst>
          </p:cNvPr>
          <p:cNvSpPr/>
          <p:nvPr userDrawn="1"/>
        </p:nvSpPr>
        <p:spPr>
          <a:xfrm>
            <a:off x="-11633" y="0"/>
            <a:ext cx="1170528" cy="5116563"/>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 name="connsiteX0" fmla="*/ 4138 w 825754"/>
              <a:gd name="connsiteY0" fmla="*/ 22485 h 6892897"/>
              <a:gd name="connsiteX1" fmla="*/ 825754 w 825754"/>
              <a:gd name="connsiteY1" fmla="*/ 0 h 6892897"/>
              <a:gd name="connsiteX2" fmla="*/ 303683 w 825754"/>
              <a:gd name="connsiteY2" fmla="*/ 6888369 h 6892897"/>
              <a:gd name="connsiteX3" fmla="*/ 0 w 825754"/>
              <a:gd name="connsiteY3" fmla="*/ 6892897 h 6892897"/>
              <a:gd name="connsiteX4" fmla="*/ 4138 w 825754"/>
              <a:gd name="connsiteY4" fmla="*/ 22485 h 6892897"/>
              <a:gd name="connsiteX0" fmla="*/ 4138 w 1163033"/>
              <a:gd name="connsiteY0" fmla="*/ 0 h 6870412"/>
              <a:gd name="connsiteX1" fmla="*/ 1163033 w 1163033"/>
              <a:gd name="connsiteY1" fmla="*/ 0 h 6870412"/>
              <a:gd name="connsiteX2" fmla="*/ 303683 w 1163033"/>
              <a:gd name="connsiteY2" fmla="*/ 6865884 h 6870412"/>
              <a:gd name="connsiteX3" fmla="*/ 0 w 1163033"/>
              <a:gd name="connsiteY3" fmla="*/ 6870412 h 6870412"/>
              <a:gd name="connsiteX4" fmla="*/ 4138 w 1163033"/>
              <a:gd name="connsiteY4" fmla="*/ 0 h 6870412"/>
              <a:gd name="connsiteX0" fmla="*/ 4138 w 1163033"/>
              <a:gd name="connsiteY0" fmla="*/ 0 h 6873379"/>
              <a:gd name="connsiteX1" fmla="*/ 1163033 w 1163033"/>
              <a:gd name="connsiteY1" fmla="*/ 0 h 6873379"/>
              <a:gd name="connsiteX2" fmla="*/ 108811 w 1163033"/>
              <a:gd name="connsiteY2" fmla="*/ 6873379 h 6873379"/>
              <a:gd name="connsiteX3" fmla="*/ 0 w 1163033"/>
              <a:gd name="connsiteY3" fmla="*/ 6870412 h 6873379"/>
              <a:gd name="connsiteX4" fmla="*/ 4138 w 1163033"/>
              <a:gd name="connsiteY4" fmla="*/ 0 h 6873379"/>
              <a:gd name="connsiteX0" fmla="*/ 4138 w 1163033"/>
              <a:gd name="connsiteY0" fmla="*/ 0 h 6870412"/>
              <a:gd name="connsiteX1" fmla="*/ 1163033 w 1163033"/>
              <a:gd name="connsiteY1" fmla="*/ 0 h 6870412"/>
              <a:gd name="connsiteX2" fmla="*/ 146287 w 1163033"/>
              <a:gd name="connsiteY2" fmla="*/ 4894678 h 6870412"/>
              <a:gd name="connsiteX3" fmla="*/ 0 w 1163033"/>
              <a:gd name="connsiteY3" fmla="*/ 6870412 h 6870412"/>
              <a:gd name="connsiteX4" fmla="*/ 4138 w 1163033"/>
              <a:gd name="connsiteY4" fmla="*/ 0 h 6870412"/>
              <a:gd name="connsiteX0" fmla="*/ 562389 w 1721284"/>
              <a:gd name="connsiteY0" fmla="*/ 0 h 6870412"/>
              <a:gd name="connsiteX1" fmla="*/ 1721284 w 1721284"/>
              <a:gd name="connsiteY1" fmla="*/ 0 h 6870412"/>
              <a:gd name="connsiteX2" fmla="*/ 0 w 1721284"/>
              <a:gd name="connsiteY2" fmla="*/ 4362527 h 6870412"/>
              <a:gd name="connsiteX3" fmla="*/ 558251 w 1721284"/>
              <a:gd name="connsiteY3" fmla="*/ 6870412 h 6870412"/>
              <a:gd name="connsiteX4" fmla="*/ 562389 w 1721284"/>
              <a:gd name="connsiteY4" fmla="*/ 0 h 6870412"/>
              <a:gd name="connsiteX0" fmla="*/ 157655 w 1316550"/>
              <a:gd name="connsiteY0" fmla="*/ 0 h 6870412"/>
              <a:gd name="connsiteX1" fmla="*/ 1316550 w 1316550"/>
              <a:gd name="connsiteY1" fmla="*/ 0 h 6870412"/>
              <a:gd name="connsiteX2" fmla="*/ 0 w 1316550"/>
              <a:gd name="connsiteY2" fmla="*/ 5606710 h 6870412"/>
              <a:gd name="connsiteX3" fmla="*/ 153517 w 1316550"/>
              <a:gd name="connsiteY3" fmla="*/ 6870412 h 6870412"/>
              <a:gd name="connsiteX4" fmla="*/ 157655 w 1316550"/>
              <a:gd name="connsiteY4" fmla="*/ 0 h 6870412"/>
              <a:gd name="connsiteX0" fmla="*/ 7753 w 1166648"/>
              <a:gd name="connsiteY0" fmla="*/ 0 h 6870412"/>
              <a:gd name="connsiteX1" fmla="*/ 1166648 w 1166648"/>
              <a:gd name="connsiteY1" fmla="*/ 0 h 6870412"/>
              <a:gd name="connsiteX2" fmla="*/ 0 w 1166648"/>
              <a:gd name="connsiteY2" fmla="*/ 4992114 h 6870412"/>
              <a:gd name="connsiteX3" fmla="*/ 3615 w 1166648"/>
              <a:gd name="connsiteY3" fmla="*/ 6870412 h 6870412"/>
              <a:gd name="connsiteX4" fmla="*/ 7753 w 1166648"/>
              <a:gd name="connsiteY4" fmla="*/ 0 h 6870412"/>
              <a:gd name="connsiteX0" fmla="*/ 11633 w 1170528"/>
              <a:gd name="connsiteY0" fmla="*/ 0 h 5004137"/>
              <a:gd name="connsiteX1" fmla="*/ 1170528 w 1170528"/>
              <a:gd name="connsiteY1" fmla="*/ 0 h 5004137"/>
              <a:gd name="connsiteX2" fmla="*/ 3880 w 1170528"/>
              <a:gd name="connsiteY2" fmla="*/ 4992114 h 5004137"/>
              <a:gd name="connsiteX3" fmla="*/ 0 w 1170528"/>
              <a:gd name="connsiteY3" fmla="*/ 5004137 h 5004137"/>
              <a:gd name="connsiteX4" fmla="*/ 11633 w 1170528"/>
              <a:gd name="connsiteY4" fmla="*/ 0 h 5004137"/>
              <a:gd name="connsiteX0" fmla="*/ 11633 w 1170528"/>
              <a:gd name="connsiteY0" fmla="*/ 0 h 5116563"/>
              <a:gd name="connsiteX1" fmla="*/ 1170528 w 1170528"/>
              <a:gd name="connsiteY1" fmla="*/ 0 h 5116563"/>
              <a:gd name="connsiteX2" fmla="*/ 3880 w 1170528"/>
              <a:gd name="connsiteY2" fmla="*/ 4992114 h 5116563"/>
              <a:gd name="connsiteX3" fmla="*/ 0 w 1170528"/>
              <a:gd name="connsiteY3" fmla="*/ 5116563 h 5116563"/>
              <a:gd name="connsiteX4" fmla="*/ 11633 w 1170528"/>
              <a:gd name="connsiteY4" fmla="*/ 0 h 5116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528" h="5116563">
                <a:moveTo>
                  <a:pt x="11633" y="0"/>
                </a:moveTo>
                <a:lnTo>
                  <a:pt x="1170528" y="0"/>
                </a:lnTo>
                <a:lnTo>
                  <a:pt x="3880" y="4992114"/>
                </a:lnTo>
                <a:lnTo>
                  <a:pt x="0" y="5116563"/>
                </a:lnTo>
                <a:cubicBezTo>
                  <a:pt x="1379" y="2829184"/>
                  <a:pt x="10254" y="2287379"/>
                  <a:pt x="11633" y="0"/>
                </a:cubicBezTo>
                <a:close/>
              </a:path>
            </a:pathLst>
          </a:cu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
            <a:extLst>
              <a:ext uri="{FF2B5EF4-FFF2-40B4-BE49-F238E27FC236}">
                <a16:creationId xmlns:a16="http://schemas.microsoft.com/office/drawing/2014/main" id="{63702A93-44C1-C2FD-085F-6AAFB7D99401}"/>
              </a:ext>
            </a:extLst>
          </p:cNvPr>
          <p:cNvSpPr/>
          <p:nvPr userDrawn="1"/>
        </p:nvSpPr>
        <p:spPr>
          <a:xfrm rot="10800000">
            <a:off x="8001000" y="1741437"/>
            <a:ext cx="1170528" cy="5116563"/>
          </a:xfrm>
          <a:custGeom>
            <a:avLst/>
            <a:gdLst>
              <a:gd name="connsiteX0" fmla="*/ 0 w 1923393"/>
              <a:gd name="connsiteY0" fmla="*/ 0 h 6858000"/>
              <a:gd name="connsiteX1" fmla="*/ 1923393 w 1923393"/>
              <a:gd name="connsiteY1" fmla="*/ 0 h 6858000"/>
              <a:gd name="connsiteX2" fmla="*/ 1923393 w 1923393"/>
              <a:gd name="connsiteY2" fmla="*/ 6858000 h 6858000"/>
              <a:gd name="connsiteX3" fmla="*/ 0 w 1923393"/>
              <a:gd name="connsiteY3" fmla="*/ 6858000 h 6858000"/>
              <a:gd name="connsiteX4" fmla="*/ 0 w 1923393"/>
              <a:gd name="connsiteY4" fmla="*/ 0 h 6858000"/>
              <a:gd name="connsiteX0" fmla="*/ 0 w 1923393"/>
              <a:gd name="connsiteY0" fmla="*/ 0 h 6858000"/>
              <a:gd name="connsiteX1" fmla="*/ 1923393 w 1923393"/>
              <a:gd name="connsiteY1" fmla="*/ 0 h 6858000"/>
              <a:gd name="connsiteX2" fmla="*/ 591207 w 1923393"/>
              <a:gd name="connsiteY2" fmla="*/ 6850118 h 6858000"/>
              <a:gd name="connsiteX3" fmla="*/ 0 w 1923393"/>
              <a:gd name="connsiteY3" fmla="*/ 6858000 h 6858000"/>
              <a:gd name="connsiteX4" fmla="*/ 0 w 1923393"/>
              <a:gd name="connsiteY4" fmla="*/ 0 h 6858000"/>
              <a:gd name="connsiteX0" fmla="*/ 0 w 1923393"/>
              <a:gd name="connsiteY0" fmla="*/ 0 h 6858001"/>
              <a:gd name="connsiteX1" fmla="*/ 1923393 w 1923393"/>
              <a:gd name="connsiteY1" fmla="*/ 0 h 6858001"/>
              <a:gd name="connsiteX2" fmla="*/ 228600 w 1923393"/>
              <a:gd name="connsiteY2" fmla="*/ 6858001 h 6858001"/>
              <a:gd name="connsiteX3" fmla="*/ 0 w 1923393"/>
              <a:gd name="connsiteY3" fmla="*/ 6858000 h 6858001"/>
              <a:gd name="connsiteX4" fmla="*/ 0 w 1923393"/>
              <a:gd name="connsiteY4" fmla="*/ 0 h 6858001"/>
              <a:gd name="connsiteX0" fmla="*/ 0 w 1923393"/>
              <a:gd name="connsiteY0" fmla="*/ 0 h 6865884"/>
              <a:gd name="connsiteX1" fmla="*/ 1923393 w 1923393"/>
              <a:gd name="connsiteY1" fmla="*/ 0 h 6865884"/>
              <a:gd name="connsiteX2" fmla="*/ 299545 w 1923393"/>
              <a:gd name="connsiteY2" fmla="*/ 6865884 h 6865884"/>
              <a:gd name="connsiteX3" fmla="*/ 0 w 1923393"/>
              <a:gd name="connsiteY3" fmla="*/ 6858000 h 6865884"/>
              <a:gd name="connsiteX4" fmla="*/ 0 w 1923393"/>
              <a:gd name="connsiteY4" fmla="*/ 0 h 6865884"/>
              <a:gd name="connsiteX0" fmla="*/ 4138 w 1927531"/>
              <a:gd name="connsiteY0" fmla="*/ 0 h 6865884"/>
              <a:gd name="connsiteX1" fmla="*/ 1927531 w 1927531"/>
              <a:gd name="connsiteY1" fmla="*/ 0 h 6865884"/>
              <a:gd name="connsiteX2" fmla="*/ 303683 w 1927531"/>
              <a:gd name="connsiteY2" fmla="*/ 6865884 h 6865884"/>
              <a:gd name="connsiteX3" fmla="*/ 0 w 1927531"/>
              <a:gd name="connsiteY3" fmla="*/ 6862137 h 6865884"/>
              <a:gd name="connsiteX4" fmla="*/ 4138 w 1927531"/>
              <a:gd name="connsiteY4" fmla="*/ 0 h 6865884"/>
              <a:gd name="connsiteX0" fmla="*/ 4138 w 1927531"/>
              <a:gd name="connsiteY0" fmla="*/ 0 h 6870412"/>
              <a:gd name="connsiteX1" fmla="*/ 1927531 w 1927531"/>
              <a:gd name="connsiteY1" fmla="*/ 0 h 6870412"/>
              <a:gd name="connsiteX2" fmla="*/ 303683 w 1927531"/>
              <a:gd name="connsiteY2" fmla="*/ 6865884 h 6870412"/>
              <a:gd name="connsiteX3" fmla="*/ 0 w 1927531"/>
              <a:gd name="connsiteY3" fmla="*/ 6870412 h 6870412"/>
              <a:gd name="connsiteX4" fmla="*/ 4138 w 1927531"/>
              <a:gd name="connsiteY4" fmla="*/ 0 h 6870412"/>
              <a:gd name="connsiteX0" fmla="*/ 4138 w 825754"/>
              <a:gd name="connsiteY0" fmla="*/ 22485 h 6892897"/>
              <a:gd name="connsiteX1" fmla="*/ 825754 w 825754"/>
              <a:gd name="connsiteY1" fmla="*/ 0 h 6892897"/>
              <a:gd name="connsiteX2" fmla="*/ 303683 w 825754"/>
              <a:gd name="connsiteY2" fmla="*/ 6888369 h 6892897"/>
              <a:gd name="connsiteX3" fmla="*/ 0 w 825754"/>
              <a:gd name="connsiteY3" fmla="*/ 6892897 h 6892897"/>
              <a:gd name="connsiteX4" fmla="*/ 4138 w 825754"/>
              <a:gd name="connsiteY4" fmla="*/ 22485 h 6892897"/>
              <a:gd name="connsiteX0" fmla="*/ 4138 w 1163033"/>
              <a:gd name="connsiteY0" fmla="*/ 0 h 6870412"/>
              <a:gd name="connsiteX1" fmla="*/ 1163033 w 1163033"/>
              <a:gd name="connsiteY1" fmla="*/ 0 h 6870412"/>
              <a:gd name="connsiteX2" fmla="*/ 303683 w 1163033"/>
              <a:gd name="connsiteY2" fmla="*/ 6865884 h 6870412"/>
              <a:gd name="connsiteX3" fmla="*/ 0 w 1163033"/>
              <a:gd name="connsiteY3" fmla="*/ 6870412 h 6870412"/>
              <a:gd name="connsiteX4" fmla="*/ 4138 w 1163033"/>
              <a:gd name="connsiteY4" fmla="*/ 0 h 6870412"/>
              <a:gd name="connsiteX0" fmla="*/ 4138 w 1163033"/>
              <a:gd name="connsiteY0" fmla="*/ 0 h 6873379"/>
              <a:gd name="connsiteX1" fmla="*/ 1163033 w 1163033"/>
              <a:gd name="connsiteY1" fmla="*/ 0 h 6873379"/>
              <a:gd name="connsiteX2" fmla="*/ 108811 w 1163033"/>
              <a:gd name="connsiteY2" fmla="*/ 6873379 h 6873379"/>
              <a:gd name="connsiteX3" fmla="*/ 0 w 1163033"/>
              <a:gd name="connsiteY3" fmla="*/ 6870412 h 6873379"/>
              <a:gd name="connsiteX4" fmla="*/ 4138 w 1163033"/>
              <a:gd name="connsiteY4" fmla="*/ 0 h 6873379"/>
              <a:gd name="connsiteX0" fmla="*/ 4138 w 1163033"/>
              <a:gd name="connsiteY0" fmla="*/ 0 h 6870412"/>
              <a:gd name="connsiteX1" fmla="*/ 1163033 w 1163033"/>
              <a:gd name="connsiteY1" fmla="*/ 0 h 6870412"/>
              <a:gd name="connsiteX2" fmla="*/ 146287 w 1163033"/>
              <a:gd name="connsiteY2" fmla="*/ 4894678 h 6870412"/>
              <a:gd name="connsiteX3" fmla="*/ 0 w 1163033"/>
              <a:gd name="connsiteY3" fmla="*/ 6870412 h 6870412"/>
              <a:gd name="connsiteX4" fmla="*/ 4138 w 1163033"/>
              <a:gd name="connsiteY4" fmla="*/ 0 h 6870412"/>
              <a:gd name="connsiteX0" fmla="*/ 562389 w 1721284"/>
              <a:gd name="connsiteY0" fmla="*/ 0 h 6870412"/>
              <a:gd name="connsiteX1" fmla="*/ 1721284 w 1721284"/>
              <a:gd name="connsiteY1" fmla="*/ 0 h 6870412"/>
              <a:gd name="connsiteX2" fmla="*/ 0 w 1721284"/>
              <a:gd name="connsiteY2" fmla="*/ 4362527 h 6870412"/>
              <a:gd name="connsiteX3" fmla="*/ 558251 w 1721284"/>
              <a:gd name="connsiteY3" fmla="*/ 6870412 h 6870412"/>
              <a:gd name="connsiteX4" fmla="*/ 562389 w 1721284"/>
              <a:gd name="connsiteY4" fmla="*/ 0 h 6870412"/>
              <a:gd name="connsiteX0" fmla="*/ 157655 w 1316550"/>
              <a:gd name="connsiteY0" fmla="*/ 0 h 6870412"/>
              <a:gd name="connsiteX1" fmla="*/ 1316550 w 1316550"/>
              <a:gd name="connsiteY1" fmla="*/ 0 h 6870412"/>
              <a:gd name="connsiteX2" fmla="*/ 0 w 1316550"/>
              <a:gd name="connsiteY2" fmla="*/ 5606710 h 6870412"/>
              <a:gd name="connsiteX3" fmla="*/ 153517 w 1316550"/>
              <a:gd name="connsiteY3" fmla="*/ 6870412 h 6870412"/>
              <a:gd name="connsiteX4" fmla="*/ 157655 w 1316550"/>
              <a:gd name="connsiteY4" fmla="*/ 0 h 6870412"/>
              <a:gd name="connsiteX0" fmla="*/ 7753 w 1166648"/>
              <a:gd name="connsiteY0" fmla="*/ 0 h 6870412"/>
              <a:gd name="connsiteX1" fmla="*/ 1166648 w 1166648"/>
              <a:gd name="connsiteY1" fmla="*/ 0 h 6870412"/>
              <a:gd name="connsiteX2" fmla="*/ 0 w 1166648"/>
              <a:gd name="connsiteY2" fmla="*/ 4992114 h 6870412"/>
              <a:gd name="connsiteX3" fmla="*/ 3615 w 1166648"/>
              <a:gd name="connsiteY3" fmla="*/ 6870412 h 6870412"/>
              <a:gd name="connsiteX4" fmla="*/ 7753 w 1166648"/>
              <a:gd name="connsiteY4" fmla="*/ 0 h 6870412"/>
              <a:gd name="connsiteX0" fmla="*/ 11633 w 1170528"/>
              <a:gd name="connsiteY0" fmla="*/ 0 h 5004137"/>
              <a:gd name="connsiteX1" fmla="*/ 1170528 w 1170528"/>
              <a:gd name="connsiteY1" fmla="*/ 0 h 5004137"/>
              <a:gd name="connsiteX2" fmla="*/ 3880 w 1170528"/>
              <a:gd name="connsiteY2" fmla="*/ 4992114 h 5004137"/>
              <a:gd name="connsiteX3" fmla="*/ 0 w 1170528"/>
              <a:gd name="connsiteY3" fmla="*/ 5004137 h 5004137"/>
              <a:gd name="connsiteX4" fmla="*/ 11633 w 1170528"/>
              <a:gd name="connsiteY4" fmla="*/ 0 h 5004137"/>
              <a:gd name="connsiteX0" fmla="*/ 11633 w 1170528"/>
              <a:gd name="connsiteY0" fmla="*/ 0 h 5116563"/>
              <a:gd name="connsiteX1" fmla="*/ 1170528 w 1170528"/>
              <a:gd name="connsiteY1" fmla="*/ 0 h 5116563"/>
              <a:gd name="connsiteX2" fmla="*/ 3880 w 1170528"/>
              <a:gd name="connsiteY2" fmla="*/ 4992114 h 5116563"/>
              <a:gd name="connsiteX3" fmla="*/ 0 w 1170528"/>
              <a:gd name="connsiteY3" fmla="*/ 5116563 h 5116563"/>
              <a:gd name="connsiteX4" fmla="*/ 11633 w 1170528"/>
              <a:gd name="connsiteY4" fmla="*/ 0 h 5116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528" h="5116563">
                <a:moveTo>
                  <a:pt x="11633" y="0"/>
                </a:moveTo>
                <a:lnTo>
                  <a:pt x="1170528" y="0"/>
                </a:lnTo>
                <a:lnTo>
                  <a:pt x="3880" y="4992114"/>
                </a:lnTo>
                <a:lnTo>
                  <a:pt x="0" y="5116563"/>
                </a:lnTo>
                <a:cubicBezTo>
                  <a:pt x="1379" y="2829184"/>
                  <a:pt x="10254" y="2287379"/>
                  <a:pt x="11633" y="0"/>
                </a:cubicBezTo>
                <a:close/>
              </a:path>
            </a:pathLst>
          </a:cu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1143000" y="1122363"/>
            <a:ext cx="6858000" cy="2387600"/>
          </a:xfrm>
          <a:prstGeom prst="rect">
            <a:avLst/>
          </a:prstGeom>
        </p:spPr>
        <p:txBody>
          <a:bodyPr anchor="b"/>
          <a:lstStyle>
            <a:lvl1pPr algn="ctr">
              <a:lnSpc>
                <a:spcPts val="4500"/>
              </a:lnSpc>
              <a:defRPr sz="4500">
                <a:solidFill>
                  <a:srgbClr val="007EB4"/>
                </a:solidFill>
              </a:defRPr>
            </a:lvl1pPr>
          </a:lstStyle>
          <a:p>
            <a:r>
              <a:rPr lang="en-US"/>
              <a:t>Click to edit master chapter</a:t>
            </a:r>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1800" b="1">
                <a:solidFill>
                  <a:srgbClr val="898989"/>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r>
              <a:rPr lang="en-US"/>
              <a:t>Click to edit subtitle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Slide - Text Only">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19100" y="6194307"/>
            <a:ext cx="1767635" cy="365125"/>
          </a:xfrm>
          <a:prstGeom prst="rect">
            <a:avLst/>
          </a:prstGeom>
        </p:spPr>
        <p:txBody>
          <a:bodyPr/>
          <a:lstStyle/>
          <a:p>
            <a:endParaRPr lang="en-US"/>
          </a:p>
        </p:txBody>
      </p:sp>
      <p:sp>
        <p:nvSpPr>
          <p:cNvPr id="15" name="Subtitle 2">
            <a:extLst>
              <a:ext uri="{FF2B5EF4-FFF2-40B4-BE49-F238E27FC236}">
                <a16:creationId xmlns:a16="http://schemas.microsoft.com/office/drawing/2014/main" id="{1D7E37CD-EC9F-28DC-17D8-986843017BC1}"/>
              </a:ext>
            </a:extLst>
          </p:cNvPr>
          <p:cNvSpPr>
            <a:spLocks noGrp="1"/>
          </p:cNvSpPr>
          <p:nvPr>
            <p:ph type="subTitle" idx="11" hasCustomPrompt="1"/>
          </p:nvPr>
        </p:nvSpPr>
        <p:spPr>
          <a:xfrm>
            <a:off x="1143000" y="3602038"/>
            <a:ext cx="6858000" cy="1655762"/>
          </a:xfrm>
        </p:spPr>
        <p:txBody>
          <a:bodyPr/>
          <a:lstStyle>
            <a:lvl1pPr marL="0" indent="0" algn="ctr">
              <a:buNone/>
              <a:defRPr sz="1800" b="1">
                <a:solidFill>
                  <a:srgbClr val="898989"/>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r>
              <a:rPr lang="en-US"/>
              <a:t>Click to edit subtitle</a:t>
            </a:r>
          </a:p>
        </p:txBody>
      </p:sp>
      <p:sp>
        <p:nvSpPr>
          <p:cNvPr id="19" name="Title 1">
            <a:extLst>
              <a:ext uri="{FF2B5EF4-FFF2-40B4-BE49-F238E27FC236}">
                <a16:creationId xmlns:a16="http://schemas.microsoft.com/office/drawing/2014/main" id="{87575A43-287C-45DC-18DC-BAA423DF852A}"/>
              </a:ext>
            </a:extLst>
          </p:cNvPr>
          <p:cNvSpPr>
            <a:spLocks noGrp="1"/>
          </p:cNvSpPr>
          <p:nvPr>
            <p:ph type="ctrTitle" hasCustomPrompt="1"/>
          </p:nvPr>
        </p:nvSpPr>
        <p:spPr>
          <a:xfrm>
            <a:off x="1143000" y="1122363"/>
            <a:ext cx="6858000" cy="2387600"/>
          </a:xfrm>
          <a:prstGeom prst="rect">
            <a:avLst/>
          </a:prstGeom>
        </p:spPr>
        <p:txBody>
          <a:bodyPr anchor="b"/>
          <a:lstStyle>
            <a:lvl1pPr algn="ctr">
              <a:lnSpc>
                <a:spcPts val="4500"/>
              </a:lnSpc>
              <a:defRPr sz="4500">
                <a:solidFill>
                  <a:srgbClr val="003E7F"/>
                </a:solidFill>
              </a:defRPr>
            </a:lvl1pPr>
          </a:lstStyle>
          <a:p>
            <a:r>
              <a:rPr lang="en-US"/>
              <a:t>Click to edit master </a:t>
            </a:r>
            <a:br>
              <a:rPr lang="en-US"/>
            </a:br>
            <a:r>
              <a:rPr lang="en-US"/>
              <a:t>chapter</a:t>
            </a:r>
          </a:p>
        </p:txBody>
      </p:sp>
      <p:sp>
        <p:nvSpPr>
          <p:cNvPr id="21" name="Slide Number Placeholder 5">
            <a:extLst>
              <a:ext uri="{FF2B5EF4-FFF2-40B4-BE49-F238E27FC236}">
                <a16:creationId xmlns:a16="http://schemas.microsoft.com/office/drawing/2014/main" id="{F3D42113-899C-86FE-7250-759022FBADA6}"/>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647864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with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28650" y="1716374"/>
            <a:ext cx="7886700" cy="4315883"/>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8" name="Date Placeholder 4"/>
          <p:cNvSpPr>
            <a:spLocks noGrp="1"/>
          </p:cNvSpPr>
          <p:nvPr>
            <p:ph type="dt" sz="half" idx="10"/>
          </p:nvPr>
        </p:nvSpPr>
        <p:spPr>
          <a:xfrm>
            <a:off x="417815" y="6194307"/>
            <a:ext cx="1778243" cy="365125"/>
          </a:xfrm>
          <a:prstGeom prst="rect">
            <a:avLst/>
          </a:prstGeom>
        </p:spPr>
        <p:txBody>
          <a:bodyPr/>
          <a:lstStyle/>
          <a:p>
            <a:endParaRPr lang="en-US"/>
          </a:p>
        </p:txBody>
      </p:sp>
      <p:sp>
        <p:nvSpPr>
          <p:cNvPr id="11" name="Subtitle 2"/>
          <p:cNvSpPr>
            <a:spLocks noGrp="1"/>
          </p:cNvSpPr>
          <p:nvPr>
            <p:ph type="subTitle" idx="13" hasCustomPrompt="1"/>
          </p:nvPr>
        </p:nvSpPr>
        <p:spPr>
          <a:xfrm>
            <a:off x="628650" y="1112218"/>
            <a:ext cx="7886700" cy="604156"/>
          </a:xfrm>
        </p:spPr>
        <p:txBody>
          <a:bodyPr>
            <a:normAutofit/>
          </a:bodyPr>
          <a:lstStyle>
            <a:lvl1pPr marL="0" indent="0" algn="ctr">
              <a:buNone/>
              <a:defRPr sz="1575" b="1">
                <a:solidFill>
                  <a:srgbClr val="898989"/>
                </a:solidFill>
              </a:defRPr>
            </a:lvl1pPr>
            <a:lvl2pPr marL="342875" indent="0" algn="ctr">
              <a:buNone/>
              <a:defRPr sz="1500"/>
            </a:lvl2pPr>
            <a:lvl3pPr marL="685749" indent="0" algn="ctr">
              <a:buNone/>
              <a:defRPr sz="1350"/>
            </a:lvl3pPr>
            <a:lvl4pPr marL="1028624" indent="0" algn="ctr">
              <a:buNone/>
              <a:defRPr sz="1200"/>
            </a:lvl4pPr>
            <a:lvl5pPr marL="1371498" indent="0" algn="ctr">
              <a:buNone/>
              <a:defRPr sz="1200"/>
            </a:lvl5pPr>
            <a:lvl6pPr marL="1714373" indent="0" algn="ctr">
              <a:buNone/>
              <a:defRPr sz="1200"/>
            </a:lvl6pPr>
            <a:lvl7pPr marL="2057246" indent="0" algn="ctr">
              <a:buNone/>
              <a:defRPr sz="1200"/>
            </a:lvl7pPr>
            <a:lvl8pPr marL="2400120" indent="0" algn="ctr">
              <a:buNone/>
              <a:defRPr sz="1200"/>
            </a:lvl8pPr>
            <a:lvl9pPr marL="2742995" indent="0" algn="ctr">
              <a:buNone/>
              <a:defRPr sz="1200"/>
            </a:lvl9pPr>
          </a:lstStyle>
          <a:p>
            <a:pPr marL="0" marR="0" lvl="0" indent="0" algn="ctr" defTabSz="685749" rtl="0" eaLnBrk="1" fontAlgn="auto" latinLnBrk="0" hangingPunct="1">
              <a:lnSpc>
                <a:spcPct val="90000"/>
              </a:lnSpc>
              <a:spcBef>
                <a:spcPts val="750"/>
              </a:spcBef>
              <a:spcAft>
                <a:spcPts val="0"/>
              </a:spcAft>
              <a:buClrTx/>
              <a:buSzTx/>
              <a:buFont typeface="Arial"/>
              <a:buNone/>
              <a:tabLst/>
              <a:defRPr/>
            </a:pPr>
            <a:r>
              <a:rPr lang="en-US"/>
              <a:t>Click to edit subtitle</a:t>
            </a:r>
          </a:p>
        </p:txBody>
      </p:sp>
      <p:sp>
        <p:nvSpPr>
          <p:cNvPr id="7" name="Slide Number Placeholder 5">
            <a:extLst>
              <a:ext uri="{FF2B5EF4-FFF2-40B4-BE49-F238E27FC236}">
                <a16:creationId xmlns:a16="http://schemas.microsoft.com/office/drawing/2014/main" id="{C6C61651-FA5B-2F5B-9721-4E7C0F7EBE04}"/>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13" name="Title Placeholder 1">
            <a:extLst>
              <a:ext uri="{FF2B5EF4-FFF2-40B4-BE49-F238E27FC236}">
                <a16:creationId xmlns:a16="http://schemas.microsoft.com/office/drawing/2014/main" id="{D207A640-EA07-C40E-C214-77050DDD0D6A}"/>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947093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419100" y="6194307"/>
            <a:ext cx="1767635"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52AF9CC8-2034-C000-E286-BD7C67C9A5D3}"/>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10" name="Title Placeholder 1">
            <a:extLst>
              <a:ext uri="{FF2B5EF4-FFF2-40B4-BE49-F238E27FC236}">
                <a16:creationId xmlns:a16="http://schemas.microsoft.com/office/drawing/2014/main" id="{8BC063F8-763B-3669-8240-E69A0C1CF5D1}"/>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830650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0F801C0A-024B-F72C-A2EC-3BFCE4E78EF2}"/>
              </a:ext>
            </a:extLst>
          </p:cNvPr>
          <p:cNvPicPr>
            <a:picLocks noChangeAspect="1"/>
          </p:cNvPicPr>
          <p:nvPr userDrawn="1"/>
        </p:nvPicPr>
        <p:blipFill>
          <a:blip r:embed="rId2"/>
          <a:srcRect/>
          <a:stretch/>
        </p:blipFill>
        <p:spPr>
          <a:xfrm>
            <a:off x="547195" y="1511730"/>
            <a:ext cx="3944209" cy="4413102"/>
          </a:xfrm>
          <a:prstGeom prst="rect">
            <a:avLst/>
          </a:prstGeom>
        </p:spPr>
      </p:pic>
      <p:sp>
        <p:nvSpPr>
          <p:cNvPr id="7" name="Date Placeholder 6"/>
          <p:cNvSpPr>
            <a:spLocks noGrp="1"/>
          </p:cNvSpPr>
          <p:nvPr>
            <p:ph type="dt" sz="half" idx="10"/>
          </p:nvPr>
        </p:nvSpPr>
        <p:spPr>
          <a:xfrm>
            <a:off x="419100" y="6194307"/>
            <a:ext cx="1767635" cy="365125"/>
          </a:xfrm>
          <a:prstGeom prst="rect">
            <a:avLst/>
          </a:prstGeom>
        </p:spPr>
        <p:txBody>
          <a:bodyPr/>
          <a:lstStyle/>
          <a:p>
            <a:endParaRPr lang="en-US"/>
          </a:p>
        </p:txBody>
      </p:sp>
      <p:sp>
        <p:nvSpPr>
          <p:cNvPr id="9" name="Slide Number Placeholder 5">
            <a:extLst>
              <a:ext uri="{FF2B5EF4-FFF2-40B4-BE49-F238E27FC236}">
                <a16:creationId xmlns:a16="http://schemas.microsoft.com/office/drawing/2014/main" id="{7BA9D3D7-B1B2-D228-2983-C156E1EF18ED}"/>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12" name="Content Placeholder 2">
            <a:extLst>
              <a:ext uri="{FF2B5EF4-FFF2-40B4-BE49-F238E27FC236}">
                <a16:creationId xmlns:a16="http://schemas.microsoft.com/office/drawing/2014/main" id="{AFCE7EC8-3681-A3B9-F167-BB5CF5DF4D89}"/>
              </a:ext>
            </a:extLst>
          </p:cNvPr>
          <p:cNvSpPr>
            <a:spLocks noGrp="1"/>
          </p:cNvSpPr>
          <p:nvPr>
            <p:ph sz="half" idx="13" hasCustomPrompt="1"/>
          </p:nvPr>
        </p:nvSpPr>
        <p:spPr>
          <a:xfrm>
            <a:off x="664490" y="1618938"/>
            <a:ext cx="3721842" cy="4199444"/>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31" name="Picture 30">
            <a:extLst>
              <a:ext uri="{FF2B5EF4-FFF2-40B4-BE49-F238E27FC236}">
                <a16:creationId xmlns:a16="http://schemas.microsoft.com/office/drawing/2014/main" id="{8517B5C5-C8B8-E008-E51C-69FB4DBABAF0}"/>
              </a:ext>
            </a:extLst>
          </p:cNvPr>
          <p:cNvPicPr>
            <a:picLocks noChangeAspect="1"/>
          </p:cNvPicPr>
          <p:nvPr userDrawn="1"/>
        </p:nvPicPr>
        <p:blipFill>
          <a:blip r:embed="rId2"/>
          <a:srcRect/>
          <a:stretch/>
        </p:blipFill>
        <p:spPr>
          <a:xfrm>
            <a:off x="4639510" y="1511730"/>
            <a:ext cx="3944209" cy="4413102"/>
          </a:xfrm>
          <a:prstGeom prst="rect">
            <a:avLst/>
          </a:prstGeom>
        </p:spPr>
      </p:pic>
      <p:sp>
        <p:nvSpPr>
          <p:cNvPr id="32" name="Content Placeholder 2">
            <a:extLst>
              <a:ext uri="{FF2B5EF4-FFF2-40B4-BE49-F238E27FC236}">
                <a16:creationId xmlns:a16="http://schemas.microsoft.com/office/drawing/2014/main" id="{EEA0C7D2-31BB-764E-F573-2CDF5D25BCD3}"/>
              </a:ext>
            </a:extLst>
          </p:cNvPr>
          <p:cNvSpPr>
            <a:spLocks noGrp="1"/>
          </p:cNvSpPr>
          <p:nvPr>
            <p:ph sz="half" idx="16" hasCustomPrompt="1"/>
          </p:nvPr>
        </p:nvSpPr>
        <p:spPr>
          <a:xfrm>
            <a:off x="4756805" y="1618938"/>
            <a:ext cx="3721842" cy="4199444"/>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33" name="Title Placeholder 1">
            <a:extLst>
              <a:ext uri="{FF2B5EF4-FFF2-40B4-BE49-F238E27FC236}">
                <a16:creationId xmlns:a16="http://schemas.microsoft.com/office/drawing/2014/main" id="{92F48594-0CB5-843F-7125-97BD991EB100}"/>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2116583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header">
    <p:spTree>
      <p:nvGrpSpPr>
        <p:cNvPr id="1" name=""/>
        <p:cNvGrpSpPr/>
        <p:nvPr/>
      </p:nvGrpSpPr>
      <p:grpSpPr>
        <a:xfrm>
          <a:off x="0" y="0"/>
          <a:ext cx="0" cy="0"/>
          <a:chOff x="0" y="0"/>
          <a:chExt cx="0" cy="0"/>
        </a:xfrm>
      </p:grpSpPr>
      <p:sp>
        <p:nvSpPr>
          <p:cNvPr id="7" name="Date Placeholder 6"/>
          <p:cNvSpPr>
            <a:spLocks noGrp="1"/>
          </p:cNvSpPr>
          <p:nvPr>
            <p:ph type="dt" sz="half" idx="10"/>
          </p:nvPr>
        </p:nvSpPr>
        <p:spPr>
          <a:xfrm>
            <a:off x="419100" y="6194307"/>
            <a:ext cx="1767635" cy="365125"/>
          </a:xfrm>
          <a:prstGeom prst="rect">
            <a:avLst/>
          </a:prstGeom>
        </p:spPr>
        <p:txBody>
          <a:bodyPr/>
          <a:lstStyle/>
          <a:p>
            <a:endParaRPr lang="en-US"/>
          </a:p>
        </p:txBody>
      </p:sp>
      <p:sp>
        <p:nvSpPr>
          <p:cNvPr id="9" name="Slide Number Placeholder 5">
            <a:extLst>
              <a:ext uri="{FF2B5EF4-FFF2-40B4-BE49-F238E27FC236}">
                <a16:creationId xmlns:a16="http://schemas.microsoft.com/office/drawing/2014/main" id="{7BA9D3D7-B1B2-D228-2983-C156E1EF18ED}"/>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pic>
        <p:nvPicPr>
          <p:cNvPr id="8" name="Picture 7">
            <a:extLst>
              <a:ext uri="{FF2B5EF4-FFF2-40B4-BE49-F238E27FC236}">
                <a16:creationId xmlns:a16="http://schemas.microsoft.com/office/drawing/2014/main" id="{442EFDD1-D228-7D91-4913-84EC99814EDE}"/>
              </a:ext>
            </a:extLst>
          </p:cNvPr>
          <p:cNvPicPr>
            <a:picLocks noChangeAspect="1"/>
          </p:cNvPicPr>
          <p:nvPr userDrawn="1"/>
        </p:nvPicPr>
        <p:blipFill>
          <a:blip r:embed="rId2"/>
          <a:srcRect/>
          <a:stretch/>
        </p:blipFill>
        <p:spPr>
          <a:xfrm>
            <a:off x="552785" y="1511729"/>
            <a:ext cx="3944210" cy="4413103"/>
          </a:xfrm>
          <a:prstGeom prst="rect">
            <a:avLst/>
          </a:prstGeom>
        </p:spPr>
      </p:pic>
      <p:sp>
        <p:nvSpPr>
          <p:cNvPr id="10" name="Text Placeholder 2">
            <a:extLst>
              <a:ext uri="{FF2B5EF4-FFF2-40B4-BE49-F238E27FC236}">
                <a16:creationId xmlns:a16="http://schemas.microsoft.com/office/drawing/2014/main" id="{17B22469-FD78-AD97-537E-2074D6A6E25A}"/>
              </a:ext>
            </a:extLst>
          </p:cNvPr>
          <p:cNvSpPr>
            <a:spLocks noGrp="1"/>
          </p:cNvSpPr>
          <p:nvPr>
            <p:ph type="body" idx="1" hasCustomPrompt="1"/>
          </p:nvPr>
        </p:nvSpPr>
        <p:spPr>
          <a:xfrm>
            <a:off x="583020" y="1538067"/>
            <a:ext cx="3868340"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12" name="Content Placeholder 2">
            <a:extLst>
              <a:ext uri="{FF2B5EF4-FFF2-40B4-BE49-F238E27FC236}">
                <a16:creationId xmlns:a16="http://schemas.microsoft.com/office/drawing/2014/main" id="{AFCE7EC8-3681-A3B9-F167-BB5CF5DF4D89}"/>
              </a:ext>
            </a:extLst>
          </p:cNvPr>
          <p:cNvSpPr>
            <a:spLocks noGrp="1"/>
          </p:cNvSpPr>
          <p:nvPr>
            <p:ph sz="half" idx="13" hasCustomPrompt="1"/>
          </p:nvPr>
        </p:nvSpPr>
        <p:spPr>
          <a:xfrm>
            <a:off x="664490" y="2298817"/>
            <a:ext cx="3721842" cy="3512070"/>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2209E1D4-D095-1C33-3762-12C19780DDD3}"/>
              </a:ext>
            </a:extLst>
          </p:cNvPr>
          <p:cNvPicPr>
            <a:picLocks noChangeAspect="1"/>
          </p:cNvPicPr>
          <p:nvPr userDrawn="1"/>
        </p:nvPicPr>
        <p:blipFill>
          <a:blip r:embed="rId2"/>
          <a:srcRect/>
          <a:stretch/>
        </p:blipFill>
        <p:spPr>
          <a:xfrm>
            <a:off x="4652595" y="1511729"/>
            <a:ext cx="3944210" cy="4413103"/>
          </a:xfrm>
          <a:prstGeom prst="rect">
            <a:avLst/>
          </a:prstGeom>
        </p:spPr>
      </p:pic>
      <p:sp>
        <p:nvSpPr>
          <p:cNvPr id="21" name="Text Placeholder 2">
            <a:extLst>
              <a:ext uri="{FF2B5EF4-FFF2-40B4-BE49-F238E27FC236}">
                <a16:creationId xmlns:a16="http://schemas.microsoft.com/office/drawing/2014/main" id="{95393E23-C904-EEC6-D0BB-F61BCD037AE2}"/>
              </a:ext>
            </a:extLst>
          </p:cNvPr>
          <p:cNvSpPr>
            <a:spLocks noGrp="1"/>
          </p:cNvSpPr>
          <p:nvPr>
            <p:ph type="body" idx="14" hasCustomPrompt="1"/>
          </p:nvPr>
        </p:nvSpPr>
        <p:spPr>
          <a:xfrm>
            <a:off x="4682830" y="1538067"/>
            <a:ext cx="3868340"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24" name="Content Placeholder 2">
            <a:extLst>
              <a:ext uri="{FF2B5EF4-FFF2-40B4-BE49-F238E27FC236}">
                <a16:creationId xmlns:a16="http://schemas.microsoft.com/office/drawing/2014/main" id="{2CC043BA-CE5C-0E81-53F1-7318DC7A0F41}"/>
              </a:ext>
            </a:extLst>
          </p:cNvPr>
          <p:cNvSpPr>
            <a:spLocks noGrp="1"/>
          </p:cNvSpPr>
          <p:nvPr>
            <p:ph sz="half" idx="15" hasCustomPrompt="1"/>
          </p:nvPr>
        </p:nvSpPr>
        <p:spPr>
          <a:xfrm>
            <a:off x="4764300" y="2298817"/>
            <a:ext cx="3721842" cy="3512070"/>
          </a:xfrm>
        </p:spPr>
        <p:txBody>
          <a:bodyPr/>
          <a:lstStyle>
            <a:lvl1pPr>
              <a:defRPr>
                <a:solidFill>
                  <a:srgbClr val="003E7F"/>
                </a:solidFill>
              </a:defRPr>
            </a:lvl1pPr>
            <a:lvl2pPr>
              <a:defRPr>
                <a:solidFill>
                  <a:srgbClr val="003E7F"/>
                </a:solidFill>
              </a:defRPr>
            </a:lvl2pPr>
            <a:lvl3pPr>
              <a:defRPr>
                <a:solidFill>
                  <a:srgbClr val="003E7F"/>
                </a:solidFill>
              </a:defRPr>
            </a:lvl3pPr>
            <a:lvl4pPr>
              <a:defRPr>
                <a:solidFill>
                  <a:srgbClr val="003E7F"/>
                </a:solidFill>
              </a:defRPr>
            </a:lvl4pPr>
            <a:lvl5pPr>
              <a:defRPr>
                <a:solidFill>
                  <a:srgbClr val="003E7F"/>
                </a:solidFill>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1D1CDAFF-7873-7267-8FFB-3CBC0BC514AA}"/>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1920621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DD3CF75-680F-887A-DA7B-80C6828FAD6F}"/>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Picture Placeholder 7">
            <a:extLst>
              <a:ext uri="{FF2B5EF4-FFF2-40B4-BE49-F238E27FC236}">
                <a16:creationId xmlns:a16="http://schemas.microsoft.com/office/drawing/2014/main" id="{66D26E76-5670-92D7-68B7-D1D40882B4E5}"/>
              </a:ext>
            </a:extLst>
          </p:cNvPr>
          <p:cNvSpPr>
            <a:spLocks noGrp="1"/>
          </p:cNvSpPr>
          <p:nvPr>
            <p:ph type="pic" sz="quarter" idx="13"/>
          </p:nvPr>
        </p:nvSpPr>
        <p:spPr>
          <a:xfrm>
            <a:off x="0" y="0"/>
            <a:ext cx="9144000" cy="6858000"/>
          </a:xfrm>
        </p:spPr>
        <p:txBody>
          <a:bodyPr/>
          <a:lstStyle>
            <a:lvl1pPr marL="0" indent="0">
              <a:buNone/>
              <a:defRPr/>
            </a:lvl1pPr>
          </a:lstStyle>
          <a:p>
            <a:r>
              <a:rPr lang="en-US"/>
              <a:t>Click icon to add picture</a:t>
            </a:r>
          </a:p>
        </p:txBody>
      </p:sp>
      <p:sp>
        <p:nvSpPr>
          <p:cNvPr id="8" name="Slide Number Placeholder 5">
            <a:extLst>
              <a:ext uri="{FF2B5EF4-FFF2-40B4-BE49-F238E27FC236}">
                <a16:creationId xmlns:a16="http://schemas.microsoft.com/office/drawing/2014/main" id="{46AD9328-DBDB-C909-8E52-2BF6347AFE65}"/>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137248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wo Column, Header Bullet List, Paragraph">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30512" y="1208955"/>
            <a:ext cx="4629150" cy="4873625"/>
          </a:xfrm>
        </p:spPr>
        <p:txBody>
          <a:bodyPr/>
          <a:lstStyle>
            <a:lvl1pPr>
              <a:defRPr sz="2400">
                <a:solidFill>
                  <a:srgbClr val="003E7F"/>
                </a:solidFill>
              </a:defRPr>
            </a:lvl1pPr>
            <a:lvl2pPr>
              <a:defRPr sz="2100">
                <a:solidFill>
                  <a:srgbClr val="003E7F"/>
                </a:solidFill>
              </a:defRPr>
            </a:lvl2pPr>
            <a:lvl3pPr>
              <a:defRPr sz="1800">
                <a:solidFill>
                  <a:srgbClr val="003E7F"/>
                </a:solidFill>
              </a:defRPr>
            </a:lvl3pPr>
            <a:lvl4pPr>
              <a:defRPr sz="1500">
                <a:solidFill>
                  <a:srgbClr val="003E7F"/>
                </a:solidFill>
              </a:defRPr>
            </a:lvl4pPr>
            <a:lvl5pPr>
              <a:defRPr sz="1500">
                <a:solidFill>
                  <a:srgbClr val="003E7F"/>
                </a:solidFill>
              </a:defRPr>
            </a:lvl5pPr>
            <a:lvl6pPr>
              <a:defRPr sz="1500"/>
            </a:lvl6pPr>
            <a:lvl7pPr>
              <a:defRPr sz="1500"/>
            </a:lvl7pPr>
            <a:lvl8pPr>
              <a:defRPr sz="1500"/>
            </a:lvl8pPr>
            <a:lvl9pPr>
              <a:defRPr sz="15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19100" y="6194307"/>
            <a:ext cx="1767635" cy="365125"/>
          </a:xfrm>
          <a:prstGeom prst="rect">
            <a:avLst/>
          </a:prstGeom>
        </p:spPr>
        <p:txBody>
          <a:bodyPr/>
          <a:lstStyle/>
          <a:p>
            <a:endParaRPr lang="en-US"/>
          </a:p>
        </p:txBody>
      </p:sp>
      <p:sp>
        <p:nvSpPr>
          <p:cNvPr id="4" name="Slide Number Placeholder 5">
            <a:extLst>
              <a:ext uri="{FF2B5EF4-FFF2-40B4-BE49-F238E27FC236}">
                <a16:creationId xmlns:a16="http://schemas.microsoft.com/office/drawing/2014/main" id="{6B59042E-05B7-0947-295E-72B8891595BB}"/>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6" name="Rectangle 5">
            <a:extLst>
              <a:ext uri="{FF2B5EF4-FFF2-40B4-BE49-F238E27FC236}">
                <a16:creationId xmlns:a16="http://schemas.microsoft.com/office/drawing/2014/main" id="{0552CD10-8002-8252-7B3B-6DBA2E87326F}"/>
              </a:ext>
            </a:extLst>
          </p:cNvPr>
          <p:cNvSpPr/>
          <p:nvPr userDrawn="1"/>
        </p:nvSpPr>
        <p:spPr>
          <a:xfrm>
            <a:off x="372912" y="1894755"/>
            <a:ext cx="3358372" cy="4197335"/>
          </a:xfrm>
          <a:prstGeom prst="rect">
            <a:avLst/>
          </a:prstGeom>
          <a:solidFill>
            <a:srgbClr val="F5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4B68F75-2406-2237-3870-8A529E4448D9}"/>
              </a:ext>
            </a:extLst>
          </p:cNvPr>
          <p:cNvSpPr/>
          <p:nvPr userDrawn="1"/>
        </p:nvSpPr>
        <p:spPr>
          <a:xfrm>
            <a:off x="372912" y="1208955"/>
            <a:ext cx="3358372" cy="81221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28A7E99-B7FD-99E3-142B-F622BF1F0B12}"/>
              </a:ext>
            </a:extLst>
          </p:cNvPr>
          <p:cNvPicPr>
            <a:picLocks noChangeAspect="1"/>
          </p:cNvPicPr>
          <p:nvPr userDrawn="1"/>
        </p:nvPicPr>
        <p:blipFill>
          <a:blip r:embed="rId2"/>
          <a:srcRect l="3890" r="3890"/>
          <a:stretch/>
        </p:blipFill>
        <p:spPr>
          <a:xfrm>
            <a:off x="372912" y="2007272"/>
            <a:ext cx="3358372" cy="4074609"/>
          </a:xfrm>
          <a:prstGeom prst="rect">
            <a:avLst/>
          </a:prstGeom>
        </p:spPr>
      </p:pic>
      <p:sp>
        <p:nvSpPr>
          <p:cNvPr id="10" name="Text Placeholder 3">
            <a:extLst>
              <a:ext uri="{FF2B5EF4-FFF2-40B4-BE49-F238E27FC236}">
                <a16:creationId xmlns:a16="http://schemas.microsoft.com/office/drawing/2014/main" id="{311F2EB5-99C1-DB19-6F50-37ED88DDCF1F}"/>
              </a:ext>
            </a:extLst>
          </p:cNvPr>
          <p:cNvSpPr>
            <a:spLocks noGrp="1"/>
          </p:cNvSpPr>
          <p:nvPr>
            <p:ph type="body" sz="half" idx="14" hasCustomPrompt="1"/>
          </p:nvPr>
        </p:nvSpPr>
        <p:spPr>
          <a:xfrm>
            <a:off x="577509" y="2101358"/>
            <a:ext cx="2949178" cy="3827252"/>
          </a:xfrm>
        </p:spPr>
        <p:txBody>
          <a:bodyPr>
            <a:normAutofit/>
          </a:bodyPr>
          <a:lstStyle>
            <a:lvl1pPr marL="285750" indent="-285750">
              <a:buFont typeface="Arial" panose="020B0604020202020204" pitchFamily="34" charset="0"/>
              <a:buChar char="•"/>
              <a:defRPr sz="1500" b="1">
                <a:solidFill>
                  <a:srgbClr val="003E7F"/>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11" name="Text Placeholder 2">
            <a:extLst>
              <a:ext uri="{FF2B5EF4-FFF2-40B4-BE49-F238E27FC236}">
                <a16:creationId xmlns:a16="http://schemas.microsoft.com/office/drawing/2014/main" id="{D07900FF-F4AC-7A31-3CD0-6232CC306FEE}"/>
              </a:ext>
            </a:extLst>
          </p:cNvPr>
          <p:cNvSpPr>
            <a:spLocks noGrp="1"/>
          </p:cNvSpPr>
          <p:nvPr>
            <p:ph type="body" idx="15" hasCustomPrompt="1"/>
          </p:nvPr>
        </p:nvSpPr>
        <p:spPr>
          <a:xfrm>
            <a:off x="484338" y="1321610"/>
            <a:ext cx="3124101"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12" name="Title Placeholder 1">
            <a:extLst>
              <a:ext uri="{FF2B5EF4-FFF2-40B4-BE49-F238E27FC236}">
                <a16:creationId xmlns:a16="http://schemas.microsoft.com/office/drawing/2014/main" id="{05C35AFD-A6E6-9FBD-7557-CBB1018489FA}"/>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56727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wo Column, Header Bullet List, 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E96910-28C2-E07B-7597-D6DEFFDEBA76}"/>
              </a:ext>
            </a:extLst>
          </p:cNvPr>
          <p:cNvSpPr/>
          <p:nvPr userDrawn="1"/>
        </p:nvSpPr>
        <p:spPr>
          <a:xfrm>
            <a:off x="372912" y="1894755"/>
            <a:ext cx="3358372" cy="4197335"/>
          </a:xfrm>
          <a:prstGeom prst="rect">
            <a:avLst/>
          </a:prstGeom>
          <a:solidFill>
            <a:srgbClr val="F5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6FA8679-26EF-AE4D-86F4-3BDD7946B322}"/>
              </a:ext>
            </a:extLst>
          </p:cNvPr>
          <p:cNvSpPr/>
          <p:nvPr userDrawn="1"/>
        </p:nvSpPr>
        <p:spPr>
          <a:xfrm>
            <a:off x="372912" y="1208955"/>
            <a:ext cx="3358372" cy="81221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a:xfrm>
            <a:off x="419100" y="6194307"/>
            <a:ext cx="1767635" cy="365125"/>
          </a:xfrm>
          <a:prstGeom prst="rect">
            <a:avLst/>
          </a:prstGeom>
        </p:spPr>
        <p:txBody>
          <a:bodyPr/>
          <a:lstStyle/>
          <a:p>
            <a:endParaRPr lang="en-US"/>
          </a:p>
        </p:txBody>
      </p:sp>
      <p:pic>
        <p:nvPicPr>
          <p:cNvPr id="18" name="Picture 17">
            <a:extLst>
              <a:ext uri="{FF2B5EF4-FFF2-40B4-BE49-F238E27FC236}">
                <a16:creationId xmlns:a16="http://schemas.microsoft.com/office/drawing/2014/main" id="{099730C5-5867-8187-968B-7DE09B78BD37}"/>
              </a:ext>
            </a:extLst>
          </p:cNvPr>
          <p:cNvPicPr>
            <a:picLocks noChangeAspect="1"/>
          </p:cNvPicPr>
          <p:nvPr userDrawn="1"/>
        </p:nvPicPr>
        <p:blipFill>
          <a:blip r:embed="rId2"/>
          <a:srcRect l="3890" r="3890"/>
          <a:stretch/>
        </p:blipFill>
        <p:spPr>
          <a:xfrm>
            <a:off x="372912" y="2007272"/>
            <a:ext cx="3358372" cy="4074609"/>
          </a:xfrm>
          <a:prstGeom prst="rect">
            <a:avLst/>
          </a:prstGeom>
        </p:spPr>
      </p:pic>
      <p:sp>
        <p:nvSpPr>
          <p:cNvPr id="14" name="Picture Placeholder 11">
            <a:extLst>
              <a:ext uri="{FF2B5EF4-FFF2-40B4-BE49-F238E27FC236}">
                <a16:creationId xmlns:a16="http://schemas.microsoft.com/office/drawing/2014/main" id="{4C3A210F-FB0D-7D69-F90B-6D240D6E4783}"/>
              </a:ext>
            </a:extLst>
          </p:cNvPr>
          <p:cNvSpPr>
            <a:spLocks noGrp="1"/>
          </p:cNvSpPr>
          <p:nvPr>
            <p:ph type="pic" sz="quarter" idx="13"/>
          </p:nvPr>
        </p:nvSpPr>
        <p:spPr>
          <a:xfrm>
            <a:off x="4030663" y="1208375"/>
            <a:ext cx="4629150" cy="4873506"/>
          </a:xfrm>
        </p:spPr>
        <p:txBody>
          <a:bodyPr/>
          <a:lstStyle>
            <a:lvl1pPr marL="0" indent="0">
              <a:buNone/>
              <a:defRPr/>
            </a:lvl1pPr>
          </a:lstStyle>
          <a:p>
            <a:r>
              <a:rPr lang="en-US"/>
              <a:t>Click icon to add picture</a:t>
            </a:r>
          </a:p>
        </p:txBody>
      </p:sp>
      <p:sp>
        <p:nvSpPr>
          <p:cNvPr id="20" name="Text Placeholder 3">
            <a:extLst>
              <a:ext uri="{FF2B5EF4-FFF2-40B4-BE49-F238E27FC236}">
                <a16:creationId xmlns:a16="http://schemas.microsoft.com/office/drawing/2014/main" id="{DE303ECB-1495-6D4A-6548-DA3D9073D320}"/>
              </a:ext>
            </a:extLst>
          </p:cNvPr>
          <p:cNvSpPr>
            <a:spLocks noGrp="1"/>
          </p:cNvSpPr>
          <p:nvPr>
            <p:ph type="body" sz="half" idx="14" hasCustomPrompt="1"/>
          </p:nvPr>
        </p:nvSpPr>
        <p:spPr>
          <a:xfrm>
            <a:off x="577509" y="2101358"/>
            <a:ext cx="2949178" cy="3827252"/>
          </a:xfrm>
        </p:spPr>
        <p:txBody>
          <a:bodyPr>
            <a:normAutofit/>
          </a:bodyPr>
          <a:lstStyle>
            <a:lvl1pPr marL="285750" indent="-285750">
              <a:buFont typeface="Arial" panose="020B0604020202020204" pitchFamily="34" charset="0"/>
              <a:buChar char="•"/>
              <a:defRPr sz="1500" b="1">
                <a:solidFill>
                  <a:srgbClr val="003E7F"/>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4" name="Slide Number Placeholder 5">
            <a:extLst>
              <a:ext uri="{FF2B5EF4-FFF2-40B4-BE49-F238E27FC236}">
                <a16:creationId xmlns:a16="http://schemas.microsoft.com/office/drawing/2014/main" id="{454B21AC-4CC7-DADD-41C5-4DE0C146DD6B}"/>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9" name="Text Placeholder 2">
            <a:extLst>
              <a:ext uri="{FF2B5EF4-FFF2-40B4-BE49-F238E27FC236}">
                <a16:creationId xmlns:a16="http://schemas.microsoft.com/office/drawing/2014/main" id="{ACA6932D-CA28-88E6-778E-AB5FE6542254}"/>
              </a:ext>
            </a:extLst>
          </p:cNvPr>
          <p:cNvSpPr>
            <a:spLocks noGrp="1"/>
          </p:cNvSpPr>
          <p:nvPr>
            <p:ph type="body" idx="15" hasCustomPrompt="1"/>
          </p:nvPr>
        </p:nvSpPr>
        <p:spPr>
          <a:xfrm>
            <a:off x="484338" y="1321610"/>
            <a:ext cx="3124101"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11" name="Title Placeholder 1">
            <a:extLst>
              <a:ext uri="{FF2B5EF4-FFF2-40B4-BE49-F238E27FC236}">
                <a16:creationId xmlns:a16="http://schemas.microsoft.com/office/drawing/2014/main" id="{2A0AB69B-2A6B-100F-3F6E-BA9A694987B2}"/>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682912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Header Bullet List, Paragraph">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7844A4C4-D627-CB00-46FC-1F655C53E7CE}"/>
              </a:ext>
            </a:extLst>
          </p:cNvPr>
          <p:cNvSpPr>
            <a:spLocks noGrp="1"/>
          </p:cNvSpPr>
          <p:nvPr>
            <p:ph idx="1" hasCustomPrompt="1"/>
          </p:nvPr>
        </p:nvSpPr>
        <p:spPr>
          <a:xfrm>
            <a:off x="4030512" y="928091"/>
            <a:ext cx="4629150" cy="5000761"/>
          </a:xfrm>
        </p:spPr>
        <p:txBody>
          <a:bodyPr/>
          <a:lstStyle>
            <a:lvl1pPr>
              <a:defRPr sz="2400">
                <a:solidFill>
                  <a:srgbClr val="003E7F"/>
                </a:solidFill>
              </a:defRPr>
            </a:lvl1pPr>
            <a:lvl2pPr>
              <a:defRPr sz="2100">
                <a:solidFill>
                  <a:srgbClr val="003E7F"/>
                </a:solidFill>
              </a:defRPr>
            </a:lvl2pPr>
            <a:lvl3pPr>
              <a:defRPr sz="1800">
                <a:solidFill>
                  <a:srgbClr val="003E7F"/>
                </a:solidFill>
              </a:defRPr>
            </a:lvl3pPr>
            <a:lvl4pPr>
              <a:defRPr sz="1500">
                <a:solidFill>
                  <a:srgbClr val="003E7F"/>
                </a:solidFill>
              </a:defRPr>
            </a:lvl4pPr>
            <a:lvl5pPr>
              <a:defRPr sz="1500">
                <a:solidFill>
                  <a:srgbClr val="003E7F"/>
                </a:solidFill>
              </a:defRPr>
            </a:lvl5pPr>
            <a:lvl6pPr>
              <a:defRPr sz="1500"/>
            </a:lvl6pPr>
            <a:lvl7pPr>
              <a:defRPr sz="1500"/>
            </a:lvl7pPr>
            <a:lvl8pPr>
              <a:defRPr sz="1500"/>
            </a:lvl8pPr>
            <a:lvl9pPr>
              <a:defRPr sz="15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BA5CE8-51CE-9A84-49CD-6F893EAD9F3E}"/>
              </a:ext>
            </a:extLst>
          </p:cNvPr>
          <p:cNvSpPr>
            <a:spLocks noGrp="1"/>
          </p:cNvSpPr>
          <p:nvPr>
            <p:ph type="dt" sz="half" idx="10"/>
          </p:nvPr>
        </p:nvSpPr>
        <p:spPr>
          <a:xfrm>
            <a:off x="419100" y="6194307"/>
            <a:ext cx="1767635" cy="365125"/>
          </a:xfrm>
          <a:prstGeom prst="rect">
            <a:avLst/>
          </a:prstGeom>
        </p:spPr>
        <p:txBody>
          <a:bodyPr/>
          <a:lstStyle/>
          <a:p>
            <a:endParaRPr lang="en-US"/>
          </a:p>
        </p:txBody>
      </p:sp>
      <p:sp>
        <p:nvSpPr>
          <p:cNvPr id="17" name="Rectangle 16">
            <a:extLst>
              <a:ext uri="{FF2B5EF4-FFF2-40B4-BE49-F238E27FC236}">
                <a16:creationId xmlns:a16="http://schemas.microsoft.com/office/drawing/2014/main" id="{BA8CE1EC-AC86-1F52-A79A-676D7E141865}"/>
              </a:ext>
            </a:extLst>
          </p:cNvPr>
          <p:cNvSpPr/>
          <p:nvPr userDrawn="1"/>
        </p:nvSpPr>
        <p:spPr>
          <a:xfrm>
            <a:off x="372912" y="1621386"/>
            <a:ext cx="3358372" cy="4294425"/>
          </a:xfrm>
          <a:prstGeom prst="rect">
            <a:avLst/>
          </a:prstGeom>
          <a:solidFill>
            <a:srgbClr val="F5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01D9F9F-89BD-EEF2-75C0-B99BBF272021}"/>
              </a:ext>
            </a:extLst>
          </p:cNvPr>
          <p:cNvSpPr/>
          <p:nvPr userDrawn="1"/>
        </p:nvSpPr>
        <p:spPr>
          <a:xfrm>
            <a:off x="372912" y="928091"/>
            <a:ext cx="3358372" cy="81221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AC93D984-5E60-1556-653E-7BF3B755571E}"/>
              </a:ext>
            </a:extLst>
          </p:cNvPr>
          <p:cNvPicPr>
            <a:picLocks noChangeAspect="1"/>
          </p:cNvPicPr>
          <p:nvPr userDrawn="1"/>
        </p:nvPicPr>
        <p:blipFill>
          <a:blip r:embed="rId2"/>
          <a:srcRect l="5073" r="5073"/>
          <a:stretch/>
        </p:blipFill>
        <p:spPr>
          <a:xfrm>
            <a:off x="372912" y="1726408"/>
            <a:ext cx="3358372" cy="4181908"/>
          </a:xfrm>
          <a:prstGeom prst="rect">
            <a:avLst/>
          </a:prstGeom>
        </p:spPr>
      </p:pic>
      <p:sp>
        <p:nvSpPr>
          <p:cNvPr id="24" name="Text Placeholder 2">
            <a:extLst>
              <a:ext uri="{FF2B5EF4-FFF2-40B4-BE49-F238E27FC236}">
                <a16:creationId xmlns:a16="http://schemas.microsoft.com/office/drawing/2014/main" id="{B720E25A-B41E-0DE3-CBEA-63B9C260C7C2}"/>
              </a:ext>
            </a:extLst>
          </p:cNvPr>
          <p:cNvSpPr>
            <a:spLocks noGrp="1"/>
          </p:cNvSpPr>
          <p:nvPr>
            <p:ph type="body" idx="14" hasCustomPrompt="1"/>
          </p:nvPr>
        </p:nvSpPr>
        <p:spPr>
          <a:xfrm>
            <a:off x="484338" y="1041290"/>
            <a:ext cx="3124101"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25" name="Text Placeholder 3">
            <a:extLst>
              <a:ext uri="{FF2B5EF4-FFF2-40B4-BE49-F238E27FC236}">
                <a16:creationId xmlns:a16="http://schemas.microsoft.com/office/drawing/2014/main" id="{F26B96FB-62DA-96E5-ED07-30896A537052}"/>
              </a:ext>
            </a:extLst>
          </p:cNvPr>
          <p:cNvSpPr>
            <a:spLocks noGrp="1"/>
          </p:cNvSpPr>
          <p:nvPr>
            <p:ph type="body" sz="half" idx="15" hasCustomPrompt="1"/>
          </p:nvPr>
        </p:nvSpPr>
        <p:spPr>
          <a:xfrm>
            <a:off x="577509" y="1900626"/>
            <a:ext cx="2949178" cy="3850674"/>
          </a:xfrm>
        </p:spPr>
        <p:txBody>
          <a:bodyPr>
            <a:normAutofit/>
          </a:bodyPr>
          <a:lstStyle>
            <a:lvl1pPr marL="285750" indent="-285750">
              <a:buFont typeface="Arial" panose="020B0604020202020204" pitchFamily="34" charset="0"/>
              <a:buChar char="•"/>
              <a:defRPr sz="1500" b="1">
                <a:solidFill>
                  <a:srgbClr val="003E7F"/>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 name="Slide Number Placeholder 5">
            <a:extLst>
              <a:ext uri="{FF2B5EF4-FFF2-40B4-BE49-F238E27FC236}">
                <a16:creationId xmlns:a16="http://schemas.microsoft.com/office/drawing/2014/main" id="{6C7F35E2-6560-4F36-09A2-2751D63731E3}"/>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2557407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Header Bullet List, Photo">
    <p:spTree>
      <p:nvGrpSpPr>
        <p:cNvPr id="1" name=""/>
        <p:cNvGrpSpPr/>
        <p:nvPr/>
      </p:nvGrpSpPr>
      <p:grpSpPr>
        <a:xfrm>
          <a:off x="0" y="0"/>
          <a:ext cx="0" cy="0"/>
          <a:chOff x="0" y="0"/>
          <a:chExt cx="0" cy="0"/>
        </a:xfrm>
      </p:grpSpPr>
      <p:sp>
        <p:nvSpPr>
          <p:cNvPr id="7" name="Date Placeholder 4">
            <a:extLst>
              <a:ext uri="{FF2B5EF4-FFF2-40B4-BE49-F238E27FC236}">
                <a16:creationId xmlns:a16="http://schemas.microsoft.com/office/drawing/2014/main" id="{9EBA5CE8-51CE-9A84-49CD-6F893EAD9F3E}"/>
              </a:ext>
            </a:extLst>
          </p:cNvPr>
          <p:cNvSpPr>
            <a:spLocks noGrp="1"/>
          </p:cNvSpPr>
          <p:nvPr>
            <p:ph type="dt" sz="half" idx="10"/>
          </p:nvPr>
        </p:nvSpPr>
        <p:spPr>
          <a:xfrm>
            <a:off x="419100" y="6194307"/>
            <a:ext cx="1767635" cy="365125"/>
          </a:xfrm>
          <a:prstGeom prst="rect">
            <a:avLst/>
          </a:prstGeom>
        </p:spPr>
        <p:txBody>
          <a:bodyPr/>
          <a:lstStyle/>
          <a:p>
            <a:endParaRPr lang="en-US"/>
          </a:p>
        </p:txBody>
      </p:sp>
      <p:sp>
        <p:nvSpPr>
          <p:cNvPr id="9" name="Picture Placeholder 11">
            <a:extLst>
              <a:ext uri="{FF2B5EF4-FFF2-40B4-BE49-F238E27FC236}">
                <a16:creationId xmlns:a16="http://schemas.microsoft.com/office/drawing/2014/main" id="{FB9EA24D-5F27-8071-42B3-471CF83563E3}"/>
              </a:ext>
            </a:extLst>
          </p:cNvPr>
          <p:cNvSpPr>
            <a:spLocks noGrp="1"/>
          </p:cNvSpPr>
          <p:nvPr>
            <p:ph type="pic" sz="quarter" idx="13"/>
          </p:nvPr>
        </p:nvSpPr>
        <p:spPr>
          <a:xfrm>
            <a:off x="4030663" y="928090"/>
            <a:ext cx="4629150" cy="5002302"/>
          </a:xfrm>
        </p:spPr>
        <p:txBody>
          <a:bodyPr/>
          <a:lstStyle>
            <a:lvl1pPr marL="0" indent="0">
              <a:buNone/>
              <a:defRPr/>
            </a:lvl1pPr>
          </a:lstStyle>
          <a:p>
            <a:r>
              <a:rPr lang="en-US"/>
              <a:t>Click icon to add picture</a:t>
            </a:r>
          </a:p>
        </p:txBody>
      </p:sp>
      <p:sp>
        <p:nvSpPr>
          <p:cNvPr id="3" name="Slide Number Placeholder 5">
            <a:extLst>
              <a:ext uri="{FF2B5EF4-FFF2-40B4-BE49-F238E27FC236}">
                <a16:creationId xmlns:a16="http://schemas.microsoft.com/office/drawing/2014/main" id="{6A980C95-7F4D-2168-2A9A-833AD3F2CFBC}"/>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4" name="Rectangle 3">
            <a:extLst>
              <a:ext uri="{FF2B5EF4-FFF2-40B4-BE49-F238E27FC236}">
                <a16:creationId xmlns:a16="http://schemas.microsoft.com/office/drawing/2014/main" id="{3A178F22-FD91-85DB-A92F-C30A669B628D}"/>
              </a:ext>
            </a:extLst>
          </p:cNvPr>
          <p:cNvSpPr/>
          <p:nvPr userDrawn="1"/>
        </p:nvSpPr>
        <p:spPr>
          <a:xfrm>
            <a:off x="372912" y="1621386"/>
            <a:ext cx="3358372" cy="4294425"/>
          </a:xfrm>
          <a:prstGeom prst="rect">
            <a:avLst/>
          </a:prstGeom>
          <a:solidFill>
            <a:srgbClr val="F5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2EB7AEA-0835-54C6-2667-77A94A372711}"/>
              </a:ext>
            </a:extLst>
          </p:cNvPr>
          <p:cNvSpPr/>
          <p:nvPr userDrawn="1"/>
        </p:nvSpPr>
        <p:spPr>
          <a:xfrm>
            <a:off x="372912" y="928091"/>
            <a:ext cx="3358372" cy="81221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1E119D8-5105-C70D-ED6D-38F076FFD619}"/>
              </a:ext>
            </a:extLst>
          </p:cNvPr>
          <p:cNvPicPr>
            <a:picLocks noChangeAspect="1"/>
          </p:cNvPicPr>
          <p:nvPr userDrawn="1"/>
        </p:nvPicPr>
        <p:blipFill>
          <a:blip r:embed="rId2"/>
          <a:srcRect l="5073" r="5073"/>
          <a:stretch/>
        </p:blipFill>
        <p:spPr>
          <a:xfrm>
            <a:off x="372912" y="1726408"/>
            <a:ext cx="3358372" cy="4181908"/>
          </a:xfrm>
          <a:prstGeom prst="rect">
            <a:avLst/>
          </a:prstGeom>
        </p:spPr>
      </p:pic>
      <p:sp>
        <p:nvSpPr>
          <p:cNvPr id="10" name="Text Placeholder 2">
            <a:extLst>
              <a:ext uri="{FF2B5EF4-FFF2-40B4-BE49-F238E27FC236}">
                <a16:creationId xmlns:a16="http://schemas.microsoft.com/office/drawing/2014/main" id="{47AF80A7-4E61-E364-30D7-217722A1F378}"/>
              </a:ext>
            </a:extLst>
          </p:cNvPr>
          <p:cNvSpPr>
            <a:spLocks noGrp="1"/>
          </p:cNvSpPr>
          <p:nvPr>
            <p:ph type="body" idx="14" hasCustomPrompt="1"/>
          </p:nvPr>
        </p:nvSpPr>
        <p:spPr>
          <a:xfrm>
            <a:off x="484338" y="1041290"/>
            <a:ext cx="3124101" cy="586908"/>
          </a:xfrm>
        </p:spPr>
        <p:txBody>
          <a:bodyPr anchor="ctr">
            <a:normAutofit/>
          </a:bodyPr>
          <a:lstStyle>
            <a:lvl1pPr marL="0" indent="0" algn="ctr">
              <a:buNone/>
              <a:defRPr sz="2100" b="1">
                <a:solidFill>
                  <a:schemeClr val="bg1"/>
                </a:solidFill>
              </a:defRPr>
            </a:lvl1pPr>
            <a:lvl2pPr marL="342875" indent="0">
              <a:buNone/>
              <a:defRPr sz="1500" b="1"/>
            </a:lvl2pPr>
            <a:lvl3pPr marL="685749" indent="0">
              <a:buNone/>
              <a:defRPr sz="1350" b="1"/>
            </a:lvl3pPr>
            <a:lvl4pPr marL="1028624" indent="0">
              <a:buNone/>
              <a:defRPr sz="1200" b="1"/>
            </a:lvl4pPr>
            <a:lvl5pPr marL="1371498" indent="0">
              <a:buNone/>
              <a:defRPr sz="1200" b="1"/>
            </a:lvl5pPr>
            <a:lvl6pPr marL="1714373" indent="0">
              <a:buNone/>
              <a:defRPr sz="1200" b="1"/>
            </a:lvl6pPr>
            <a:lvl7pPr marL="2057246" indent="0">
              <a:buNone/>
              <a:defRPr sz="1200" b="1"/>
            </a:lvl7pPr>
            <a:lvl8pPr marL="2400120" indent="0">
              <a:buNone/>
              <a:defRPr sz="1200" b="1"/>
            </a:lvl8pPr>
            <a:lvl9pPr marL="2742995" indent="0">
              <a:buNone/>
              <a:defRPr sz="1200" b="1"/>
            </a:lvl9pPr>
          </a:lstStyle>
          <a:p>
            <a:pPr lvl="0"/>
            <a:r>
              <a:rPr lang="en-US"/>
              <a:t>Edit text</a:t>
            </a:r>
          </a:p>
        </p:txBody>
      </p:sp>
      <p:sp>
        <p:nvSpPr>
          <p:cNvPr id="11" name="Text Placeholder 3">
            <a:extLst>
              <a:ext uri="{FF2B5EF4-FFF2-40B4-BE49-F238E27FC236}">
                <a16:creationId xmlns:a16="http://schemas.microsoft.com/office/drawing/2014/main" id="{65B412C0-1B0C-B05A-C16D-9113EF641280}"/>
              </a:ext>
            </a:extLst>
          </p:cNvPr>
          <p:cNvSpPr>
            <a:spLocks noGrp="1"/>
          </p:cNvSpPr>
          <p:nvPr>
            <p:ph type="body" sz="half" idx="15" hasCustomPrompt="1"/>
          </p:nvPr>
        </p:nvSpPr>
        <p:spPr>
          <a:xfrm>
            <a:off x="577509" y="1900626"/>
            <a:ext cx="2949178" cy="3850674"/>
          </a:xfrm>
        </p:spPr>
        <p:txBody>
          <a:bodyPr>
            <a:normAutofit/>
          </a:bodyPr>
          <a:lstStyle>
            <a:lvl1pPr marL="285750" indent="-285750">
              <a:buFont typeface="Arial" panose="020B0604020202020204" pitchFamily="34" charset="0"/>
              <a:buChar char="•"/>
              <a:defRPr sz="1500" b="1">
                <a:solidFill>
                  <a:srgbClr val="003E7F"/>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Tree>
    <p:extLst>
      <p:ext uri="{BB962C8B-B14F-4D97-AF65-F5344CB8AC3E}">
        <p14:creationId xmlns:p14="http://schemas.microsoft.com/office/powerpoint/2010/main" val="2154310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Horizontal Icon, Header, Paragraph">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419100" y="6194307"/>
            <a:ext cx="1767635" cy="365125"/>
          </a:xfrm>
          <a:prstGeom prst="rect">
            <a:avLst/>
          </a:prstGeom>
        </p:spPr>
        <p:txBody>
          <a:bodyPr/>
          <a:lstStyle/>
          <a:p>
            <a:endParaRPr lang="en-US"/>
          </a:p>
        </p:txBody>
      </p:sp>
      <p:sp>
        <p:nvSpPr>
          <p:cNvPr id="26" name="Text Placeholder 3">
            <a:extLst>
              <a:ext uri="{FF2B5EF4-FFF2-40B4-BE49-F238E27FC236}">
                <a16:creationId xmlns:a16="http://schemas.microsoft.com/office/drawing/2014/main" id="{7424B591-4538-FFC3-C7E1-D71788BD47D9}"/>
              </a:ext>
            </a:extLst>
          </p:cNvPr>
          <p:cNvSpPr>
            <a:spLocks noGrp="1"/>
          </p:cNvSpPr>
          <p:nvPr>
            <p:ph type="body" sz="half" idx="16" hasCustomPrompt="1"/>
          </p:nvPr>
        </p:nvSpPr>
        <p:spPr>
          <a:xfrm>
            <a:off x="2396760" y="3226445"/>
            <a:ext cx="2044502"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4" name="Picture Placeholder 2">
            <a:extLst>
              <a:ext uri="{FF2B5EF4-FFF2-40B4-BE49-F238E27FC236}">
                <a16:creationId xmlns:a16="http://schemas.microsoft.com/office/drawing/2014/main" id="{0F2453BE-2588-27E3-3249-98E8577224AB}"/>
              </a:ext>
            </a:extLst>
          </p:cNvPr>
          <p:cNvSpPr>
            <a:spLocks noGrp="1"/>
          </p:cNvSpPr>
          <p:nvPr>
            <p:ph type="pic" idx="19"/>
          </p:nvPr>
        </p:nvSpPr>
        <p:spPr>
          <a:xfrm>
            <a:off x="3035846" y="173930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47" name="Text Placeholder 46">
            <a:extLst>
              <a:ext uri="{FF2B5EF4-FFF2-40B4-BE49-F238E27FC236}">
                <a16:creationId xmlns:a16="http://schemas.microsoft.com/office/drawing/2014/main" id="{4618D6B9-0518-7F09-9F5C-FED05726CEBA}"/>
              </a:ext>
            </a:extLst>
          </p:cNvPr>
          <p:cNvSpPr>
            <a:spLocks noGrp="1"/>
          </p:cNvSpPr>
          <p:nvPr>
            <p:ph type="body" sz="quarter" idx="22" hasCustomPrompt="1"/>
          </p:nvPr>
        </p:nvSpPr>
        <p:spPr>
          <a:xfrm>
            <a:off x="2396760" y="2719345"/>
            <a:ext cx="2044502"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0" name="Text Placeholder 3">
            <a:extLst>
              <a:ext uri="{FF2B5EF4-FFF2-40B4-BE49-F238E27FC236}">
                <a16:creationId xmlns:a16="http://schemas.microsoft.com/office/drawing/2014/main" id="{71D14930-D851-D891-E7D3-79548C39A4D3}"/>
              </a:ext>
            </a:extLst>
          </p:cNvPr>
          <p:cNvSpPr>
            <a:spLocks noGrp="1"/>
          </p:cNvSpPr>
          <p:nvPr>
            <p:ph type="body" sz="half" idx="25" hasCustomPrompt="1"/>
          </p:nvPr>
        </p:nvSpPr>
        <p:spPr>
          <a:xfrm>
            <a:off x="118380" y="3219201"/>
            <a:ext cx="2044502"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1" name="Picture Placeholder 2">
            <a:extLst>
              <a:ext uri="{FF2B5EF4-FFF2-40B4-BE49-F238E27FC236}">
                <a16:creationId xmlns:a16="http://schemas.microsoft.com/office/drawing/2014/main" id="{BECEF398-E952-E3AC-9196-98E02A90A124}"/>
              </a:ext>
            </a:extLst>
          </p:cNvPr>
          <p:cNvSpPr>
            <a:spLocks noGrp="1"/>
          </p:cNvSpPr>
          <p:nvPr>
            <p:ph type="pic" idx="26"/>
          </p:nvPr>
        </p:nvSpPr>
        <p:spPr>
          <a:xfrm>
            <a:off x="753400" y="173930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2" name="Text Placeholder 46">
            <a:extLst>
              <a:ext uri="{FF2B5EF4-FFF2-40B4-BE49-F238E27FC236}">
                <a16:creationId xmlns:a16="http://schemas.microsoft.com/office/drawing/2014/main" id="{2C11D761-D375-77DB-8DCF-3B9B17FDB572}"/>
              </a:ext>
            </a:extLst>
          </p:cNvPr>
          <p:cNvSpPr>
            <a:spLocks noGrp="1"/>
          </p:cNvSpPr>
          <p:nvPr>
            <p:ph type="body" sz="quarter" idx="27" hasCustomPrompt="1"/>
          </p:nvPr>
        </p:nvSpPr>
        <p:spPr>
          <a:xfrm>
            <a:off x="118380" y="2712101"/>
            <a:ext cx="2044502"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3" name="Text Placeholder 3">
            <a:extLst>
              <a:ext uri="{FF2B5EF4-FFF2-40B4-BE49-F238E27FC236}">
                <a16:creationId xmlns:a16="http://schemas.microsoft.com/office/drawing/2014/main" id="{0F0501FF-08C9-BF91-D713-39F652B51BFE}"/>
              </a:ext>
            </a:extLst>
          </p:cNvPr>
          <p:cNvSpPr>
            <a:spLocks noGrp="1"/>
          </p:cNvSpPr>
          <p:nvPr>
            <p:ph type="body" sz="half" idx="28" hasCustomPrompt="1"/>
          </p:nvPr>
        </p:nvSpPr>
        <p:spPr>
          <a:xfrm>
            <a:off x="6957812" y="3226445"/>
            <a:ext cx="2067808"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4" name="Picture Placeholder 2">
            <a:extLst>
              <a:ext uri="{FF2B5EF4-FFF2-40B4-BE49-F238E27FC236}">
                <a16:creationId xmlns:a16="http://schemas.microsoft.com/office/drawing/2014/main" id="{032B68AE-1613-425C-25A7-51F3AC475EC1}"/>
              </a:ext>
            </a:extLst>
          </p:cNvPr>
          <p:cNvSpPr>
            <a:spLocks noGrp="1"/>
          </p:cNvSpPr>
          <p:nvPr>
            <p:ph type="pic" idx="29"/>
          </p:nvPr>
        </p:nvSpPr>
        <p:spPr>
          <a:xfrm>
            <a:off x="7604485" y="173930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5" name="Text Placeholder 46">
            <a:extLst>
              <a:ext uri="{FF2B5EF4-FFF2-40B4-BE49-F238E27FC236}">
                <a16:creationId xmlns:a16="http://schemas.microsoft.com/office/drawing/2014/main" id="{DCE1E016-29C3-1A24-11CC-23EFF4D237DB}"/>
              </a:ext>
            </a:extLst>
          </p:cNvPr>
          <p:cNvSpPr>
            <a:spLocks noGrp="1"/>
          </p:cNvSpPr>
          <p:nvPr>
            <p:ph type="body" sz="quarter" idx="30" hasCustomPrompt="1"/>
          </p:nvPr>
        </p:nvSpPr>
        <p:spPr>
          <a:xfrm>
            <a:off x="6957812" y="2719345"/>
            <a:ext cx="2067808"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6" name="Text Placeholder 3">
            <a:extLst>
              <a:ext uri="{FF2B5EF4-FFF2-40B4-BE49-F238E27FC236}">
                <a16:creationId xmlns:a16="http://schemas.microsoft.com/office/drawing/2014/main" id="{229B0AFB-C6DF-9071-5802-4312EE667147}"/>
              </a:ext>
            </a:extLst>
          </p:cNvPr>
          <p:cNvSpPr>
            <a:spLocks noGrp="1"/>
          </p:cNvSpPr>
          <p:nvPr>
            <p:ph type="body" sz="half" idx="31" hasCustomPrompt="1"/>
          </p:nvPr>
        </p:nvSpPr>
        <p:spPr>
          <a:xfrm>
            <a:off x="4667008" y="3226445"/>
            <a:ext cx="2060991"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7" name="Picture Placeholder 2">
            <a:extLst>
              <a:ext uri="{FF2B5EF4-FFF2-40B4-BE49-F238E27FC236}">
                <a16:creationId xmlns:a16="http://schemas.microsoft.com/office/drawing/2014/main" id="{9C33848E-EDAC-21C4-B299-4E8DB20908A0}"/>
              </a:ext>
            </a:extLst>
          </p:cNvPr>
          <p:cNvSpPr>
            <a:spLocks noGrp="1"/>
          </p:cNvSpPr>
          <p:nvPr>
            <p:ph type="pic" idx="32"/>
          </p:nvPr>
        </p:nvSpPr>
        <p:spPr>
          <a:xfrm>
            <a:off x="5322039" y="173930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8" name="Text Placeholder 46">
            <a:extLst>
              <a:ext uri="{FF2B5EF4-FFF2-40B4-BE49-F238E27FC236}">
                <a16:creationId xmlns:a16="http://schemas.microsoft.com/office/drawing/2014/main" id="{39439A9D-D114-94FB-C283-C5EA49432754}"/>
              </a:ext>
            </a:extLst>
          </p:cNvPr>
          <p:cNvSpPr>
            <a:spLocks noGrp="1"/>
          </p:cNvSpPr>
          <p:nvPr>
            <p:ph type="body" sz="quarter" idx="33" hasCustomPrompt="1"/>
          </p:nvPr>
        </p:nvSpPr>
        <p:spPr>
          <a:xfrm>
            <a:off x="4678775" y="2719345"/>
            <a:ext cx="2060991"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 name="Slide Number Placeholder 5">
            <a:extLst>
              <a:ext uri="{FF2B5EF4-FFF2-40B4-BE49-F238E27FC236}">
                <a16:creationId xmlns:a16="http://schemas.microsoft.com/office/drawing/2014/main" id="{6F599E75-A365-B90B-1306-88331C792CF2}"/>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6" name="Title Placeholder 1">
            <a:extLst>
              <a:ext uri="{FF2B5EF4-FFF2-40B4-BE49-F238E27FC236}">
                <a16:creationId xmlns:a16="http://schemas.microsoft.com/office/drawing/2014/main" id="{E328D1A0-A1E1-3D47-942A-E5B849DED093}"/>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2611248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orizontal Icon, Header, Paragraph">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419100" y="6194307"/>
            <a:ext cx="1767635" cy="365125"/>
          </a:xfrm>
          <a:prstGeom prst="rect">
            <a:avLst/>
          </a:prstGeom>
        </p:spPr>
        <p:txBody>
          <a:bodyPr/>
          <a:lstStyle/>
          <a:p>
            <a:endParaRPr lang="en-US"/>
          </a:p>
        </p:txBody>
      </p:sp>
      <p:sp>
        <p:nvSpPr>
          <p:cNvPr id="26" name="Text Placeholder 3">
            <a:extLst>
              <a:ext uri="{FF2B5EF4-FFF2-40B4-BE49-F238E27FC236}">
                <a16:creationId xmlns:a16="http://schemas.microsoft.com/office/drawing/2014/main" id="{7424B591-4538-FFC3-C7E1-D71788BD47D9}"/>
              </a:ext>
            </a:extLst>
          </p:cNvPr>
          <p:cNvSpPr>
            <a:spLocks noGrp="1"/>
          </p:cNvSpPr>
          <p:nvPr>
            <p:ph type="body" sz="half" idx="16" hasCustomPrompt="1"/>
          </p:nvPr>
        </p:nvSpPr>
        <p:spPr>
          <a:xfrm>
            <a:off x="2396760" y="3049465"/>
            <a:ext cx="2044502"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4" name="Picture Placeholder 2">
            <a:extLst>
              <a:ext uri="{FF2B5EF4-FFF2-40B4-BE49-F238E27FC236}">
                <a16:creationId xmlns:a16="http://schemas.microsoft.com/office/drawing/2014/main" id="{0F2453BE-2588-27E3-3249-98E8577224AB}"/>
              </a:ext>
            </a:extLst>
          </p:cNvPr>
          <p:cNvSpPr>
            <a:spLocks noGrp="1"/>
          </p:cNvSpPr>
          <p:nvPr>
            <p:ph type="pic" idx="19"/>
          </p:nvPr>
        </p:nvSpPr>
        <p:spPr>
          <a:xfrm>
            <a:off x="3035846" y="156232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47" name="Text Placeholder 46">
            <a:extLst>
              <a:ext uri="{FF2B5EF4-FFF2-40B4-BE49-F238E27FC236}">
                <a16:creationId xmlns:a16="http://schemas.microsoft.com/office/drawing/2014/main" id="{4618D6B9-0518-7F09-9F5C-FED05726CEBA}"/>
              </a:ext>
            </a:extLst>
          </p:cNvPr>
          <p:cNvSpPr>
            <a:spLocks noGrp="1"/>
          </p:cNvSpPr>
          <p:nvPr>
            <p:ph type="body" sz="quarter" idx="22" hasCustomPrompt="1"/>
          </p:nvPr>
        </p:nvSpPr>
        <p:spPr>
          <a:xfrm>
            <a:off x="2396760" y="2542365"/>
            <a:ext cx="2044502"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0" name="Text Placeholder 3">
            <a:extLst>
              <a:ext uri="{FF2B5EF4-FFF2-40B4-BE49-F238E27FC236}">
                <a16:creationId xmlns:a16="http://schemas.microsoft.com/office/drawing/2014/main" id="{71D14930-D851-D891-E7D3-79548C39A4D3}"/>
              </a:ext>
            </a:extLst>
          </p:cNvPr>
          <p:cNvSpPr>
            <a:spLocks noGrp="1"/>
          </p:cNvSpPr>
          <p:nvPr>
            <p:ph type="body" sz="half" idx="25" hasCustomPrompt="1"/>
          </p:nvPr>
        </p:nvSpPr>
        <p:spPr>
          <a:xfrm>
            <a:off x="118380" y="3042221"/>
            <a:ext cx="2044502"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1" name="Picture Placeholder 2">
            <a:extLst>
              <a:ext uri="{FF2B5EF4-FFF2-40B4-BE49-F238E27FC236}">
                <a16:creationId xmlns:a16="http://schemas.microsoft.com/office/drawing/2014/main" id="{BECEF398-E952-E3AC-9196-98E02A90A124}"/>
              </a:ext>
            </a:extLst>
          </p:cNvPr>
          <p:cNvSpPr>
            <a:spLocks noGrp="1"/>
          </p:cNvSpPr>
          <p:nvPr>
            <p:ph type="pic" idx="26"/>
          </p:nvPr>
        </p:nvSpPr>
        <p:spPr>
          <a:xfrm>
            <a:off x="753400" y="156232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2" name="Text Placeholder 46">
            <a:extLst>
              <a:ext uri="{FF2B5EF4-FFF2-40B4-BE49-F238E27FC236}">
                <a16:creationId xmlns:a16="http://schemas.microsoft.com/office/drawing/2014/main" id="{2C11D761-D375-77DB-8DCF-3B9B17FDB572}"/>
              </a:ext>
            </a:extLst>
          </p:cNvPr>
          <p:cNvSpPr>
            <a:spLocks noGrp="1"/>
          </p:cNvSpPr>
          <p:nvPr>
            <p:ph type="body" sz="quarter" idx="27" hasCustomPrompt="1"/>
          </p:nvPr>
        </p:nvSpPr>
        <p:spPr>
          <a:xfrm>
            <a:off x="118380" y="2535121"/>
            <a:ext cx="2044502"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3" name="Text Placeholder 3">
            <a:extLst>
              <a:ext uri="{FF2B5EF4-FFF2-40B4-BE49-F238E27FC236}">
                <a16:creationId xmlns:a16="http://schemas.microsoft.com/office/drawing/2014/main" id="{0F0501FF-08C9-BF91-D713-39F652B51BFE}"/>
              </a:ext>
            </a:extLst>
          </p:cNvPr>
          <p:cNvSpPr>
            <a:spLocks noGrp="1"/>
          </p:cNvSpPr>
          <p:nvPr>
            <p:ph type="body" sz="half" idx="28" hasCustomPrompt="1"/>
          </p:nvPr>
        </p:nvSpPr>
        <p:spPr>
          <a:xfrm>
            <a:off x="6957812" y="3049465"/>
            <a:ext cx="2067808"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Master text</a:t>
            </a:r>
          </a:p>
        </p:txBody>
      </p:sp>
      <p:sp>
        <p:nvSpPr>
          <p:cNvPr id="54" name="Picture Placeholder 2">
            <a:extLst>
              <a:ext uri="{FF2B5EF4-FFF2-40B4-BE49-F238E27FC236}">
                <a16:creationId xmlns:a16="http://schemas.microsoft.com/office/drawing/2014/main" id="{032B68AE-1613-425C-25A7-51F3AC475EC1}"/>
              </a:ext>
            </a:extLst>
          </p:cNvPr>
          <p:cNvSpPr>
            <a:spLocks noGrp="1"/>
          </p:cNvSpPr>
          <p:nvPr>
            <p:ph type="pic" idx="29"/>
          </p:nvPr>
        </p:nvSpPr>
        <p:spPr>
          <a:xfrm>
            <a:off x="7604485" y="156232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5" name="Text Placeholder 46">
            <a:extLst>
              <a:ext uri="{FF2B5EF4-FFF2-40B4-BE49-F238E27FC236}">
                <a16:creationId xmlns:a16="http://schemas.microsoft.com/office/drawing/2014/main" id="{DCE1E016-29C3-1A24-11CC-23EFF4D237DB}"/>
              </a:ext>
            </a:extLst>
          </p:cNvPr>
          <p:cNvSpPr>
            <a:spLocks noGrp="1"/>
          </p:cNvSpPr>
          <p:nvPr>
            <p:ph type="body" sz="quarter" idx="30" hasCustomPrompt="1"/>
          </p:nvPr>
        </p:nvSpPr>
        <p:spPr>
          <a:xfrm>
            <a:off x="6957812" y="2542365"/>
            <a:ext cx="2067808"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56" name="Text Placeholder 3">
            <a:extLst>
              <a:ext uri="{FF2B5EF4-FFF2-40B4-BE49-F238E27FC236}">
                <a16:creationId xmlns:a16="http://schemas.microsoft.com/office/drawing/2014/main" id="{229B0AFB-C6DF-9071-5802-4312EE667147}"/>
              </a:ext>
            </a:extLst>
          </p:cNvPr>
          <p:cNvSpPr>
            <a:spLocks noGrp="1"/>
          </p:cNvSpPr>
          <p:nvPr>
            <p:ph type="body" sz="half" idx="31" hasCustomPrompt="1"/>
          </p:nvPr>
        </p:nvSpPr>
        <p:spPr>
          <a:xfrm>
            <a:off x="4667008" y="3049465"/>
            <a:ext cx="2060991" cy="1945037"/>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7" name="Picture Placeholder 2">
            <a:extLst>
              <a:ext uri="{FF2B5EF4-FFF2-40B4-BE49-F238E27FC236}">
                <a16:creationId xmlns:a16="http://schemas.microsoft.com/office/drawing/2014/main" id="{9C33848E-EDAC-21C4-B299-4E8DB20908A0}"/>
              </a:ext>
            </a:extLst>
          </p:cNvPr>
          <p:cNvSpPr>
            <a:spLocks noGrp="1"/>
          </p:cNvSpPr>
          <p:nvPr>
            <p:ph type="pic" idx="32"/>
          </p:nvPr>
        </p:nvSpPr>
        <p:spPr>
          <a:xfrm>
            <a:off x="5322039" y="156232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8" name="Text Placeholder 46">
            <a:extLst>
              <a:ext uri="{FF2B5EF4-FFF2-40B4-BE49-F238E27FC236}">
                <a16:creationId xmlns:a16="http://schemas.microsoft.com/office/drawing/2014/main" id="{39439A9D-D114-94FB-C283-C5EA49432754}"/>
              </a:ext>
            </a:extLst>
          </p:cNvPr>
          <p:cNvSpPr>
            <a:spLocks noGrp="1"/>
          </p:cNvSpPr>
          <p:nvPr>
            <p:ph type="body" sz="quarter" idx="33" hasCustomPrompt="1"/>
          </p:nvPr>
        </p:nvSpPr>
        <p:spPr>
          <a:xfrm>
            <a:off x="4678775" y="2542365"/>
            <a:ext cx="2060991" cy="401685"/>
          </a:xfrm>
        </p:spPr>
        <p:txBody>
          <a:bodyPr anchor="b">
            <a:noAutofit/>
          </a:bodyPr>
          <a:lstStyle>
            <a:lvl1pPr marL="0" indent="0" algn="ctr">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 name="Slide Number Placeholder 5">
            <a:extLst>
              <a:ext uri="{FF2B5EF4-FFF2-40B4-BE49-F238E27FC236}">
                <a16:creationId xmlns:a16="http://schemas.microsoft.com/office/drawing/2014/main" id="{21EE47AB-6B82-FED1-0260-3728FC54B2CE}"/>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24970331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Vertical Icon, Header, Paragraph">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430684" y="6194307"/>
            <a:ext cx="1767635" cy="365125"/>
          </a:xfrm>
          <a:prstGeom prst="rect">
            <a:avLst/>
          </a:prstGeom>
        </p:spPr>
        <p:txBody>
          <a:bodyPr/>
          <a:lstStyle/>
          <a:p>
            <a:endParaRPr lang="en-US"/>
          </a:p>
        </p:txBody>
      </p:sp>
      <p:sp>
        <p:nvSpPr>
          <p:cNvPr id="19" name="Text Placeholder 3">
            <a:extLst>
              <a:ext uri="{FF2B5EF4-FFF2-40B4-BE49-F238E27FC236}">
                <a16:creationId xmlns:a16="http://schemas.microsoft.com/office/drawing/2014/main" id="{CD776454-F822-27E5-495E-B1B439FB98B4}"/>
              </a:ext>
            </a:extLst>
          </p:cNvPr>
          <p:cNvSpPr>
            <a:spLocks noGrp="1"/>
          </p:cNvSpPr>
          <p:nvPr>
            <p:ph type="body" sz="half" idx="46" hasCustomPrompt="1"/>
          </p:nvPr>
        </p:nvSpPr>
        <p:spPr>
          <a:xfrm>
            <a:off x="2198324" y="1782650"/>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20" name="Picture Placeholder 2">
            <a:extLst>
              <a:ext uri="{FF2B5EF4-FFF2-40B4-BE49-F238E27FC236}">
                <a16:creationId xmlns:a16="http://schemas.microsoft.com/office/drawing/2014/main" id="{C70E8DBF-8CF9-AD55-6058-DDEA3F3DA977}"/>
              </a:ext>
            </a:extLst>
          </p:cNvPr>
          <p:cNvSpPr>
            <a:spLocks noGrp="1"/>
          </p:cNvSpPr>
          <p:nvPr>
            <p:ph type="pic" idx="47"/>
          </p:nvPr>
        </p:nvSpPr>
        <p:spPr>
          <a:xfrm>
            <a:off x="806168" y="1479116"/>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21" name="Text Placeholder 46">
            <a:extLst>
              <a:ext uri="{FF2B5EF4-FFF2-40B4-BE49-F238E27FC236}">
                <a16:creationId xmlns:a16="http://schemas.microsoft.com/office/drawing/2014/main" id="{3AF37FC5-E7EF-A937-9F8F-04EEEBDE8C70}"/>
              </a:ext>
            </a:extLst>
          </p:cNvPr>
          <p:cNvSpPr>
            <a:spLocks noGrp="1"/>
          </p:cNvSpPr>
          <p:nvPr>
            <p:ph type="body" sz="quarter" idx="48" hasCustomPrompt="1"/>
          </p:nvPr>
        </p:nvSpPr>
        <p:spPr>
          <a:xfrm>
            <a:off x="2198323" y="1476693"/>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25" name="Text Placeholder 3">
            <a:extLst>
              <a:ext uri="{FF2B5EF4-FFF2-40B4-BE49-F238E27FC236}">
                <a16:creationId xmlns:a16="http://schemas.microsoft.com/office/drawing/2014/main" id="{E854B770-8E26-7372-0BCA-3B8FD3B6F26E}"/>
              </a:ext>
            </a:extLst>
          </p:cNvPr>
          <p:cNvSpPr>
            <a:spLocks noGrp="1"/>
          </p:cNvSpPr>
          <p:nvPr>
            <p:ph type="body" sz="half" idx="49" hasCustomPrompt="1"/>
          </p:nvPr>
        </p:nvSpPr>
        <p:spPr>
          <a:xfrm>
            <a:off x="2198320" y="3071669"/>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26" name="Picture Placeholder 2">
            <a:extLst>
              <a:ext uri="{FF2B5EF4-FFF2-40B4-BE49-F238E27FC236}">
                <a16:creationId xmlns:a16="http://schemas.microsoft.com/office/drawing/2014/main" id="{7F62AA9A-8101-CDAB-FBB2-91F32CD1F007}"/>
              </a:ext>
            </a:extLst>
          </p:cNvPr>
          <p:cNvSpPr>
            <a:spLocks noGrp="1"/>
          </p:cNvSpPr>
          <p:nvPr>
            <p:ph type="pic" idx="50"/>
          </p:nvPr>
        </p:nvSpPr>
        <p:spPr>
          <a:xfrm>
            <a:off x="806164" y="2768135"/>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27" name="Text Placeholder 46">
            <a:extLst>
              <a:ext uri="{FF2B5EF4-FFF2-40B4-BE49-F238E27FC236}">
                <a16:creationId xmlns:a16="http://schemas.microsoft.com/office/drawing/2014/main" id="{BC623E66-66C5-7D73-F328-FD814996F935}"/>
              </a:ext>
            </a:extLst>
          </p:cNvPr>
          <p:cNvSpPr>
            <a:spLocks noGrp="1"/>
          </p:cNvSpPr>
          <p:nvPr>
            <p:ph type="body" sz="quarter" idx="51" hasCustomPrompt="1"/>
          </p:nvPr>
        </p:nvSpPr>
        <p:spPr>
          <a:xfrm>
            <a:off x="2198319" y="2765712"/>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28" name="Text Placeholder 3">
            <a:extLst>
              <a:ext uri="{FF2B5EF4-FFF2-40B4-BE49-F238E27FC236}">
                <a16:creationId xmlns:a16="http://schemas.microsoft.com/office/drawing/2014/main" id="{3D9FC10C-F672-4396-8B65-3FCE0397980D}"/>
              </a:ext>
            </a:extLst>
          </p:cNvPr>
          <p:cNvSpPr>
            <a:spLocks noGrp="1"/>
          </p:cNvSpPr>
          <p:nvPr>
            <p:ph type="body" sz="half" idx="52" hasCustomPrompt="1"/>
          </p:nvPr>
        </p:nvSpPr>
        <p:spPr>
          <a:xfrm>
            <a:off x="2198320" y="4303373"/>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2" name="Picture Placeholder 2">
            <a:extLst>
              <a:ext uri="{FF2B5EF4-FFF2-40B4-BE49-F238E27FC236}">
                <a16:creationId xmlns:a16="http://schemas.microsoft.com/office/drawing/2014/main" id="{6048C3C6-8B6D-D324-9B23-44ADB24D3EDB}"/>
              </a:ext>
            </a:extLst>
          </p:cNvPr>
          <p:cNvSpPr>
            <a:spLocks noGrp="1"/>
          </p:cNvSpPr>
          <p:nvPr>
            <p:ph type="pic" idx="53"/>
          </p:nvPr>
        </p:nvSpPr>
        <p:spPr>
          <a:xfrm>
            <a:off x="806164" y="399983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33" name="Text Placeholder 46">
            <a:extLst>
              <a:ext uri="{FF2B5EF4-FFF2-40B4-BE49-F238E27FC236}">
                <a16:creationId xmlns:a16="http://schemas.microsoft.com/office/drawing/2014/main" id="{1A423B92-3003-EB7B-8224-CDC6CC583E05}"/>
              </a:ext>
            </a:extLst>
          </p:cNvPr>
          <p:cNvSpPr>
            <a:spLocks noGrp="1"/>
          </p:cNvSpPr>
          <p:nvPr>
            <p:ph type="body" sz="quarter" idx="54" hasCustomPrompt="1"/>
          </p:nvPr>
        </p:nvSpPr>
        <p:spPr>
          <a:xfrm>
            <a:off x="2198319" y="3997416"/>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4" name="Text Placeholder 3">
            <a:extLst>
              <a:ext uri="{FF2B5EF4-FFF2-40B4-BE49-F238E27FC236}">
                <a16:creationId xmlns:a16="http://schemas.microsoft.com/office/drawing/2014/main" id="{5701D792-E166-C841-C179-799E4DE7D319}"/>
              </a:ext>
            </a:extLst>
          </p:cNvPr>
          <p:cNvSpPr>
            <a:spLocks noGrp="1"/>
          </p:cNvSpPr>
          <p:nvPr>
            <p:ph type="body" sz="half" idx="55" hasCustomPrompt="1"/>
          </p:nvPr>
        </p:nvSpPr>
        <p:spPr>
          <a:xfrm>
            <a:off x="2198319" y="5477528"/>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5" name="Picture Placeholder 2">
            <a:extLst>
              <a:ext uri="{FF2B5EF4-FFF2-40B4-BE49-F238E27FC236}">
                <a16:creationId xmlns:a16="http://schemas.microsoft.com/office/drawing/2014/main" id="{32DB5A55-84BE-7EBA-28DB-ECBCDA39C6BB}"/>
              </a:ext>
            </a:extLst>
          </p:cNvPr>
          <p:cNvSpPr>
            <a:spLocks noGrp="1"/>
          </p:cNvSpPr>
          <p:nvPr>
            <p:ph type="pic" idx="56"/>
          </p:nvPr>
        </p:nvSpPr>
        <p:spPr>
          <a:xfrm>
            <a:off x="806163" y="5173994"/>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36" name="Text Placeholder 46">
            <a:extLst>
              <a:ext uri="{FF2B5EF4-FFF2-40B4-BE49-F238E27FC236}">
                <a16:creationId xmlns:a16="http://schemas.microsoft.com/office/drawing/2014/main" id="{B807B365-A0AB-BDD4-2239-2A61889BA748}"/>
              </a:ext>
            </a:extLst>
          </p:cNvPr>
          <p:cNvSpPr>
            <a:spLocks noGrp="1"/>
          </p:cNvSpPr>
          <p:nvPr>
            <p:ph type="body" sz="quarter" idx="57" hasCustomPrompt="1"/>
          </p:nvPr>
        </p:nvSpPr>
        <p:spPr>
          <a:xfrm>
            <a:off x="2198318" y="5171571"/>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 name="Slide Number Placeholder 5">
            <a:extLst>
              <a:ext uri="{FF2B5EF4-FFF2-40B4-BE49-F238E27FC236}">
                <a16:creationId xmlns:a16="http://schemas.microsoft.com/office/drawing/2014/main" id="{5FDD1BF8-4A79-C2CA-3873-DCBADD28D9F1}"/>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6" name="Title Placeholder 1">
            <a:extLst>
              <a:ext uri="{FF2B5EF4-FFF2-40B4-BE49-F238E27FC236}">
                <a16:creationId xmlns:a16="http://schemas.microsoft.com/office/drawing/2014/main" id="{B3F21E9F-C1BE-67DC-4A78-D0B7BF54FA1C}"/>
              </a:ext>
            </a:extLst>
          </p:cNvPr>
          <p:cNvSpPr>
            <a:spLocks noGrp="1"/>
          </p:cNvSpPr>
          <p:nvPr>
            <p:ph type="title" hasCustomPrompt="1"/>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2142104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ertical Icon, Header, Paragraph">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430684" y="6194307"/>
            <a:ext cx="1767635" cy="365125"/>
          </a:xfrm>
          <a:prstGeom prst="rect">
            <a:avLst/>
          </a:prstGeom>
        </p:spPr>
        <p:txBody>
          <a:bodyPr/>
          <a:lstStyle/>
          <a:p>
            <a:endParaRPr lang="en-US"/>
          </a:p>
        </p:txBody>
      </p:sp>
      <p:sp>
        <p:nvSpPr>
          <p:cNvPr id="50" name="Text Placeholder 3">
            <a:extLst>
              <a:ext uri="{FF2B5EF4-FFF2-40B4-BE49-F238E27FC236}">
                <a16:creationId xmlns:a16="http://schemas.microsoft.com/office/drawing/2014/main" id="{71D14930-D851-D891-E7D3-79548C39A4D3}"/>
              </a:ext>
            </a:extLst>
          </p:cNvPr>
          <p:cNvSpPr>
            <a:spLocks noGrp="1"/>
          </p:cNvSpPr>
          <p:nvPr>
            <p:ph type="body" sz="half" idx="25" hasCustomPrompt="1"/>
          </p:nvPr>
        </p:nvSpPr>
        <p:spPr>
          <a:xfrm>
            <a:off x="2198324" y="1475230"/>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51" name="Picture Placeholder 2">
            <a:extLst>
              <a:ext uri="{FF2B5EF4-FFF2-40B4-BE49-F238E27FC236}">
                <a16:creationId xmlns:a16="http://schemas.microsoft.com/office/drawing/2014/main" id="{BECEF398-E952-E3AC-9196-98E02A90A124}"/>
              </a:ext>
            </a:extLst>
          </p:cNvPr>
          <p:cNvSpPr>
            <a:spLocks noGrp="1"/>
          </p:cNvSpPr>
          <p:nvPr>
            <p:ph type="pic" idx="26"/>
          </p:nvPr>
        </p:nvSpPr>
        <p:spPr>
          <a:xfrm>
            <a:off x="806168" y="1171696"/>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52" name="Text Placeholder 46">
            <a:extLst>
              <a:ext uri="{FF2B5EF4-FFF2-40B4-BE49-F238E27FC236}">
                <a16:creationId xmlns:a16="http://schemas.microsoft.com/office/drawing/2014/main" id="{2C11D761-D375-77DB-8DCF-3B9B17FDB572}"/>
              </a:ext>
            </a:extLst>
          </p:cNvPr>
          <p:cNvSpPr>
            <a:spLocks noGrp="1"/>
          </p:cNvSpPr>
          <p:nvPr>
            <p:ph type="body" sz="quarter" idx="27" hasCustomPrompt="1"/>
          </p:nvPr>
        </p:nvSpPr>
        <p:spPr>
          <a:xfrm>
            <a:off x="2198323" y="1169273"/>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16" name="Text Placeholder 3">
            <a:extLst>
              <a:ext uri="{FF2B5EF4-FFF2-40B4-BE49-F238E27FC236}">
                <a16:creationId xmlns:a16="http://schemas.microsoft.com/office/drawing/2014/main" id="{CCFDF1B0-BB19-1E8D-6377-A340AAE63361}"/>
              </a:ext>
            </a:extLst>
          </p:cNvPr>
          <p:cNvSpPr>
            <a:spLocks noGrp="1"/>
          </p:cNvSpPr>
          <p:nvPr>
            <p:ph type="body" sz="half" idx="37" hasCustomPrompt="1"/>
          </p:nvPr>
        </p:nvSpPr>
        <p:spPr>
          <a:xfrm>
            <a:off x="2198320" y="2764249"/>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17" name="Picture Placeholder 2">
            <a:extLst>
              <a:ext uri="{FF2B5EF4-FFF2-40B4-BE49-F238E27FC236}">
                <a16:creationId xmlns:a16="http://schemas.microsoft.com/office/drawing/2014/main" id="{D67CA144-FB95-18F9-6464-FD6EB6197D39}"/>
              </a:ext>
            </a:extLst>
          </p:cNvPr>
          <p:cNvSpPr>
            <a:spLocks noGrp="1"/>
          </p:cNvSpPr>
          <p:nvPr>
            <p:ph type="pic" idx="38"/>
          </p:nvPr>
        </p:nvSpPr>
        <p:spPr>
          <a:xfrm>
            <a:off x="806164" y="2460715"/>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18" name="Text Placeholder 46">
            <a:extLst>
              <a:ext uri="{FF2B5EF4-FFF2-40B4-BE49-F238E27FC236}">
                <a16:creationId xmlns:a16="http://schemas.microsoft.com/office/drawing/2014/main" id="{A572D5D1-F1AC-228D-A2F1-1497AB1F1E08}"/>
              </a:ext>
            </a:extLst>
          </p:cNvPr>
          <p:cNvSpPr>
            <a:spLocks noGrp="1"/>
          </p:cNvSpPr>
          <p:nvPr>
            <p:ph type="body" sz="quarter" idx="39" hasCustomPrompt="1"/>
          </p:nvPr>
        </p:nvSpPr>
        <p:spPr>
          <a:xfrm>
            <a:off x="2198319" y="2458292"/>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22" name="Text Placeholder 3">
            <a:extLst>
              <a:ext uri="{FF2B5EF4-FFF2-40B4-BE49-F238E27FC236}">
                <a16:creationId xmlns:a16="http://schemas.microsoft.com/office/drawing/2014/main" id="{DC69541D-9AEE-0DEC-F5BC-971E5BBB002F}"/>
              </a:ext>
            </a:extLst>
          </p:cNvPr>
          <p:cNvSpPr>
            <a:spLocks noGrp="1"/>
          </p:cNvSpPr>
          <p:nvPr>
            <p:ph type="body" sz="half" idx="40" hasCustomPrompt="1"/>
          </p:nvPr>
        </p:nvSpPr>
        <p:spPr>
          <a:xfrm>
            <a:off x="2198320" y="3995953"/>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23" name="Picture Placeholder 2">
            <a:extLst>
              <a:ext uri="{FF2B5EF4-FFF2-40B4-BE49-F238E27FC236}">
                <a16:creationId xmlns:a16="http://schemas.microsoft.com/office/drawing/2014/main" id="{41830E6C-BF78-7E92-6985-60790B2B8AF4}"/>
              </a:ext>
            </a:extLst>
          </p:cNvPr>
          <p:cNvSpPr>
            <a:spLocks noGrp="1"/>
          </p:cNvSpPr>
          <p:nvPr>
            <p:ph type="pic" idx="41"/>
          </p:nvPr>
        </p:nvSpPr>
        <p:spPr>
          <a:xfrm>
            <a:off x="806164" y="3692419"/>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24" name="Text Placeholder 46">
            <a:extLst>
              <a:ext uri="{FF2B5EF4-FFF2-40B4-BE49-F238E27FC236}">
                <a16:creationId xmlns:a16="http://schemas.microsoft.com/office/drawing/2014/main" id="{E9B08C83-DA0F-FF63-1FC1-BE2ED2C21389}"/>
              </a:ext>
            </a:extLst>
          </p:cNvPr>
          <p:cNvSpPr>
            <a:spLocks noGrp="1"/>
          </p:cNvSpPr>
          <p:nvPr>
            <p:ph type="body" sz="quarter" idx="42" hasCustomPrompt="1"/>
          </p:nvPr>
        </p:nvSpPr>
        <p:spPr>
          <a:xfrm>
            <a:off x="2198319" y="3689996"/>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29" name="Text Placeholder 3">
            <a:extLst>
              <a:ext uri="{FF2B5EF4-FFF2-40B4-BE49-F238E27FC236}">
                <a16:creationId xmlns:a16="http://schemas.microsoft.com/office/drawing/2014/main" id="{0EAD512F-47FE-9064-744B-C545D9F4C276}"/>
              </a:ext>
            </a:extLst>
          </p:cNvPr>
          <p:cNvSpPr>
            <a:spLocks noGrp="1"/>
          </p:cNvSpPr>
          <p:nvPr>
            <p:ph type="body" sz="half" idx="43" hasCustomPrompt="1"/>
          </p:nvPr>
        </p:nvSpPr>
        <p:spPr>
          <a:xfrm>
            <a:off x="2198319" y="5170108"/>
            <a:ext cx="6042865" cy="509043"/>
          </a:xfrm>
        </p:spPr>
        <p:txBody>
          <a:bodyPr>
            <a:normAutofit/>
          </a:bodyPr>
          <a:lstStyle>
            <a:lvl1pPr marL="0" indent="0" algn="l">
              <a:buNone/>
              <a:defRPr sz="1150" b="0">
                <a:solidFill>
                  <a:schemeClr val="tx2"/>
                </a:solidFill>
              </a:defRPr>
            </a:lvl1pPr>
            <a:lvl2pPr marL="342875" indent="0">
              <a:buNone/>
              <a:defRPr sz="1050"/>
            </a:lvl2pPr>
            <a:lvl3pPr marL="685749" indent="0">
              <a:buNone/>
              <a:defRPr sz="900"/>
            </a:lvl3pPr>
            <a:lvl4pPr marL="1028624" indent="0">
              <a:buNone/>
              <a:defRPr sz="750"/>
            </a:lvl4pPr>
            <a:lvl5pPr marL="1371498" indent="0">
              <a:buNone/>
              <a:defRPr sz="750"/>
            </a:lvl5pPr>
            <a:lvl6pPr marL="1714373" indent="0">
              <a:buNone/>
              <a:defRPr sz="750"/>
            </a:lvl6pPr>
            <a:lvl7pPr marL="2057246" indent="0">
              <a:buNone/>
              <a:defRPr sz="750"/>
            </a:lvl7pPr>
            <a:lvl8pPr marL="2400120" indent="0">
              <a:buNone/>
              <a:defRPr sz="750"/>
            </a:lvl8pPr>
            <a:lvl9pPr marL="2742995" indent="0">
              <a:buNone/>
              <a:defRPr sz="750"/>
            </a:lvl9pPr>
          </a:lstStyle>
          <a:p>
            <a:pPr lvl="0"/>
            <a:r>
              <a:rPr lang="en-US"/>
              <a:t>Edit text</a:t>
            </a:r>
          </a:p>
        </p:txBody>
      </p:sp>
      <p:sp>
        <p:nvSpPr>
          <p:cNvPr id="30" name="Picture Placeholder 2">
            <a:extLst>
              <a:ext uri="{FF2B5EF4-FFF2-40B4-BE49-F238E27FC236}">
                <a16:creationId xmlns:a16="http://schemas.microsoft.com/office/drawing/2014/main" id="{4050FC99-A2B8-EE0A-DB93-7495EB450551}"/>
              </a:ext>
            </a:extLst>
          </p:cNvPr>
          <p:cNvSpPr>
            <a:spLocks noGrp="1"/>
          </p:cNvSpPr>
          <p:nvPr>
            <p:ph type="pic" idx="44"/>
          </p:nvPr>
        </p:nvSpPr>
        <p:spPr>
          <a:xfrm>
            <a:off x="806163" y="4866574"/>
            <a:ext cx="774462" cy="815363"/>
          </a:xfrm>
        </p:spPr>
        <p:txBody>
          <a:bodyPr>
            <a:normAutofit/>
          </a:bodyPr>
          <a:lstStyle>
            <a:lvl1pPr marL="0" indent="0">
              <a:buNone/>
              <a:defRPr sz="1200"/>
            </a:lvl1pPr>
            <a:lvl2pPr marL="342875" indent="0">
              <a:buNone/>
              <a:defRPr sz="2100"/>
            </a:lvl2pPr>
            <a:lvl3pPr marL="685749" indent="0">
              <a:buNone/>
              <a:defRPr sz="1800"/>
            </a:lvl3pPr>
            <a:lvl4pPr marL="1028624" indent="0">
              <a:buNone/>
              <a:defRPr sz="1500"/>
            </a:lvl4pPr>
            <a:lvl5pPr marL="1371498" indent="0">
              <a:buNone/>
              <a:defRPr sz="1500"/>
            </a:lvl5pPr>
            <a:lvl6pPr marL="1714373" indent="0">
              <a:buNone/>
              <a:defRPr sz="1500"/>
            </a:lvl6pPr>
            <a:lvl7pPr marL="2057246" indent="0">
              <a:buNone/>
              <a:defRPr sz="1500"/>
            </a:lvl7pPr>
            <a:lvl8pPr marL="2400120" indent="0">
              <a:buNone/>
              <a:defRPr sz="1500"/>
            </a:lvl8pPr>
            <a:lvl9pPr marL="2742995" indent="0">
              <a:buNone/>
              <a:defRPr sz="1500"/>
            </a:lvl9pPr>
          </a:lstStyle>
          <a:p>
            <a:r>
              <a:rPr lang="en-US"/>
              <a:t>Click icon to add picture</a:t>
            </a:r>
          </a:p>
        </p:txBody>
      </p:sp>
      <p:sp>
        <p:nvSpPr>
          <p:cNvPr id="31" name="Text Placeholder 46">
            <a:extLst>
              <a:ext uri="{FF2B5EF4-FFF2-40B4-BE49-F238E27FC236}">
                <a16:creationId xmlns:a16="http://schemas.microsoft.com/office/drawing/2014/main" id="{AC8CDFF0-63C0-1681-F2BA-96C3A736CC51}"/>
              </a:ext>
            </a:extLst>
          </p:cNvPr>
          <p:cNvSpPr>
            <a:spLocks noGrp="1"/>
          </p:cNvSpPr>
          <p:nvPr>
            <p:ph type="body" sz="quarter" idx="45" hasCustomPrompt="1"/>
          </p:nvPr>
        </p:nvSpPr>
        <p:spPr>
          <a:xfrm>
            <a:off x="2198318" y="4864151"/>
            <a:ext cx="6042866" cy="295344"/>
          </a:xfrm>
        </p:spPr>
        <p:txBody>
          <a:bodyPr anchor="b">
            <a:noAutofit/>
          </a:bodyPr>
          <a:lstStyle>
            <a:lvl1pPr marL="0" indent="0" algn="l">
              <a:buNone/>
              <a:defRPr sz="1600" b="1" u="sng">
                <a:solidFill>
                  <a:srgbClr val="C00000"/>
                </a:solidFill>
              </a:defRPr>
            </a:lvl1pPr>
            <a:lvl2pPr>
              <a:defRPr sz="1500" b="1"/>
            </a:lvl2pPr>
            <a:lvl3pPr>
              <a:defRPr sz="1500" b="1"/>
            </a:lvl3pPr>
            <a:lvl4pPr>
              <a:defRPr sz="1500" b="1"/>
            </a:lvl4pPr>
            <a:lvl5pPr>
              <a:defRPr sz="1500" b="1"/>
            </a:lvl5pPr>
          </a:lstStyle>
          <a:p>
            <a:pPr lvl="0"/>
            <a:r>
              <a:rPr lang="en-US"/>
              <a:t>Click to edit title</a:t>
            </a:r>
          </a:p>
        </p:txBody>
      </p:sp>
      <p:sp>
        <p:nvSpPr>
          <p:cNvPr id="3" name="Slide Number Placeholder 5">
            <a:extLst>
              <a:ext uri="{FF2B5EF4-FFF2-40B4-BE49-F238E27FC236}">
                <a16:creationId xmlns:a16="http://schemas.microsoft.com/office/drawing/2014/main" id="{916CC5E4-A9D4-E359-9980-E38077562256}"/>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Tree>
    <p:extLst>
      <p:ext uri="{BB962C8B-B14F-4D97-AF65-F5344CB8AC3E}">
        <p14:creationId xmlns:p14="http://schemas.microsoft.com/office/powerpoint/2010/main" val="20072556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371600"/>
          </a:xfrm>
        </p:spPr>
        <p:txBody>
          <a:bodyPr/>
          <a:lstStyle/>
          <a:p>
            <a:r>
              <a:rPr lang="en-US"/>
              <a:t>Click to edit Master title style</a:t>
            </a:r>
          </a:p>
        </p:txBody>
      </p:sp>
    </p:spTree>
    <p:extLst>
      <p:ext uri="{BB962C8B-B14F-4D97-AF65-F5344CB8AC3E}">
        <p14:creationId xmlns:p14="http://schemas.microsoft.com/office/powerpoint/2010/main" val="2367715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and Content -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628651" y="368609"/>
            <a:ext cx="7886700" cy="598904"/>
          </a:xfrm>
        </p:spPr>
        <p:txBody>
          <a:bodyPr/>
          <a:lstStyle>
            <a:lvl1pPr>
              <a:defRPr sz="4331">
                <a:solidFill>
                  <a:srgbClr val="001970"/>
                </a:solidFill>
              </a:defRPr>
            </a:lvl1pPr>
          </a:lstStyle>
          <a:p>
            <a:r>
              <a:rPr lang="en-US" dirty="0"/>
              <a:t>Click to edit Master title style</a:t>
            </a:r>
          </a:p>
        </p:txBody>
      </p:sp>
      <p:sp>
        <p:nvSpPr>
          <p:cNvPr id="3" name="Content Placeholder 2"/>
          <p:cNvSpPr>
            <a:spLocks noGrp="1"/>
          </p:cNvSpPr>
          <p:nvPr>
            <p:ph idx="1" hasCustomPrompt="1"/>
          </p:nvPr>
        </p:nvSpPr>
        <p:spPr>
          <a:xfrm>
            <a:off x="628651" y="1205745"/>
            <a:ext cx="7886700" cy="4446510"/>
          </a:xfrm>
        </p:spPr>
        <p:txBody>
          <a:bodyPr/>
          <a:lstStyle>
            <a:lvl1pPr>
              <a:defRPr>
                <a:solidFill>
                  <a:srgbClr val="001970"/>
                </a:solidFill>
              </a:defRPr>
            </a:lvl1pPr>
            <a:lvl2pPr>
              <a:defRPr>
                <a:solidFill>
                  <a:srgbClr val="001970"/>
                </a:solidFill>
              </a:defRPr>
            </a:lvl2pPr>
            <a:lvl3pPr>
              <a:defRPr>
                <a:solidFill>
                  <a:srgbClr val="001970"/>
                </a:solidFill>
              </a:defRPr>
            </a:lvl3pPr>
            <a:lvl4pPr>
              <a:defRPr>
                <a:solidFill>
                  <a:srgbClr val="001970"/>
                </a:solidFill>
              </a:defRPr>
            </a:lvl4pPr>
            <a:lvl5pPr>
              <a:defRPr>
                <a:solidFill>
                  <a:srgbClr val="001970"/>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4"/>
          <p:cNvSpPr>
            <a:spLocks noGrp="1"/>
          </p:cNvSpPr>
          <p:nvPr>
            <p:ph type="dt" sz="half" idx="10"/>
          </p:nvPr>
        </p:nvSpPr>
        <p:spPr>
          <a:xfrm>
            <a:off x="417815" y="6194308"/>
            <a:ext cx="1795815" cy="365125"/>
          </a:xfrm>
        </p:spPr>
        <p:txBody>
          <a:bodyPr/>
          <a:lstStyle/>
          <a:p>
            <a:endParaRPr lang="en-US"/>
          </a:p>
        </p:txBody>
      </p:sp>
      <p:sp>
        <p:nvSpPr>
          <p:cNvPr id="12" name="Slide Number Placeholder 5">
            <a:extLst>
              <a:ext uri="{FF2B5EF4-FFF2-40B4-BE49-F238E27FC236}">
                <a16:creationId xmlns:a16="http://schemas.microsoft.com/office/drawing/2014/main" id="{4C7786BC-4C97-487E-8403-4F03C0BB4785}"/>
              </a:ext>
            </a:extLst>
          </p:cNvPr>
          <p:cNvSpPr>
            <a:spLocks noGrp="1"/>
          </p:cNvSpPr>
          <p:nvPr>
            <p:ph type="sldNum" sz="quarter" idx="4"/>
          </p:nvPr>
        </p:nvSpPr>
        <p:spPr>
          <a:xfrm>
            <a:off x="4479355" y="6330497"/>
            <a:ext cx="470339" cy="300283"/>
          </a:xfrm>
          <a:prstGeom prst="rect">
            <a:avLst/>
          </a:prstGeom>
        </p:spPr>
        <p:txBody>
          <a:bodyPr/>
          <a:lstStyle>
            <a:lvl1pPr>
              <a:defRPr sz="886">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886" dirty="0"/>
          </a:p>
        </p:txBody>
      </p:sp>
    </p:spTree>
    <p:extLst>
      <p:ext uri="{BB962C8B-B14F-4D97-AF65-F5344CB8AC3E}">
        <p14:creationId xmlns:p14="http://schemas.microsoft.com/office/powerpoint/2010/main" val="612739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585748"/>
            <a:ext cx="7886700" cy="4446510"/>
          </a:xfrm>
          <a:prstGeom prst="rect">
            <a:avLst/>
          </a:prstGeom>
        </p:spPr>
        <p:txBody>
          <a:bodyPr vert="horz" lIns="91440" tIns="45720" rIns="91440" bIns="45720" rtlCol="0">
            <a:normAutofit/>
          </a:body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9100" y="6194307"/>
            <a:ext cx="1767635" cy="365125"/>
          </a:xfrm>
          <a:prstGeom prst="rect">
            <a:avLst/>
          </a:prstGeom>
        </p:spPr>
        <p:txBody>
          <a:bodyPr vert="horz" lIns="91440" tIns="45720" rIns="91440" bIns="45720" rtlCol="0" anchor="ctr"/>
          <a:lstStyle>
            <a:lvl1pPr algn="l">
              <a:defRPr sz="900">
                <a:solidFill>
                  <a:schemeClr val="tx1">
                    <a:tint val="75000"/>
                  </a:schemeClr>
                </a:solidFill>
                <a:latin typeface="Source Sans Pro" charset="0"/>
                <a:ea typeface="Source Sans Pro" charset="0"/>
                <a:cs typeface="Source Sans Pro" charset="0"/>
              </a:defRPr>
            </a:lvl1pPr>
          </a:lstStyle>
          <a:p>
            <a:endParaRPr lang="en-US"/>
          </a:p>
        </p:txBody>
      </p:sp>
      <p:pic>
        <p:nvPicPr>
          <p:cNvPr id="32" name="Picture 31"/>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09997" y="6512421"/>
            <a:ext cx="332145" cy="253885"/>
          </a:xfrm>
          <a:prstGeom prst="rect">
            <a:avLst/>
          </a:prstGeom>
        </p:spPr>
      </p:pic>
      <p:grpSp>
        <p:nvGrpSpPr>
          <p:cNvPr id="14" name="Group 13">
            <a:extLst>
              <a:ext uri="{FF2B5EF4-FFF2-40B4-BE49-F238E27FC236}">
                <a16:creationId xmlns:a16="http://schemas.microsoft.com/office/drawing/2014/main" id="{C91B8C4C-C45F-4FE0-B059-B75F1119F37E}"/>
              </a:ext>
            </a:extLst>
          </p:cNvPr>
          <p:cNvGrpSpPr/>
          <p:nvPr userDrawn="1"/>
        </p:nvGrpSpPr>
        <p:grpSpPr>
          <a:xfrm>
            <a:off x="96552" y="84029"/>
            <a:ext cx="8950896" cy="329742"/>
            <a:chOff x="157803" y="-1075245"/>
            <a:chExt cx="8950896" cy="329742"/>
          </a:xfrm>
        </p:grpSpPr>
        <p:sp>
          <p:nvSpPr>
            <p:cNvPr id="15" name="Rectangle 14">
              <a:extLst>
                <a:ext uri="{FF2B5EF4-FFF2-40B4-BE49-F238E27FC236}">
                  <a16:creationId xmlns:a16="http://schemas.microsoft.com/office/drawing/2014/main" id="{CF2E5174-F321-4ED7-971F-BD816C91EF90}"/>
                </a:ext>
              </a:extLst>
            </p:cNvPr>
            <p:cNvSpPr/>
            <p:nvPr userDrawn="1"/>
          </p:nvSpPr>
          <p:spPr>
            <a:xfrm rot="5400000">
              <a:off x="4506856" y="-5424296"/>
              <a:ext cx="126396" cy="8824500"/>
            </a:xfrm>
            <a:prstGeom prst="rect">
              <a:avLst/>
            </a:prstGeom>
            <a:solidFill>
              <a:srgbClr val="003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6" name="Rectangle 15">
              <a:extLst>
                <a:ext uri="{FF2B5EF4-FFF2-40B4-BE49-F238E27FC236}">
                  <a16:creationId xmlns:a16="http://schemas.microsoft.com/office/drawing/2014/main" id="{BA51180D-101C-43CD-B9C5-6A912EDB4DF9}"/>
                </a:ext>
              </a:extLst>
            </p:cNvPr>
            <p:cNvSpPr/>
            <p:nvPr userDrawn="1"/>
          </p:nvSpPr>
          <p:spPr>
            <a:xfrm>
              <a:off x="8982303" y="-1075245"/>
              <a:ext cx="126396" cy="329742"/>
            </a:xfrm>
            <a:prstGeom prst="rect">
              <a:avLst/>
            </a:prstGeom>
            <a:solidFill>
              <a:srgbClr val="003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ndParaRPr>
            </a:p>
          </p:txBody>
        </p:sp>
        <p:sp>
          <p:nvSpPr>
            <p:cNvPr id="18" name="Rectangle 17">
              <a:extLst>
                <a:ext uri="{FF2B5EF4-FFF2-40B4-BE49-F238E27FC236}">
                  <a16:creationId xmlns:a16="http://schemas.microsoft.com/office/drawing/2014/main" id="{B753F74E-0A31-428C-86F1-15F22093C762}"/>
                </a:ext>
              </a:extLst>
            </p:cNvPr>
            <p:cNvSpPr/>
            <p:nvPr userDrawn="1"/>
          </p:nvSpPr>
          <p:spPr>
            <a:xfrm>
              <a:off x="157803" y="-1075245"/>
              <a:ext cx="126396" cy="329742"/>
            </a:xfrm>
            <a:prstGeom prst="rect">
              <a:avLst/>
            </a:prstGeom>
            <a:solidFill>
              <a:srgbClr val="003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ndParaRPr>
            </a:p>
          </p:txBody>
        </p:sp>
      </p:grpSp>
      <p:sp>
        <p:nvSpPr>
          <p:cNvPr id="7" name="Rectangle 6">
            <a:extLst>
              <a:ext uri="{FF2B5EF4-FFF2-40B4-BE49-F238E27FC236}">
                <a16:creationId xmlns:a16="http://schemas.microsoft.com/office/drawing/2014/main" id="{A5527684-ED51-4D9E-8D68-CB08E0A7EB8E}"/>
              </a:ext>
            </a:extLst>
          </p:cNvPr>
          <p:cNvSpPr/>
          <p:nvPr userDrawn="1"/>
        </p:nvSpPr>
        <p:spPr>
          <a:xfrm rot="5400000">
            <a:off x="4651327" y="2502552"/>
            <a:ext cx="126396" cy="8413052"/>
          </a:xfrm>
          <a:prstGeom prst="rect">
            <a:avLst/>
          </a:prstGeom>
          <a:solidFill>
            <a:srgbClr val="CC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0" name="Rectangle 30">
            <a:extLst>
              <a:ext uri="{FF2B5EF4-FFF2-40B4-BE49-F238E27FC236}">
                <a16:creationId xmlns:a16="http://schemas.microsoft.com/office/drawing/2014/main" id="{04A2463E-B36B-4DCD-A491-95778B6D1BC9}"/>
              </a:ext>
            </a:extLst>
          </p:cNvPr>
          <p:cNvSpPr/>
          <p:nvPr userDrawn="1"/>
        </p:nvSpPr>
        <p:spPr>
          <a:xfrm>
            <a:off x="8921052" y="6328188"/>
            <a:ext cx="126396" cy="445733"/>
          </a:xfrm>
          <a:custGeom>
            <a:avLst/>
            <a:gdLst>
              <a:gd name="connsiteX0" fmla="*/ 0 w 126396"/>
              <a:gd name="connsiteY0" fmla="*/ 0 h 445733"/>
              <a:gd name="connsiteX1" fmla="*/ 126396 w 126396"/>
              <a:gd name="connsiteY1" fmla="*/ 0 h 445733"/>
              <a:gd name="connsiteX2" fmla="*/ 126396 w 126396"/>
              <a:gd name="connsiteY2" fmla="*/ 445733 h 445733"/>
              <a:gd name="connsiteX3" fmla="*/ 0 w 126396"/>
              <a:gd name="connsiteY3" fmla="*/ 445733 h 445733"/>
              <a:gd name="connsiteX4" fmla="*/ 0 w 126396"/>
              <a:gd name="connsiteY4" fmla="*/ 0 h 445733"/>
              <a:gd name="connsiteX0" fmla="*/ 0 w 126396"/>
              <a:gd name="connsiteY0" fmla="*/ 0 h 445733"/>
              <a:gd name="connsiteX1" fmla="*/ 126396 w 126396"/>
              <a:gd name="connsiteY1" fmla="*/ 0 h 445733"/>
              <a:gd name="connsiteX2" fmla="*/ 123221 w 126396"/>
              <a:gd name="connsiteY2" fmla="*/ 325083 h 445733"/>
              <a:gd name="connsiteX3" fmla="*/ 0 w 126396"/>
              <a:gd name="connsiteY3" fmla="*/ 445733 h 445733"/>
              <a:gd name="connsiteX4" fmla="*/ 0 w 126396"/>
              <a:gd name="connsiteY4" fmla="*/ 0 h 445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96" h="445733">
                <a:moveTo>
                  <a:pt x="0" y="0"/>
                </a:moveTo>
                <a:lnTo>
                  <a:pt x="126396" y="0"/>
                </a:lnTo>
                <a:cubicBezTo>
                  <a:pt x="125338" y="108361"/>
                  <a:pt x="124279" y="216722"/>
                  <a:pt x="123221" y="325083"/>
                </a:cubicBezTo>
                <a:lnTo>
                  <a:pt x="0" y="445733"/>
                </a:lnTo>
                <a:lnTo>
                  <a:pt x="0" y="0"/>
                </a:lnTo>
                <a:close/>
              </a:path>
            </a:pathLst>
          </a:custGeom>
          <a:solidFill>
            <a:srgbClr val="003F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n>
                <a:noFill/>
              </a:ln>
            </a:endParaRPr>
          </a:p>
        </p:txBody>
      </p:sp>
      <p:pic>
        <p:nvPicPr>
          <p:cNvPr id="12" name="Picture 11" descr="Text&#10;&#10;Description automatically generated">
            <a:extLst>
              <a:ext uri="{FF2B5EF4-FFF2-40B4-BE49-F238E27FC236}">
                <a16:creationId xmlns:a16="http://schemas.microsoft.com/office/drawing/2014/main" id="{AB75ABB4-74E7-4A5E-BAEC-431A7FEC364F}"/>
              </a:ext>
            </a:extLst>
          </p:cNvPr>
          <p:cNvPicPr>
            <a:picLocks noChangeAspect="1"/>
          </p:cNvPicPr>
          <p:nvPr userDrawn="1"/>
        </p:nvPicPr>
        <p:blipFill>
          <a:blip r:embed="rId25"/>
          <a:stretch>
            <a:fillRect/>
          </a:stretch>
        </p:blipFill>
        <p:spPr>
          <a:xfrm>
            <a:off x="7730178" y="6265984"/>
            <a:ext cx="1124282" cy="302901"/>
          </a:xfrm>
          <a:prstGeom prst="rect">
            <a:avLst/>
          </a:prstGeom>
        </p:spPr>
      </p:pic>
      <p:pic>
        <p:nvPicPr>
          <p:cNvPr id="13" name="Picture 12">
            <a:extLst>
              <a:ext uri="{FF2B5EF4-FFF2-40B4-BE49-F238E27FC236}">
                <a16:creationId xmlns:a16="http://schemas.microsoft.com/office/drawing/2014/main" id="{E7AC5484-207D-4F8A-97E8-735626402B05}"/>
              </a:ext>
            </a:extLst>
          </p:cNvPr>
          <p:cNvPicPr>
            <a:picLocks noChangeAspect="1"/>
          </p:cNvPicPr>
          <p:nvPr userDrawn="1"/>
        </p:nvPicPr>
        <p:blipFill>
          <a:blip r:embed="rId26"/>
          <a:srcRect/>
          <a:stretch/>
        </p:blipFill>
        <p:spPr>
          <a:xfrm>
            <a:off x="7707923" y="150443"/>
            <a:ext cx="1267824" cy="613788"/>
          </a:xfrm>
          <a:prstGeom prst="rect">
            <a:avLst/>
          </a:prstGeom>
        </p:spPr>
      </p:pic>
      <p:sp>
        <p:nvSpPr>
          <p:cNvPr id="17" name="Slide Number Placeholder 5">
            <a:extLst>
              <a:ext uri="{FF2B5EF4-FFF2-40B4-BE49-F238E27FC236}">
                <a16:creationId xmlns:a16="http://schemas.microsoft.com/office/drawing/2014/main" id="{2C191F12-8E38-477B-810E-C1D1644BDFE8}"/>
              </a:ext>
            </a:extLst>
          </p:cNvPr>
          <p:cNvSpPr>
            <a:spLocks noGrp="1"/>
          </p:cNvSpPr>
          <p:nvPr>
            <p:ph type="sldNum" sz="quarter" idx="4"/>
          </p:nvPr>
        </p:nvSpPr>
        <p:spPr>
          <a:xfrm>
            <a:off x="4479355" y="6194307"/>
            <a:ext cx="470339" cy="365126"/>
          </a:xfrm>
          <a:prstGeom prst="rect">
            <a:avLst/>
          </a:prstGeom>
        </p:spPr>
        <p:txBody>
          <a:bodyPr anchor="ctr"/>
          <a:lstStyle>
            <a:lvl1pPr>
              <a:defRPr sz="900">
                <a:latin typeface="Source Sans Pro" panose="020B0503030403020204" pitchFamily="34" charset="0"/>
                <a:ea typeface="Source Sans Pro" panose="020B0503030403020204" pitchFamily="34" charset="0"/>
              </a:defRPr>
            </a:lvl1pPr>
          </a:lstStyle>
          <a:p>
            <a:fld id="{EF13FA6D-C8B2-4F7A-9B51-E7C42DF59B48}" type="slidenum">
              <a:rPr lang="en-US" smtClean="0"/>
              <a:pPr/>
              <a:t>‹#›</a:t>
            </a:fld>
            <a:endParaRPr lang="en-US" sz="900"/>
          </a:p>
        </p:txBody>
      </p:sp>
      <p:sp>
        <p:nvSpPr>
          <p:cNvPr id="11" name="Title Placeholder 1">
            <a:extLst>
              <a:ext uri="{FF2B5EF4-FFF2-40B4-BE49-F238E27FC236}">
                <a16:creationId xmlns:a16="http://schemas.microsoft.com/office/drawing/2014/main" id="{C22CF751-32DD-43B2-839D-9CE38DA3AEC0}"/>
              </a:ext>
            </a:extLst>
          </p:cNvPr>
          <p:cNvSpPr>
            <a:spLocks noGrp="1"/>
          </p:cNvSpPr>
          <p:nvPr>
            <p:ph type="title"/>
          </p:nvPr>
        </p:nvSpPr>
        <p:spPr>
          <a:xfrm>
            <a:off x="1191490" y="367026"/>
            <a:ext cx="6585322" cy="730202"/>
          </a:xfrm>
          <a:prstGeom prst="rect">
            <a:avLst/>
          </a:prstGeom>
        </p:spPr>
        <p:txBody>
          <a:bodyPr vert="horz" lIns="91440" tIns="45720" rIns="91440" bIns="45720" rtlCol="0" anchor="t">
            <a:normAutofit/>
          </a:bodyPr>
          <a:lstStyle/>
          <a:p>
            <a:r>
              <a:rPr lang="en-US"/>
              <a:t>Click to edit title</a:t>
            </a:r>
          </a:p>
        </p:txBody>
      </p:sp>
    </p:spTree>
    <p:extLst>
      <p:ext uri="{BB962C8B-B14F-4D97-AF65-F5344CB8AC3E}">
        <p14:creationId xmlns:p14="http://schemas.microsoft.com/office/powerpoint/2010/main" val="145296608"/>
      </p:ext>
    </p:extLst>
  </p:cSld>
  <p:clrMap bg1="lt1" tx1="dk1" bg2="lt2" tx2="dk2" accent1="accent1" accent2="accent2" accent3="accent3" accent4="accent4" accent5="accent5" accent6="accent6" hlink="hlink" folHlink="folHlink"/>
  <p:sldLayoutIdLst>
    <p:sldLayoutId id="2147483686" r:id="rId1"/>
    <p:sldLayoutId id="2147483717" r:id="rId2"/>
    <p:sldLayoutId id="2147483689" r:id="rId3"/>
    <p:sldLayoutId id="2147483690" r:id="rId4"/>
    <p:sldLayoutId id="2147483691" r:id="rId5"/>
    <p:sldLayoutId id="2147483692" r:id="rId6"/>
    <p:sldLayoutId id="2147483693" r:id="rId7"/>
    <p:sldLayoutId id="2147483694" r:id="rId8"/>
    <p:sldLayoutId id="2147483701" r:id="rId9"/>
    <p:sldLayoutId id="2147483715" r:id="rId10"/>
    <p:sldLayoutId id="2147483716" r:id="rId11"/>
    <p:sldLayoutId id="2147483697" r:id="rId12"/>
    <p:sldLayoutId id="2147483707" r:id="rId13"/>
    <p:sldLayoutId id="2147483711" r:id="rId14"/>
    <p:sldLayoutId id="2147483709" r:id="rId15"/>
    <p:sldLayoutId id="2147483712" r:id="rId16"/>
    <p:sldLayoutId id="2147483708" r:id="rId17"/>
    <p:sldLayoutId id="2147483713" r:id="rId18"/>
    <p:sldLayoutId id="2147483710" r:id="rId19"/>
    <p:sldLayoutId id="2147483714" r:id="rId20"/>
    <p:sldLayoutId id="2147483718" r:id="rId21"/>
    <p:sldLayoutId id="2147483719" r:id="rId22"/>
  </p:sldLayoutIdLst>
  <p:hf hdr="0" ftr="0" dt="0"/>
  <p:txStyles>
    <p:titleStyle>
      <a:lvl1pPr algn="ctr" defTabSz="685749" rtl="0" eaLnBrk="1" latinLnBrk="0" hangingPunct="1">
        <a:lnSpc>
          <a:spcPct val="90000"/>
        </a:lnSpc>
        <a:spcBef>
          <a:spcPct val="0"/>
        </a:spcBef>
        <a:buNone/>
        <a:defRPr sz="2700" b="1" i="0" kern="1200" spc="-75" baseline="0">
          <a:solidFill>
            <a:srgbClr val="003F80"/>
          </a:solidFill>
          <a:latin typeface="Source Sans Pro" charset="0"/>
          <a:ea typeface="Source Sans Pro" charset="0"/>
          <a:cs typeface="Source Sans Pro" charset="0"/>
        </a:defRPr>
      </a:lvl1pPr>
    </p:titleStyle>
    <p:body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749" rtl="0" eaLnBrk="1" latinLnBrk="0" hangingPunct="1">
        <a:defRPr sz="1350" kern="1200">
          <a:solidFill>
            <a:schemeClr val="tx1"/>
          </a:solidFill>
          <a:latin typeface="+mn-lt"/>
          <a:ea typeface="+mn-ea"/>
          <a:cs typeface="+mn-cs"/>
        </a:defRPr>
      </a:lvl1pPr>
      <a:lvl2pPr marL="342875" algn="l" defTabSz="685749" rtl="0" eaLnBrk="1" latinLnBrk="0" hangingPunct="1">
        <a:defRPr sz="1350" kern="1200">
          <a:solidFill>
            <a:schemeClr val="tx1"/>
          </a:solidFill>
          <a:latin typeface="+mn-lt"/>
          <a:ea typeface="+mn-ea"/>
          <a:cs typeface="+mn-cs"/>
        </a:defRPr>
      </a:lvl2pPr>
      <a:lvl3pPr marL="685749" algn="l" defTabSz="685749" rtl="0" eaLnBrk="1" latinLnBrk="0" hangingPunct="1">
        <a:defRPr sz="1350" kern="1200">
          <a:solidFill>
            <a:schemeClr val="tx1"/>
          </a:solidFill>
          <a:latin typeface="+mn-lt"/>
          <a:ea typeface="+mn-ea"/>
          <a:cs typeface="+mn-cs"/>
        </a:defRPr>
      </a:lvl3pPr>
      <a:lvl4pPr marL="1028624" algn="l" defTabSz="685749" rtl="0" eaLnBrk="1" latinLnBrk="0" hangingPunct="1">
        <a:defRPr sz="1350" kern="1200">
          <a:solidFill>
            <a:schemeClr val="tx1"/>
          </a:solidFill>
          <a:latin typeface="+mn-lt"/>
          <a:ea typeface="+mn-ea"/>
          <a:cs typeface="+mn-cs"/>
        </a:defRPr>
      </a:lvl4pPr>
      <a:lvl5pPr marL="1371498" algn="l" defTabSz="685749" rtl="0" eaLnBrk="1" latinLnBrk="0" hangingPunct="1">
        <a:defRPr sz="1350" kern="1200">
          <a:solidFill>
            <a:schemeClr val="tx1"/>
          </a:solidFill>
          <a:latin typeface="+mn-lt"/>
          <a:ea typeface="+mn-ea"/>
          <a:cs typeface="+mn-cs"/>
        </a:defRPr>
      </a:lvl5pPr>
      <a:lvl6pPr marL="1714373" algn="l" defTabSz="685749" rtl="0" eaLnBrk="1" latinLnBrk="0" hangingPunct="1">
        <a:defRPr sz="1350" kern="1200">
          <a:solidFill>
            <a:schemeClr val="tx1"/>
          </a:solidFill>
          <a:latin typeface="+mn-lt"/>
          <a:ea typeface="+mn-ea"/>
          <a:cs typeface="+mn-cs"/>
        </a:defRPr>
      </a:lvl6pPr>
      <a:lvl7pPr marL="2057246" algn="l" defTabSz="685749" rtl="0" eaLnBrk="1" latinLnBrk="0" hangingPunct="1">
        <a:defRPr sz="1350" kern="1200">
          <a:solidFill>
            <a:schemeClr val="tx1"/>
          </a:solidFill>
          <a:latin typeface="+mn-lt"/>
          <a:ea typeface="+mn-ea"/>
          <a:cs typeface="+mn-cs"/>
        </a:defRPr>
      </a:lvl7pPr>
      <a:lvl8pPr marL="2400120" algn="l" defTabSz="685749" rtl="0" eaLnBrk="1" latinLnBrk="0" hangingPunct="1">
        <a:defRPr sz="1350" kern="1200">
          <a:solidFill>
            <a:schemeClr val="tx1"/>
          </a:solidFill>
          <a:latin typeface="+mn-lt"/>
          <a:ea typeface="+mn-ea"/>
          <a:cs typeface="+mn-cs"/>
        </a:defRPr>
      </a:lvl8pPr>
      <a:lvl9pPr marL="2742995" algn="l" defTabSz="685749"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hyperlink" Target="https://www.sba.gov/business-guide/launch-your-business/choose-business-structure"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hyperlink" Target="https://www.sba.gov/federal-contracting" TargetMode="External"/><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10.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8" Type="http://schemas.openxmlformats.org/officeDocument/2006/relationships/hyperlink" Target="mailto:militaryoutreach@uspto.gov" TargetMode="External"/><Relationship Id="rId3" Type="http://schemas.openxmlformats.org/officeDocument/2006/relationships/hyperlink" Target="http://www.uspto.gov/" TargetMode="External"/><Relationship Id="rId7" Type="http://schemas.openxmlformats.org/officeDocument/2006/relationships/hyperlink" Target="http://www.copyright.gov/learning-engine" TargetMode="External"/><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hyperlink" Target="http://www.copyright.gov/" TargetMode="External"/><Relationship Id="rId5" Type="http://schemas.openxmlformats.org/officeDocument/2006/relationships/hyperlink" Target="https://www.uspto.gov/initiatives/entrepreneurship-resources-military-community" TargetMode="External"/><Relationship Id="rId4" Type="http://schemas.openxmlformats.org/officeDocument/2006/relationships/hyperlink" Target="http://www.uspto.gov/inventors"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3584-46D3-54BF-7C16-C9A7F49A74BF}"/>
              </a:ext>
            </a:extLst>
          </p:cNvPr>
          <p:cNvSpPr>
            <a:spLocks noGrp="1"/>
          </p:cNvSpPr>
          <p:nvPr>
            <p:ph type="ctrTitle"/>
          </p:nvPr>
        </p:nvSpPr>
        <p:spPr/>
        <p:txBody>
          <a:bodyPr/>
          <a:lstStyle/>
          <a:p>
            <a:r>
              <a:rPr lang="en-US" dirty="0"/>
              <a:t>Boots to Business Module 5</a:t>
            </a:r>
          </a:p>
        </p:txBody>
      </p:sp>
      <p:sp>
        <p:nvSpPr>
          <p:cNvPr id="3" name="Text Placeholder 2">
            <a:extLst>
              <a:ext uri="{FF2B5EF4-FFF2-40B4-BE49-F238E27FC236}">
                <a16:creationId xmlns:a16="http://schemas.microsoft.com/office/drawing/2014/main" id="{E7C3900C-2F5D-BD73-1427-18A8B10E40A7}"/>
              </a:ext>
            </a:extLst>
          </p:cNvPr>
          <p:cNvSpPr>
            <a:spLocks noGrp="1"/>
          </p:cNvSpPr>
          <p:nvPr>
            <p:ph type="body" sz="quarter" idx="10"/>
          </p:nvPr>
        </p:nvSpPr>
        <p:spPr/>
        <p:txBody>
          <a:bodyPr/>
          <a:lstStyle/>
          <a:p>
            <a:r>
              <a:rPr lang="en-US" dirty="0"/>
              <a:t>Legal Considerations for Veteran-Owned Small Businesses</a:t>
            </a:r>
          </a:p>
        </p:txBody>
      </p:sp>
      <p:pic>
        <p:nvPicPr>
          <p:cNvPr id="4" name="Picture 3">
            <a:extLst>
              <a:ext uri="{FF2B5EF4-FFF2-40B4-BE49-F238E27FC236}">
                <a16:creationId xmlns:a16="http://schemas.microsoft.com/office/drawing/2014/main" id="{D18BD71E-26F6-40F0-AC2B-D283B2232A98}"/>
              </a:ext>
            </a:extLst>
          </p:cNvPr>
          <p:cNvPicPr>
            <a:picLocks noChangeAspect="1"/>
          </p:cNvPicPr>
          <p:nvPr/>
        </p:nvPicPr>
        <p:blipFill>
          <a:blip r:embed="rId3"/>
          <a:stretch>
            <a:fillRect/>
          </a:stretch>
        </p:blipFill>
        <p:spPr>
          <a:xfrm>
            <a:off x="0" y="5667926"/>
            <a:ext cx="9144000" cy="1190074"/>
          </a:xfrm>
          <a:prstGeom prst="rect">
            <a:avLst/>
          </a:prstGeom>
        </p:spPr>
      </p:pic>
      <p:sp>
        <p:nvSpPr>
          <p:cNvPr id="5" name="TextBox 2">
            <a:extLst>
              <a:ext uri="{FF2B5EF4-FFF2-40B4-BE49-F238E27FC236}">
                <a16:creationId xmlns:a16="http://schemas.microsoft.com/office/drawing/2014/main" id="{2BB6691E-F374-22C9-3342-E026F01167BD}"/>
              </a:ext>
            </a:extLst>
          </p:cNvPr>
          <p:cNvSpPr txBox="1"/>
          <p:nvPr/>
        </p:nvSpPr>
        <p:spPr>
          <a:xfrm>
            <a:off x="7654879" y="5175306"/>
            <a:ext cx="1480185" cy="350865"/>
          </a:xfrm>
          <a:prstGeom prst="rect">
            <a:avLst/>
          </a:prstGeom>
          <a:noFill/>
        </p:spPr>
        <p:txBody>
          <a:bodyPr wrap="square" rtlCol="0">
            <a:spAutoFit/>
          </a:bodyPr>
          <a:lstStyle>
            <a:defPPr>
              <a:defRPr lang="en-US"/>
            </a:defPPr>
            <a:lvl1pPr algn="l" defTabSz="965200" rtl="0" fontAlgn="base">
              <a:spcBef>
                <a:spcPct val="0"/>
              </a:spcBef>
              <a:spcAft>
                <a:spcPct val="0"/>
              </a:spcAft>
              <a:defRPr sz="1900" kern="1200">
                <a:solidFill>
                  <a:schemeClr val="tx1"/>
                </a:solidFill>
                <a:latin typeface="Calibri" pitchFamily="34" charset="0"/>
                <a:ea typeface="+mn-ea"/>
                <a:cs typeface="Arial" pitchFamily="34" charset="0"/>
              </a:defRPr>
            </a:lvl1pPr>
            <a:lvl2pPr marL="482600" indent="-25400" algn="l" defTabSz="965200" rtl="0" fontAlgn="base">
              <a:spcBef>
                <a:spcPct val="0"/>
              </a:spcBef>
              <a:spcAft>
                <a:spcPct val="0"/>
              </a:spcAft>
              <a:defRPr sz="1900" kern="1200">
                <a:solidFill>
                  <a:schemeClr val="tx1"/>
                </a:solidFill>
                <a:latin typeface="Calibri" pitchFamily="34" charset="0"/>
                <a:ea typeface="+mn-ea"/>
                <a:cs typeface="Arial" pitchFamily="34" charset="0"/>
              </a:defRPr>
            </a:lvl2pPr>
            <a:lvl3pPr marL="965200" indent="-50800" algn="l" defTabSz="965200" rtl="0" fontAlgn="base">
              <a:spcBef>
                <a:spcPct val="0"/>
              </a:spcBef>
              <a:spcAft>
                <a:spcPct val="0"/>
              </a:spcAft>
              <a:defRPr sz="1900" kern="1200">
                <a:solidFill>
                  <a:schemeClr val="tx1"/>
                </a:solidFill>
                <a:latin typeface="Calibri" pitchFamily="34" charset="0"/>
                <a:ea typeface="+mn-ea"/>
                <a:cs typeface="Arial" pitchFamily="34" charset="0"/>
              </a:defRPr>
            </a:lvl3pPr>
            <a:lvl4pPr marL="1449388" indent="-77788" algn="l" defTabSz="965200" rtl="0" fontAlgn="base">
              <a:spcBef>
                <a:spcPct val="0"/>
              </a:spcBef>
              <a:spcAft>
                <a:spcPct val="0"/>
              </a:spcAft>
              <a:defRPr sz="1900" kern="1200">
                <a:solidFill>
                  <a:schemeClr val="tx1"/>
                </a:solidFill>
                <a:latin typeface="Calibri" pitchFamily="34" charset="0"/>
                <a:ea typeface="+mn-ea"/>
                <a:cs typeface="Arial" pitchFamily="34" charset="0"/>
              </a:defRPr>
            </a:lvl4pPr>
            <a:lvl5pPr marL="1931988" indent="-103188" algn="l" defTabSz="965200" rtl="0" fontAlgn="base">
              <a:spcBef>
                <a:spcPct val="0"/>
              </a:spcBef>
              <a:spcAft>
                <a:spcPct val="0"/>
              </a:spcAft>
              <a:defRPr sz="1900" kern="1200">
                <a:solidFill>
                  <a:schemeClr val="tx1"/>
                </a:solidFill>
                <a:latin typeface="Calibri" pitchFamily="34" charset="0"/>
                <a:ea typeface="+mn-ea"/>
                <a:cs typeface="Arial" pitchFamily="34" charset="0"/>
              </a:defRPr>
            </a:lvl5pPr>
            <a:lvl6pPr marL="2286000" algn="l" defTabSz="914400" rtl="0" eaLnBrk="1" latinLnBrk="0" hangingPunct="1">
              <a:defRPr sz="1900" kern="1200">
                <a:solidFill>
                  <a:schemeClr val="tx1"/>
                </a:solidFill>
                <a:latin typeface="Calibri" pitchFamily="34" charset="0"/>
                <a:ea typeface="+mn-ea"/>
                <a:cs typeface="Arial" pitchFamily="34" charset="0"/>
              </a:defRPr>
            </a:lvl6pPr>
            <a:lvl7pPr marL="2743200" algn="l" defTabSz="914400" rtl="0" eaLnBrk="1" latinLnBrk="0" hangingPunct="1">
              <a:defRPr sz="1900" kern="1200">
                <a:solidFill>
                  <a:schemeClr val="tx1"/>
                </a:solidFill>
                <a:latin typeface="Calibri" pitchFamily="34" charset="0"/>
                <a:ea typeface="+mn-ea"/>
                <a:cs typeface="Arial" pitchFamily="34" charset="0"/>
              </a:defRPr>
            </a:lvl7pPr>
            <a:lvl8pPr marL="3200400" algn="l" defTabSz="914400" rtl="0" eaLnBrk="1" latinLnBrk="0" hangingPunct="1">
              <a:defRPr sz="1900" kern="1200">
                <a:solidFill>
                  <a:schemeClr val="tx1"/>
                </a:solidFill>
                <a:latin typeface="Calibri" pitchFamily="34" charset="0"/>
                <a:ea typeface="+mn-ea"/>
                <a:cs typeface="Arial" pitchFamily="34" charset="0"/>
              </a:defRPr>
            </a:lvl8pPr>
            <a:lvl9pPr marL="3657600" algn="l" defTabSz="914400" rtl="0" eaLnBrk="1" latinLnBrk="0" hangingPunct="1">
              <a:defRPr sz="1900" kern="1200">
                <a:solidFill>
                  <a:schemeClr val="tx1"/>
                </a:solidFill>
                <a:latin typeface="Calibri" pitchFamily="34" charset="0"/>
                <a:ea typeface="+mn-ea"/>
                <a:cs typeface="Arial" pitchFamily="34" charset="0"/>
              </a:defRPr>
            </a:lvl9pPr>
          </a:lstStyle>
          <a:p>
            <a:r>
              <a:rPr lang="en-US" sz="1680" b="1" i="1"/>
              <a:t>Version 5.3</a:t>
            </a:r>
            <a:endParaRPr lang="en-US" sz="1680" b="1" i="1" dirty="0"/>
          </a:p>
        </p:txBody>
      </p:sp>
    </p:spTree>
    <p:extLst>
      <p:ext uri="{BB962C8B-B14F-4D97-AF65-F5344CB8AC3E}">
        <p14:creationId xmlns:p14="http://schemas.microsoft.com/office/powerpoint/2010/main" val="854019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E7B6F7-40A9-C218-F3F3-1488BA5C86D2}"/>
              </a:ext>
            </a:extLst>
          </p:cNvPr>
          <p:cNvSpPr>
            <a:spLocks noGrp="1"/>
          </p:cNvSpPr>
          <p:nvPr>
            <p:ph type="title"/>
          </p:nvPr>
        </p:nvSpPr>
        <p:spPr/>
        <p:txBody>
          <a:bodyPr>
            <a:normAutofit/>
          </a:bodyPr>
          <a:lstStyle/>
          <a:p>
            <a:r>
              <a:rPr lang="en-US" sz="2800" dirty="0"/>
              <a:t>Objective</a:t>
            </a:r>
          </a:p>
        </p:txBody>
      </p:sp>
      <p:sp>
        <p:nvSpPr>
          <p:cNvPr id="5" name="Content Placeholder 2">
            <a:extLst>
              <a:ext uri="{FF2B5EF4-FFF2-40B4-BE49-F238E27FC236}">
                <a16:creationId xmlns:a16="http://schemas.microsoft.com/office/drawing/2014/main" id="{8B3B104F-60E0-76FB-5EB1-29C16D6A5C9C}"/>
              </a:ext>
            </a:extLst>
          </p:cNvPr>
          <p:cNvSpPr txBox="1">
            <a:spLocks/>
          </p:cNvSpPr>
          <p:nvPr/>
        </p:nvSpPr>
        <p:spPr>
          <a:xfrm>
            <a:off x="431800" y="1243833"/>
            <a:ext cx="8280400" cy="4743450"/>
          </a:xfrm>
          <a:prstGeom prst="rect">
            <a:avLst/>
          </a:prstGeom>
        </p:spPr>
        <p:txBody>
          <a:bodyPr vert="horz" lIns="91440" tIns="45720" rIns="91440" bIns="45720" rtlCol="0">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altLang="en-US" sz="2800" dirty="0">
                <a:solidFill>
                  <a:schemeClr val="tx2"/>
                </a:solidFill>
              </a:rPr>
              <a:t>Understand the various legal forms of a business</a:t>
            </a:r>
          </a:p>
          <a:p>
            <a:pPr lvl="1">
              <a:spcAft>
                <a:spcPts val="600"/>
              </a:spcAft>
            </a:pPr>
            <a:r>
              <a:rPr lang="en-US" altLang="en-US" sz="2400" dirty="0">
                <a:solidFill>
                  <a:schemeClr val="tx2"/>
                </a:solidFill>
              </a:rPr>
              <a:t>The opportunities and challenges associated with each</a:t>
            </a:r>
          </a:p>
          <a:p>
            <a:pPr>
              <a:spcAft>
                <a:spcPts val="600"/>
              </a:spcAft>
            </a:pPr>
            <a:r>
              <a:rPr lang="en-US" altLang="en-US" sz="2800" dirty="0">
                <a:solidFill>
                  <a:schemeClr val="tx2"/>
                </a:solidFill>
              </a:rPr>
              <a:t>Offer an overview of other legal considerations impacting veteran-owned businesses </a:t>
            </a:r>
          </a:p>
          <a:p>
            <a:pPr>
              <a:spcAft>
                <a:spcPts val="600"/>
              </a:spcAft>
            </a:pPr>
            <a:r>
              <a:rPr lang="en-US" altLang="en-US" sz="2800" dirty="0">
                <a:solidFill>
                  <a:schemeClr val="tx2"/>
                </a:solidFill>
              </a:rPr>
              <a:t>Additionally:</a:t>
            </a:r>
          </a:p>
          <a:p>
            <a:pPr lvl="1"/>
            <a:r>
              <a:rPr lang="en-US" altLang="en-US" sz="2400" dirty="0">
                <a:solidFill>
                  <a:schemeClr val="tx2"/>
                </a:solidFill>
              </a:rPr>
              <a:t>How is the owner paid, taxed, and what type of liability are they exposed to?</a:t>
            </a:r>
          </a:p>
          <a:p>
            <a:pPr lvl="1"/>
            <a:r>
              <a:rPr lang="en-US" altLang="en-US" sz="2400" dirty="0">
                <a:solidFill>
                  <a:schemeClr val="tx2"/>
                </a:solidFill>
              </a:rPr>
              <a:t>The importance of seeking legal counsel</a:t>
            </a:r>
          </a:p>
        </p:txBody>
      </p:sp>
      <p:sp>
        <p:nvSpPr>
          <p:cNvPr id="2" name="Slide Number Placeholder 1">
            <a:extLst>
              <a:ext uri="{FF2B5EF4-FFF2-40B4-BE49-F238E27FC236}">
                <a16:creationId xmlns:a16="http://schemas.microsoft.com/office/drawing/2014/main" id="{68839013-EE37-7B74-0773-7572A7AD0708}"/>
              </a:ext>
            </a:extLst>
          </p:cNvPr>
          <p:cNvSpPr>
            <a:spLocks noGrp="1"/>
          </p:cNvSpPr>
          <p:nvPr>
            <p:ph type="sldNum" sz="quarter" idx="4"/>
          </p:nvPr>
        </p:nvSpPr>
        <p:spPr/>
        <p:txBody>
          <a:bodyPr/>
          <a:lstStyle/>
          <a:p>
            <a:fld id="{EF13FA6D-C8B2-4F7A-9B51-E7C42DF59B48}" type="slidenum">
              <a:rPr lang="en-US" smtClean="0"/>
              <a:pPr/>
              <a:t>2</a:t>
            </a:fld>
            <a:endParaRPr lang="en-US" sz="900"/>
          </a:p>
        </p:txBody>
      </p:sp>
    </p:spTree>
    <p:extLst>
      <p:ext uri="{BB962C8B-B14F-4D97-AF65-F5344CB8AC3E}">
        <p14:creationId xmlns:p14="http://schemas.microsoft.com/office/powerpoint/2010/main" val="442964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E7B6F7-40A9-C218-F3F3-1488BA5C86D2}"/>
              </a:ext>
            </a:extLst>
          </p:cNvPr>
          <p:cNvSpPr>
            <a:spLocks noGrp="1"/>
          </p:cNvSpPr>
          <p:nvPr>
            <p:ph type="title"/>
          </p:nvPr>
        </p:nvSpPr>
        <p:spPr/>
        <p:txBody>
          <a:bodyPr>
            <a:normAutofit/>
          </a:bodyPr>
          <a:lstStyle/>
          <a:p>
            <a:r>
              <a:rPr lang="en-US" sz="2800" dirty="0"/>
              <a:t>Agenda</a:t>
            </a:r>
          </a:p>
        </p:txBody>
      </p:sp>
      <p:sp>
        <p:nvSpPr>
          <p:cNvPr id="2" name="Content Placeholder 3">
            <a:extLst>
              <a:ext uri="{FF2B5EF4-FFF2-40B4-BE49-F238E27FC236}">
                <a16:creationId xmlns:a16="http://schemas.microsoft.com/office/drawing/2014/main" id="{7D629167-1158-47C6-BDB5-CE9BB8FAE699}"/>
              </a:ext>
            </a:extLst>
          </p:cNvPr>
          <p:cNvSpPr txBox="1">
            <a:spLocks/>
          </p:cNvSpPr>
          <p:nvPr/>
        </p:nvSpPr>
        <p:spPr>
          <a:xfrm>
            <a:off x="544471" y="1097228"/>
            <a:ext cx="7758702" cy="4683462"/>
          </a:xfrm>
          <a:prstGeom prst="rect">
            <a:avLst/>
          </a:prstGeom>
        </p:spPr>
        <p:txBody>
          <a:bodyPr vert="horz" lIns="96012" tIns="48006" rIns="96012" bIns="48006" rtlCol="0" anchor="t">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513715" lvl="1" indent="-170815">
              <a:spcAft>
                <a:spcPts val="600"/>
              </a:spcAft>
            </a:pPr>
            <a:r>
              <a:rPr lang="en-US" altLang="en-US" sz="2800" dirty="0">
                <a:solidFill>
                  <a:schemeClr val="tx2"/>
                </a:solidFill>
                <a:latin typeface="Source Sans Pro" panose="020B0503030403020204" pitchFamily="34" charset="0"/>
                <a:ea typeface="Source Sans Pro" panose="020B0503030403020204" pitchFamily="34" charset="0"/>
              </a:rPr>
              <a:t>Importance of BAIL Team</a:t>
            </a:r>
          </a:p>
          <a:p>
            <a:pPr marL="513715" lvl="1" indent="-170815">
              <a:spcAft>
                <a:spcPts val="600"/>
              </a:spcAft>
            </a:pPr>
            <a:r>
              <a:rPr lang="en-US" altLang="en-US" sz="2800" dirty="0">
                <a:solidFill>
                  <a:schemeClr val="tx2"/>
                </a:solidFill>
                <a:latin typeface="Source Sans Pro" panose="020B0503030403020204" pitchFamily="34" charset="0"/>
              </a:rPr>
              <a:t>Small Business Entities</a:t>
            </a:r>
          </a:p>
          <a:p>
            <a:pPr marL="856615" lvl="2" indent="-170815">
              <a:spcAft>
                <a:spcPts val="600"/>
              </a:spcAft>
            </a:pPr>
            <a:r>
              <a:rPr lang="en-US" altLang="en-US" sz="2400" dirty="0">
                <a:solidFill>
                  <a:schemeClr val="tx2"/>
                </a:solidFill>
                <a:latin typeface="Source Sans Pro"/>
                <a:ea typeface="Source Sans Pro"/>
              </a:rPr>
              <a:t>Types</a:t>
            </a:r>
          </a:p>
          <a:p>
            <a:pPr marL="856615" lvl="2" indent="-170815">
              <a:spcAft>
                <a:spcPts val="1200"/>
              </a:spcAft>
            </a:pPr>
            <a:r>
              <a:rPr lang="en-US" altLang="en-US" sz="2400" dirty="0">
                <a:solidFill>
                  <a:schemeClr val="tx2"/>
                </a:solidFill>
                <a:latin typeface="Source Sans Pro"/>
                <a:ea typeface="Source Sans Pro"/>
              </a:rPr>
              <a:t>Characteristics of Each</a:t>
            </a:r>
          </a:p>
          <a:p>
            <a:pPr marL="513715" lvl="1" indent="-170815">
              <a:spcAft>
                <a:spcPts val="600"/>
              </a:spcAft>
            </a:pPr>
            <a:r>
              <a:rPr lang="en-US" altLang="en-US" sz="2800" dirty="0">
                <a:solidFill>
                  <a:schemeClr val="tx2"/>
                </a:solidFill>
                <a:latin typeface="Source Sans Pro" panose="020B0503030403020204" pitchFamily="34" charset="0"/>
              </a:rPr>
              <a:t>Other Legal Considerations</a:t>
            </a:r>
          </a:p>
          <a:p>
            <a:pPr marL="856615" lvl="2" indent="-170815">
              <a:spcAft>
                <a:spcPts val="600"/>
              </a:spcAft>
            </a:pPr>
            <a:r>
              <a:rPr lang="en-US" altLang="en-US" sz="2400" dirty="0">
                <a:solidFill>
                  <a:schemeClr val="tx2"/>
                </a:solidFill>
                <a:latin typeface="Source Sans Pro"/>
                <a:ea typeface="Source Sans Pro"/>
              </a:rPr>
              <a:t>Contracts</a:t>
            </a:r>
          </a:p>
          <a:p>
            <a:pPr marL="856615" lvl="2" indent="-170815">
              <a:spcAft>
                <a:spcPts val="600"/>
              </a:spcAft>
            </a:pPr>
            <a:r>
              <a:rPr lang="en-US" altLang="en-US" sz="2400" dirty="0">
                <a:solidFill>
                  <a:schemeClr val="tx2"/>
                </a:solidFill>
                <a:latin typeface="Source Sans Pro"/>
                <a:ea typeface="Source Sans Pro"/>
              </a:rPr>
              <a:t>Government Contracting</a:t>
            </a:r>
          </a:p>
          <a:p>
            <a:pPr marL="856615" lvl="2" indent="-170815">
              <a:spcAft>
                <a:spcPts val="600"/>
              </a:spcAft>
            </a:pPr>
            <a:r>
              <a:rPr lang="en-US" altLang="en-US" sz="2400" dirty="0">
                <a:solidFill>
                  <a:schemeClr val="tx2"/>
                </a:solidFill>
                <a:latin typeface="Source Sans Pro"/>
                <a:ea typeface="Source Sans Pro"/>
              </a:rPr>
              <a:t>Intellectual Property </a:t>
            </a:r>
            <a:endParaRPr lang="en-US" altLang="en-US" sz="2400" dirty="0">
              <a:solidFill>
                <a:schemeClr val="tx2"/>
              </a:solidFill>
              <a:latin typeface="Source Sans Pro" panose="020B0503030403020204" pitchFamily="34" charset="0"/>
              <a:ea typeface="Source Sans Pro" panose="020B0503030403020204" pitchFamily="34" charset="0"/>
            </a:endParaRPr>
          </a:p>
          <a:p>
            <a:pPr marL="0" indent="0">
              <a:buFont typeface="Arial"/>
              <a:buNone/>
            </a:pPr>
            <a:endParaRPr lang="en-US" altLang="ko-KR" sz="2520" b="1" dirty="0">
              <a:solidFill>
                <a:srgbClr val="002E6D"/>
              </a:solidFill>
              <a:latin typeface="Source Sans Pro" panose="020B0503030403020204" pitchFamily="34" charset="0"/>
              <a:ea typeface="Source Sans Pro" panose="020B0503030403020204" pitchFamily="34" charset="0"/>
              <a:cs typeface="Arial" pitchFamily="34" charset="0"/>
            </a:endParaRPr>
          </a:p>
        </p:txBody>
      </p:sp>
      <p:sp>
        <p:nvSpPr>
          <p:cNvPr id="3" name="Slide Number Placeholder 2">
            <a:extLst>
              <a:ext uri="{FF2B5EF4-FFF2-40B4-BE49-F238E27FC236}">
                <a16:creationId xmlns:a16="http://schemas.microsoft.com/office/drawing/2014/main" id="{884CDC43-03DB-D1A0-05DA-A1E104699A6B}"/>
              </a:ext>
            </a:extLst>
          </p:cNvPr>
          <p:cNvSpPr>
            <a:spLocks noGrp="1"/>
          </p:cNvSpPr>
          <p:nvPr>
            <p:ph type="sldNum" sz="quarter" idx="4"/>
          </p:nvPr>
        </p:nvSpPr>
        <p:spPr/>
        <p:txBody>
          <a:bodyPr/>
          <a:lstStyle/>
          <a:p>
            <a:fld id="{EF13FA6D-C8B2-4F7A-9B51-E7C42DF59B48}" type="slidenum">
              <a:rPr lang="en-US" smtClean="0"/>
              <a:pPr/>
              <a:t>3</a:t>
            </a:fld>
            <a:endParaRPr lang="en-US" sz="900"/>
          </a:p>
        </p:txBody>
      </p:sp>
    </p:spTree>
    <p:extLst>
      <p:ext uri="{BB962C8B-B14F-4D97-AF65-F5344CB8AC3E}">
        <p14:creationId xmlns:p14="http://schemas.microsoft.com/office/powerpoint/2010/main" val="1129851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descr="Shape&#10;&#10;Description automatically generated with low confidence">
            <a:extLst>
              <a:ext uri="{FF2B5EF4-FFF2-40B4-BE49-F238E27FC236}">
                <a16:creationId xmlns:a16="http://schemas.microsoft.com/office/drawing/2014/main" id="{615529AB-CDBA-8BB4-9CDC-3DEA00142E81}"/>
              </a:ext>
            </a:extLst>
          </p:cNvPr>
          <p:cNvPicPr>
            <a:picLocks noGrp="1" noChangeAspect="1"/>
          </p:cNvPicPr>
          <p:nvPr>
            <p:ph type="pic" idx="19"/>
          </p:nvPr>
        </p:nvPicPr>
        <p:blipFill>
          <a:blip r:embed="rId3"/>
          <a:srcRect l="2529" r="2529"/>
          <a:stretch>
            <a:fillRect/>
          </a:stretch>
        </p:blipFill>
        <p:spPr>
          <a:xfrm>
            <a:off x="2767612" y="1379448"/>
            <a:ext cx="1302797" cy="1371600"/>
          </a:xfrm>
        </p:spPr>
      </p:pic>
      <p:sp>
        <p:nvSpPr>
          <p:cNvPr id="7" name="Text Placeholder 6">
            <a:extLst>
              <a:ext uri="{FF2B5EF4-FFF2-40B4-BE49-F238E27FC236}">
                <a16:creationId xmlns:a16="http://schemas.microsoft.com/office/drawing/2014/main" id="{B3391DEF-E5AC-F72B-1E51-E9B6BC59204B}"/>
              </a:ext>
            </a:extLst>
          </p:cNvPr>
          <p:cNvSpPr>
            <a:spLocks noGrp="1"/>
          </p:cNvSpPr>
          <p:nvPr>
            <p:ph type="body" sz="quarter" idx="22"/>
          </p:nvPr>
        </p:nvSpPr>
        <p:spPr>
          <a:xfrm>
            <a:off x="2396760" y="2761821"/>
            <a:ext cx="2044502" cy="401685"/>
          </a:xfrm>
        </p:spPr>
        <p:txBody>
          <a:bodyPr/>
          <a:lstStyle/>
          <a:p>
            <a:r>
              <a:rPr lang="en-US"/>
              <a:t>Accountant</a:t>
            </a:r>
          </a:p>
        </p:txBody>
      </p:sp>
      <p:sp>
        <p:nvSpPr>
          <p:cNvPr id="8" name="Text Placeholder 7">
            <a:extLst>
              <a:ext uri="{FF2B5EF4-FFF2-40B4-BE49-F238E27FC236}">
                <a16:creationId xmlns:a16="http://schemas.microsoft.com/office/drawing/2014/main" id="{3FB466B1-DE4B-6CE0-A423-0CA42BBB9F46}"/>
              </a:ext>
            </a:extLst>
          </p:cNvPr>
          <p:cNvSpPr>
            <a:spLocks noGrp="1"/>
          </p:cNvSpPr>
          <p:nvPr>
            <p:ph type="body" sz="half" idx="25"/>
          </p:nvPr>
        </p:nvSpPr>
        <p:spPr>
          <a:xfrm>
            <a:off x="278753" y="3267773"/>
            <a:ext cx="2044502" cy="2135946"/>
          </a:xfrm>
          <a:solidFill>
            <a:schemeClr val="bg1">
              <a:lumMod val="75000"/>
            </a:schemeClr>
          </a:solidFill>
        </p:spPr>
        <p:txBody>
          <a:bodyPr>
            <a:noAutofit/>
          </a:bodyPr>
          <a:lstStyle/>
          <a:p>
            <a:pPr marL="342900" indent="-342900">
              <a:buFont typeface="Wingdings" panose="05000000000000000000" pitchFamily="2" charset="2"/>
              <a:buChar char="§"/>
            </a:pPr>
            <a:r>
              <a:rPr lang="en-US" sz="1400" b="1" dirty="0"/>
              <a:t>Loans</a:t>
            </a:r>
          </a:p>
          <a:p>
            <a:pPr marL="342900" indent="-342900">
              <a:buFont typeface="Wingdings" panose="05000000000000000000" pitchFamily="2" charset="2"/>
              <a:buChar char="§"/>
            </a:pPr>
            <a:r>
              <a:rPr lang="en-US" sz="1400" b="1" dirty="0"/>
              <a:t>Business Accounts</a:t>
            </a:r>
          </a:p>
          <a:p>
            <a:pPr marL="342900" indent="-342900">
              <a:buFont typeface="Wingdings" panose="05000000000000000000" pitchFamily="2" charset="2"/>
              <a:buChar char="§"/>
            </a:pPr>
            <a:r>
              <a:rPr lang="en-US" sz="1400" b="1" dirty="0"/>
              <a:t>Credit Card Services</a:t>
            </a:r>
          </a:p>
          <a:p>
            <a:pPr marL="342900" indent="-342900">
              <a:buFont typeface="Wingdings" panose="05000000000000000000" pitchFamily="2" charset="2"/>
              <a:buChar char="§"/>
            </a:pPr>
            <a:r>
              <a:rPr lang="en-US" sz="1400" b="1" dirty="0"/>
              <a:t>Customer Loans</a:t>
            </a:r>
          </a:p>
          <a:p>
            <a:pPr marL="342900" indent="-342900">
              <a:buFont typeface="Wingdings" panose="05000000000000000000" pitchFamily="2" charset="2"/>
              <a:buChar char="§"/>
            </a:pPr>
            <a:r>
              <a:rPr lang="en-US" sz="1400" b="1" dirty="0"/>
              <a:t>Payroll Services</a:t>
            </a:r>
          </a:p>
        </p:txBody>
      </p:sp>
      <p:pic>
        <p:nvPicPr>
          <p:cNvPr id="18" name="Picture Placeholder 17" descr="Shape&#10;&#10;Description automatically generated with low confidence">
            <a:extLst>
              <a:ext uri="{FF2B5EF4-FFF2-40B4-BE49-F238E27FC236}">
                <a16:creationId xmlns:a16="http://schemas.microsoft.com/office/drawing/2014/main" id="{9BCEAC2E-93C4-65A1-AD98-564436DDF0F8}"/>
              </a:ext>
            </a:extLst>
          </p:cNvPr>
          <p:cNvPicPr>
            <a:picLocks noGrp="1" noChangeAspect="1"/>
          </p:cNvPicPr>
          <p:nvPr>
            <p:ph type="pic" idx="26"/>
          </p:nvPr>
        </p:nvPicPr>
        <p:blipFill>
          <a:blip r:embed="rId4"/>
          <a:srcRect l="2626" r="2626"/>
          <a:stretch>
            <a:fillRect/>
          </a:stretch>
        </p:blipFill>
        <p:spPr>
          <a:xfrm>
            <a:off x="649605" y="1379448"/>
            <a:ext cx="1302797" cy="1371600"/>
          </a:xfrm>
        </p:spPr>
      </p:pic>
      <p:sp>
        <p:nvSpPr>
          <p:cNvPr id="10" name="Text Placeholder 9">
            <a:extLst>
              <a:ext uri="{FF2B5EF4-FFF2-40B4-BE49-F238E27FC236}">
                <a16:creationId xmlns:a16="http://schemas.microsoft.com/office/drawing/2014/main" id="{DF6AC116-BAD3-7218-A402-58C2D53F4888}"/>
              </a:ext>
            </a:extLst>
          </p:cNvPr>
          <p:cNvSpPr>
            <a:spLocks noGrp="1"/>
          </p:cNvSpPr>
          <p:nvPr>
            <p:ph type="body" sz="quarter" idx="27"/>
          </p:nvPr>
        </p:nvSpPr>
        <p:spPr>
          <a:xfrm>
            <a:off x="169239" y="2754577"/>
            <a:ext cx="2044502" cy="401685"/>
          </a:xfrm>
        </p:spPr>
        <p:txBody>
          <a:bodyPr/>
          <a:lstStyle/>
          <a:p>
            <a:r>
              <a:rPr lang="en-US"/>
              <a:t>Banker</a:t>
            </a:r>
          </a:p>
        </p:txBody>
      </p:sp>
      <p:pic>
        <p:nvPicPr>
          <p:cNvPr id="26" name="Picture Placeholder 25" descr="Shape&#10;&#10;Description automatically generated with low confidence">
            <a:extLst>
              <a:ext uri="{FF2B5EF4-FFF2-40B4-BE49-F238E27FC236}">
                <a16:creationId xmlns:a16="http://schemas.microsoft.com/office/drawing/2014/main" id="{D70F5772-8022-6C36-9E8C-999E4DA4B0D3}"/>
              </a:ext>
            </a:extLst>
          </p:cNvPr>
          <p:cNvPicPr>
            <a:picLocks noGrp="1" noChangeAspect="1"/>
          </p:cNvPicPr>
          <p:nvPr>
            <p:ph type="pic" idx="29"/>
          </p:nvPr>
        </p:nvPicPr>
        <p:blipFill>
          <a:blip r:embed="rId5"/>
          <a:srcRect l="2529" r="2529"/>
          <a:stretch>
            <a:fillRect/>
          </a:stretch>
        </p:blipFill>
        <p:spPr>
          <a:xfrm>
            <a:off x="7081551" y="1242288"/>
            <a:ext cx="1563356" cy="1645920"/>
          </a:xfrm>
        </p:spPr>
      </p:pic>
      <p:sp>
        <p:nvSpPr>
          <p:cNvPr id="13" name="Text Placeholder 12">
            <a:extLst>
              <a:ext uri="{FF2B5EF4-FFF2-40B4-BE49-F238E27FC236}">
                <a16:creationId xmlns:a16="http://schemas.microsoft.com/office/drawing/2014/main" id="{940C1299-B24F-AF59-E7A9-B348F37CC385}"/>
              </a:ext>
            </a:extLst>
          </p:cNvPr>
          <p:cNvSpPr>
            <a:spLocks noGrp="1"/>
          </p:cNvSpPr>
          <p:nvPr>
            <p:ph type="body" sz="quarter" idx="30"/>
          </p:nvPr>
        </p:nvSpPr>
        <p:spPr>
          <a:xfrm>
            <a:off x="6840978" y="2761821"/>
            <a:ext cx="2067808" cy="401685"/>
          </a:xfrm>
        </p:spPr>
        <p:txBody>
          <a:bodyPr/>
          <a:lstStyle/>
          <a:p>
            <a:r>
              <a:rPr lang="en-US"/>
              <a:t>Lawyer</a:t>
            </a:r>
          </a:p>
        </p:txBody>
      </p:sp>
      <p:pic>
        <p:nvPicPr>
          <p:cNvPr id="24" name="Picture Placeholder 23" descr="A picture containing text, clipart&#10;&#10;Description automatically generated">
            <a:extLst>
              <a:ext uri="{FF2B5EF4-FFF2-40B4-BE49-F238E27FC236}">
                <a16:creationId xmlns:a16="http://schemas.microsoft.com/office/drawing/2014/main" id="{03886B4B-0672-2190-D1A5-584F1B399927}"/>
              </a:ext>
            </a:extLst>
          </p:cNvPr>
          <p:cNvPicPr>
            <a:picLocks noGrp="1" noChangeAspect="1"/>
          </p:cNvPicPr>
          <p:nvPr>
            <p:ph type="pic" idx="32"/>
          </p:nvPr>
        </p:nvPicPr>
        <p:blipFill>
          <a:blip r:embed="rId6"/>
          <a:srcRect l="5047" r="5047"/>
          <a:stretch>
            <a:fillRect/>
          </a:stretch>
        </p:blipFill>
        <p:spPr>
          <a:xfrm>
            <a:off x="5023181" y="1379448"/>
            <a:ext cx="1302797" cy="1371600"/>
          </a:xfrm>
        </p:spPr>
      </p:pic>
      <p:sp>
        <p:nvSpPr>
          <p:cNvPr id="16" name="Text Placeholder 15">
            <a:extLst>
              <a:ext uri="{FF2B5EF4-FFF2-40B4-BE49-F238E27FC236}">
                <a16:creationId xmlns:a16="http://schemas.microsoft.com/office/drawing/2014/main" id="{0FAE3C39-BD93-193B-E03B-1321C92595F6}"/>
              </a:ext>
            </a:extLst>
          </p:cNvPr>
          <p:cNvSpPr>
            <a:spLocks noGrp="1"/>
          </p:cNvSpPr>
          <p:nvPr>
            <p:ph type="body" sz="quarter" idx="33"/>
          </p:nvPr>
        </p:nvSpPr>
        <p:spPr>
          <a:xfrm>
            <a:off x="4678775" y="2761821"/>
            <a:ext cx="2060991" cy="401685"/>
          </a:xfrm>
        </p:spPr>
        <p:txBody>
          <a:bodyPr/>
          <a:lstStyle/>
          <a:p>
            <a:r>
              <a:rPr lang="en-US"/>
              <a:t>Insurance Agent</a:t>
            </a:r>
          </a:p>
        </p:txBody>
      </p:sp>
      <p:sp>
        <p:nvSpPr>
          <p:cNvPr id="2" name="Slide Number Placeholder 1">
            <a:extLst>
              <a:ext uri="{FF2B5EF4-FFF2-40B4-BE49-F238E27FC236}">
                <a16:creationId xmlns:a16="http://schemas.microsoft.com/office/drawing/2014/main" id="{74A40BF1-312E-97C3-35E0-D85927112565}"/>
              </a:ext>
            </a:extLst>
          </p:cNvPr>
          <p:cNvSpPr>
            <a:spLocks noGrp="1"/>
          </p:cNvSpPr>
          <p:nvPr>
            <p:ph type="sldNum" sz="quarter" idx="4"/>
          </p:nvPr>
        </p:nvSpPr>
        <p:spPr/>
        <p:txBody>
          <a:bodyPr/>
          <a:lstStyle/>
          <a:p>
            <a:fld id="{EF13FA6D-C8B2-4F7A-9B51-E7C42DF59B48}" type="slidenum">
              <a:rPr lang="en-US" smtClean="0"/>
              <a:pPr/>
              <a:t>4</a:t>
            </a:fld>
            <a:endParaRPr lang="en-US" sz="900"/>
          </a:p>
        </p:txBody>
      </p:sp>
      <p:sp>
        <p:nvSpPr>
          <p:cNvPr id="27" name="Title 3">
            <a:extLst>
              <a:ext uri="{FF2B5EF4-FFF2-40B4-BE49-F238E27FC236}">
                <a16:creationId xmlns:a16="http://schemas.microsoft.com/office/drawing/2014/main" id="{862D2D7F-8CF6-A2DC-1C49-79C6C83D7CEE}"/>
              </a:ext>
            </a:extLst>
          </p:cNvPr>
          <p:cNvSpPr txBox="1">
            <a:spLocks/>
          </p:cNvSpPr>
          <p:nvPr/>
        </p:nvSpPr>
        <p:spPr>
          <a:xfrm>
            <a:off x="1191490" y="367026"/>
            <a:ext cx="6585322" cy="730202"/>
          </a:xfrm>
          <a:prstGeom prst="rect">
            <a:avLst/>
          </a:prstGeom>
        </p:spPr>
        <p:txBody>
          <a:bodyPr>
            <a:normAutofit/>
          </a:bodyPr>
          <a:lstStyle>
            <a:lvl1pPr algn="ctr" defTabSz="685749" rtl="0" eaLnBrk="1" latinLnBrk="0" hangingPunct="1">
              <a:lnSpc>
                <a:spcPct val="90000"/>
              </a:lnSpc>
              <a:spcBef>
                <a:spcPct val="0"/>
              </a:spcBef>
              <a:buNone/>
              <a:defRPr sz="2700" b="1" i="0" kern="1200" spc="-75" baseline="0">
                <a:solidFill>
                  <a:srgbClr val="003F80"/>
                </a:solidFill>
                <a:latin typeface="Source Sans Pro" charset="0"/>
                <a:ea typeface="Source Sans Pro" charset="0"/>
                <a:cs typeface="Source Sans Pro" charset="0"/>
              </a:defRPr>
            </a:lvl1pPr>
          </a:lstStyle>
          <a:p>
            <a:r>
              <a:rPr lang="en-US" sz="2800"/>
              <a:t>Assemble Your BAIL Team</a:t>
            </a:r>
          </a:p>
        </p:txBody>
      </p:sp>
      <p:sp>
        <p:nvSpPr>
          <p:cNvPr id="28" name="Text Placeholder 7">
            <a:extLst>
              <a:ext uri="{FF2B5EF4-FFF2-40B4-BE49-F238E27FC236}">
                <a16:creationId xmlns:a16="http://schemas.microsoft.com/office/drawing/2014/main" id="{81D7DA3B-B3F1-D803-0DA4-386906963002}"/>
              </a:ext>
            </a:extLst>
          </p:cNvPr>
          <p:cNvSpPr txBox="1">
            <a:spLocks/>
          </p:cNvSpPr>
          <p:nvPr/>
        </p:nvSpPr>
        <p:spPr>
          <a:xfrm>
            <a:off x="2440956" y="3279965"/>
            <a:ext cx="2044502" cy="2139696"/>
          </a:xfrm>
          <a:prstGeom prst="rect">
            <a:avLst/>
          </a:prstGeom>
          <a:solidFill>
            <a:schemeClr val="bg1">
              <a:lumMod val="75000"/>
            </a:schemeClr>
          </a:solidFill>
        </p:spPr>
        <p:txBody>
          <a:bodyPr vert="horz" lIns="91440" tIns="45720" rIns="91440" bIns="45720" rtlCol="0">
            <a:noAutofit/>
          </a:bodyPr>
          <a:lstStyle>
            <a:lvl1pPr marL="0" indent="0" algn="l" defTabSz="685749" rtl="0" eaLnBrk="1" latinLnBrk="0" hangingPunct="1">
              <a:lnSpc>
                <a:spcPct val="90000"/>
              </a:lnSpc>
              <a:spcBef>
                <a:spcPts val="750"/>
              </a:spcBef>
              <a:buFont typeface="Arial"/>
              <a:buNone/>
              <a:defRPr sz="1150" b="0" kern="1200">
                <a:solidFill>
                  <a:schemeClr val="tx2"/>
                </a:solidFill>
                <a:latin typeface="Source Sans Pro" charset="0"/>
                <a:ea typeface="Source Sans Pro" charset="0"/>
                <a:cs typeface="Source Sans Pro" charset="0"/>
              </a:defRPr>
            </a:lvl1pPr>
            <a:lvl2pPr marL="342875" indent="0" algn="l" defTabSz="685749" rtl="0" eaLnBrk="1" latinLnBrk="0" hangingPunct="1">
              <a:lnSpc>
                <a:spcPct val="90000"/>
              </a:lnSpc>
              <a:spcBef>
                <a:spcPts val="375"/>
              </a:spcBef>
              <a:buFont typeface="Arial"/>
              <a:buNone/>
              <a:defRPr sz="1050" kern="1200">
                <a:solidFill>
                  <a:schemeClr val="tx1"/>
                </a:solidFill>
                <a:latin typeface="Source Sans Pro" charset="0"/>
                <a:ea typeface="Source Sans Pro" charset="0"/>
                <a:cs typeface="Source Sans Pro" charset="0"/>
              </a:defRPr>
            </a:lvl2pPr>
            <a:lvl3pPr marL="685749" indent="0" algn="l" defTabSz="685749" rtl="0" eaLnBrk="1" latinLnBrk="0" hangingPunct="1">
              <a:lnSpc>
                <a:spcPct val="90000"/>
              </a:lnSpc>
              <a:spcBef>
                <a:spcPts val="375"/>
              </a:spcBef>
              <a:buFont typeface="Arial"/>
              <a:buNone/>
              <a:defRPr sz="900" kern="1200">
                <a:solidFill>
                  <a:schemeClr val="tx1"/>
                </a:solidFill>
                <a:latin typeface="Source Sans Pro" charset="0"/>
                <a:ea typeface="Source Sans Pro" charset="0"/>
                <a:cs typeface="Source Sans Pro" charset="0"/>
              </a:defRPr>
            </a:lvl3pPr>
            <a:lvl4pPr marL="1028624" indent="0" algn="l" defTabSz="685749" rtl="0" eaLnBrk="1" latinLnBrk="0" hangingPunct="1">
              <a:lnSpc>
                <a:spcPct val="90000"/>
              </a:lnSpc>
              <a:spcBef>
                <a:spcPts val="375"/>
              </a:spcBef>
              <a:buFont typeface="Arial"/>
              <a:buNone/>
              <a:defRPr sz="750" kern="1200">
                <a:solidFill>
                  <a:schemeClr val="tx1"/>
                </a:solidFill>
                <a:latin typeface="Source Sans Pro" charset="0"/>
                <a:ea typeface="Source Sans Pro" charset="0"/>
                <a:cs typeface="Source Sans Pro" charset="0"/>
              </a:defRPr>
            </a:lvl4pPr>
            <a:lvl5pPr marL="1371498" indent="0" algn="l" defTabSz="685749" rtl="0" eaLnBrk="1" latinLnBrk="0" hangingPunct="1">
              <a:lnSpc>
                <a:spcPct val="90000"/>
              </a:lnSpc>
              <a:spcBef>
                <a:spcPts val="375"/>
              </a:spcBef>
              <a:buFont typeface="Arial"/>
              <a:buNone/>
              <a:defRPr sz="750" kern="1200">
                <a:solidFill>
                  <a:schemeClr val="tx1"/>
                </a:solidFill>
                <a:latin typeface="Source Sans Pro" charset="0"/>
                <a:ea typeface="Source Sans Pro" charset="0"/>
                <a:cs typeface="Source Sans Pro" charset="0"/>
              </a:defRPr>
            </a:lvl5pPr>
            <a:lvl6pPr marL="1714373"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6pPr>
            <a:lvl7pPr marL="2057246"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7pPr>
            <a:lvl8pPr marL="2400120"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8pPr>
            <a:lvl9pPr marL="2742995"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9pPr>
          </a:lstStyle>
          <a:p>
            <a:pPr marL="342900" indent="-342900">
              <a:buFont typeface="Wingdings" panose="05000000000000000000" pitchFamily="2" charset="2"/>
              <a:buChar char="§"/>
            </a:pPr>
            <a:r>
              <a:rPr lang="en-US" sz="1400" b="1"/>
              <a:t>Accounting</a:t>
            </a:r>
          </a:p>
          <a:p>
            <a:pPr marL="342900" indent="-342900">
              <a:buFont typeface="Wingdings" panose="05000000000000000000" pitchFamily="2" charset="2"/>
              <a:buChar char="§"/>
            </a:pPr>
            <a:r>
              <a:rPr lang="en-US" sz="1400" b="1"/>
              <a:t>Taxes</a:t>
            </a:r>
          </a:p>
          <a:p>
            <a:pPr marL="342900" indent="-342900">
              <a:buFont typeface="Wingdings" panose="05000000000000000000" pitchFamily="2" charset="2"/>
              <a:buChar char="§"/>
            </a:pPr>
            <a:r>
              <a:rPr lang="en-US" sz="1400" b="1"/>
              <a:t>Tax &amp; Strategic Plans</a:t>
            </a:r>
          </a:p>
          <a:p>
            <a:pPr marL="342900" indent="-342900">
              <a:buFont typeface="Wingdings" panose="05000000000000000000" pitchFamily="2" charset="2"/>
              <a:buChar char="§"/>
            </a:pPr>
            <a:r>
              <a:rPr lang="en-US" sz="1400" b="1"/>
              <a:t>Payroll Processing</a:t>
            </a:r>
          </a:p>
          <a:p>
            <a:pPr marL="342900" indent="-342900">
              <a:buFont typeface="Wingdings" panose="05000000000000000000" pitchFamily="2" charset="2"/>
              <a:buChar char="§"/>
            </a:pPr>
            <a:r>
              <a:rPr lang="en-US" sz="1400" b="1"/>
              <a:t>Advice on Legal Entities</a:t>
            </a:r>
          </a:p>
        </p:txBody>
      </p:sp>
      <p:sp>
        <p:nvSpPr>
          <p:cNvPr id="29" name="Text Placeholder 7">
            <a:extLst>
              <a:ext uri="{FF2B5EF4-FFF2-40B4-BE49-F238E27FC236}">
                <a16:creationId xmlns:a16="http://schemas.microsoft.com/office/drawing/2014/main" id="{75488624-7CFC-F884-AAB4-D53554517BA1}"/>
              </a:ext>
            </a:extLst>
          </p:cNvPr>
          <p:cNvSpPr txBox="1">
            <a:spLocks/>
          </p:cNvSpPr>
          <p:nvPr/>
        </p:nvSpPr>
        <p:spPr>
          <a:xfrm>
            <a:off x="4678775" y="3267773"/>
            <a:ext cx="2044502" cy="2139696"/>
          </a:xfrm>
          <a:prstGeom prst="rect">
            <a:avLst/>
          </a:prstGeom>
          <a:solidFill>
            <a:schemeClr val="bg1">
              <a:lumMod val="75000"/>
            </a:schemeClr>
          </a:solidFill>
        </p:spPr>
        <p:txBody>
          <a:bodyPr vert="horz" lIns="91440" tIns="45720" rIns="91440" bIns="45720" rtlCol="0">
            <a:noAutofit/>
          </a:bodyPr>
          <a:lstStyle>
            <a:lvl1pPr marL="0" indent="0" algn="l" defTabSz="685749" rtl="0" eaLnBrk="1" latinLnBrk="0" hangingPunct="1">
              <a:lnSpc>
                <a:spcPct val="90000"/>
              </a:lnSpc>
              <a:spcBef>
                <a:spcPts val="750"/>
              </a:spcBef>
              <a:buFont typeface="Arial"/>
              <a:buNone/>
              <a:defRPr sz="1150" b="0" kern="1200">
                <a:solidFill>
                  <a:schemeClr val="tx2"/>
                </a:solidFill>
                <a:latin typeface="Source Sans Pro" charset="0"/>
                <a:ea typeface="Source Sans Pro" charset="0"/>
                <a:cs typeface="Source Sans Pro" charset="0"/>
              </a:defRPr>
            </a:lvl1pPr>
            <a:lvl2pPr marL="342875" indent="0" algn="l" defTabSz="685749" rtl="0" eaLnBrk="1" latinLnBrk="0" hangingPunct="1">
              <a:lnSpc>
                <a:spcPct val="90000"/>
              </a:lnSpc>
              <a:spcBef>
                <a:spcPts val="375"/>
              </a:spcBef>
              <a:buFont typeface="Arial"/>
              <a:buNone/>
              <a:defRPr sz="1050" kern="1200">
                <a:solidFill>
                  <a:schemeClr val="tx1"/>
                </a:solidFill>
                <a:latin typeface="Source Sans Pro" charset="0"/>
                <a:ea typeface="Source Sans Pro" charset="0"/>
                <a:cs typeface="Source Sans Pro" charset="0"/>
              </a:defRPr>
            </a:lvl2pPr>
            <a:lvl3pPr marL="685749" indent="0" algn="l" defTabSz="685749" rtl="0" eaLnBrk="1" latinLnBrk="0" hangingPunct="1">
              <a:lnSpc>
                <a:spcPct val="90000"/>
              </a:lnSpc>
              <a:spcBef>
                <a:spcPts val="375"/>
              </a:spcBef>
              <a:buFont typeface="Arial"/>
              <a:buNone/>
              <a:defRPr sz="900" kern="1200">
                <a:solidFill>
                  <a:schemeClr val="tx1"/>
                </a:solidFill>
                <a:latin typeface="Source Sans Pro" charset="0"/>
                <a:ea typeface="Source Sans Pro" charset="0"/>
                <a:cs typeface="Source Sans Pro" charset="0"/>
              </a:defRPr>
            </a:lvl3pPr>
            <a:lvl4pPr marL="1028624" indent="0" algn="l" defTabSz="685749" rtl="0" eaLnBrk="1" latinLnBrk="0" hangingPunct="1">
              <a:lnSpc>
                <a:spcPct val="90000"/>
              </a:lnSpc>
              <a:spcBef>
                <a:spcPts val="375"/>
              </a:spcBef>
              <a:buFont typeface="Arial"/>
              <a:buNone/>
              <a:defRPr sz="750" kern="1200">
                <a:solidFill>
                  <a:schemeClr val="tx1"/>
                </a:solidFill>
                <a:latin typeface="Source Sans Pro" charset="0"/>
                <a:ea typeface="Source Sans Pro" charset="0"/>
                <a:cs typeface="Source Sans Pro" charset="0"/>
              </a:defRPr>
            </a:lvl4pPr>
            <a:lvl5pPr marL="1371498" indent="0" algn="l" defTabSz="685749" rtl="0" eaLnBrk="1" latinLnBrk="0" hangingPunct="1">
              <a:lnSpc>
                <a:spcPct val="90000"/>
              </a:lnSpc>
              <a:spcBef>
                <a:spcPts val="375"/>
              </a:spcBef>
              <a:buFont typeface="Arial"/>
              <a:buNone/>
              <a:defRPr sz="750" kern="1200">
                <a:solidFill>
                  <a:schemeClr val="tx1"/>
                </a:solidFill>
                <a:latin typeface="Source Sans Pro" charset="0"/>
                <a:ea typeface="Source Sans Pro" charset="0"/>
                <a:cs typeface="Source Sans Pro" charset="0"/>
              </a:defRPr>
            </a:lvl5pPr>
            <a:lvl6pPr marL="1714373"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6pPr>
            <a:lvl7pPr marL="2057246"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7pPr>
            <a:lvl8pPr marL="2400120"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8pPr>
            <a:lvl9pPr marL="2742995"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9pPr>
          </a:lstStyle>
          <a:p>
            <a:pPr marL="342900" indent="-342900">
              <a:buFont typeface="Wingdings" panose="05000000000000000000" pitchFamily="2" charset="2"/>
              <a:buChar char="§"/>
            </a:pPr>
            <a:r>
              <a:rPr lang="en-US" sz="1400" b="1"/>
              <a:t>Property</a:t>
            </a:r>
          </a:p>
          <a:p>
            <a:pPr marL="342900" indent="-342900">
              <a:buFont typeface="Wingdings" panose="05000000000000000000" pitchFamily="2" charset="2"/>
              <a:buChar char="§"/>
            </a:pPr>
            <a:r>
              <a:rPr lang="en-US" sz="1400" b="1"/>
              <a:t>Health</a:t>
            </a:r>
          </a:p>
          <a:p>
            <a:pPr marL="342900" indent="-342900">
              <a:buFont typeface="Wingdings" panose="05000000000000000000" pitchFamily="2" charset="2"/>
              <a:buChar char="§"/>
            </a:pPr>
            <a:r>
              <a:rPr lang="en-US" sz="1400" b="1"/>
              <a:t>Liability</a:t>
            </a:r>
          </a:p>
          <a:p>
            <a:pPr marL="342900" indent="-342900">
              <a:buFont typeface="Wingdings" panose="05000000000000000000" pitchFamily="2" charset="2"/>
              <a:buChar char="§"/>
            </a:pPr>
            <a:r>
              <a:rPr lang="en-US" sz="1400" b="1"/>
              <a:t>Workers Comp</a:t>
            </a:r>
          </a:p>
          <a:p>
            <a:pPr marL="342900" indent="-342900">
              <a:buFont typeface="Wingdings" panose="05000000000000000000" pitchFamily="2" charset="2"/>
              <a:buChar char="§"/>
            </a:pPr>
            <a:r>
              <a:rPr lang="en-US" sz="1400" b="1"/>
              <a:t>Directors &amp; Officers Liability (D&amp;O)</a:t>
            </a:r>
          </a:p>
          <a:p>
            <a:pPr marL="342900" indent="-342900">
              <a:buFont typeface="Wingdings" panose="05000000000000000000" pitchFamily="2" charset="2"/>
              <a:buChar char="§"/>
            </a:pPr>
            <a:r>
              <a:rPr lang="en-US" sz="1400" b="1"/>
              <a:t>Bonding</a:t>
            </a:r>
          </a:p>
        </p:txBody>
      </p:sp>
      <p:sp>
        <p:nvSpPr>
          <p:cNvPr id="30" name="Text Placeholder 7">
            <a:extLst>
              <a:ext uri="{FF2B5EF4-FFF2-40B4-BE49-F238E27FC236}">
                <a16:creationId xmlns:a16="http://schemas.microsoft.com/office/drawing/2014/main" id="{D75B2867-5CEB-8045-E408-BBB76766F06F}"/>
              </a:ext>
            </a:extLst>
          </p:cNvPr>
          <p:cNvSpPr txBox="1">
            <a:spLocks/>
          </p:cNvSpPr>
          <p:nvPr/>
        </p:nvSpPr>
        <p:spPr>
          <a:xfrm>
            <a:off x="6840978" y="3267773"/>
            <a:ext cx="2044502" cy="2748979"/>
          </a:xfrm>
          <a:prstGeom prst="rect">
            <a:avLst/>
          </a:prstGeom>
          <a:solidFill>
            <a:schemeClr val="bg1">
              <a:lumMod val="75000"/>
            </a:schemeClr>
          </a:solidFill>
        </p:spPr>
        <p:txBody>
          <a:bodyPr vert="horz" lIns="91440" tIns="45720" rIns="91440" bIns="45720" rtlCol="0">
            <a:noAutofit/>
          </a:bodyPr>
          <a:lstStyle>
            <a:lvl1pPr marL="0" indent="0" algn="l" defTabSz="685749" rtl="0" eaLnBrk="1" latinLnBrk="0" hangingPunct="1">
              <a:lnSpc>
                <a:spcPct val="90000"/>
              </a:lnSpc>
              <a:spcBef>
                <a:spcPts val="750"/>
              </a:spcBef>
              <a:buFont typeface="Arial"/>
              <a:buNone/>
              <a:defRPr sz="1150" b="0" kern="1200">
                <a:solidFill>
                  <a:schemeClr val="tx2"/>
                </a:solidFill>
                <a:latin typeface="Source Sans Pro" charset="0"/>
                <a:ea typeface="Source Sans Pro" charset="0"/>
                <a:cs typeface="Source Sans Pro" charset="0"/>
              </a:defRPr>
            </a:lvl1pPr>
            <a:lvl2pPr marL="342875" indent="0" algn="l" defTabSz="685749" rtl="0" eaLnBrk="1" latinLnBrk="0" hangingPunct="1">
              <a:lnSpc>
                <a:spcPct val="90000"/>
              </a:lnSpc>
              <a:spcBef>
                <a:spcPts val="375"/>
              </a:spcBef>
              <a:buFont typeface="Arial"/>
              <a:buNone/>
              <a:defRPr sz="1050" kern="1200">
                <a:solidFill>
                  <a:schemeClr val="tx1"/>
                </a:solidFill>
                <a:latin typeface="Source Sans Pro" charset="0"/>
                <a:ea typeface="Source Sans Pro" charset="0"/>
                <a:cs typeface="Source Sans Pro" charset="0"/>
              </a:defRPr>
            </a:lvl2pPr>
            <a:lvl3pPr marL="685749" indent="0" algn="l" defTabSz="685749" rtl="0" eaLnBrk="1" latinLnBrk="0" hangingPunct="1">
              <a:lnSpc>
                <a:spcPct val="90000"/>
              </a:lnSpc>
              <a:spcBef>
                <a:spcPts val="375"/>
              </a:spcBef>
              <a:buFont typeface="Arial"/>
              <a:buNone/>
              <a:defRPr sz="900" kern="1200">
                <a:solidFill>
                  <a:schemeClr val="tx1"/>
                </a:solidFill>
                <a:latin typeface="Source Sans Pro" charset="0"/>
                <a:ea typeface="Source Sans Pro" charset="0"/>
                <a:cs typeface="Source Sans Pro" charset="0"/>
              </a:defRPr>
            </a:lvl3pPr>
            <a:lvl4pPr marL="1028624" indent="0" algn="l" defTabSz="685749" rtl="0" eaLnBrk="1" latinLnBrk="0" hangingPunct="1">
              <a:lnSpc>
                <a:spcPct val="90000"/>
              </a:lnSpc>
              <a:spcBef>
                <a:spcPts val="375"/>
              </a:spcBef>
              <a:buFont typeface="Arial"/>
              <a:buNone/>
              <a:defRPr sz="750" kern="1200">
                <a:solidFill>
                  <a:schemeClr val="tx1"/>
                </a:solidFill>
                <a:latin typeface="Source Sans Pro" charset="0"/>
                <a:ea typeface="Source Sans Pro" charset="0"/>
                <a:cs typeface="Source Sans Pro" charset="0"/>
              </a:defRPr>
            </a:lvl4pPr>
            <a:lvl5pPr marL="1371498" indent="0" algn="l" defTabSz="685749" rtl="0" eaLnBrk="1" latinLnBrk="0" hangingPunct="1">
              <a:lnSpc>
                <a:spcPct val="90000"/>
              </a:lnSpc>
              <a:spcBef>
                <a:spcPts val="375"/>
              </a:spcBef>
              <a:buFont typeface="Arial"/>
              <a:buNone/>
              <a:defRPr sz="750" kern="1200">
                <a:solidFill>
                  <a:schemeClr val="tx1"/>
                </a:solidFill>
                <a:latin typeface="Source Sans Pro" charset="0"/>
                <a:ea typeface="Source Sans Pro" charset="0"/>
                <a:cs typeface="Source Sans Pro" charset="0"/>
              </a:defRPr>
            </a:lvl5pPr>
            <a:lvl6pPr marL="1714373"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6pPr>
            <a:lvl7pPr marL="2057246"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7pPr>
            <a:lvl8pPr marL="2400120"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8pPr>
            <a:lvl9pPr marL="2742995" indent="0" algn="l" defTabSz="685749" rtl="0" eaLnBrk="1" latinLnBrk="0" hangingPunct="1">
              <a:lnSpc>
                <a:spcPct val="90000"/>
              </a:lnSpc>
              <a:spcBef>
                <a:spcPts val="375"/>
              </a:spcBef>
              <a:buFont typeface="Arial"/>
              <a:buNone/>
              <a:defRPr sz="750" kern="1200">
                <a:solidFill>
                  <a:schemeClr val="tx1"/>
                </a:solidFill>
                <a:latin typeface="+mn-lt"/>
                <a:ea typeface="+mn-ea"/>
                <a:cs typeface="+mn-cs"/>
              </a:defRPr>
            </a:lvl9pPr>
          </a:lstStyle>
          <a:p>
            <a:pPr marL="342900" indent="-342900">
              <a:buFont typeface="Wingdings" panose="05000000000000000000" pitchFamily="2" charset="2"/>
              <a:buChar char="§"/>
            </a:pPr>
            <a:r>
              <a:rPr lang="en-US" sz="1400" b="1"/>
              <a:t>Legal Entity</a:t>
            </a:r>
          </a:p>
          <a:p>
            <a:pPr marL="342900" indent="-342900">
              <a:buFont typeface="Wingdings" panose="05000000000000000000" pitchFamily="2" charset="2"/>
              <a:buChar char="§"/>
            </a:pPr>
            <a:r>
              <a:rPr lang="en-US" sz="1400" b="1"/>
              <a:t>Partnership Agreements</a:t>
            </a:r>
          </a:p>
          <a:p>
            <a:pPr marL="342900" indent="-342900">
              <a:buFont typeface="Wingdings" panose="05000000000000000000" pitchFamily="2" charset="2"/>
              <a:buChar char="§"/>
            </a:pPr>
            <a:r>
              <a:rPr lang="en-US" sz="1400" b="1"/>
              <a:t>Operating Agreements</a:t>
            </a:r>
          </a:p>
          <a:p>
            <a:pPr marL="342900" indent="-342900">
              <a:buFont typeface="Wingdings" panose="05000000000000000000" pitchFamily="2" charset="2"/>
              <a:buChar char="§"/>
            </a:pPr>
            <a:r>
              <a:rPr lang="en-US" sz="1400" b="1"/>
              <a:t>Employee Agreements</a:t>
            </a:r>
          </a:p>
          <a:p>
            <a:pPr marL="342900" indent="-342900">
              <a:buFont typeface="Wingdings" panose="05000000000000000000" pitchFamily="2" charset="2"/>
              <a:buChar char="§"/>
            </a:pPr>
            <a:r>
              <a:rPr lang="en-US" sz="1400" b="1"/>
              <a:t>Leases</a:t>
            </a:r>
          </a:p>
          <a:p>
            <a:pPr marL="342900" indent="-342900">
              <a:buFont typeface="Wingdings" panose="05000000000000000000" pitchFamily="2" charset="2"/>
              <a:buChar char="§"/>
            </a:pPr>
            <a:r>
              <a:rPr lang="en-US" sz="1400" b="1"/>
              <a:t>Customer &amp; Supplier Contracts</a:t>
            </a:r>
          </a:p>
        </p:txBody>
      </p:sp>
      <p:sp>
        <p:nvSpPr>
          <p:cNvPr id="3" name="TextBox 2">
            <a:extLst>
              <a:ext uri="{FF2B5EF4-FFF2-40B4-BE49-F238E27FC236}">
                <a16:creationId xmlns:a16="http://schemas.microsoft.com/office/drawing/2014/main" id="{DD405371-39BD-7D90-ABF6-F611003622D4}"/>
              </a:ext>
            </a:extLst>
          </p:cNvPr>
          <p:cNvSpPr txBox="1"/>
          <p:nvPr/>
        </p:nvSpPr>
        <p:spPr>
          <a:xfrm>
            <a:off x="337284" y="5515230"/>
            <a:ext cx="6285391" cy="523220"/>
          </a:xfrm>
          <a:prstGeom prst="rect">
            <a:avLst/>
          </a:prstGeom>
          <a:solidFill>
            <a:schemeClr val="bg1">
              <a:lumMod val="75000"/>
            </a:schemeClr>
          </a:solidFill>
        </p:spPr>
        <p:txBody>
          <a:bodyPr wrap="square" rtlCol="0">
            <a:spAutoFit/>
          </a:bodyPr>
          <a:lstStyle/>
          <a:p>
            <a:r>
              <a:rPr lang="en-US" sz="1400">
                <a:solidFill>
                  <a:schemeClr val="tx2"/>
                </a:solidFill>
                <a:latin typeface="Source Sans Pro" charset="0"/>
                <a:ea typeface="Source Sans Pro" charset="0"/>
              </a:rPr>
              <a:t>Some businesses may also need </a:t>
            </a:r>
            <a:r>
              <a:rPr lang="en-US" sz="1400" b="1">
                <a:solidFill>
                  <a:schemeClr val="tx2"/>
                </a:solidFill>
                <a:latin typeface="Source Sans Pro" charset="0"/>
                <a:ea typeface="Source Sans Pro" charset="0"/>
              </a:rPr>
              <a:t>IT Services</a:t>
            </a:r>
            <a:r>
              <a:rPr lang="en-US" sz="1400">
                <a:solidFill>
                  <a:schemeClr val="tx2"/>
                </a:solidFill>
                <a:latin typeface="Source Sans Pro" charset="0"/>
                <a:ea typeface="Source Sans Pro" charset="0"/>
              </a:rPr>
              <a:t>, </a:t>
            </a:r>
            <a:r>
              <a:rPr lang="en-US" sz="1400" b="1">
                <a:solidFill>
                  <a:schemeClr val="tx2"/>
                </a:solidFill>
                <a:latin typeface="Source Sans Pro" charset="0"/>
                <a:ea typeface="Source Sans Pro" charset="0"/>
              </a:rPr>
              <a:t>Human Resources</a:t>
            </a:r>
            <a:r>
              <a:rPr lang="en-US" sz="1400">
                <a:solidFill>
                  <a:schemeClr val="tx2"/>
                </a:solidFill>
                <a:latin typeface="Source Sans Pro" charset="0"/>
                <a:ea typeface="Source Sans Pro" charset="0"/>
              </a:rPr>
              <a:t>, </a:t>
            </a:r>
            <a:r>
              <a:rPr lang="en-US" sz="1400" b="1">
                <a:solidFill>
                  <a:schemeClr val="tx2"/>
                </a:solidFill>
                <a:latin typeface="Source Sans Pro" charset="0"/>
                <a:ea typeface="Source Sans Pro" charset="0"/>
              </a:rPr>
              <a:t>Mentoring</a:t>
            </a:r>
            <a:r>
              <a:rPr lang="en-US" sz="1400">
                <a:solidFill>
                  <a:schemeClr val="tx2"/>
                </a:solidFill>
                <a:latin typeface="Source Sans Pro" charset="0"/>
                <a:ea typeface="Source Sans Pro" charset="0"/>
              </a:rPr>
              <a:t>, </a:t>
            </a:r>
            <a:r>
              <a:rPr lang="en-US" sz="1400" b="1">
                <a:solidFill>
                  <a:schemeClr val="tx2"/>
                </a:solidFill>
                <a:latin typeface="Source Sans Pro" charset="0"/>
                <a:ea typeface="Source Sans Pro" charset="0"/>
              </a:rPr>
              <a:t>Social Media</a:t>
            </a:r>
            <a:r>
              <a:rPr lang="en-US" sz="1400">
                <a:solidFill>
                  <a:schemeClr val="tx2"/>
                </a:solidFill>
                <a:latin typeface="Source Sans Pro" charset="0"/>
                <a:ea typeface="Source Sans Pro" charset="0"/>
              </a:rPr>
              <a:t> or other assistance as part of their BAIL Team </a:t>
            </a:r>
          </a:p>
        </p:txBody>
      </p:sp>
    </p:spTree>
    <p:extLst>
      <p:ext uri="{BB962C8B-B14F-4D97-AF65-F5344CB8AC3E}">
        <p14:creationId xmlns:p14="http://schemas.microsoft.com/office/powerpoint/2010/main" val="40792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500"/>
                                  </p:stCondLst>
                                  <p:childTnLst>
                                    <p:set>
                                      <p:cBhvr>
                                        <p:cTn id="6" dur="1" fill="hold">
                                          <p:stCondLst>
                                            <p:cond delay="1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C939AF-5D2A-0B86-A66E-9C55F51885CC}"/>
              </a:ext>
            </a:extLst>
          </p:cNvPr>
          <p:cNvSpPr>
            <a:spLocks noGrp="1"/>
          </p:cNvSpPr>
          <p:nvPr>
            <p:ph type="title"/>
          </p:nvPr>
        </p:nvSpPr>
        <p:spPr>
          <a:xfrm>
            <a:off x="1138939" y="409067"/>
            <a:ext cx="6585322" cy="730202"/>
          </a:xfrm>
        </p:spPr>
        <p:txBody>
          <a:bodyPr>
            <a:noAutofit/>
          </a:bodyPr>
          <a:lstStyle/>
          <a:p>
            <a:r>
              <a:rPr lang="en-US" sz="2600" dirty="0">
                <a:latin typeface="Source Sans Pro"/>
                <a:ea typeface="Source Sans Pro"/>
              </a:rPr>
              <a:t>Selecting a Business Structure for  Your Business</a:t>
            </a:r>
          </a:p>
        </p:txBody>
      </p:sp>
      <p:sp>
        <p:nvSpPr>
          <p:cNvPr id="5" name="Subtitle 2">
            <a:extLst>
              <a:ext uri="{FF2B5EF4-FFF2-40B4-BE49-F238E27FC236}">
                <a16:creationId xmlns:a16="http://schemas.microsoft.com/office/drawing/2014/main" id="{A6784C69-F2D9-879D-ADC9-FC006AE1C66B}"/>
              </a:ext>
            </a:extLst>
          </p:cNvPr>
          <p:cNvSpPr txBox="1">
            <a:spLocks/>
          </p:cNvSpPr>
          <p:nvPr/>
        </p:nvSpPr>
        <p:spPr>
          <a:xfrm>
            <a:off x="325517" y="1446048"/>
            <a:ext cx="8212166" cy="4318000"/>
          </a:xfrm>
          <a:prstGeom prst="rect">
            <a:avLst/>
          </a:prstGeom>
        </p:spPr>
        <p:txBody>
          <a:bodyPr vert="horz" lIns="91440" tIns="45720" rIns="91440" bIns="45720" rtlCol="0">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483306" indent="-483306" defTabSz="966440">
              <a:spcAft>
                <a:spcPts val="1269"/>
              </a:spcAft>
              <a:defRPr/>
            </a:pPr>
            <a:r>
              <a:rPr lang="en-US" sz="2800" dirty="0">
                <a:solidFill>
                  <a:schemeClr val="tx2"/>
                </a:solidFill>
                <a:latin typeface="Source Sans Pro" panose="020B0503030403020204" pitchFamily="34" charset="0"/>
                <a:ea typeface="Source Sans Pro" panose="020B0503030403020204" pitchFamily="34" charset="0"/>
                <a:cs typeface="Franklin Gothic Medium"/>
              </a:rPr>
              <a:t>In order to do business, you should create a legal entity that represents the firm</a:t>
            </a:r>
          </a:p>
          <a:p>
            <a:pPr marL="483306" indent="-483306" defTabSz="966440">
              <a:spcAft>
                <a:spcPts val="1269"/>
              </a:spcAft>
              <a:defRPr/>
            </a:pPr>
            <a:r>
              <a:rPr lang="en-US" sz="2800" dirty="0">
                <a:solidFill>
                  <a:schemeClr val="tx2"/>
                </a:solidFill>
                <a:latin typeface="Source Sans Pro" panose="020B0503030403020204" pitchFamily="34" charset="0"/>
              </a:rPr>
              <a:t>There are multiple forms to choose from</a:t>
            </a:r>
          </a:p>
          <a:p>
            <a:pPr marL="483306" indent="-483306" defTabSz="966440">
              <a:spcAft>
                <a:spcPts val="1269"/>
              </a:spcAft>
              <a:defRPr/>
            </a:pPr>
            <a:r>
              <a:rPr lang="en-US" sz="2800" dirty="0">
                <a:solidFill>
                  <a:schemeClr val="tx2"/>
                </a:solidFill>
                <a:latin typeface="Source Sans Pro" panose="020B0503030403020204" pitchFamily="34" charset="0"/>
              </a:rPr>
              <a:t>Each with different implications for:</a:t>
            </a:r>
          </a:p>
          <a:p>
            <a:pPr marL="905581" lvl="1" indent="-483306" defTabSz="966440">
              <a:defRPr/>
            </a:pPr>
            <a:r>
              <a:rPr lang="en-US" sz="2200" dirty="0">
                <a:solidFill>
                  <a:schemeClr val="tx2"/>
                </a:solidFill>
                <a:latin typeface="Source Sans Pro" panose="020B0503030403020204" pitchFamily="34" charset="0"/>
                <a:ea typeface="Source Sans Pro" panose="020B0503030403020204" pitchFamily="34" charset="0"/>
              </a:rPr>
              <a:t>Taxation </a:t>
            </a:r>
          </a:p>
          <a:p>
            <a:pPr marL="905581" lvl="1" indent="-483306" defTabSz="966440">
              <a:defRPr/>
            </a:pPr>
            <a:r>
              <a:rPr lang="en-US" sz="2200" dirty="0">
                <a:solidFill>
                  <a:schemeClr val="tx2"/>
                </a:solidFill>
                <a:latin typeface="Source Sans Pro" panose="020B0503030403020204" pitchFamily="34" charset="0"/>
                <a:ea typeface="Source Sans Pro" panose="020B0503030403020204" pitchFamily="34" charset="0"/>
              </a:rPr>
              <a:t>Your liability</a:t>
            </a:r>
          </a:p>
          <a:p>
            <a:pPr marL="905581" lvl="1" indent="-483306" defTabSz="966440">
              <a:spcAft>
                <a:spcPts val="1200"/>
              </a:spcAft>
              <a:defRPr/>
            </a:pPr>
            <a:r>
              <a:rPr lang="en-US" sz="2200" dirty="0">
                <a:solidFill>
                  <a:schemeClr val="tx2"/>
                </a:solidFill>
                <a:latin typeface="Source Sans Pro" panose="020B0503030403020204" pitchFamily="34" charset="0"/>
                <a:ea typeface="Source Sans Pro" panose="020B0503030403020204" pitchFamily="34" charset="0"/>
              </a:rPr>
              <a:t>How you get paid</a:t>
            </a:r>
          </a:p>
          <a:p>
            <a:pPr marL="79400" indent="0" defTabSz="966440">
              <a:buNone/>
              <a:defRPr/>
            </a:pPr>
            <a:r>
              <a:rPr lang="en-US" sz="2000" i="1" dirty="0">
                <a:solidFill>
                  <a:schemeClr val="tx2"/>
                </a:solidFill>
                <a:latin typeface="Source Sans Pro" panose="020B0503030403020204" pitchFamily="34" charset="0"/>
                <a:ea typeface="Source Sans Pro" panose="020B0503030403020204" pitchFamily="34" charset="0"/>
                <a:hlinkClick r:id="rId3"/>
              </a:rPr>
              <a:t>https://www.sba.gov/business-guide/launch-your-business/choose-business-structure</a:t>
            </a:r>
            <a:r>
              <a:rPr lang="en-US" sz="2000" i="1" dirty="0">
                <a:solidFill>
                  <a:schemeClr val="tx2"/>
                </a:solidFill>
                <a:latin typeface="Source Sans Pro" panose="020B0503030403020204" pitchFamily="34" charset="0"/>
                <a:ea typeface="Source Sans Pro" panose="020B0503030403020204" pitchFamily="34" charset="0"/>
              </a:rPr>
              <a:t> </a:t>
            </a:r>
          </a:p>
        </p:txBody>
      </p:sp>
      <p:sp>
        <p:nvSpPr>
          <p:cNvPr id="2" name="Slide Number Placeholder 1">
            <a:extLst>
              <a:ext uri="{FF2B5EF4-FFF2-40B4-BE49-F238E27FC236}">
                <a16:creationId xmlns:a16="http://schemas.microsoft.com/office/drawing/2014/main" id="{ACF63664-5375-ADAE-F581-5C276947E5C1}"/>
              </a:ext>
            </a:extLst>
          </p:cNvPr>
          <p:cNvSpPr>
            <a:spLocks noGrp="1"/>
          </p:cNvSpPr>
          <p:nvPr>
            <p:ph type="sldNum" sz="quarter" idx="4"/>
          </p:nvPr>
        </p:nvSpPr>
        <p:spPr/>
        <p:txBody>
          <a:bodyPr/>
          <a:lstStyle/>
          <a:p>
            <a:fld id="{EF13FA6D-C8B2-4F7A-9B51-E7C42DF59B48}" type="slidenum">
              <a:rPr lang="en-US" smtClean="0"/>
              <a:pPr/>
              <a:t>5</a:t>
            </a:fld>
            <a:endParaRPr lang="en-US" sz="900" dirty="0"/>
          </a:p>
        </p:txBody>
      </p:sp>
    </p:spTree>
    <p:extLst>
      <p:ext uri="{BB962C8B-B14F-4D97-AF65-F5344CB8AC3E}">
        <p14:creationId xmlns:p14="http://schemas.microsoft.com/office/powerpoint/2010/main" val="3409783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EC7B8E-8FDD-94F5-D893-EB5E4C41DC35}"/>
              </a:ext>
            </a:extLst>
          </p:cNvPr>
          <p:cNvSpPr>
            <a:spLocks noGrp="1"/>
          </p:cNvSpPr>
          <p:nvPr>
            <p:ph type="title"/>
          </p:nvPr>
        </p:nvSpPr>
        <p:spPr/>
        <p:txBody>
          <a:bodyPr>
            <a:normAutofit/>
          </a:bodyPr>
          <a:lstStyle/>
          <a:p>
            <a:r>
              <a:rPr lang="en-US" sz="2800" dirty="0"/>
              <a:t>Types of Business Structures</a:t>
            </a:r>
          </a:p>
        </p:txBody>
      </p:sp>
      <p:sp>
        <p:nvSpPr>
          <p:cNvPr id="5" name="Subtitle 2">
            <a:extLst>
              <a:ext uri="{FF2B5EF4-FFF2-40B4-BE49-F238E27FC236}">
                <a16:creationId xmlns:a16="http://schemas.microsoft.com/office/drawing/2014/main" id="{D85306D4-83D7-7E1A-7072-8D3D7EAF2507}"/>
              </a:ext>
            </a:extLst>
          </p:cNvPr>
          <p:cNvSpPr txBox="1">
            <a:spLocks/>
          </p:cNvSpPr>
          <p:nvPr/>
        </p:nvSpPr>
        <p:spPr>
          <a:xfrm>
            <a:off x="823690" y="1355834"/>
            <a:ext cx="7496619" cy="4333766"/>
          </a:xfrm>
          <a:prstGeom prst="rect">
            <a:avLst/>
          </a:prstGeom>
        </p:spPr>
        <p:txBody>
          <a:bodyPr vert="horz" lIns="91440" tIns="45720" rIns="91440" bIns="45720" rtlCol="0">
            <a:normAutofit/>
          </a:bodyPr>
          <a:lstStyle>
            <a:lvl1pPr marL="180010" indent="-180010" algn="l" defTabSz="720036" rtl="0" eaLnBrk="1" latinLnBrk="0" hangingPunct="1">
              <a:lnSpc>
                <a:spcPct val="90000"/>
              </a:lnSpc>
              <a:spcBef>
                <a:spcPts val="788"/>
              </a:spcBef>
              <a:buFont typeface="Arial"/>
              <a:buChar char="•"/>
              <a:defRPr sz="2205" kern="1200">
                <a:solidFill>
                  <a:srgbClr val="002E6D"/>
                </a:solidFill>
                <a:latin typeface="Source Sans Pro" charset="0"/>
                <a:ea typeface="Source Sans Pro" charset="0"/>
                <a:cs typeface="Source Sans Pro" charset="0"/>
              </a:defRPr>
            </a:lvl1pPr>
            <a:lvl2pPr marL="540029" indent="-180010" algn="l" defTabSz="720036" rtl="0" eaLnBrk="1" latinLnBrk="0" hangingPunct="1">
              <a:lnSpc>
                <a:spcPct val="90000"/>
              </a:lnSpc>
              <a:spcBef>
                <a:spcPts val="394"/>
              </a:spcBef>
              <a:buFont typeface="Arial"/>
              <a:buChar char="•"/>
              <a:defRPr sz="1890" kern="1200">
                <a:solidFill>
                  <a:srgbClr val="002E6D"/>
                </a:solidFill>
                <a:latin typeface="Source Sans Pro" charset="0"/>
                <a:ea typeface="Source Sans Pro" charset="0"/>
                <a:cs typeface="Source Sans Pro" charset="0"/>
              </a:defRPr>
            </a:lvl2pPr>
            <a:lvl3pPr marL="900045" indent="-180010" algn="l" defTabSz="720036" rtl="0" eaLnBrk="1" latinLnBrk="0" hangingPunct="1">
              <a:lnSpc>
                <a:spcPct val="90000"/>
              </a:lnSpc>
              <a:spcBef>
                <a:spcPts val="394"/>
              </a:spcBef>
              <a:buFont typeface="Arial"/>
              <a:buChar char="•"/>
              <a:defRPr sz="1575" kern="1200">
                <a:solidFill>
                  <a:srgbClr val="002E6D"/>
                </a:solidFill>
                <a:latin typeface="Source Sans Pro" charset="0"/>
                <a:ea typeface="Source Sans Pro" charset="0"/>
                <a:cs typeface="Source Sans Pro" charset="0"/>
              </a:defRPr>
            </a:lvl3pPr>
            <a:lvl4pPr marL="1260063" indent="-180010" algn="l" defTabSz="720036" rtl="0" eaLnBrk="1" latinLnBrk="0" hangingPunct="1">
              <a:lnSpc>
                <a:spcPct val="90000"/>
              </a:lnSpc>
              <a:spcBef>
                <a:spcPts val="394"/>
              </a:spcBef>
              <a:buFont typeface="Arial"/>
              <a:buChar char="•"/>
              <a:defRPr sz="1418" kern="1200">
                <a:solidFill>
                  <a:srgbClr val="002E6D"/>
                </a:solidFill>
                <a:latin typeface="Source Sans Pro" charset="0"/>
                <a:ea typeface="Source Sans Pro" charset="0"/>
                <a:cs typeface="Source Sans Pro" charset="0"/>
              </a:defRPr>
            </a:lvl4pPr>
            <a:lvl5pPr marL="1620082" indent="-180010" algn="l" defTabSz="720036" rtl="0" eaLnBrk="1" latinLnBrk="0" hangingPunct="1">
              <a:lnSpc>
                <a:spcPct val="90000"/>
              </a:lnSpc>
              <a:spcBef>
                <a:spcPts val="394"/>
              </a:spcBef>
              <a:buFont typeface="Arial"/>
              <a:buChar char="•"/>
              <a:defRPr sz="1418" kern="1200">
                <a:solidFill>
                  <a:srgbClr val="002E6D"/>
                </a:solidFill>
                <a:latin typeface="Source Sans Pro" charset="0"/>
                <a:ea typeface="Source Sans Pro" charset="0"/>
                <a:cs typeface="Source Sans Pro" charset="0"/>
              </a:defRPr>
            </a:lvl5pPr>
            <a:lvl6pPr marL="1980099"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6pPr>
            <a:lvl7pPr marL="2340118"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7pPr>
            <a:lvl8pPr marL="2700136"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8pPr>
            <a:lvl9pPr marL="3060155"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9pPr>
          </a:lstStyle>
          <a:p>
            <a:pPr marL="453099" indent="-453099" defTabSz="906038">
              <a:spcAft>
                <a:spcPts val="600"/>
              </a:spcAft>
              <a:buFont typeface="Arial"/>
              <a:buChar char="•"/>
              <a:defRPr/>
            </a:pPr>
            <a:r>
              <a:rPr lang="en-US" sz="3000" dirty="0">
                <a:solidFill>
                  <a:schemeClr val="tx2"/>
                </a:solidFill>
                <a:latin typeface="Source Sans Pro" panose="020B0503030403020204" pitchFamily="34" charset="0"/>
                <a:ea typeface="Source Sans Pro" panose="020B0503030403020204" pitchFamily="34" charset="0"/>
                <a:cs typeface="Franklin Gothic Medium"/>
              </a:rPr>
              <a:t>Sole Proprietorship (DBA) or Partnership</a:t>
            </a:r>
          </a:p>
          <a:p>
            <a:pPr marL="875374" lvl="1" indent="-453099" defTabSz="906038">
              <a:spcAft>
                <a:spcPts val="1190"/>
              </a:spcAft>
              <a:buFont typeface="Arial"/>
              <a:buChar char="•"/>
              <a:defRPr/>
            </a:pPr>
            <a:r>
              <a:rPr lang="en-US" sz="2400" dirty="0">
                <a:solidFill>
                  <a:schemeClr val="tx2"/>
                </a:solidFill>
                <a:latin typeface="Source Sans Pro" panose="020B0503030403020204" pitchFamily="34" charset="0"/>
                <a:ea typeface="Source Sans Pro" panose="020B0503030403020204" pitchFamily="34" charset="0"/>
                <a:cs typeface="Franklin Gothic Medium"/>
              </a:rPr>
              <a:t>Default Entities based on number of owners</a:t>
            </a:r>
          </a:p>
          <a:p>
            <a:pPr marL="453099" indent="-453099" defTabSz="906038">
              <a:spcAft>
                <a:spcPts val="600"/>
              </a:spcAft>
              <a:defRPr/>
            </a:pPr>
            <a:r>
              <a:rPr lang="en-US" sz="3000" dirty="0">
                <a:solidFill>
                  <a:schemeClr val="tx2"/>
                </a:solidFill>
                <a:latin typeface="Source Sans Pro" panose="020B0503030403020204" pitchFamily="34" charset="0"/>
              </a:rPr>
              <a:t>Limited Liability Company (LLC)</a:t>
            </a:r>
          </a:p>
          <a:p>
            <a:pPr marL="453099" indent="-453099" defTabSz="906038">
              <a:spcAft>
                <a:spcPts val="600"/>
              </a:spcAft>
              <a:defRPr/>
            </a:pPr>
            <a:r>
              <a:rPr lang="en-US" sz="3000" dirty="0">
                <a:solidFill>
                  <a:schemeClr val="tx2"/>
                </a:solidFill>
                <a:latin typeface="Source Sans Pro" panose="020B0503030403020204" pitchFamily="34" charset="0"/>
              </a:rPr>
              <a:t>Corporations</a:t>
            </a:r>
          </a:p>
          <a:p>
            <a:pPr marL="875374" lvl="1" indent="-453099" defTabSz="906038">
              <a:defRPr/>
            </a:pPr>
            <a:r>
              <a:rPr lang="en-US" sz="2400" dirty="0">
                <a:solidFill>
                  <a:schemeClr val="tx2"/>
                </a:solidFill>
                <a:latin typeface="Source Sans Pro" panose="020B0503030403020204" pitchFamily="34" charset="0"/>
              </a:rPr>
              <a:t>C-Corp</a:t>
            </a:r>
          </a:p>
          <a:p>
            <a:pPr marL="875374" lvl="1" indent="-453099" defTabSz="906038">
              <a:spcAft>
                <a:spcPts val="1190"/>
              </a:spcAft>
              <a:defRPr/>
            </a:pPr>
            <a:r>
              <a:rPr lang="en-US" sz="2400" dirty="0">
                <a:solidFill>
                  <a:schemeClr val="tx2"/>
                </a:solidFill>
                <a:latin typeface="Source Sans Pro" panose="020B0503030403020204" pitchFamily="34" charset="0"/>
              </a:rPr>
              <a:t>S-Corp</a:t>
            </a:r>
          </a:p>
          <a:p>
            <a:pPr marL="453099" indent="-453099" defTabSz="906038">
              <a:spcAft>
                <a:spcPts val="600"/>
              </a:spcAft>
              <a:defRPr/>
            </a:pPr>
            <a:r>
              <a:rPr lang="en-US" sz="3000" dirty="0">
                <a:solidFill>
                  <a:schemeClr val="tx2"/>
                </a:solidFill>
                <a:latin typeface="Source Sans Pro" panose="020B0503030403020204" pitchFamily="34" charset="0"/>
              </a:rPr>
              <a:t>Other Legal Entities</a:t>
            </a:r>
          </a:p>
        </p:txBody>
      </p:sp>
      <p:sp>
        <p:nvSpPr>
          <p:cNvPr id="2" name="Slide Number Placeholder 1">
            <a:extLst>
              <a:ext uri="{FF2B5EF4-FFF2-40B4-BE49-F238E27FC236}">
                <a16:creationId xmlns:a16="http://schemas.microsoft.com/office/drawing/2014/main" id="{5D3A46E9-1548-78CF-F295-EB52AC5D4573}"/>
              </a:ext>
            </a:extLst>
          </p:cNvPr>
          <p:cNvSpPr>
            <a:spLocks noGrp="1"/>
          </p:cNvSpPr>
          <p:nvPr>
            <p:ph type="sldNum" sz="quarter" idx="4"/>
          </p:nvPr>
        </p:nvSpPr>
        <p:spPr/>
        <p:txBody>
          <a:bodyPr/>
          <a:lstStyle/>
          <a:p>
            <a:fld id="{EF13FA6D-C8B2-4F7A-9B51-E7C42DF59B48}" type="slidenum">
              <a:rPr lang="en-US" smtClean="0"/>
              <a:pPr/>
              <a:t>6</a:t>
            </a:fld>
            <a:endParaRPr lang="en-US" sz="900"/>
          </a:p>
        </p:txBody>
      </p:sp>
      <p:sp>
        <p:nvSpPr>
          <p:cNvPr id="3" name="TextBox 2">
            <a:extLst>
              <a:ext uri="{FF2B5EF4-FFF2-40B4-BE49-F238E27FC236}">
                <a16:creationId xmlns:a16="http://schemas.microsoft.com/office/drawing/2014/main" id="{4DC643C9-E53D-138C-56F5-9EDD70B8627F}"/>
              </a:ext>
            </a:extLst>
          </p:cNvPr>
          <p:cNvSpPr txBox="1"/>
          <p:nvPr/>
        </p:nvSpPr>
        <p:spPr>
          <a:xfrm>
            <a:off x="1264352" y="5531560"/>
            <a:ext cx="6479822" cy="400110"/>
          </a:xfrm>
          <a:prstGeom prst="rect">
            <a:avLst/>
          </a:prstGeom>
          <a:noFill/>
        </p:spPr>
        <p:txBody>
          <a:bodyPr wrap="square" rtlCol="0">
            <a:spAutoFit/>
          </a:bodyPr>
          <a:lstStyle/>
          <a:p>
            <a:pPr marL="0" indent="0" algn="ctr">
              <a:lnSpc>
                <a:spcPct val="100000"/>
              </a:lnSpc>
              <a:spcBef>
                <a:spcPts val="500"/>
              </a:spcBef>
              <a:buNone/>
            </a:pPr>
            <a:r>
              <a:rPr lang="en-US" sz="2000" b="1" dirty="0">
                <a:solidFill>
                  <a:srgbClr val="AB162C"/>
                </a:solidFill>
                <a:latin typeface="Source Sans Pro" panose="020B0503030403020204" pitchFamily="34" charset="0"/>
              </a:rPr>
              <a:t>TALK TO YOUR ACCOUNTANT AND LAWYER!</a:t>
            </a:r>
          </a:p>
        </p:txBody>
      </p:sp>
    </p:spTree>
    <p:extLst>
      <p:ext uri="{BB962C8B-B14F-4D97-AF65-F5344CB8AC3E}">
        <p14:creationId xmlns:p14="http://schemas.microsoft.com/office/powerpoint/2010/main" val="58715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ubtitle 3"/>
          <p:cNvSpPr>
            <a:spLocks noGrp="1"/>
          </p:cNvSpPr>
          <p:nvPr>
            <p:ph type="subTitle" idx="4294967295"/>
          </p:nvPr>
        </p:nvSpPr>
        <p:spPr>
          <a:xfrm>
            <a:off x="447282" y="1029811"/>
            <a:ext cx="8288345" cy="5231544"/>
          </a:xfrm>
        </p:spPr>
        <p:txBody>
          <a:bodyPr>
            <a:noAutofit/>
          </a:bodyPr>
          <a:lstStyle/>
          <a:p>
            <a:pPr marL="0" indent="0">
              <a:buNone/>
            </a:pPr>
            <a:r>
              <a:rPr lang="en-US" altLang="en-US" sz="2400" b="1" dirty="0">
                <a:solidFill>
                  <a:srgbClr val="003E7F"/>
                </a:solidFill>
                <a:latin typeface="Source Sans Pro" panose="020B0503030403020204" pitchFamily="34" charset="0"/>
                <a:ea typeface="Source Sans Pro" panose="020B0503030403020204" pitchFamily="34" charset="0"/>
              </a:rPr>
              <a:t>A business owned and operated by a single individual</a:t>
            </a:r>
            <a:endParaRPr lang="en-US" altLang="en-US" sz="2400" b="1" dirty="0">
              <a:solidFill>
                <a:srgbClr val="AB162C"/>
              </a:solidFill>
              <a:latin typeface="Source Sans Pro" panose="020B0503030403020204" pitchFamily="34" charset="0"/>
              <a:ea typeface="Source Sans Pro" panose="020B0503030403020204" pitchFamily="34" charset="0"/>
            </a:endParaRPr>
          </a:p>
          <a:p>
            <a:pPr>
              <a:lnSpc>
                <a:spcPct val="100000"/>
              </a:lnSpc>
              <a:spcBef>
                <a:spcPts val="0"/>
              </a:spcBef>
            </a:pPr>
            <a:r>
              <a:rPr lang="en-US" altLang="en-US" sz="2000" i="1" dirty="0">
                <a:solidFill>
                  <a:srgbClr val="003E7F"/>
                </a:solidFill>
                <a:latin typeface="Source Sans Pro" panose="020B0503030403020204" pitchFamily="34" charset="0"/>
              </a:rPr>
              <a:t>You're automatically considered to be a sole proprietorship if you do business activities but don't register as any other kind of business </a:t>
            </a:r>
          </a:p>
          <a:p>
            <a:pPr marL="0" indent="0">
              <a:lnSpc>
                <a:spcPct val="100000"/>
              </a:lnSpc>
              <a:spcBef>
                <a:spcPts val="900"/>
              </a:spcBef>
              <a:buNone/>
            </a:pPr>
            <a:r>
              <a:rPr lang="en-US" altLang="en-US" sz="2200" b="1" dirty="0">
                <a:solidFill>
                  <a:srgbClr val="AB162C"/>
                </a:solidFill>
                <a:latin typeface="Source Sans Pro" panose="020B0503030403020204" pitchFamily="34" charset="0"/>
                <a:ea typeface="Source Sans Pro" panose="020B0503030403020204" pitchFamily="34" charset="0"/>
              </a:rPr>
              <a:t>ADVANTAGES: </a:t>
            </a:r>
          </a:p>
          <a:p>
            <a:pPr>
              <a:lnSpc>
                <a:spcPct val="100000"/>
              </a:lnSpc>
              <a:spcBef>
                <a:spcPts val="0"/>
              </a:spcBef>
            </a:pPr>
            <a:r>
              <a:rPr lang="en-US" altLang="en-US" sz="1900" dirty="0">
                <a:solidFill>
                  <a:srgbClr val="003E7F"/>
                </a:solidFill>
                <a:latin typeface="Source Sans Pro" panose="020B0503030403020204" pitchFamily="34" charset="0"/>
              </a:rPr>
              <a:t>Easiest/least expensive to form</a:t>
            </a:r>
          </a:p>
          <a:p>
            <a:pPr lvl="1">
              <a:lnSpc>
                <a:spcPct val="100000"/>
              </a:lnSpc>
              <a:spcBef>
                <a:spcPts val="0"/>
              </a:spcBef>
            </a:pPr>
            <a:r>
              <a:rPr lang="en-US" altLang="en-US" sz="1700" dirty="0">
                <a:solidFill>
                  <a:srgbClr val="003E7F"/>
                </a:solidFill>
                <a:latin typeface="Source Sans Pro" panose="020B0503030403020204" pitchFamily="34" charset="0"/>
              </a:rPr>
              <a:t>Gives owner complete control of business</a:t>
            </a:r>
          </a:p>
          <a:p>
            <a:pPr>
              <a:lnSpc>
                <a:spcPct val="100000"/>
              </a:lnSpc>
              <a:spcBef>
                <a:spcPts val="0"/>
              </a:spcBef>
            </a:pPr>
            <a:r>
              <a:rPr lang="en-US" altLang="en-US" sz="1900" dirty="0">
                <a:solidFill>
                  <a:srgbClr val="003E7F"/>
                </a:solidFill>
                <a:latin typeface="Source Sans Pro" panose="020B0503030403020204" pitchFamily="34" charset="0"/>
              </a:rPr>
              <a:t>Generated income goes to owner to keep or reinvest</a:t>
            </a:r>
          </a:p>
          <a:p>
            <a:pPr marL="0" indent="0">
              <a:lnSpc>
                <a:spcPct val="100000"/>
              </a:lnSpc>
              <a:spcBef>
                <a:spcPts val="900"/>
              </a:spcBef>
              <a:buNone/>
            </a:pPr>
            <a:r>
              <a:rPr lang="en-US" altLang="en-US" sz="2200" b="1" dirty="0">
                <a:solidFill>
                  <a:srgbClr val="AB162C"/>
                </a:solidFill>
                <a:latin typeface="Source Sans Pro" panose="020B0503030403020204" pitchFamily="34" charset="0"/>
              </a:rPr>
              <a:t>DISADVANTAGES: </a:t>
            </a:r>
          </a:p>
          <a:p>
            <a:pPr>
              <a:lnSpc>
                <a:spcPct val="100000"/>
              </a:lnSpc>
              <a:spcBef>
                <a:spcPts val="0"/>
              </a:spcBef>
            </a:pPr>
            <a:r>
              <a:rPr lang="en-US" altLang="en-US" sz="1900" dirty="0">
                <a:solidFill>
                  <a:srgbClr val="003E7F"/>
                </a:solidFill>
                <a:latin typeface="Source Sans Pro" panose="020B0503030403020204" pitchFamily="34" charset="0"/>
              </a:rPr>
              <a:t>Business assets &amp; liabilities not separate from personal assets &amp; liabilities </a:t>
            </a:r>
          </a:p>
          <a:p>
            <a:pPr>
              <a:lnSpc>
                <a:spcPct val="100000"/>
              </a:lnSpc>
              <a:spcBef>
                <a:spcPts val="0"/>
              </a:spcBef>
            </a:pPr>
            <a:r>
              <a:rPr lang="en-US" altLang="en-US" sz="1900" dirty="0">
                <a:solidFill>
                  <a:srgbClr val="003E7F"/>
                </a:solidFill>
                <a:latin typeface="Source Sans Pro" panose="020B0503030403020204" pitchFamily="34" charset="0"/>
              </a:rPr>
              <a:t>Raising money can be difficult</a:t>
            </a:r>
          </a:p>
          <a:p>
            <a:pPr marL="514311" lvl="2">
              <a:lnSpc>
                <a:spcPct val="100000"/>
              </a:lnSpc>
              <a:spcBef>
                <a:spcPts val="0"/>
              </a:spcBef>
            </a:pPr>
            <a:r>
              <a:rPr lang="en-US" altLang="en-US" sz="1700" dirty="0">
                <a:solidFill>
                  <a:srgbClr val="003E7F"/>
                </a:solidFill>
                <a:latin typeface="Source Sans Pro" panose="020B0503030403020204" pitchFamily="34" charset="0"/>
              </a:rPr>
              <a:t>Banks often hesitant to lend to sole proprietorships</a:t>
            </a:r>
          </a:p>
          <a:p>
            <a:pPr>
              <a:lnSpc>
                <a:spcPct val="100000"/>
              </a:lnSpc>
              <a:spcBef>
                <a:spcPts val="0"/>
              </a:spcBef>
            </a:pPr>
            <a:r>
              <a:rPr lang="en-US" altLang="en-US" sz="1900" dirty="0">
                <a:solidFill>
                  <a:srgbClr val="003E7F"/>
                </a:solidFill>
                <a:latin typeface="Source Sans Pro" panose="020B0503030403020204" pitchFamily="34" charset="0"/>
              </a:rPr>
              <a:t>Lack of continuity if the owner becomes incapacitated or passes away</a:t>
            </a:r>
          </a:p>
          <a:p>
            <a:pPr>
              <a:lnSpc>
                <a:spcPct val="100000"/>
              </a:lnSpc>
              <a:spcBef>
                <a:spcPts val="0"/>
              </a:spcBef>
            </a:pPr>
            <a:r>
              <a:rPr lang="en-US" altLang="en-US" sz="1900" dirty="0">
                <a:solidFill>
                  <a:srgbClr val="003E7F"/>
                </a:solidFill>
                <a:latin typeface="Source Sans Pro" panose="020B0503030403020204" pitchFamily="34" charset="0"/>
              </a:rPr>
              <a:t>May be less attractive to prospective employees</a:t>
            </a:r>
          </a:p>
          <a:p>
            <a:pPr marL="0" indent="0">
              <a:lnSpc>
                <a:spcPct val="100000"/>
              </a:lnSpc>
              <a:spcBef>
                <a:spcPts val="900"/>
              </a:spcBef>
              <a:buNone/>
            </a:pPr>
            <a:r>
              <a:rPr lang="en-US" altLang="en-US" sz="2200" b="1" dirty="0">
                <a:solidFill>
                  <a:srgbClr val="AB162C"/>
                </a:solidFill>
                <a:latin typeface="Source Sans Pro" panose="020B0503030403020204" pitchFamily="34" charset="0"/>
              </a:rPr>
              <a:t>TAX REQUIREMENTS:  </a:t>
            </a:r>
            <a:r>
              <a:rPr lang="en-US" altLang="en-US" sz="1900" dirty="0">
                <a:solidFill>
                  <a:srgbClr val="003E7F"/>
                </a:solidFill>
                <a:latin typeface="Source Sans Pro" panose="020B0503030403020204" pitchFamily="34" charset="0"/>
              </a:rPr>
              <a:t>Business profits and losses reported on individual tax return (Form 1040) on Schedule C (Schedule E for Real Estate business)</a:t>
            </a:r>
            <a:endParaRPr lang="en-US" altLang="en-US" sz="2200" b="1" dirty="0">
              <a:solidFill>
                <a:srgbClr val="AB162C"/>
              </a:solidFill>
              <a:latin typeface="Source Sans Pro" panose="020B0503030403020204" pitchFamily="34" charset="0"/>
            </a:endParaRPr>
          </a:p>
        </p:txBody>
      </p:sp>
      <p:sp>
        <p:nvSpPr>
          <p:cNvPr id="14" name="Title 3">
            <a:extLst>
              <a:ext uri="{FF2B5EF4-FFF2-40B4-BE49-F238E27FC236}">
                <a16:creationId xmlns:a16="http://schemas.microsoft.com/office/drawing/2014/main" id="{DE6534C0-6130-A503-BE29-615B117AA733}"/>
              </a:ext>
            </a:extLst>
          </p:cNvPr>
          <p:cNvSpPr>
            <a:spLocks noGrp="1"/>
          </p:cNvSpPr>
          <p:nvPr>
            <p:ph type="title"/>
          </p:nvPr>
        </p:nvSpPr>
        <p:spPr>
          <a:xfrm>
            <a:off x="1191490" y="367026"/>
            <a:ext cx="6585322" cy="730202"/>
          </a:xfrm>
        </p:spPr>
        <p:txBody>
          <a:bodyPr>
            <a:normAutofit/>
          </a:bodyPr>
          <a:lstStyle/>
          <a:p>
            <a:r>
              <a:rPr lang="en-US" sz="2800" dirty="0"/>
              <a:t>Sole Proprietorship (DBA)</a:t>
            </a:r>
            <a:endParaRPr lang="en-US" sz="2800" i="1" dirty="0"/>
          </a:p>
        </p:txBody>
      </p:sp>
      <p:sp>
        <p:nvSpPr>
          <p:cNvPr id="2" name="Slide Number Placeholder 1">
            <a:extLst>
              <a:ext uri="{FF2B5EF4-FFF2-40B4-BE49-F238E27FC236}">
                <a16:creationId xmlns:a16="http://schemas.microsoft.com/office/drawing/2014/main" id="{2CA2AB58-0449-97F0-B2CB-5C9440AC4FCB}"/>
              </a:ext>
            </a:extLst>
          </p:cNvPr>
          <p:cNvSpPr txBox="1">
            <a:spLocks/>
          </p:cNvSpPr>
          <p:nvPr/>
        </p:nvSpPr>
        <p:spPr>
          <a:xfrm>
            <a:off x="4479355" y="6194307"/>
            <a:ext cx="470339" cy="36512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13FA6D-C8B2-4F7A-9B51-E7C42DF59B48}" type="slidenum">
              <a:rPr lang="en-US" sz="900" smtClean="0"/>
              <a:pPr/>
              <a:t>7</a:t>
            </a:fld>
            <a:endParaRPr lang="en-US" sz="900" dirty="0"/>
          </a:p>
        </p:txBody>
      </p:sp>
    </p:spTree>
    <p:extLst>
      <p:ext uri="{BB962C8B-B14F-4D97-AF65-F5344CB8AC3E}">
        <p14:creationId xmlns:p14="http://schemas.microsoft.com/office/powerpoint/2010/main" val="1554626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ubtitle 3"/>
          <p:cNvSpPr>
            <a:spLocks noGrp="1"/>
          </p:cNvSpPr>
          <p:nvPr>
            <p:ph type="subTitle" idx="4294967295"/>
          </p:nvPr>
        </p:nvSpPr>
        <p:spPr>
          <a:xfrm>
            <a:off x="447282" y="1029811"/>
            <a:ext cx="8288345" cy="5231544"/>
          </a:xfrm>
        </p:spPr>
        <p:txBody>
          <a:bodyPr>
            <a:noAutofit/>
          </a:bodyPr>
          <a:lstStyle/>
          <a:p>
            <a:pPr marL="0" indent="0">
              <a:buNone/>
            </a:pPr>
            <a:r>
              <a:rPr lang="en-US" altLang="en-US" sz="2400" b="1" dirty="0">
                <a:solidFill>
                  <a:srgbClr val="003E7F"/>
                </a:solidFill>
                <a:latin typeface="Source Sans Pro" panose="020B0503030403020204" pitchFamily="34" charset="0"/>
                <a:ea typeface="Source Sans Pro" panose="020B0503030403020204" pitchFamily="34" charset="0"/>
              </a:rPr>
              <a:t>A business owned by two or more individuals who share the profits and liabilities of the business</a:t>
            </a:r>
          </a:p>
          <a:p>
            <a:pPr>
              <a:lnSpc>
                <a:spcPct val="100000"/>
              </a:lnSpc>
              <a:spcBef>
                <a:spcPts val="0"/>
              </a:spcBef>
            </a:pPr>
            <a:r>
              <a:rPr lang="en-US" altLang="en-US" sz="2000" i="1" dirty="0">
                <a:solidFill>
                  <a:srgbClr val="003E7F"/>
                </a:solidFill>
                <a:latin typeface="Source Sans Pro" panose="020B0503030403020204" pitchFamily="34" charset="0"/>
              </a:rPr>
              <a:t>Having a written Partnership Agreement in place is strongly recommended </a:t>
            </a:r>
          </a:p>
          <a:p>
            <a:pPr marL="0" indent="0">
              <a:buNone/>
            </a:pPr>
            <a:r>
              <a:rPr lang="en-US" altLang="en-US" sz="2200" b="1" dirty="0">
                <a:solidFill>
                  <a:srgbClr val="AB162C"/>
                </a:solidFill>
                <a:latin typeface="Source Sans Pro" panose="020B0503030403020204" pitchFamily="34" charset="0"/>
                <a:ea typeface="Source Sans Pro" panose="020B0503030403020204" pitchFamily="34" charset="0"/>
              </a:rPr>
              <a:t>ADVANTAGES: </a:t>
            </a:r>
          </a:p>
          <a:p>
            <a:pPr>
              <a:lnSpc>
                <a:spcPct val="100000"/>
              </a:lnSpc>
              <a:spcBef>
                <a:spcPts val="0"/>
              </a:spcBef>
            </a:pPr>
            <a:r>
              <a:rPr lang="en-US" altLang="en-US" sz="1900" dirty="0">
                <a:solidFill>
                  <a:srgbClr val="003E7F"/>
                </a:solidFill>
                <a:latin typeface="Source Sans Pro" panose="020B0503030403020204" pitchFamily="34" charset="0"/>
              </a:rPr>
              <a:t>The simplest structure for two or more people to own a business together</a:t>
            </a:r>
          </a:p>
          <a:p>
            <a:pPr lvl="1">
              <a:lnSpc>
                <a:spcPct val="100000"/>
              </a:lnSpc>
              <a:spcBef>
                <a:spcPts val="0"/>
              </a:spcBef>
            </a:pPr>
            <a:r>
              <a:rPr lang="en-US" altLang="en-US" sz="1600" dirty="0">
                <a:solidFill>
                  <a:srgbClr val="003E7F"/>
                </a:solidFill>
                <a:latin typeface="Source Sans Pro" panose="020B0503030403020204" pitchFamily="34" charset="0"/>
              </a:rPr>
              <a:t>Easy and inexpensive to establish</a:t>
            </a:r>
          </a:p>
          <a:p>
            <a:pPr>
              <a:lnSpc>
                <a:spcPct val="100000"/>
              </a:lnSpc>
              <a:spcBef>
                <a:spcPts val="0"/>
              </a:spcBef>
            </a:pPr>
            <a:r>
              <a:rPr lang="en-US" altLang="en-US" sz="1900" dirty="0">
                <a:solidFill>
                  <a:srgbClr val="003E7F"/>
                </a:solidFill>
                <a:latin typeface="Source Sans Pro" panose="020B0503030403020204" pitchFamily="34" charset="0"/>
              </a:rPr>
              <a:t>Shared financial commitment</a:t>
            </a:r>
          </a:p>
          <a:p>
            <a:pPr>
              <a:lnSpc>
                <a:spcPct val="100000"/>
              </a:lnSpc>
              <a:spcBef>
                <a:spcPts val="0"/>
              </a:spcBef>
            </a:pPr>
            <a:r>
              <a:rPr lang="en-US" altLang="en-US" sz="1900" dirty="0">
                <a:solidFill>
                  <a:srgbClr val="003E7F"/>
                </a:solidFill>
                <a:latin typeface="Source Sans Pro" panose="020B0503030403020204" pitchFamily="34" charset="0"/>
              </a:rPr>
              <a:t>Potential partnership incentives for future employees</a:t>
            </a:r>
          </a:p>
          <a:p>
            <a:pPr marL="0" indent="0">
              <a:lnSpc>
                <a:spcPct val="100000"/>
              </a:lnSpc>
              <a:buNone/>
            </a:pPr>
            <a:r>
              <a:rPr lang="en-US" altLang="en-US" sz="2200" b="1" dirty="0">
                <a:solidFill>
                  <a:srgbClr val="AB162C"/>
                </a:solidFill>
                <a:latin typeface="Source Sans Pro" panose="020B0503030403020204" pitchFamily="34" charset="0"/>
              </a:rPr>
              <a:t>DISADVANTAGES: </a:t>
            </a:r>
          </a:p>
          <a:p>
            <a:pPr>
              <a:lnSpc>
                <a:spcPct val="100000"/>
              </a:lnSpc>
              <a:spcBef>
                <a:spcPts val="0"/>
              </a:spcBef>
            </a:pPr>
            <a:r>
              <a:rPr lang="en-US" altLang="en-US" sz="1900" dirty="0">
                <a:solidFill>
                  <a:srgbClr val="003E7F"/>
                </a:solidFill>
                <a:latin typeface="Source Sans Pro" panose="020B0503030403020204" pitchFamily="34" charset="0"/>
              </a:rPr>
              <a:t>Joint and individual liability </a:t>
            </a:r>
          </a:p>
          <a:p>
            <a:pPr>
              <a:lnSpc>
                <a:spcPct val="100000"/>
              </a:lnSpc>
              <a:spcBef>
                <a:spcPts val="0"/>
              </a:spcBef>
            </a:pPr>
            <a:r>
              <a:rPr lang="en-US" altLang="en-US" sz="1900" dirty="0">
                <a:solidFill>
                  <a:srgbClr val="003E7F"/>
                </a:solidFill>
                <a:latin typeface="Source Sans Pro" panose="020B0503030403020204" pitchFamily="34" charset="0"/>
              </a:rPr>
              <a:t>Shared profits and decision-making may lead to disagreements</a:t>
            </a:r>
          </a:p>
          <a:p>
            <a:pPr marL="0" indent="0" algn="l">
              <a:buNone/>
            </a:pPr>
            <a:r>
              <a:rPr lang="en-US" altLang="en-US" sz="2200" b="1" dirty="0">
                <a:solidFill>
                  <a:srgbClr val="AB162C"/>
                </a:solidFill>
                <a:latin typeface="Source Sans Pro" panose="020B0503030403020204" pitchFamily="34" charset="0"/>
              </a:rPr>
              <a:t>TAX REQUIREMENTS: </a:t>
            </a:r>
            <a:r>
              <a:rPr lang="en-US" altLang="en-US" sz="1900" dirty="0">
                <a:solidFill>
                  <a:srgbClr val="003E7F"/>
                </a:solidFill>
                <a:latin typeface="Source Sans Pro" panose="020B0503030403020204" pitchFamily="34" charset="0"/>
              </a:rPr>
              <a:t>The </a:t>
            </a:r>
            <a:r>
              <a:rPr lang="en-US" sz="1900" dirty="0">
                <a:solidFill>
                  <a:srgbClr val="003E7F"/>
                </a:solidFill>
                <a:latin typeface="Source Sans Pro" panose="020B0503030403020204" pitchFamily="34" charset="0"/>
              </a:rPr>
              <a:t>partnership itself is not subject to income tax.  Profits and losses "flow through" to the individual partners, who report their share of the partnership's income on their personal tax returns</a:t>
            </a:r>
          </a:p>
          <a:p>
            <a:pPr marL="0" indent="0">
              <a:lnSpc>
                <a:spcPct val="100000"/>
              </a:lnSpc>
              <a:spcBef>
                <a:spcPts val="1200"/>
              </a:spcBef>
              <a:buNone/>
            </a:pPr>
            <a:endParaRPr lang="en-US" altLang="en-US" sz="2200" b="1" dirty="0">
              <a:solidFill>
                <a:srgbClr val="AB162C"/>
              </a:solidFill>
              <a:latin typeface="Source Sans Pro" panose="020B0503030403020204" pitchFamily="34" charset="0"/>
            </a:endParaRPr>
          </a:p>
        </p:txBody>
      </p:sp>
      <p:sp>
        <p:nvSpPr>
          <p:cNvPr id="14" name="Title 3">
            <a:extLst>
              <a:ext uri="{FF2B5EF4-FFF2-40B4-BE49-F238E27FC236}">
                <a16:creationId xmlns:a16="http://schemas.microsoft.com/office/drawing/2014/main" id="{DE6534C0-6130-A503-BE29-615B117AA733}"/>
              </a:ext>
            </a:extLst>
          </p:cNvPr>
          <p:cNvSpPr>
            <a:spLocks noGrp="1"/>
          </p:cNvSpPr>
          <p:nvPr>
            <p:ph type="title"/>
          </p:nvPr>
        </p:nvSpPr>
        <p:spPr>
          <a:xfrm>
            <a:off x="1191490" y="367026"/>
            <a:ext cx="6585322" cy="730202"/>
          </a:xfrm>
        </p:spPr>
        <p:txBody>
          <a:bodyPr>
            <a:normAutofit/>
          </a:bodyPr>
          <a:lstStyle/>
          <a:p>
            <a:r>
              <a:rPr lang="en-US" sz="2800" dirty="0"/>
              <a:t>Partnership</a:t>
            </a:r>
            <a:endParaRPr lang="en-US" sz="2800" i="1" dirty="0">
              <a:highlight>
                <a:srgbClr val="FFFF00"/>
              </a:highlight>
            </a:endParaRPr>
          </a:p>
        </p:txBody>
      </p:sp>
      <p:sp>
        <p:nvSpPr>
          <p:cNvPr id="2" name="Slide Number Placeholder 1">
            <a:extLst>
              <a:ext uri="{FF2B5EF4-FFF2-40B4-BE49-F238E27FC236}">
                <a16:creationId xmlns:a16="http://schemas.microsoft.com/office/drawing/2014/main" id="{2CA2AB58-0449-97F0-B2CB-5C9440AC4FCB}"/>
              </a:ext>
            </a:extLst>
          </p:cNvPr>
          <p:cNvSpPr txBox="1">
            <a:spLocks/>
          </p:cNvSpPr>
          <p:nvPr/>
        </p:nvSpPr>
        <p:spPr>
          <a:xfrm>
            <a:off x="4479355" y="6194307"/>
            <a:ext cx="470339" cy="36512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13FA6D-C8B2-4F7A-9B51-E7C42DF59B48}" type="slidenum">
              <a:rPr lang="en-US" sz="900" smtClean="0"/>
              <a:pPr/>
              <a:t>8</a:t>
            </a:fld>
            <a:endParaRPr lang="en-US" sz="900" dirty="0"/>
          </a:p>
        </p:txBody>
      </p:sp>
    </p:spTree>
    <p:extLst>
      <p:ext uri="{BB962C8B-B14F-4D97-AF65-F5344CB8AC3E}">
        <p14:creationId xmlns:p14="http://schemas.microsoft.com/office/powerpoint/2010/main" val="1070475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ubtitle 3"/>
          <p:cNvSpPr>
            <a:spLocks noGrp="1"/>
          </p:cNvSpPr>
          <p:nvPr>
            <p:ph type="subTitle" idx="4294967295"/>
          </p:nvPr>
        </p:nvSpPr>
        <p:spPr>
          <a:xfrm>
            <a:off x="447282" y="1029811"/>
            <a:ext cx="8288345" cy="5231544"/>
          </a:xfrm>
        </p:spPr>
        <p:txBody>
          <a:bodyPr>
            <a:noAutofit/>
          </a:bodyPr>
          <a:lstStyle/>
          <a:p>
            <a:pPr marL="0" indent="0">
              <a:buNone/>
            </a:pPr>
            <a:r>
              <a:rPr lang="en-US" altLang="en-US" sz="2000" b="1" dirty="0">
                <a:solidFill>
                  <a:srgbClr val="003E7F"/>
                </a:solidFill>
                <a:latin typeface="Source Sans Pro" panose="020B0503030403020204" pitchFamily="34" charset="0"/>
                <a:ea typeface="Source Sans Pro" panose="020B0503030403020204" pitchFamily="34" charset="0"/>
              </a:rPr>
              <a:t>Hybrid business structure that provides the limited liability features of a corporation and the tax efficiencies and operational flexibility of a sole proprietorship or partnership</a:t>
            </a:r>
          </a:p>
          <a:p>
            <a:pPr marL="0" indent="0">
              <a:buNone/>
            </a:pPr>
            <a:r>
              <a:rPr lang="en-US" altLang="en-US" sz="2200" b="1" dirty="0">
                <a:solidFill>
                  <a:srgbClr val="AB162C"/>
                </a:solidFill>
                <a:latin typeface="Source Sans Pro" panose="020B0503030403020204" pitchFamily="34" charset="0"/>
                <a:ea typeface="Source Sans Pro" panose="020B0503030403020204" pitchFamily="34" charset="0"/>
              </a:rPr>
              <a:t>ADVANTAGES: </a:t>
            </a:r>
          </a:p>
          <a:p>
            <a:pPr>
              <a:lnSpc>
                <a:spcPct val="100000"/>
              </a:lnSpc>
              <a:spcBef>
                <a:spcPts val="0"/>
              </a:spcBef>
            </a:pPr>
            <a:r>
              <a:rPr lang="en-US" altLang="en-US" sz="1800" dirty="0">
                <a:solidFill>
                  <a:srgbClr val="003E7F"/>
                </a:solidFill>
                <a:latin typeface="Source Sans Pro" panose="020B0503030403020204" pitchFamily="34" charset="0"/>
              </a:rPr>
              <a:t>Protects you from personal liability in most instances</a:t>
            </a:r>
          </a:p>
          <a:p>
            <a:pPr lvl="1">
              <a:lnSpc>
                <a:spcPct val="100000"/>
              </a:lnSpc>
              <a:spcBef>
                <a:spcPts val="0"/>
              </a:spcBef>
            </a:pPr>
            <a:r>
              <a:rPr lang="en-US" altLang="en-US" sz="1600" dirty="0">
                <a:solidFill>
                  <a:srgbClr val="003E7F"/>
                </a:solidFill>
                <a:latin typeface="Source Sans Pro" panose="020B0503030403020204" pitchFamily="34" charset="0"/>
              </a:rPr>
              <a:t>Personal assets (like your vehicle, house, and savings accounts) won't be at risk in case your LLC faces bankruptcy or lawsuits</a:t>
            </a:r>
          </a:p>
          <a:p>
            <a:pPr>
              <a:lnSpc>
                <a:spcPct val="100000"/>
              </a:lnSpc>
              <a:spcBef>
                <a:spcPts val="0"/>
              </a:spcBef>
            </a:pPr>
            <a:r>
              <a:rPr lang="en-US" altLang="en-US" sz="1800" dirty="0">
                <a:solidFill>
                  <a:srgbClr val="003E7F"/>
                </a:solidFill>
                <a:latin typeface="Source Sans Pro" panose="020B0503030403020204" pitchFamily="34" charset="0"/>
              </a:rPr>
              <a:t>Lets you take advantage of the benefits of both the corporation and the sole proprietorship or partnership business structure</a:t>
            </a:r>
          </a:p>
          <a:p>
            <a:pPr marL="0" indent="0">
              <a:lnSpc>
                <a:spcPct val="100000"/>
              </a:lnSpc>
              <a:buNone/>
            </a:pPr>
            <a:r>
              <a:rPr lang="en-US" altLang="en-US" sz="2200" b="1" dirty="0">
                <a:solidFill>
                  <a:srgbClr val="AB162C"/>
                </a:solidFill>
                <a:latin typeface="Source Sans Pro" panose="020B0503030403020204" pitchFamily="34" charset="0"/>
              </a:rPr>
              <a:t>DISADVANTAGES: </a:t>
            </a:r>
          </a:p>
          <a:p>
            <a:pPr>
              <a:lnSpc>
                <a:spcPct val="100000"/>
              </a:lnSpc>
              <a:spcBef>
                <a:spcPts val="0"/>
              </a:spcBef>
            </a:pPr>
            <a:r>
              <a:rPr lang="en-US" altLang="en-US" sz="1800" dirty="0">
                <a:solidFill>
                  <a:srgbClr val="003E7F"/>
                </a:solidFill>
                <a:latin typeface="Source Sans Pro" panose="020B0503030403020204" pitchFamily="34" charset="0"/>
              </a:rPr>
              <a:t>May require more paperwork than sole proprietorship or partnership</a:t>
            </a:r>
          </a:p>
          <a:p>
            <a:pPr>
              <a:lnSpc>
                <a:spcPct val="100000"/>
              </a:lnSpc>
              <a:spcBef>
                <a:spcPts val="0"/>
              </a:spcBef>
            </a:pPr>
            <a:r>
              <a:rPr lang="en-US" altLang="en-US" sz="1800" dirty="0">
                <a:solidFill>
                  <a:srgbClr val="003E7F"/>
                </a:solidFill>
                <a:latin typeface="Source Sans Pro" panose="020B0503030403020204" pitchFamily="34" charset="0"/>
              </a:rPr>
              <a:t>Must file with your state, pay fees, &amp; company information becomes public </a:t>
            </a:r>
          </a:p>
          <a:p>
            <a:pPr marL="0" indent="0">
              <a:lnSpc>
                <a:spcPct val="100000"/>
              </a:lnSpc>
              <a:buNone/>
            </a:pPr>
            <a:r>
              <a:rPr lang="en-US" altLang="en-US" sz="2300" b="1" dirty="0">
                <a:solidFill>
                  <a:srgbClr val="AB162C"/>
                </a:solidFill>
                <a:latin typeface="Source Sans Pro" panose="020B0503030403020204" pitchFamily="34" charset="0"/>
              </a:rPr>
              <a:t>TAX REQUIREMENTS: </a:t>
            </a:r>
            <a:r>
              <a:rPr lang="en-US" altLang="en-US" sz="1800" dirty="0">
                <a:solidFill>
                  <a:srgbClr val="003E7F"/>
                </a:solidFill>
                <a:latin typeface="Source Sans Pro" panose="020B0503030403020204" pitchFamily="34" charset="0"/>
              </a:rPr>
              <a:t>Default form of taxation for: Single Owner - same as for Sole Proprietorship.  Multiple owners - same as for Partnership.  LLC can also elect to be taxed as C-Corporation or S-Corp</a:t>
            </a:r>
          </a:p>
        </p:txBody>
      </p:sp>
      <p:sp>
        <p:nvSpPr>
          <p:cNvPr id="14" name="Title 3">
            <a:extLst>
              <a:ext uri="{FF2B5EF4-FFF2-40B4-BE49-F238E27FC236}">
                <a16:creationId xmlns:a16="http://schemas.microsoft.com/office/drawing/2014/main" id="{DE6534C0-6130-A503-BE29-615B117AA733}"/>
              </a:ext>
            </a:extLst>
          </p:cNvPr>
          <p:cNvSpPr>
            <a:spLocks noGrp="1"/>
          </p:cNvSpPr>
          <p:nvPr>
            <p:ph type="title"/>
          </p:nvPr>
        </p:nvSpPr>
        <p:spPr>
          <a:xfrm>
            <a:off x="949911" y="367026"/>
            <a:ext cx="7492753" cy="730202"/>
          </a:xfrm>
        </p:spPr>
        <p:txBody>
          <a:bodyPr>
            <a:normAutofit/>
          </a:bodyPr>
          <a:lstStyle/>
          <a:p>
            <a:r>
              <a:rPr lang="en-US" sz="2800" dirty="0"/>
              <a:t>Limited Liability Company (LLC)</a:t>
            </a:r>
            <a:endParaRPr lang="en-US" sz="2800" i="1" dirty="0"/>
          </a:p>
        </p:txBody>
      </p:sp>
      <p:sp>
        <p:nvSpPr>
          <p:cNvPr id="2" name="Slide Number Placeholder 1">
            <a:extLst>
              <a:ext uri="{FF2B5EF4-FFF2-40B4-BE49-F238E27FC236}">
                <a16:creationId xmlns:a16="http://schemas.microsoft.com/office/drawing/2014/main" id="{2CA2AB58-0449-97F0-B2CB-5C9440AC4FCB}"/>
              </a:ext>
            </a:extLst>
          </p:cNvPr>
          <p:cNvSpPr txBox="1">
            <a:spLocks/>
          </p:cNvSpPr>
          <p:nvPr/>
        </p:nvSpPr>
        <p:spPr>
          <a:xfrm>
            <a:off x="4479355" y="6194307"/>
            <a:ext cx="470339" cy="36512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13FA6D-C8B2-4F7A-9B51-E7C42DF59B48}" type="slidenum">
              <a:rPr lang="en-US" sz="900" smtClean="0"/>
              <a:pPr/>
              <a:t>9</a:t>
            </a:fld>
            <a:endParaRPr lang="en-US" sz="900" dirty="0"/>
          </a:p>
        </p:txBody>
      </p:sp>
    </p:spTree>
    <p:extLst>
      <p:ext uri="{BB962C8B-B14F-4D97-AF65-F5344CB8AC3E}">
        <p14:creationId xmlns:p14="http://schemas.microsoft.com/office/powerpoint/2010/main" val="3448952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ubtitle 3"/>
          <p:cNvSpPr>
            <a:spLocks noGrp="1"/>
          </p:cNvSpPr>
          <p:nvPr>
            <p:ph type="subTitle" idx="4294967295"/>
          </p:nvPr>
        </p:nvSpPr>
        <p:spPr>
          <a:xfrm>
            <a:off x="447282" y="1029811"/>
            <a:ext cx="8288345" cy="5231544"/>
          </a:xfrm>
        </p:spPr>
        <p:txBody>
          <a:bodyPr>
            <a:noAutofit/>
          </a:bodyPr>
          <a:lstStyle/>
          <a:p>
            <a:pPr marL="0" indent="0">
              <a:buNone/>
            </a:pPr>
            <a:r>
              <a:rPr lang="en-US" altLang="en-US" sz="2400" b="1" dirty="0">
                <a:solidFill>
                  <a:srgbClr val="003E7F"/>
                </a:solidFill>
                <a:latin typeface="Source Sans Pro" panose="020B0503030403020204" pitchFamily="34" charset="0"/>
                <a:ea typeface="Source Sans Pro" panose="020B0503030403020204" pitchFamily="34" charset="0"/>
              </a:rPr>
              <a:t>A corporation is a legal entity that is separate from its owners</a:t>
            </a:r>
          </a:p>
          <a:p>
            <a:pPr marL="0" indent="0">
              <a:buNone/>
            </a:pPr>
            <a:r>
              <a:rPr lang="en-US" altLang="en-US" sz="2000" i="1" dirty="0">
                <a:solidFill>
                  <a:srgbClr val="003E7F"/>
                </a:solidFill>
                <a:latin typeface="Source Sans Pro" panose="020B0503030403020204" pitchFamily="34" charset="0"/>
              </a:rPr>
              <a:t>Corporations can make a profit, be taxed, and can be held legally liable</a:t>
            </a:r>
          </a:p>
          <a:p>
            <a:pPr marL="0" indent="0">
              <a:buNone/>
            </a:pPr>
            <a:r>
              <a:rPr lang="en-US" altLang="en-US" sz="2200" b="1" dirty="0">
                <a:solidFill>
                  <a:srgbClr val="AB162C"/>
                </a:solidFill>
                <a:latin typeface="Source Sans Pro" panose="020B0503030403020204" pitchFamily="34" charset="0"/>
                <a:ea typeface="Source Sans Pro" panose="020B0503030403020204" pitchFamily="34" charset="0"/>
              </a:rPr>
              <a:t>ADVANTAGES: </a:t>
            </a:r>
          </a:p>
          <a:p>
            <a:pPr>
              <a:lnSpc>
                <a:spcPct val="100000"/>
              </a:lnSpc>
              <a:spcBef>
                <a:spcPts val="0"/>
              </a:spcBef>
            </a:pPr>
            <a:r>
              <a:rPr lang="en-US" altLang="en-US" sz="1900" dirty="0">
                <a:solidFill>
                  <a:srgbClr val="003E7F"/>
                </a:solidFill>
                <a:latin typeface="Source Sans Pro" panose="020B0503030403020204" pitchFamily="34" charset="0"/>
              </a:rPr>
              <a:t>Offers the strongest protection to its owners from personal liability</a:t>
            </a:r>
          </a:p>
          <a:p>
            <a:pPr>
              <a:lnSpc>
                <a:spcPct val="100000"/>
              </a:lnSpc>
              <a:spcBef>
                <a:spcPts val="0"/>
              </a:spcBef>
            </a:pPr>
            <a:r>
              <a:rPr lang="en-US" altLang="en-US" sz="1900" dirty="0">
                <a:solidFill>
                  <a:srgbClr val="003E7F"/>
                </a:solidFill>
                <a:latin typeface="Source Sans Pro" panose="020B0503030403020204" pitchFamily="34" charset="0"/>
              </a:rPr>
              <a:t>Easier to raise capital through the sale of stock, which can also be a benefit in attracting employees</a:t>
            </a:r>
          </a:p>
          <a:p>
            <a:pPr marL="0" indent="0">
              <a:lnSpc>
                <a:spcPct val="100000"/>
              </a:lnSpc>
              <a:buNone/>
            </a:pPr>
            <a:r>
              <a:rPr lang="en-US" altLang="en-US" sz="2200" b="1" dirty="0">
                <a:solidFill>
                  <a:srgbClr val="AB162C"/>
                </a:solidFill>
                <a:latin typeface="Source Sans Pro" panose="020B0503030403020204" pitchFamily="34" charset="0"/>
              </a:rPr>
              <a:t>DISADVANTAGES: </a:t>
            </a:r>
          </a:p>
          <a:p>
            <a:pPr>
              <a:lnSpc>
                <a:spcPct val="100000"/>
              </a:lnSpc>
              <a:spcBef>
                <a:spcPts val="0"/>
              </a:spcBef>
            </a:pPr>
            <a:r>
              <a:rPr lang="en-US" altLang="en-US" sz="2000" dirty="0">
                <a:solidFill>
                  <a:srgbClr val="003E7F"/>
                </a:solidFill>
                <a:latin typeface="Source Sans Pro" panose="020B0503030403020204" pitchFamily="34" charset="0"/>
              </a:rPr>
              <a:t>Must file with your state, pay fees, &amp; company information becomes public </a:t>
            </a:r>
          </a:p>
          <a:p>
            <a:pPr>
              <a:lnSpc>
                <a:spcPct val="100000"/>
              </a:lnSpc>
              <a:spcBef>
                <a:spcPts val="0"/>
              </a:spcBef>
            </a:pPr>
            <a:r>
              <a:rPr lang="en-US" altLang="en-US" sz="1900" dirty="0">
                <a:solidFill>
                  <a:srgbClr val="003E7F"/>
                </a:solidFill>
                <a:latin typeface="Source Sans Pro" panose="020B0503030403020204" pitchFamily="34" charset="0"/>
              </a:rPr>
              <a:t>Require more extensive record-keeping, operational processes, and reporting</a:t>
            </a:r>
          </a:p>
          <a:p>
            <a:pPr>
              <a:lnSpc>
                <a:spcPct val="100000"/>
              </a:lnSpc>
              <a:spcBef>
                <a:spcPts val="0"/>
              </a:spcBef>
            </a:pPr>
            <a:r>
              <a:rPr lang="en-US" altLang="en-US" sz="1900" dirty="0">
                <a:solidFill>
                  <a:srgbClr val="003E7F"/>
                </a:solidFill>
                <a:latin typeface="Source Sans Pro" panose="020B0503030403020204" pitchFamily="34" charset="0"/>
              </a:rPr>
              <a:t>Double taxation</a:t>
            </a:r>
          </a:p>
          <a:p>
            <a:pPr marL="0" indent="0">
              <a:lnSpc>
                <a:spcPct val="100000"/>
              </a:lnSpc>
              <a:buNone/>
            </a:pPr>
            <a:r>
              <a:rPr lang="en-US" altLang="en-US" sz="2200" b="1" dirty="0">
                <a:solidFill>
                  <a:srgbClr val="AB162C"/>
                </a:solidFill>
                <a:latin typeface="Source Sans Pro" panose="020B0503030403020204" pitchFamily="34" charset="0"/>
              </a:rPr>
              <a:t>TAX REQUIREMENTS:</a:t>
            </a:r>
          </a:p>
          <a:p>
            <a:pPr>
              <a:lnSpc>
                <a:spcPct val="100000"/>
              </a:lnSpc>
              <a:spcBef>
                <a:spcPts val="0"/>
              </a:spcBef>
            </a:pPr>
            <a:r>
              <a:rPr lang="en-US" sz="1900" dirty="0">
                <a:solidFill>
                  <a:srgbClr val="003E7F"/>
                </a:solidFill>
                <a:latin typeface="Source Sans Pro" panose="020B0503030403020204" pitchFamily="34" charset="0"/>
              </a:rPr>
              <a:t>Subject to corporate income tax on profits at the corporate level. Shareholders then taxed on any dividends received from the corporation at their individual tax rates</a:t>
            </a:r>
            <a:endParaRPr lang="en-US" altLang="en-US" sz="1900" dirty="0">
              <a:solidFill>
                <a:srgbClr val="003E7F"/>
              </a:solidFill>
              <a:latin typeface="Source Sans Pro" panose="020B0503030403020204" pitchFamily="34" charset="0"/>
            </a:endParaRPr>
          </a:p>
        </p:txBody>
      </p:sp>
      <p:sp>
        <p:nvSpPr>
          <p:cNvPr id="14" name="Title 3">
            <a:extLst>
              <a:ext uri="{FF2B5EF4-FFF2-40B4-BE49-F238E27FC236}">
                <a16:creationId xmlns:a16="http://schemas.microsoft.com/office/drawing/2014/main" id="{DE6534C0-6130-A503-BE29-615B117AA733}"/>
              </a:ext>
            </a:extLst>
          </p:cNvPr>
          <p:cNvSpPr>
            <a:spLocks noGrp="1"/>
          </p:cNvSpPr>
          <p:nvPr>
            <p:ph type="title"/>
          </p:nvPr>
        </p:nvSpPr>
        <p:spPr>
          <a:xfrm>
            <a:off x="949911" y="367026"/>
            <a:ext cx="7492753" cy="730202"/>
          </a:xfrm>
        </p:spPr>
        <p:txBody>
          <a:bodyPr>
            <a:normAutofit/>
          </a:bodyPr>
          <a:lstStyle/>
          <a:p>
            <a:r>
              <a:rPr lang="en-US" sz="2800" dirty="0"/>
              <a:t>Corporation (C-Corp)</a:t>
            </a:r>
            <a:endParaRPr lang="en-US" sz="2800" i="1" dirty="0"/>
          </a:p>
        </p:txBody>
      </p:sp>
      <p:sp>
        <p:nvSpPr>
          <p:cNvPr id="2" name="Slide Number Placeholder 1">
            <a:extLst>
              <a:ext uri="{FF2B5EF4-FFF2-40B4-BE49-F238E27FC236}">
                <a16:creationId xmlns:a16="http://schemas.microsoft.com/office/drawing/2014/main" id="{2CA2AB58-0449-97F0-B2CB-5C9440AC4FCB}"/>
              </a:ext>
            </a:extLst>
          </p:cNvPr>
          <p:cNvSpPr txBox="1">
            <a:spLocks/>
          </p:cNvSpPr>
          <p:nvPr/>
        </p:nvSpPr>
        <p:spPr>
          <a:xfrm>
            <a:off x="4479355" y="6194307"/>
            <a:ext cx="470339" cy="36512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13FA6D-C8B2-4F7A-9B51-E7C42DF59B48}" type="slidenum">
              <a:rPr lang="en-US" sz="900" smtClean="0"/>
              <a:pPr/>
              <a:t>10</a:t>
            </a:fld>
            <a:endParaRPr lang="en-US" sz="900" dirty="0"/>
          </a:p>
        </p:txBody>
      </p:sp>
    </p:spTree>
    <p:extLst>
      <p:ext uri="{BB962C8B-B14F-4D97-AF65-F5344CB8AC3E}">
        <p14:creationId xmlns:p14="http://schemas.microsoft.com/office/powerpoint/2010/main" val="2800230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ubtitle 3"/>
          <p:cNvSpPr>
            <a:spLocks noGrp="1"/>
          </p:cNvSpPr>
          <p:nvPr>
            <p:ph type="subTitle" idx="4294967295"/>
          </p:nvPr>
        </p:nvSpPr>
        <p:spPr>
          <a:xfrm>
            <a:off x="447282" y="1029811"/>
            <a:ext cx="8288345" cy="5231544"/>
          </a:xfrm>
        </p:spPr>
        <p:txBody>
          <a:bodyPr>
            <a:noAutofit/>
          </a:bodyPr>
          <a:lstStyle/>
          <a:p>
            <a:pPr marL="0" indent="0">
              <a:buNone/>
            </a:pPr>
            <a:r>
              <a:rPr lang="en-US" altLang="en-US" sz="2300" b="1" dirty="0">
                <a:solidFill>
                  <a:srgbClr val="003E7F"/>
                </a:solidFill>
                <a:latin typeface="Source Sans Pro" panose="020B0503030403020204" pitchFamily="34" charset="0"/>
                <a:ea typeface="Source Sans Pro" panose="020B0503030403020204" pitchFamily="34" charset="0"/>
              </a:rPr>
              <a:t>IRS Tax classification that Corporations and LLCs can opt for</a:t>
            </a:r>
          </a:p>
          <a:p>
            <a:pPr marL="0" indent="0">
              <a:buNone/>
            </a:pPr>
            <a:r>
              <a:rPr lang="en-US" altLang="en-US" sz="1900" i="1" dirty="0">
                <a:solidFill>
                  <a:srgbClr val="003E7F"/>
                </a:solidFill>
                <a:latin typeface="Source Sans Pro" panose="020B0503030403020204" pitchFamily="34" charset="0"/>
              </a:rPr>
              <a:t>An S-Corporation is a </a:t>
            </a:r>
            <a:r>
              <a:rPr lang="en-US" altLang="en-US" sz="1900" b="1" i="1" dirty="0">
                <a:solidFill>
                  <a:srgbClr val="003E7F"/>
                </a:solidFill>
                <a:latin typeface="Source Sans Pro" panose="020B0503030403020204" pitchFamily="34" charset="0"/>
              </a:rPr>
              <a:t>tax designation rather than an actual business entity</a:t>
            </a:r>
            <a:r>
              <a:rPr lang="en-US" altLang="en-US" sz="1900" i="1" dirty="0">
                <a:solidFill>
                  <a:srgbClr val="003E7F"/>
                </a:solidFill>
                <a:latin typeface="Source Sans Pro" panose="020B0503030403020204" pitchFamily="34" charset="0"/>
              </a:rPr>
              <a:t>.  Businesses cannot be incorporated as an S-Corporation.  Electing S-Corp status requires filing a form with the IRS</a:t>
            </a:r>
          </a:p>
          <a:p>
            <a:pPr marL="0" indent="0">
              <a:buNone/>
            </a:pPr>
            <a:r>
              <a:rPr lang="en-US" altLang="en-US" sz="2200" b="1" dirty="0">
                <a:solidFill>
                  <a:srgbClr val="AB162C"/>
                </a:solidFill>
                <a:latin typeface="Source Sans Pro" panose="020B0503030403020204" pitchFamily="34" charset="0"/>
                <a:ea typeface="Source Sans Pro" panose="020B0503030403020204" pitchFamily="34" charset="0"/>
              </a:rPr>
              <a:t>ADVANTAGES: </a:t>
            </a:r>
          </a:p>
          <a:p>
            <a:pPr>
              <a:lnSpc>
                <a:spcPct val="100000"/>
              </a:lnSpc>
              <a:spcBef>
                <a:spcPts val="0"/>
              </a:spcBef>
            </a:pPr>
            <a:r>
              <a:rPr lang="en-US" altLang="en-US" sz="1900" dirty="0">
                <a:solidFill>
                  <a:srgbClr val="003E7F"/>
                </a:solidFill>
                <a:latin typeface="Source Sans Pro" panose="020B0503030403020204" pitchFamily="34" charset="0"/>
              </a:rPr>
              <a:t>Allows business owners the advantages of a corporation without the double taxation that comes with running a traditional C-Corp</a:t>
            </a:r>
          </a:p>
          <a:p>
            <a:pPr>
              <a:lnSpc>
                <a:spcPct val="100000"/>
              </a:lnSpc>
              <a:spcBef>
                <a:spcPts val="0"/>
              </a:spcBef>
            </a:pPr>
            <a:r>
              <a:rPr lang="en-US" altLang="en-US" sz="1900" dirty="0">
                <a:solidFill>
                  <a:srgbClr val="003E7F"/>
                </a:solidFill>
                <a:latin typeface="Source Sans Pro" panose="020B0503030403020204" pitchFamily="34" charset="0"/>
              </a:rPr>
              <a:t>LLCs can save 15.3% FICA taxes on a percentage of profits</a:t>
            </a:r>
          </a:p>
          <a:p>
            <a:pPr marL="0" indent="0">
              <a:lnSpc>
                <a:spcPct val="100000"/>
              </a:lnSpc>
              <a:buNone/>
            </a:pPr>
            <a:r>
              <a:rPr lang="en-US" altLang="en-US" sz="2200" b="1" dirty="0">
                <a:solidFill>
                  <a:srgbClr val="AB162C"/>
                </a:solidFill>
                <a:latin typeface="Source Sans Pro" panose="020B0503030403020204" pitchFamily="34" charset="0"/>
              </a:rPr>
              <a:t>DISADVANTAGES: </a:t>
            </a:r>
          </a:p>
          <a:p>
            <a:pPr>
              <a:lnSpc>
                <a:spcPct val="100000"/>
              </a:lnSpc>
              <a:spcBef>
                <a:spcPts val="0"/>
              </a:spcBef>
            </a:pPr>
            <a:r>
              <a:rPr lang="en-US" altLang="en-US" sz="1900" dirty="0">
                <a:solidFill>
                  <a:srgbClr val="003E7F"/>
                </a:solidFill>
                <a:latin typeface="Source Sans Pro" panose="020B0503030403020204" pitchFamily="34" charset="0"/>
              </a:rPr>
              <a:t>All shareholders must be individual US citizens or permanent legal residents</a:t>
            </a:r>
          </a:p>
          <a:p>
            <a:pPr>
              <a:lnSpc>
                <a:spcPct val="100000"/>
              </a:lnSpc>
              <a:spcBef>
                <a:spcPts val="0"/>
              </a:spcBef>
            </a:pPr>
            <a:r>
              <a:rPr lang="en-US" altLang="en-US" sz="1900" dirty="0">
                <a:solidFill>
                  <a:srgbClr val="003E7F"/>
                </a:solidFill>
                <a:latin typeface="Source Sans Pro" panose="020B0503030403020204" pitchFamily="34" charset="0"/>
              </a:rPr>
              <a:t>Prohibited preferential distributions may discourage investors</a:t>
            </a:r>
          </a:p>
          <a:p>
            <a:pPr marL="0" indent="0">
              <a:lnSpc>
                <a:spcPct val="100000"/>
              </a:lnSpc>
              <a:buNone/>
            </a:pPr>
            <a:r>
              <a:rPr lang="en-US" altLang="en-US" sz="2200" b="1" dirty="0">
                <a:solidFill>
                  <a:srgbClr val="AB162C"/>
                </a:solidFill>
                <a:latin typeface="Source Sans Pro" panose="020B0503030403020204" pitchFamily="34" charset="0"/>
              </a:rPr>
              <a:t>TAX REQUIREMENTS:  </a:t>
            </a:r>
            <a:r>
              <a:rPr lang="en-US" sz="1900" dirty="0">
                <a:solidFill>
                  <a:srgbClr val="003E7F"/>
                </a:solidFill>
                <a:latin typeface="Source Sans Pro" panose="020B0503030403020204" pitchFamily="34" charset="0"/>
              </a:rPr>
              <a:t>S-Corporations are pass-through entities for tax purposes. The corporation itself does not pay income tax. Instead, profits and losses pass through to the individual shareholders, who report them on their personal tax returns</a:t>
            </a:r>
          </a:p>
          <a:p>
            <a:pPr marL="0" indent="0" algn="ctr">
              <a:lnSpc>
                <a:spcPct val="100000"/>
              </a:lnSpc>
              <a:spcBef>
                <a:spcPts val="500"/>
              </a:spcBef>
              <a:buNone/>
            </a:pPr>
            <a:r>
              <a:rPr lang="en-US" sz="2200" b="1" dirty="0">
                <a:solidFill>
                  <a:srgbClr val="AB162C"/>
                </a:solidFill>
                <a:latin typeface="Source Sans Pro" panose="020B0503030403020204" pitchFamily="34" charset="0"/>
              </a:rPr>
              <a:t>TALK TO YOUR ACCOUNTANT!</a:t>
            </a:r>
          </a:p>
          <a:p>
            <a:pPr marL="0" indent="0">
              <a:lnSpc>
                <a:spcPct val="100000"/>
              </a:lnSpc>
              <a:buNone/>
            </a:pPr>
            <a:endParaRPr lang="en-US" altLang="en-US" sz="1900" dirty="0">
              <a:solidFill>
                <a:srgbClr val="003E7F"/>
              </a:solidFill>
              <a:highlight>
                <a:srgbClr val="C0C0C0"/>
              </a:highlight>
              <a:latin typeface="Source Sans Pro" panose="020B0503030403020204" pitchFamily="34" charset="0"/>
            </a:endParaRPr>
          </a:p>
        </p:txBody>
      </p:sp>
      <p:sp>
        <p:nvSpPr>
          <p:cNvPr id="14" name="Title 3">
            <a:extLst>
              <a:ext uri="{FF2B5EF4-FFF2-40B4-BE49-F238E27FC236}">
                <a16:creationId xmlns:a16="http://schemas.microsoft.com/office/drawing/2014/main" id="{DE6534C0-6130-A503-BE29-615B117AA733}"/>
              </a:ext>
            </a:extLst>
          </p:cNvPr>
          <p:cNvSpPr>
            <a:spLocks noGrp="1"/>
          </p:cNvSpPr>
          <p:nvPr>
            <p:ph type="title"/>
          </p:nvPr>
        </p:nvSpPr>
        <p:spPr>
          <a:xfrm>
            <a:off x="949911" y="367026"/>
            <a:ext cx="7492753" cy="730202"/>
          </a:xfrm>
        </p:spPr>
        <p:txBody>
          <a:bodyPr>
            <a:normAutofit/>
          </a:bodyPr>
          <a:lstStyle/>
          <a:p>
            <a:r>
              <a:rPr lang="en-US" sz="2800" dirty="0"/>
              <a:t>S-Corporation (S-Corp)</a:t>
            </a:r>
            <a:endParaRPr lang="en-US" sz="2800" i="1" dirty="0"/>
          </a:p>
        </p:txBody>
      </p:sp>
      <p:sp>
        <p:nvSpPr>
          <p:cNvPr id="2" name="Slide Number Placeholder 1">
            <a:extLst>
              <a:ext uri="{FF2B5EF4-FFF2-40B4-BE49-F238E27FC236}">
                <a16:creationId xmlns:a16="http://schemas.microsoft.com/office/drawing/2014/main" id="{2CA2AB58-0449-97F0-B2CB-5C9440AC4FCB}"/>
              </a:ext>
            </a:extLst>
          </p:cNvPr>
          <p:cNvSpPr txBox="1">
            <a:spLocks/>
          </p:cNvSpPr>
          <p:nvPr/>
        </p:nvSpPr>
        <p:spPr>
          <a:xfrm>
            <a:off x="4479355" y="6194307"/>
            <a:ext cx="470339" cy="36512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13FA6D-C8B2-4F7A-9B51-E7C42DF59B48}" type="slidenum">
              <a:rPr lang="en-US" sz="900" smtClean="0"/>
              <a:pPr/>
              <a:t>11</a:t>
            </a:fld>
            <a:endParaRPr lang="en-US" sz="900" dirty="0"/>
          </a:p>
        </p:txBody>
      </p:sp>
    </p:spTree>
    <p:extLst>
      <p:ext uri="{BB962C8B-B14F-4D97-AF65-F5344CB8AC3E}">
        <p14:creationId xmlns:p14="http://schemas.microsoft.com/office/powerpoint/2010/main" val="3880832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5141174-D78F-7647-2CE4-B1A5D99B4803}"/>
              </a:ext>
            </a:extLst>
          </p:cNvPr>
          <p:cNvSpPr>
            <a:spLocks noGrp="1"/>
          </p:cNvSpPr>
          <p:nvPr>
            <p:ph idx="1"/>
          </p:nvPr>
        </p:nvSpPr>
        <p:spPr>
          <a:xfrm>
            <a:off x="628650" y="1058570"/>
            <a:ext cx="7886700" cy="4740859"/>
          </a:xfrm>
        </p:spPr>
        <p:txBody>
          <a:bodyPr vert="horz" lIns="91440" tIns="45720" rIns="91440" bIns="45720" rtlCol="0" anchor="t">
            <a:noAutofit/>
          </a:bodyPr>
          <a:lstStyle/>
          <a:p>
            <a:pPr marL="0" indent="0">
              <a:spcAft>
                <a:spcPts val="1800"/>
              </a:spcAft>
              <a:buNone/>
            </a:pPr>
            <a:r>
              <a:rPr lang="en-US" sz="2200" dirty="0">
                <a:solidFill>
                  <a:srgbClr val="CC0000"/>
                </a:solidFill>
                <a:latin typeface="Source Sans Pro"/>
                <a:ea typeface="Source Sans Pro"/>
              </a:rPr>
              <a:t>BENEFIT &amp; CERTIFIED B-CORPORATION: </a:t>
            </a:r>
            <a:r>
              <a:rPr lang="en-US" sz="2200" dirty="0">
                <a:solidFill>
                  <a:schemeClr val="tx2"/>
                </a:solidFill>
                <a:latin typeface="Source Sans Pro"/>
                <a:ea typeface="Source Sans Pro"/>
              </a:rPr>
              <a:t>Available in some states for corporations with a beneficial or social mission</a:t>
            </a:r>
          </a:p>
          <a:p>
            <a:pPr marL="0" indent="0">
              <a:spcAft>
                <a:spcPts val="1800"/>
              </a:spcAft>
              <a:buNone/>
            </a:pPr>
            <a:r>
              <a:rPr lang="en-US" sz="2200" dirty="0">
                <a:solidFill>
                  <a:srgbClr val="CC0000"/>
                </a:solidFill>
                <a:latin typeface="Source Sans Pro"/>
                <a:ea typeface="Source Sans Pro"/>
              </a:rPr>
              <a:t>NONPROFIT CORPORATION: </a:t>
            </a:r>
            <a:r>
              <a:rPr lang="en-US" sz="2200" dirty="0">
                <a:solidFill>
                  <a:schemeClr val="tx2"/>
                </a:solidFill>
                <a:latin typeface="Source Sans Pro"/>
                <a:ea typeface="Source Sans Pro"/>
              </a:rPr>
              <a:t>Organized for charitable, educational, religious, literary, or scientific work. Nonprofits can receive tax-exempt status, meaning they don't pay state or federal income taxes</a:t>
            </a:r>
            <a:endParaRPr lang="en-US" altLang="en-US" sz="2200" dirty="0">
              <a:solidFill>
                <a:schemeClr val="tx2"/>
              </a:solidFill>
              <a:latin typeface="Source Sans Pro"/>
              <a:ea typeface="Source Sans Pro"/>
            </a:endParaRPr>
          </a:p>
          <a:p>
            <a:pPr marL="0" indent="0">
              <a:spcAft>
                <a:spcPts val="1800"/>
              </a:spcAft>
              <a:buNone/>
            </a:pPr>
            <a:r>
              <a:rPr lang="en-US" sz="2200" dirty="0">
                <a:solidFill>
                  <a:srgbClr val="CC0000"/>
                </a:solidFill>
                <a:latin typeface="Source Sans Pro"/>
                <a:ea typeface="Source Sans Pro"/>
              </a:rPr>
              <a:t>FAMILY LLC/LLP: </a:t>
            </a:r>
            <a:r>
              <a:rPr lang="en-US" sz="2200" dirty="0">
                <a:solidFill>
                  <a:schemeClr val="tx2"/>
                </a:solidFill>
                <a:latin typeface="Source Sans Pro"/>
                <a:ea typeface="Source Sans Pro"/>
              </a:rPr>
              <a:t>Used by families to conduct business operations with ownership among legally-related individuals, assist in protecting assets, sharing income, and estate planning</a:t>
            </a:r>
          </a:p>
          <a:p>
            <a:pPr marL="0" indent="0">
              <a:buNone/>
            </a:pPr>
            <a:r>
              <a:rPr lang="en-US" sz="2200" dirty="0">
                <a:solidFill>
                  <a:srgbClr val="CC0000"/>
                </a:solidFill>
                <a:latin typeface="Source Sans Pro"/>
                <a:ea typeface="Source Sans Pro"/>
              </a:rPr>
              <a:t>LIMITED (LP) &amp; LIMITED LIABILITY PARTNERSHIP (LLP): </a:t>
            </a:r>
            <a:r>
              <a:rPr lang="en-US" sz="2200" dirty="0">
                <a:solidFill>
                  <a:schemeClr val="tx2"/>
                </a:solidFill>
                <a:latin typeface="Source Sans Pro"/>
                <a:ea typeface="Source Sans Pro"/>
              </a:rPr>
              <a:t>Advanced entities often used for specific types of businesses</a:t>
            </a:r>
            <a:endParaRPr lang="en-US" altLang="en-US" sz="2200" dirty="0">
              <a:solidFill>
                <a:schemeClr val="tx2"/>
              </a:solidFill>
              <a:latin typeface="Source Sans Pro"/>
              <a:ea typeface="Source Sans Pro"/>
            </a:endParaRPr>
          </a:p>
          <a:p>
            <a:pPr marL="170815" indent="-170815"/>
            <a:endParaRPr lang="en-US" dirty="0"/>
          </a:p>
          <a:p>
            <a:pPr marL="170815" indent="-170815"/>
            <a:endParaRPr lang="en-US" dirty="0"/>
          </a:p>
        </p:txBody>
      </p:sp>
      <p:sp>
        <p:nvSpPr>
          <p:cNvPr id="2" name="Slide Number Placeholder 1">
            <a:extLst>
              <a:ext uri="{FF2B5EF4-FFF2-40B4-BE49-F238E27FC236}">
                <a16:creationId xmlns:a16="http://schemas.microsoft.com/office/drawing/2014/main" id="{FB5DBF2D-B200-BC61-1243-D804155362C7}"/>
              </a:ext>
            </a:extLst>
          </p:cNvPr>
          <p:cNvSpPr>
            <a:spLocks noGrp="1"/>
          </p:cNvSpPr>
          <p:nvPr>
            <p:ph type="sldNum" sz="quarter" idx="4"/>
          </p:nvPr>
        </p:nvSpPr>
        <p:spPr>
          <a:xfrm>
            <a:off x="4479355" y="6194307"/>
            <a:ext cx="470339" cy="365126"/>
          </a:xfrm>
          <a:prstGeom prst="rect">
            <a:avLst/>
          </a:prstGeom>
        </p:spPr>
        <p:txBody>
          <a:bodyPr anchor="ctr"/>
          <a:lstStyle>
            <a:defPPr>
              <a:defRPr lang="en-US"/>
            </a:defPPr>
            <a:lvl1pPr marL="0" algn="l" defTabSz="914400" rtl="0" eaLnBrk="1" latinLnBrk="0" hangingPunct="1">
              <a:defRPr sz="900" kern="1200">
                <a:solidFill>
                  <a:schemeClr val="tx1"/>
                </a:solidFill>
                <a:latin typeface="Source Sans Pro" panose="020B0503030403020204" pitchFamily="34" charset="0"/>
                <a:ea typeface="Source Sans Pro" panose="020B0503030403020204" pitchFamily="34"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13FA6D-C8B2-4F7A-9B51-E7C42DF59B48}" type="slidenum">
              <a:rPr lang="en-US" smtClean="0"/>
              <a:pPr/>
              <a:t>12</a:t>
            </a:fld>
            <a:endParaRPr lang="en-US" sz="900"/>
          </a:p>
        </p:txBody>
      </p:sp>
      <p:sp>
        <p:nvSpPr>
          <p:cNvPr id="3" name="Title 2">
            <a:extLst>
              <a:ext uri="{FF2B5EF4-FFF2-40B4-BE49-F238E27FC236}">
                <a16:creationId xmlns:a16="http://schemas.microsoft.com/office/drawing/2014/main" id="{9D183DAA-8CF6-C648-7760-C7DB08BFD34A}"/>
              </a:ext>
            </a:extLst>
          </p:cNvPr>
          <p:cNvSpPr>
            <a:spLocks noGrp="1"/>
          </p:cNvSpPr>
          <p:nvPr>
            <p:ph type="title"/>
          </p:nvPr>
        </p:nvSpPr>
        <p:spPr/>
        <p:txBody>
          <a:bodyPr>
            <a:normAutofit/>
          </a:bodyPr>
          <a:lstStyle/>
          <a:p>
            <a:r>
              <a:rPr lang="en-US" altLang="en-US" sz="2800" dirty="0"/>
              <a:t>Other Legal Entities</a:t>
            </a:r>
            <a:endParaRPr lang="en-US" sz="2800" dirty="0"/>
          </a:p>
        </p:txBody>
      </p:sp>
    </p:spTree>
    <p:extLst>
      <p:ext uri="{BB962C8B-B14F-4D97-AF65-F5344CB8AC3E}">
        <p14:creationId xmlns:p14="http://schemas.microsoft.com/office/powerpoint/2010/main" val="261268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F2BE-6D9E-2937-A29E-B728F3F15A59}"/>
              </a:ext>
            </a:extLst>
          </p:cNvPr>
          <p:cNvSpPr>
            <a:spLocks noGrp="1"/>
          </p:cNvSpPr>
          <p:nvPr>
            <p:ph type="title"/>
          </p:nvPr>
        </p:nvSpPr>
        <p:spPr/>
        <p:txBody>
          <a:bodyPr/>
          <a:lstStyle/>
          <a:p>
            <a:r>
              <a:rPr lang="en-US" dirty="0"/>
              <a:t>Compare Business Structures</a:t>
            </a:r>
          </a:p>
        </p:txBody>
      </p:sp>
      <p:graphicFrame>
        <p:nvGraphicFramePr>
          <p:cNvPr id="6" name="Content Placeholder 5">
            <a:extLst>
              <a:ext uri="{FF2B5EF4-FFF2-40B4-BE49-F238E27FC236}">
                <a16:creationId xmlns:a16="http://schemas.microsoft.com/office/drawing/2014/main" id="{4739F53E-61DA-23D2-3543-81F8DCEA36C5}"/>
              </a:ext>
            </a:extLst>
          </p:cNvPr>
          <p:cNvGraphicFramePr>
            <a:graphicFrameLocks noGrp="1"/>
          </p:cNvGraphicFramePr>
          <p:nvPr>
            <p:ph idx="1"/>
            <p:extLst>
              <p:ext uri="{D42A27DB-BD31-4B8C-83A1-F6EECF244321}">
                <p14:modId xmlns:p14="http://schemas.microsoft.com/office/powerpoint/2010/main" val="3111925174"/>
              </p:ext>
            </p:extLst>
          </p:nvPr>
        </p:nvGraphicFramePr>
        <p:xfrm>
          <a:off x="619414" y="1012726"/>
          <a:ext cx="7886700" cy="5148580"/>
        </p:xfrm>
        <a:graphic>
          <a:graphicData uri="http://schemas.openxmlformats.org/drawingml/2006/table">
            <a:tbl>
              <a:tblPr firstRow="1" bandRow="1">
                <a:tableStyleId>{5A111915-BE36-4E01-A7E5-04B1672EAD32}</a:tableStyleId>
              </a:tblPr>
              <a:tblGrid>
                <a:gridCol w="1971675">
                  <a:extLst>
                    <a:ext uri="{9D8B030D-6E8A-4147-A177-3AD203B41FA5}">
                      <a16:colId xmlns:a16="http://schemas.microsoft.com/office/drawing/2014/main" val="2615464143"/>
                    </a:ext>
                  </a:extLst>
                </a:gridCol>
                <a:gridCol w="1971675">
                  <a:extLst>
                    <a:ext uri="{9D8B030D-6E8A-4147-A177-3AD203B41FA5}">
                      <a16:colId xmlns:a16="http://schemas.microsoft.com/office/drawing/2014/main" val="4177705629"/>
                    </a:ext>
                  </a:extLst>
                </a:gridCol>
                <a:gridCol w="1971675">
                  <a:extLst>
                    <a:ext uri="{9D8B030D-6E8A-4147-A177-3AD203B41FA5}">
                      <a16:colId xmlns:a16="http://schemas.microsoft.com/office/drawing/2014/main" val="3135279300"/>
                    </a:ext>
                  </a:extLst>
                </a:gridCol>
                <a:gridCol w="1971675">
                  <a:extLst>
                    <a:ext uri="{9D8B030D-6E8A-4147-A177-3AD203B41FA5}">
                      <a16:colId xmlns:a16="http://schemas.microsoft.com/office/drawing/2014/main" val="3499917183"/>
                    </a:ext>
                  </a:extLst>
                </a:gridCol>
              </a:tblGrid>
              <a:tr h="370840">
                <a:tc>
                  <a:txBody>
                    <a:bodyPr/>
                    <a:lstStyle/>
                    <a:p>
                      <a:r>
                        <a:rPr lang="en-US" dirty="0"/>
                        <a:t>Business Structure</a:t>
                      </a:r>
                    </a:p>
                  </a:txBody>
                  <a:tcPr/>
                </a:tc>
                <a:tc>
                  <a:txBody>
                    <a:bodyPr/>
                    <a:lstStyle/>
                    <a:p>
                      <a:r>
                        <a:rPr lang="en-US" dirty="0"/>
                        <a:t>Ownership</a:t>
                      </a:r>
                    </a:p>
                  </a:txBody>
                  <a:tcPr/>
                </a:tc>
                <a:tc>
                  <a:txBody>
                    <a:bodyPr/>
                    <a:lstStyle/>
                    <a:p>
                      <a:r>
                        <a:rPr lang="en-US" dirty="0"/>
                        <a:t>Liability</a:t>
                      </a:r>
                    </a:p>
                  </a:txBody>
                  <a:tcPr/>
                </a:tc>
                <a:tc>
                  <a:txBody>
                    <a:bodyPr/>
                    <a:lstStyle/>
                    <a:p>
                      <a:r>
                        <a:rPr lang="en-US" dirty="0"/>
                        <a:t>Taxes</a:t>
                      </a:r>
                    </a:p>
                  </a:txBody>
                  <a:tcPr/>
                </a:tc>
                <a:extLst>
                  <a:ext uri="{0D108BD9-81ED-4DB2-BD59-A6C34878D82A}">
                    <a16:rowId xmlns:a16="http://schemas.microsoft.com/office/drawing/2014/main" val="1619839219"/>
                  </a:ext>
                </a:extLst>
              </a:tr>
              <a:tr h="370840">
                <a:tc>
                  <a:txBody>
                    <a:bodyPr/>
                    <a:lstStyle/>
                    <a:p>
                      <a:pPr fontAlgn="t"/>
                      <a:r>
                        <a:rPr lang="en-US" b="1" dirty="0">
                          <a:effectLst/>
                        </a:rPr>
                        <a:t>Sole Proprietorship</a:t>
                      </a:r>
                      <a:endParaRPr lang="en-US" b="0" dirty="0">
                        <a:effectLst/>
                      </a:endParaRPr>
                    </a:p>
                  </a:txBody>
                  <a:tcPr/>
                </a:tc>
                <a:tc>
                  <a:txBody>
                    <a:bodyPr/>
                    <a:lstStyle/>
                    <a:p>
                      <a:pPr fontAlgn="t"/>
                      <a:r>
                        <a:rPr lang="en-US" b="0" dirty="0">
                          <a:effectLst/>
                        </a:rPr>
                        <a:t>One person</a:t>
                      </a:r>
                    </a:p>
                  </a:txBody>
                  <a:tcPr/>
                </a:tc>
                <a:tc>
                  <a:txBody>
                    <a:bodyPr/>
                    <a:lstStyle/>
                    <a:p>
                      <a:pPr fontAlgn="t"/>
                      <a:r>
                        <a:rPr lang="en-US" b="0">
                          <a:effectLst/>
                        </a:rPr>
                        <a:t>Unlimited personal liability</a:t>
                      </a:r>
                    </a:p>
                  </a:txBody>
                  <a:tcPr/>
                </a:tc>
                <a:tc>
                  <a:txBody>
                    <a:bodyPr/>
                    <a:lstStyle/>
                    <a:p>
                      <a:pPr fontAlgn="t"/>
                      <a:r>
                        <a:rPr lang="en-US" b="0" dirty="0">
                          <a:effectLst/>
                        </a:rPr>
                        <a:t>Self-employment tax</a:t>
                      </a:r>
                    </a:p>
                    <a:p>
                      <a:pPr fontAlgn="t">
                        <a:spcBef>
                          <a:spcPts val="600"/>
                        </a:spcBef>
                      </a:pPr>
                      <a:r>
                        <a:rPr lang="en-US" b="0" dirty="0">
                          <a:effectLst/>
                        </a:rPr>
                        <a:t>Personal tax</a:t>
                      </a:r>
                    </a:p>
                  </a:txBody>
                  <a:tcPr/>
                </a:tc>
                <a:extLst>
                  <a:ext uri="{0D108BD9-81ED-4DB2-BD59-A6C34878D82A}">
                    <a16:rowId xmlns:a16="http://schemas.microsoft.com/office/drawing/2014/main" val="510405120"/>
                  </a:ext>
                </a:extLst>
              </a:tr>
              <a:tr h="370840">
                <a:tc>
                  <a:txBody>
                    <a:bodyPr/>
                    <a:lstStyle/>
                    <a:p>
                      <a:pPr fontAlgn="t"/>
                      <a:r>
                        <a:rPr lang="en-US" b="1" dirty="0">
                          <a:effectLst/>
                        </a:rPr>
                        <a:t>Partnerships</a:t>
                      </a:r>
                      <a:endParaRPr lang="en-US" b="0" dirty="0">
                        <a:effectLst/>
                      </a:endParaRPr>
                    </a:p>
                  </a:txBody>
                  <a:tcPr/>
                </a:tc>
                <a:tc>
                  <a:txBody>
                    <a:bodyPr/>
                    <a:lstStyle/>
                    <a:p>
                      <a:pPr fontAlgn="t"/>
                      <a:r>
                        <a:rPr lang="en-US" b="0" dirty="0">
                          <a:effectLst/>
                        </a:rPr>
                        <a:t>Two or more people</a:t>
                      </a:r>
                    </a:p>
                  </a:txBody>
                  <a:tcPr/>
                </a:tc>
                <a:tc>
                  <a:txBody>
                    <a:bodyPr/>
                    <a:lstStyle/>
                    <a:p>
                      <a:pPr fontAlgn="t"/>
                      <a:r>
                        <a:rPr lang="en-US" b="0">
                          <a:effectLst/>
                        </a:rPr>
                        <a:t>Unlimited personal liability unless structured as a limited partnership</a:t>
                      </a:r>
                    </a:p>
                  </a:txBody>
                  <a:tcPr/>
                </a:tc>
                <a:tc>
                  <a:txBody>
                    <a:bodyPr/>
                    <a:lstStyle/>
                    <a:p>
                      <a:pPr fontAlgn="t"/>
                      <a:r>
                        <a:rPr lang="en-US" b="0" dirty="0">
                          <a:effectLst/>
                        </a:rPr>
                        <a:t>Self-employment tax (except for limited partners)</a:t>
                      </a:r>
                    </a:p>
                    <a:p>
                      <a:pPr fontAlgn="t">
                        <a:spcBef>
                          <a:spcPts val="600"/>
                        </a:spcBef>
                      </a:pPr>
                      <a:r>
                        <a:rPr lang="en-US" b="0" dirty="0">
                          <a:effectLst/>
                        </a:rPr>
                        <a:t>Personal tax</a:t>
                      </a:r>
                    </a:p>
                  </a:txBody>
                  <a:tcPr/>
                </a:tc>
                <a:extLst>
                  <a:ext uri="{0D108BD9-81ED-4DB2-BD59-A6C34878D82A}">
                    <a16:rowId xmlns:a16="http://schemas.microsoft.com/office/drawing/2014/main" val="4180784306"/>
                  </a:ext>
                </a:extLst>
              </a:tr>
              <a:tr h="370840">
                <a:tc>
                  <a:txBody>
                    <a:bodyPr/>
                    <a:lstStyle/>
                    <a:p>
                      <a:pPr fontAlgn="t"/>
                      <a:r>
                        <a:rPr lang="en-US" b="1" dirty="0">
                          <a:effectLst/>
                        </a:rPr>
                        <a:t>Limited Liability Company (LLC)</a:t>
                      </a:r>
                      <a:endParaRPr lang="en-US" b="0" dirty="0">
                        <a:effectLst/>
                      </a:endParaRPr>
                    </a:p>
                  </a:txBody>
                  <a:tcPr/>
                </a:tc>
                <a:tc>
                  <a:txBody>
                    <a:bodyPr/>
                    <a:lstStyle/>
                    <a:p>
                      <a:pPr fontAlgn="t"/>
                      <a:r>
                        <a:rPr lang="en-US" b="0" dirty="0">
                          <a:effectLst/>
                        </a:rPr>
                        <a:t>One or more people</a:t>
                      </a:r>
                    </a:p>
                  </a:txBody>
                  <a:tcPr/>
                </a:tc>
                <a:tc>
                  <a:txBody>
                    <a:bodyPr/>
                    <a:lstStyle/>
                    <a:p>
                      <a:pPr fontAlgn="t"/>
                      <a:r>
                        <a:rPr lang="en-US" b="0">
                          <a:effectLst/>
                        </a:rPr>
                        <a:t>Owners are not personally liable</a:t>
                      </a:r>
                    </a:p>
                  </a:txBody>
                  <a:tcPr/>
                </a:tc>
                <a:tc>
                  <a:txBody>
                    <a:bodyPr/>
                    <a:lstStyle/>
                    <a:p>
                      <a:pPr fontAlgn="t"/>
                      <a:r>
                        <a:rPr lang="en-US" b="0" dirty="0">
                          <a:effectLst/>
                        </a:rPr>
                        <a:t>Self-employment tax</a:t>
                      </a:r>
                    </a:p>
                    <a:p>
                      <a:pPr fontAlgn="t">
                        <a:spcBef>
                          <a:spcPts val="600"/>
                        </a:spcBef>
                      </a:pPr>
                      <a:r>
                        <a:rPr lang="en-US" b="0" dirty="0">
                          <a:effectLst/>
                        </a:rPr>
                        <a:t>Personal tax or corporate tax</a:t>
                      </a:r>
                    </a:p>
                  </a:txBody>
                  <a:tcPr/>
                </a:tc>
                <a:extLst>
                  <a:ext uri="{0D108BD9-81ED-4DB2-BD59-A6C34878D82A}">
                    <a16:rowId xmlns:a16="http://schemas.microsoft.com/office/drawing/2014/main" val="240353852"/>
                  </a:ext>
                </a:extLst>
              </a:tr>
              <a:tr h="370840">
                <a:tc>
                  <a:txBody>
                    <a:bodyPr/>
                    <a:lstStyle/>
                    <a:p>
                      <a:pPr fontAlgn="t"/>
                      <a:r>
                        <a:rPr lang="en-US" b="1" dirty="0">
                          <a:effectLst/>
                        </a:rPr>
                        <a:t>Corporation – C-Corp</a:t>
                      </a:r>
                      <a:endParaRPr lang="en-US" b="0" dirty="0">
                        <a:effectLst/>
                      </a:endParaRPr>
                    </a:p>
                  </a:txBody>
                  <a:tcPr/>
                </a:tc>
                <a:tc>
                  <a:txBody>
                    <a:bodyPr/>
                    <a:lstStyle/>
                    <a:p>
                      <a:pPr fontAlgn="t"/>
                      <a:r>
                        <a:rPr lang="en-US" b="0" dirty="0">
                          <a:effectLst/>
                        </a:rPr>
                        <a:t>One or more people</a:t>
                      </a:r>
                    </a:p>
                  </a:txBody>
                  <a:tcPr/>
                </a:tc>
                <a:tc>
                  <a:txBody>
                    <a:bodyPr/>
                    <a:lstStyle/>
                    <a:p>
                      <a:pPr fontAlgn="t"/>
                      <a:r>
                        <a:rPr lang="en-US" b="0" dirty="0">
                          <a:effectLst/>
                        </a:rPr>
                        <a:t>Owners are not personally liable</a:t>
                      </a:r>
                    </a:p>
                  </a:txBody>
                  <a:tcPr/>
                </a:tc>
                <a:tc>
                  <a:txBody>
                    <a:bodyPr/>
                    <a:lstStyle/>
                    <a:p>
                      <a:pPr fontAlgn="t"/>
                      <a:r>
                        <a:rPr lang="en-US" b="0" dirty="0">
                          <a:effectLst/>
                        </a:rPr>
                        <a:t>Corporate tax</a:t>
                      </a:r>
                    </a:p>
                  </a:txBody>
                  <a:tcPr/>
                </a:tc>
                <a:extLst>
                  <a:ext uri="{0D108BD9-81ED-4DB2-BD59-A6C34878D82A}">
                    <a16:rowId xmlns:a16="http://schemas.microsoft.com/office/drawing/2014/main" val="1170169645"/>
                  </a:ext>
                </a:extLst>
              </a:tr>
              <a:tr h="370840">
                <a:tc>
                  <a:txBody>
                    <a:bodyPr/>
                    <a:lstStyle/>
                    <a:p>
                      <a:pPr fontAlgn="t"/>
                      <a:r>
                        <a:rPr lang="en-US" b="1" dirty="0">
                          <a:effectLst/>
                        </a:rPr>
                        <a:t>Corporation – S-Corp</a:t>
                      </a:r>
                      <a:endParaRPr lang="en-US" b="0" dirty="0">
                        <a:effectLst/>
                      </a:endParaRPr>
                    </a:p>
                  </a:txBody>
                  <a:tcPr/>
                </a:tc>
                <a:tc>
                  <a:txBody>
                    <a:bodyPr/>
                    <a:lstStyle/>
                    <a:p>
                      <a:pPr fontAlgn="t"/>
                      <a:r>
                        <a:rPr lang="en-US" b="0" dirty="0">
                          <a:effectLst/>
                        </a:rPr>
                        <a:t>One or more people, but no more than 100, and all must be U.S. citizens</a:t>
                      </a:r>
                    </a:p>
                  </a:txBody>
                  <a:tcPr/>
                </a:tc>
                <a:tc>
                  <a:txBody>
                    <a:bodyPr/>
                    <a:lstStyle/>
                    <a:p>
                      <a:pPr fontAlgn="t"/>
                      <a:r>
                        <a:rPr lang="en-US" b="0">
                          <a:effectLst/>
                        </a:rPr>
                        <a:t>Owners are not personally liable</a:t>
                      </a:r>
                    </a:p>
                  </a:txBody>
                  <a:tcPr/>
                </a:tc>
                <a:tc>
                  <a:txBody>
                    <a:bodyPr/>
                    <a:lstStyle/>
                    <a:p>
                      <a:pPr fontAlgn="t"/>
                      <a:r>
                        <a:rPr lang="en-US" b="0" dirty="0">
                          <a:effectLst/>
                        </a:rPr>
                        <a:t>Personal tax</a:t>
                      </a:r>
                    </a:p>
                  </a:txBody>
                  <a:tcPr/>
                </a:tc>
                <a:extLst>
                  <a:ext uri="{0D108BD9-81ED-4DB2-BD59-A6C34878D82A}">
                    <a16:rowId xmlns:a16="http://schemas.microsoft.com/office/drawing/2014/main" val="771777402"/>
                  </a:ext>
                </a:extLst>
              </a:tr>
              <a:tr h="370840">
                <a:tc>
                  <a:txBody>
                    <a:bodyPr/>
                    <a:lstStyle/>
                    <a:p>
                      <a:pPr fontAlgn="t"/>
                      <a:r>
                        <a:rPr lang="en-US" b="1" dirty="0">
                          <a:effectLst/>
                        </a:rPr>
                        <a:t>Corporation - Benefit Corporation</a:t>
                      </a:r>
                      <a:endParaRPr lang="en-US" b="0" dirty="0">
                        <a:effectLst/>
                      </a:endParaRPr>
                    </a:p>
                  </a:txBody>
                  <a:tcPr/>
                </a:tc>
                <a:tc>
                  <a:txBody>
                    <a:bodyPr/>
                    <a:lstStyle/>
                    <a:p>
                      <a:pPr fontAlgn="t"/>
                      <a:r>
                        <a:rPr lang="en-US" b="0" dirty="0">
                          <a:effectLst/>
                        </a:rPr>
                        <a:t>One or more people</a:t>
                      </a:r>
                    </a:p>
                  </a:txBody>
                  <a:tcPr/>
                </a:tc>
                <a:tc>
                  <a:txBody>
                    <a:bodyPr/>
                    <a:lstStyle/>
                    <a:p>
                      <a:pPr fontAlgn="t"/>
                      <a:r>
                        <a:rPr lang="en-US" b="0">
                          <a:effectLst/>
                        </a:rPr>
                        <a:t>Owners are not personally liable</a:t>
                      </a:r>
                    </a:p>
                  </a:txBody>
                  <a:tcPr/>
                </a:tc>
                <a:tc>
                  <a:txBody>
                    <a:bodyPr/>
                    <a:lstStyle/>
                    <a:p>
                      <a:pPr fontAlgn="t"/>
                      <a:r>
                        <a:rPr lang="en-US" b="0" dirty="0">
                          <a:effectLst/>
                        </a:rPr>
                        <a:t>Corporate tax</a:t>
                      </a:r>
                    </a:p>
                  </a:txBody>
                  <a:tcPr/>
                </a:tc>
                <a:extLst>
                  <a:ext uri="{0D108BD9-81ED-4DB2-BD59-A6C34878D82A}">
                    <a16:rowId xmlns:a16="http://schemas.microsoft.com/office/drawing/2014/main" val="1468648337"/>
                  </a:ext>
                </a:extLst>
              </a:tr>
              <a:tr h="370840">
                <a:tc>
                  <a:txBody>
                    <a:bodyPr/>
                    <a:lstStyle/>
                    <a:p>
                      <a:pPr fontAlgn="t"/>
                      <a:r>
                        <a:rPr lang="en-US" b="1" dirty="0">
                          <a:effectLst/>
                        </a:rPr>
                        <a:t>Corporation - Nonprofit</a:t>
                      </a:r>
                      <a:endParaRPr lang="en-US" b="0" dirty="0">
                        <a:effectLst/>
                      </a:endParaRPr>
                    </a:p>
                  </a:txBody>
                  <a:tcPr/>
                </a:tc>
                <a:tc>
                  <a:txBody>
                    <a:bodyPr/>
                    <a:lstStyle/>
                    <a:p>
                      <a:pPr fontAlgn="t"/>
                      <a:r>
                        <a:rPr lang="en-US" b="0" dirty="0">
                          <a:effectLst/>
                        </a:rPr>
                        <a:t>One or more people</a:t>
                      </a:r>
                    </a:p>
                  </a:txBody>
                  <a:tcPr/>
                </a:tc>
                <a:tc>
                  <a:txBody>
                    <a:bodyPr/>
                    <a:lstStyle/>
                    <a:p>
                      <a:pPr fontAlgn="t"/>
                      <a:r>
                        <a:rPr lang="en-US" b="0">
                          <a:effectLst/>
                        </a:rPr>
                        <a:t>Owners are not personally liable</a:t>
                      </a:r>
                    </a:p>
                  </a:txBody>
                  <a:tcPr/>
                </a:tc>
                <a:tc>
                  <a:txBody>
                    <a:bodyPr/>
                    <a:lstStyle/>
                    <a:p>
                      <a:pPr fontAlgn="t"/>
                      <a:r>
                        <a:rPr lang="en-US" b="0" dirty="0">
                          <a:effectLst/>
                        </a:rPr>
                        <a:t>Tax-exempt, but corporate profits can't be distributed</a:t>
                      </a:r>
                    </a:p>
                  </a:txBody>
                  <a:tcPr/>
                </a:tc>
                <a:extLst>
                  <a:ext uri="{0D108BD9-81ED-4DB2-BD59-A6C34878D82A}">
                    <a16:rowId xmlns:a16="http://schemas.microsoft.com/office/drawing/2014/main" val="1758415671"/>
                  </a:ext>
                </a:extLst>
              </a:tr>
            </a:tbl>
          </a:graphicData>
        </a:graphic>
      </p:graphicFrame>
      <p:sp>
        <p:nvSpPr>
          <p:cNvPr id="4" name="Slide Number Placeholder 3">
            <a:extLst>
              <a:ext uri="{FF2B5EF4-FFF2-40B4-BE49-F238E27FC236}">
                <a16:creationId xmlns:a16="http://schemas.microsoft.com/office/drawing/2014/main" id="{FE016B10-991C-82B8-9FDB-6A4C73F9D2D1}"/>
              </a:ext>
            </a:extLst>
          </p:cNvPr>
          <p:cNvSpPr>
            <a:spLocks noGrp="1"/>
          </p:cNvSpPr>
          <p:nvPr>
            <p:ph type="sldNum" sz="quarter" idx="12"/>
          </p:nvPr>
        </p:nvSpPr>
        <p:spPr>
          <a:xfrm>
            <a:off x="6796510" y="6194307"/>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Source Sans Pro" charset="0"/>
                <a:ea typeface="Source Sans Pro" charset="0"/>
                <a:cs typeface="Source Sans Pro"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AB44B9-F1EC-4F4B-88D4-413245C9CD3E}" type="slidenum">
              <a:rPr lang="en-US" smtClean="0"/>
              <a:pPr/>
              <a:t>13</a:t>
            </a:fld>
            <a:endParaRPr lang="en-US"/>
          </a:p>
        </p:txBody>
      </p:sp>
    </p:spTree>
    <p:extLst>
      <p:ext uri="{BB962C8B-B14F-4D97-AF65-F5344CB8AC3E}">
        <p14:creationId xmlns:p14="http://schemas.microsoft.com/office/powerpoint/2010/main" val="2891720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876923-AB4F-490E-2C77-EAF1E6F56169}"/>
              </a:ext>
            </a:extLst>
          </p:cNvPr>
          <p:cNvSpPr>
            <a:spLocks noGrp="1"/>
          </p:cNvSpPr>
          <p:nvPr>
            <p:ph type="sldNum" sz="quarter" idx="4"/>
          </p:nvPr>
        </p:nvSpPr>
        <p:spPr/>
        <p:txBody>
          <a:bodyPr/>
          <a:lstStyle/>
          <a:p>
            <a:fld id="{EF13FA6D-C8B2-4F7A-9B51-E7C42DF59B48}" type="slidenum">
              <a:rPr lang="en-US" smtClean="0"/>
              <a:pPr/>
              <a:t>14</a:t>
            </a:fld>
            <a:endParaRPr lang="en-US" sz="900"/>
          </a:p>
        </p:txBody>
      </p:sp>
      <p:sp>
        <p:nvSpPr>
          <p:cNvPr id="3" name="Content Placeholder 2">
            <a:extLst>
              <a:ext uri="{FF2B5EF4-FFF2-40B4-BE49-F238E27FC236}">
                <a16:creationId xmlns:a16="http://schemas.microsoft.com/office/drawing/2014/main" id="{ED59DBB9-C7D9-9ABB-C76D-94056A8B5993}"/>
              </a:ext>
            </a:extLst>
          </p:cNvPr>
          <p:cNvSpPr>
            <a:spLocks noGrp="1"/>
          </p:cNvSpPr>
          <p:nvPr>
            <p:ph sz="half" idx="13"/>
          </p:nvPr>
        </p:nvSpPr>
        <p:spPr>
          <a:xfrm>
            <a:off x="664490" y="1618938"/>
            <a:ext cx="3721842" cy="3111106"/>
          </a:xfrm>
        </p:spPr>
        <p:txBody>
          <a:bodyPr/>
          <a:lstStyle/>
          <a:p>
            <a:r>
              <a:rPr lang="en-US" altLang="en-US" sz="2400" dirty="0">
                <a:solidFill>
                  <a:schemeClr val="tx2"/>
                </a:solidFill>
                <a:latin typeface="Source Sans Pro" panose="020B0503030403020204" pitchFamily="34" charset="0"/>
                <a:ea typeface="Source Sans Pro" panose="020B0503030403020204" pitchFamily="34" charset="0"/>
              </a:rPr>
              <a:t>There is no one magical entity that works for everyone.  The important thing is to consider the operational, legal, and tax aspects of each structure as they apply to your unique situation!</a:t>
            </a:r>
          </a:p>
          <a:p>
            <a:endParaRPr lang="en-US" dirty="0"/>
          </a:p>
        </p:txBody>
      </p:sp>
      <p:sp>
        <p:nvSpPr>
          <p:cNvPr id="4" name="Content Placeholder 3">
            <a:extLst>
              <a:ext uri="{FF2B5EF4-FFF2-40B4-BE49-F238E27FC236}">
                <a16:creationId xmlns:a16="http://schemas.microsoft.com/office/drawing/2014/main" id="{3B50F74F-CAD4-59D5-C7F6-AA59871AE151}"/>
              </a:ext>
            </a:extLst>
          </p:cNvPr>
          <p:cNvSpPr>
            <a:spLocks noGrp="1"/>
          </p:cNvSpPr>
          <p:nvPr>
            <p:ph sz="half" idx="16"/>
          </p:nvPr>
        </p:nvSpPr>
        <p:spPr>
          <a:xfrm>
            <a:off x="4756805" y="1618938"/>
            <a:ext cx="3721842" cy="2738573"/>
          </a:xfrm>
        </p:spPr>
        <p:txBody>
          <a:bodyPr/>
          <a:lstStyle/>
          <a:p>
            <a:r>
              <a:rPr lang="en-US" altLang="en-US" sz="2400" dirty="0">
                <a:solidFill>
                  <a:srgbClr val="CC0000"/>
                </a:solidFill>
                <a:latin typeface="Source Sans Pro" panose="020B0503030403020204" pitchFamily="34" charset="0"/>
                <a:ea typeface="Source Sans Pro" panose="020B0503030403020204" pitchFamily="34" charset="0"/>
              </a:rPr>
              <a:t>Don’t make this choice lightly!  </a:t>
            </a:r>
            <a:r>
              <a:rPr lang="en-US" altLang="en-US" sz="2400" dirty="0">
                <a:solidFill>
                  <a:schemeClr val="tx2"/>
                </a:solidFill>
                <a:latin typeface="Source Sans Pro" panose="020B0503030403020204" pitchFamily="34" charset="0"/>
                <a:ea typeface="Source Sans Pro" panose="020B0503030403020204" pitchFamily="34" charset="0"/>
              </a:rPr>
              <a:t>It is possible to change forms if need be, although it can sometimes be expensive</a:t>
            </a:r>
          </a:p>
          <a:p>
            <a:endParaRPr lang="en-US" dirty="0"/>
          </a:p>
        </p:txBody>
      </p:sp>
      <p:sp>
        <p:nvSpPr>
          <p:cNvPr id="5" name="Title 4">
            <a:extLst>
              <a:ext uri="{FF2B5EF4-FFF2-40B4-BE49-F238E27FC236}">
                <a16:creationId xmlns:a16="http://schemas.microsoft.com/office/drawing/2014/main" id="{296FF853-F9E7-C5DB-5F94-9EC729E8CF5F}"/>
              </a:ext>
            </a:extLst>
          </p:cNvPr>
          <p:cNvSpPr>
            <a:spLocks noGrp="1"/>
          </p:cNvSpPr>
          <p:nvPr>
            <p:ph type="title"/>
          </p:nvPr>
        </p:nvSpPr>
        <p:spPr>
          <a:xfrm>
            <a:off x="1186694" y="365724"/>
            <a:ext cx="6585322" cy="730202"/>
          </a:xfrm>
        </p:spPr>
        <p:txBody>
          <a:bodyPr>
            <a:normAutofit/>
          </a:bodyPr>
          <a:lstStyle/>
          <a:p>
            <a:r>
              <a:rPr lang="en-US" altLang="en-US" sz="2800"/>
              <a:t> Entities In Summary</a:t>
            </a:r>
            <a:endParaRPr lang="en-US" sz="2800"/>
          </a:p>
        </p:txBody>
      </p:sp>
      <p:sp>
        <p:nvSpPr>
          <p:cNvPr id="6" name="TextBox 5">
            <a:extLst>
              <a:ext uri="{FF2B5EF4-FFF2-40B4-BE49-F238E27FC236}">
                <a16:creationId xmlns:a16="http://schemas.microsoft.com/office/drawing/2014/main" id="{5968FC8D-A29E-9C90-D1DE-4A04A890C186}"/>
              </a:ext>
            </a:extLst>
          </p:cNvPr>
          <p:cNvSpPr txBox="1"/>
          <p:nvPr/>
        </p:nvSpPr>
        <p:spPr>
          <a:xfrm>
            <a:off x="1264352" y="5362225"/>
            <a:ext cx="6479822" cy="400110"/>
          </a:xfrm>
          <a:prstGeom prst="rect">
            <a:avLst/>
          </a:prstGeom>
          <a:noFill/>
        </p:spPr>
        <p:txBody>
          <a:bodyPr wrap="square" rtlCol="0">
            <a:spAutoFit/>
          </a:bodyPr>
          <a:lstStyle/>
          <a:p>
            <a:pPr marL="0" indent="0" algn="ctr">
              <a:lnSpc>
                <a:spcPct val="100000"/>
              </a:lnSpc>
              <a:spcBef>
                <a:spcPts val="500"/>
              </a:spcBef>
              <a:buNone/>
            </a:pPr>
            <a:r>
              <a:rPr lang="en-US" sz="2000" b="1" dirty="0">
                <a:solidFill>
                  <a:srgbClr val="AB162C"/>
                </a:solidFill>
                <a:latin typeface="Source Sans Pro" panose="020B0503030403020204" pitchFamily="34" charset="0"/>
              </a:rPr>
              <a:t>TALK TO YOUR ACCOUNTANT AND LAWYER!</a:t>
            </a:r>
          </a:p>
        </p:txBody>
      </p:sp>
    </p:spTree>
    <p:extLst>
      <p:ext uri="{BB962C8B-B14F-4D97-AF65-F5344CB8AC3E}">
        <p14:creationId xmlns:p14="http://schemas.microsoft.com/office/powerpoint/2010/main" val="2075865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848616-2F24-01ED-9A6C-86E6986948D2}"/>
              </a:ext>
            </a:extLst>
          </p:cNvPr>
          <p:cNvSpPr>
            <a:spLocks noGrp="1"/>
          </p:cNvSpPr>
          <p:nvPr>
            <p:ph type="sldNum" sz="quarter" idx="4"/>
          </p:nvPr>
        </p:nvSpPr>
        <p:spPr/>
        <p:txBody>
          <a:bodyPr/>
          <a:lstStyle/>
          <a:p>
            <a:fld id="{EF13FA6D-C8B2-4F7A-9B51-E7C42DF59B48}" type="slidenum">
              <a:rPr lang="en-US" smtClean="0"/>
              <a:pPr/>
              <a:t>15</a:t>
            </a:fld>
            <a:endParaRPr lang="en-US" sz="900"/>
          </a:p>
        </p:txBody>
      </p:sp>
      <p:sp>
        <p:nvSpPr>
          <p:cNvPr id="8" name="Title 7">
            <a:extLst>
              <a:ext uri="{FF2B5EF4-FFF2-40B4-BE49-F238E27FC236}">
                <a16:creationId xmlns:a16="http://schemas.microsoft.com/office/drawing/2014/main" id="{692069B1-F199-B18E-2369-E595B7851786}"/>
              </a:ext>
            </a:extLst>
          </p:cNvPr>
          <p:cNvSpPr>
            <a:spLocks noGrp="1"/>
          </p:cNvSpPr>
          <p:nvPr>
            <p:ph type="title"/>
          </p:nvPr>
        </p:nvSpPr>
        <p:spPr/>
        <p:txBody>
          <a:bodyPr>
            <a:normAutofit/>
          </a:bodyPr>
          <a:lstStyle/>
          <a:p>
            <a:r>
              <a:rPr lang="en-US" sz="2800"/>
              <a:t>Registration Steps</a:t>
            </a:r>
          </a:p>
        </p:txBody>
      </p:sp>
      <p:sp>
        <p:nvSpPr>
          <p:cNvPr id="9" name="Subtitle 3">
            <a:extLst>
              <a:ext uri="{FF2B5EF4-FFF2-40B4-BE49-F238E27FC236}">
                <a16:creationId xmlns:a16="http://schemas.microsoft.com/office/drawing/2014/main" id="{3045DB75-4E45-C0EE-64DB-8968A88DFAB8}"/>
              </a:ext>
            </a:extLst>
          </p:cNvPr>
          <p:cNvSpPr txBox="1">
            <a:spLocks/>
          </p:cNvSpPr>
          <p:nvPr/>
        </p:nvSpPr>
        <p:spPr bwMode="auto">
          <a:xfrm>
            <a:off x="360363" y="1295400"/>
            <a:ext cx="852716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20000"/>
              </a:spcBef>
              <a:buFont typeface="Arial" pitchFamily="34" charset="0"/>
              <a:buChar char="•"/>
              <a:defRPr sz="3400">
                <a:solidFill>
                  <a:srgbClr val="AB162B"/>
                </a:solidFill>
                <a:latin typeface="Franklin Gothic Medium" pitchFamily="34" charset="0"/>
              </a:defRPr>
            </a:lvl1pPr>
            <a:lvl2pPr marL="742950" indent="-285750" eaLnBrk="0" hangingPunct="0">
              <a:spcBef>
                <a:spcPct val="20000"/>
              </a:spcBef>
              <a:buFont typeface="Arial" pitchFamily="34" charset="0"/>
              <a:buChar char="•"/>
              <a:defRPr sz="3000">
                <a:solidFill>
                  <a:schemeClr val="tx1"/>
                </a:solidFill>
                <a:latin typeface="Franklin Gothic Book" pitchFamily="34" charset="0"/>
              </a:defRPr>
            </a:lvl2pPr>
            <a:lvl3pPr marL="1143000" indent="-228600" eaLnBrk="0" hangingPunct="0">
              <a:spcBef>
                <a:spcPct val="20000"/>
              </a:spcBef>
              <a:buFont typeface="Arial" pitchFamily="34" charset="0"/>
              <a:buChar char="•"/>
              <a:defRPr sz="2500">
                <a:solidFill>
                  <a:schemeClr val="tx1"/>
                </a:solidFill>
                <a:latin typeface="Franklin Gothic Book" pitchFamily="34" charset="0"/>
              </a:defRPr>
            </a:lvl3pPr>
            <a:lvl4pPr marL="1600200" indent="-228600" eaLnBrk="0" hangingPunct="0">
              <a:spcBef>
                <a:spcPct val="20000"/>
              </a:spcBef>
              <a:buFont typeface="Arial" pitchFamily="34" charset="0"/>
              <a:buChar char="•"/>
              <a:defRPr sz="2100">
                <a:solidFill>
                  <a:schemeClr val="tx1"/>
                </a:solidFill>
                <a:latin typeface="Franklin Gothic Book" pitchFamily="34" charset="0"/>
              </a:defRPr>
            </a:lvl4pPr>
            <a:lvl5pPr marL="2057400" indent="-228600" eaLnBrk="0" hangingPunct="0">
              <a:spcBef>
                <a:spcPct val="20000"/>
              </a:spcBef>
              <a:buFont typeface="Arial" pitchFamily="34" charset="0"/>
              <a:buChar char="•"/>
              <a:defRPr sz="2100">
                <a:solidFill>
                  <a:schemeClr val="tx1"/>
                </a:solidFill>
                <a:latin typeface="Franklin Gothic Book" pitchFamily="34" charset="0"/>
              </a:defRPr>
            </a:lvl5pPr>
            <a:lvl6pPr marL="2514600" indent="-2286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6pPr>
            <a:lvl7pPr marL="2971800" indent="-2286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7pPr>
            <a:lvl8pPr marL="3429000" indent="-2286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8pPr>
            <a:lvl9pPr marL="3886200" indent="-2286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9pPr>
          </a:lstStyle>
          <a:p>
            <a:pPr>
              <a:lnSpc>
                <a:spcPct val="80000"/>
              </a:lnSpc>
              <a:spcAft>
                <a:spcPts val="1200"/>
              </a:spcAft>
              <a:defRPr/>
            </a:pPr>
            <a:r>
              <a:rPr lang="en-US" sz="2400" dirty="0">
                <a:solidFill>
                  <a:schemeClr val="tx2"/>
                </a:solidFill>
                <a:latin typeface="Source Sans Pro" panose="020B0503030403020204" pitchFamily="34" charset="0"/>
                <a:ea typeface="Source Sans Pro" panose="020B0503030403020204" pitchFamily="34" charset="0"/>
              </a:rPr>
              <a:t>State Corporations Division/Secretary of State</a:t>
            </a:r>
          </a:p>
          <a:p>
            <a:pPr lvl="1">
              <a:lnSpc>
                <a:spcPct val="80000"/>
              </a:lnSpc>
              <a:spcAft>
                <a:spcPts val="1200"/>
              </a:spcAft>
              <a:defRPr/>
            </a:pPr>
            <a:r>
              <a:rPr lang="en-US" sz="2200" dirty="0">
                <a:solidFill>
                  <a:schemeClr val="tx2"/>
                </a:solidFill>
                <a:latin typeface="Source Sans Pro" panose="020B0503030403020204" pitchFamily="34" charset="0"/>
                <a:ea typeface="Source Sans Pro" panose="020B0503030403020204" pitchFamily="34" charset="0"/>
              </a:rPr>
              <a:t>Businesses that operate in multiple states </a:t>
            </a:r>
          </a:p>
          <a:p>
            <a:pPr lvl="2">
              <a:lnSpc>
                <a:spcPct val="80000"/>
              </a:lnSpc>
              <a:spcAft>
                <a:spcPts val="1200"/>
              </a:spcAft>
              <a:defRPr/>
            </a:pPr>
            <a:r>
              <a:rPr lang="en-US" sz="1900" dirty="0">
                <a:solidFill>
                  <a:schemeClr val="tx2"/>
                </a:solidFill>
                <a:latin typeface="Source Sans Pro" panose="020B0503030403020204" pitchFamily="34" charset="0"/>
                <a:ea typeface="Source Sans Pro" panose="020B0503030403020204" pitchFamily="34" charset="0"/>
              </a:rPr>
              <a:t>Registering as a Domestic or “Foreign” business</a:t>
            </a:r>
          </a:p>
          <a:p>
            <a:pPr lvl="1">
              <a:lnSpc>
                <a:spcPct val="80000"/>
              </a:lnSpc>
              <a:spcAft>
                <a:spcPts val="1200"/>
              </a:spcAft>
              <a:defRPr/>
            </a:pPr>
            <a:r>
              <a:rPr lang="en-US" sz="2200" dirty="0">
                <a:solidFill>
                  <a:schemeClr val="tx2"/>
                </a:solidFill>
                <a:latin typeface="Source Sans Pro" panose="020B0503030403020204" pitchFamily="34" charset="0"/>
                <a:ea typeface="Source Sans Pro" panose="020B0503030403020204" pitchFamily="34" charset="0"/>
              </a:rPr>
              <a:t>Multiple and/or Holding Company Consideration</a:t>
            </a:r>
          </a:p>
          <a:p>
            <a:pPr>
              <a:lnSpc>
                <a:spcPct val="80000"/>
              </a:lnSpc>
              <a:spcAft>
                <a:spcPts val="1200"/>
              </a:spcAft>
              <a:defRPr/>
            </a:pPr>
            <a:r>
              <a:rPr lang="en-US" sz="2400" dirty="0">
                <a:solidFill>
                  <a:schemeClr val="tx2"/>
                </a:solidFill>
                <a:latin typeface="Source Sans Pro" panose="020B0503030403020204" pitchFamily="34" charset="0"/>
                <a:ea typeface="Source Sans Pro" panose="020B0503030403020204" pitchFamily="34" charset="0"/>
              </a:rPr>
              <a:t>Federal Employer Identification Number (EIN) at </a:t>
            </a:r>
            <a:r>
              <a:rPr lang="en-US" sz="2400" b="1" i="1" dirty="0">
                <a:solidFill>
                  <a:schemeClr val="tx2"/>
                </a:solidFill>
                <a:latin typeface="Source Sans Pro" panose="020B0503030403020204" pitchFamily="34" charset="0"/>
                <a:ea typeface="Source Sans Pro" panose="020B0503030403020204" pitchFamily="34" charset="0"/>
              </a:rPr>
              <a:t>IRS.GOV  </a:t>
            </a:r>
            <a:r>
              <a:rPr lang="en-US" sz="2400" dirty="0">
                <a:solidFill>
                  <a:schemeClr val="tx2"/>
                </a:solidFill>
                <a:latin typeface="Source Sans Pro" panose="020B0503030403020204" pitchFamily="34" charset="0"/>
                <a:ea typeface="Source Sans Pro" panose="020B0503030403020204" pitchFamily="34" charset="0"/>
              </a:rPr>
              <a:t>once organized (for taxes/withholding)</a:t>
            </a:r>
          </a:p>
          <a:p>
            <a:pPr>
              <a:lnSpc>
                <a:spcPct val="80000"/>
              </a:lnSpc>
              <a:spcAft>
                <a:spcPts val="1200"/>
              </a:spcAft>
              <a:defRPr/>
            </a:pPr>
            <a:r>
              <a:rPr lang="en-US" sz="2400" dirty="0">
                <a:solidFill>
                  <a:schemeClr val="tx2"/>
                </a:solidFill>
                <a:latin typeface="Source Sans Pro" panose="020B0503030403020204" pitchFamily="34" charset="0"/>
                <a:ea typeface="Source Sans Pro" panose="020B0503030403020204" pitchFamily="34" charset="0"/>
              </a:rPr>
              <a:t>State Registrations: some states have annual renewals, withholding and sales taxes, disability, worker’s compensation and unemployment insurance</a:t>
            </a:r>
          </a:p>
          <a:p>
            <a:pPr>
              <a:lnSpc>
                <a:spcPct val="80000"/>
              </a:lnSpc>
              <a:spcAft>
                <a:spcPts val="1200"/>
              </a:spcAft>
              <a:defRPr/>
            </a:pPr>
            <a:r>
              <a:rPr lang="en-US" sz="2400" dirty="0">
                <a:solidFill>
                  <a:schemeClr val="tx2"/>
                </a:solidFill>
                <a:latin typeface="Source Sans Pro" panose="020B0503030403020204" pitchFamily="34" charset="0"/>
                <a:ea typeface="Source Sans Pro" panose="020B0503030403020204" pitchFamily="34" charset="0"/>
              </a:rPr>
              <a:t>Local/Other Registrations: business licenses, zoning, HOA, excise taxes, fuel taxes, and other permits</a:t>
            </a:r>
          </a:p>
          <a:p>
            <a:pPr>
              <a:buNone/>
            </a:pPr>
            <a:endParaRPr lang="en-US" sz="1400" dirty="0">
              <a:solidFill>
                <a:srgbClr val="000000"/>
              </a:solidFill>
            </a:endParaRPr>
          </a:p>
        </p:txBody>
      </p:sp>
    </p:spTree>
    <p:extLst>
      <p:ext uri="{BB962C8B-B14F-4D97-AF65-F5344CB8AC3E}">
        <p14:creationId xmlns:p14="http://schemas.microsoft.com/office/powerpoint/2010/main" val="3300123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AE94AA-1684-1FA3-ECCC-3B34F0EAA88F}"/>
              </a:ext>
            </a:extLst>
          </p:cNvPr>
          <p:cNvSpPr>
            <a:spLocks noGrp="1"/>
          </p:cNvSpPr>
          <p:nvPr>
            <p:ph type="sldNum" sz="quarter" idx="4"/>
          </p:nvPr>
        </p:nvSpPr>
        <p:spPr/>
        <p:txBody>
          <a:bodyPr/>
          <a:lstStyle/>
          <a:p>
            <a:fld id="{EF13FA6D-C8B2-4F7A-9B51-E7C42DF59B48}" type="slidenum">
              <a:rPr lang="en-US" smtClean="0"/>
              <a:pPr/>
              <a:t>16</a:t>
            </a:fld>
            <a:endParaRPr lang="en-US" sz="900"/>
          </a:p>
        </p:txBody>
      </p:sp>
      <p:sp>
        <p:nvSpPr>
          <p:cNvPr id="5" name="Content Placeholder 4">
            <a:extLst>
              <a:ext uri="{FF2B5EF4-FFF2-40B4-BE49-F238E27FC236}">
                <a16:creationId xmlns:a16="http://schemas.microsoft.com/office/drawing/2014/main" id="{58FC37C2-633F-3103-3996-4DD251AE788F}"/>
              </a:ext>
            </a:extLst>
          </p:cNvPr>
          <p:cNvSpPr>
            <a:spLocks noGrp="1"/>
          </p:cNvSpPr>
          <p:nvPr>
            <p:ph sz="half" idx="13"/>
          </p:nvPr>
        </p:nvSpPr>
        <p:spPr/>
        <p:txBody>
          <a:bodyPr/>
          <a:lstStyle/>
          <a:p>
            <a:r>
              <a:rPr lang="en-US" sz="2400">
                <a:solidFill>
                  <a:schemeClr val="tx2"/>
                </a:solidFill>
                <a:latin typeface="Source Sans Pro" panose="020B0503030403020204" pitchFamily="34" charset="0"/>
                <a:ea typeface="Source Sans Pro" panose="020B0503030403020204" pitchFamily="34" charset="0"/>
              </a:rPr>
              <a:t>After registering  your business and obtaining an EIN, your first stop should be at your business bank to open a business account</a:t>
            </a:r>
          </a:p>
          <a:p>
            <a:pPr marL="0" indent="0">
              <a:buNone/>
            </a:pPr>
            <a:endParaRPr lang="en-US"/>
          </a:p>
        </p:txBody>
      </p:sp>
      <p:sp>
        <p:nvSpPr>
          <p:cNvPr id="6" name="Content Placeholder 5">
            <a:extLst>
              <a:ext uri="{FF2B5EF4-FFF2-40B4-BE49-F238E27FC236}">
                <a16:creationId xmlns:a16="http://schemas.microsoft.com/office/drawing/2014/main" id="{3152E9A2-A6C7-71B3-110D-3D4B00E67917}"/>
              </a:ext>
            </a:extLst>
          </p:cNvPr>
          <p:cNvSpPr>
            <a:spLocks noGrp="1"/>
          </p:cNvSpPr>
          <p:nvPr>
            <p:ph sz="half" idx="16"/>
          </p:nvPr>
        </p:nvSpPr>
        <p:spPr/>
        <p:txBody>
          <a:bodyPr>
            <a:normAutofit fontScale="92500" lnSpcReduction="10000"/>
          </a:bodyPr>
          <a:lstStyle/>
          <a:p>
            <a:r>
              <a:rPr lang="en-US" sz="2400">
                <a:solidFill>
                  <a:schemeClr val="tx2"/>
                </a:solidFill>
                <a:latin typeface="Source Sans Pro" panose="020B0503030403020204" pitchFamily="34" charset="0"/>
                <a:ea typeface="Source Sans Pro" panose="020B0503030403020204" pitchFamily="34" charset="0"/>
              </a:rPr>
              <a:t>Keep your personal and business matters separate to protect both your legal liability as well as protect yourself from IRS or state tax audits</a:t>
            </a:r>
          </a:p>
          <a:p>
            <a:pPr marL="765175" lvl="1" indent="-342900"/>
            <a:r>
              <a:rPr lang="en-US" sz="2000">
                <a:solidFill>
                  <a:schemeClr val="tx2"/>
                </a:solidFill>
                <a:latin typeface="Source Sans Pro" panose="020B0503030403020204" pitchFamily="34" charset="0"/>
                <a:ea typeface="Source Sans Pro" panose="020B0503030403020204" pitchFamily="34" charset="0"/>
              </a:rPr>
              <a:t>Pay from the appropriate account by transferring money as appropriate (capital contribution/loan or distribution).</a:t>
            </a:r>
          </a:p>
          <a:p>
            <a:pPr marL="765175" lvl="1" indent="-342900"/>
            <a:r>
              <a:rPr lang="en-US" sz="2000">
                <a:solidFill>
                  <a:schemeClr val="tx2"/>
                </a:solidFill>
                <a:latin typeface="Source Sans Pro" panose="020B0503030403020204" pitchFamily="34" charset="0"/>
                <a:ea typeface="Source Sans Pro" panose="020B0503030403020204" pitchFamily="34" charset="0"/>
              </a:rPr>
              <a:t>Any business expenses you use your personal funds (i.e. personal credit cards) to pay for should be well documented.</a:t>
            </a:r>
          </a:p>
          <a:p>
            <a:endParaRPr lang="en-US"/>
          </a:p>
        </p:txBody>
      </p:sp>
      <p:sp>
        <p:nvSpPr>
          <p:cNvPr id="4" name="Title 3">
            <a:extLst>
              <a:ext uri="{FF2B5EF4-FFF2-40B4-BE49-F238E27FC236}">
                <a16:creationId xmlns:a16="http://schemas.microsoft.com/office/drawing/2014/main" id="{505D7FA4-A090-E9B8-8C53-A439135ECCE7}"/>
              </a:ext>
            </a:extLst>
          </p:cNvPr>
          <p:cNvSpPr>
            <a:spLocks noGrp="1"/>
          </p:cNvSpPr>
          <p:nvPr>
            <p:ph type="title"/>
          </p:nvPr>
        </p:nvSpPr>
        <p:spPr/>
        <p:txBody>
          <a:bodyPr>
            <a:normAutofit/>
          </a:bodyPr>
          <a:lstStyle/>
          <a:p>
            <a:r>
              <a:rPr lang="en-US" sz="2800"/>
              <a:t>Banking/Accounting/Taxes</a:t>
            </a:r>
          </a:p>
        </p:txBody>
      </p:sp>
    </p:spTree>
    <p:extLst>
      <p:ext uri="{BB962C8B-B14F-4D97-AF65-F5344CB8AC3E}">
        <p14:creationId xmlns:p14="http://schemas.microsoft.com/office/powerpoint/2010/main" val="2397546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E65D4B9-FFB8-0092-D651-5FD7621D294F}"/>
              </a:ext>
            </a:extLst>
          </p:cNvPr>
          <p:cNvSpPr>
            <a:spLocks noGrp="1"/>
          </p:cNvSpPr>
          <p:nvPr>
            <p:ph type="title"/>
          </p:nvPr>
        </p:nvSpPr>
        <p:spPr/>
        <p:txBody>
          <a:bodyPr>
            <a:normAutofit/>
          </a:bodyPr>
          <a:lstStyle/>
          <a:p>
            <a:r>
              <a:rPr lang="en-US" sz="2800"/>
              <a:t>Other Legal Issues to Consider</a:t>
            </a:r>
          </a:p>
        </p:txBody>
      </p:sp>
      <p:sp>
        <p:nvSpPr>
          <p:cNvPr id="2" name="Content Placeholder 1">
            <a:extLst>
              <a:ext uri="{FF2B5EF4-FFF2-40B4-BE49-F238E27FC236}">
                <a16:creationId xmlns:a16="http://schemas.microsoft.com/office/drawing/2014/main" id="{3DB89951-A256-71FF-B376-93D9DD4F5F4A}"/>
              </a:ext>
            </a:extLst>
          </p:cNvPr>
          <p:cNvSpPr>
            <a:spLocks noGrp="1"/>
          </p:cNvSpPr>
          <p:nvPr>
            <p:ph idx="1"/>
          </p:nvPr>
        </p:nvSpPr>
        <p:spPr/>
        <p:txBody>
          <a:bodyPr/>
          <a:lstStyle/>
          <a:p>
            <a:pPr defTabSz="914400" eaLnBrk="1" hangingPunct="1">
              <a:spcAft>
                <a:spcPts val="1275"/>
              </a:spcAft>
            </a:pPr>
            <a:r>
              <a:rPr lang="en-US" altLang="en-US" sz="2800">
                <a:solidFill>
                  <a:schemeClr val="tx2"/>
                </a:solidFill>
                <a:latin typeface="Source Sans Pro" panose="020B0503030403020204" pitchFamily="34" charset="0"/>
                <a:ea typeface="Source Sans Pro" panose="020B0503030403020204" pitchFamily="34" charset="0"/>
              </a:rPr>
              <a:t>Contracts </a:t>
            </a:r>
            <a:r>
              <a:rPr lang="en-US" altLang="en-US" sz="2800" dirty="0">
                <a:solidFill>
                  <a:schemeClr val="tx2"/>
                </a:solidFill>
                <a:latin typeface="Source Sans Pro" panose="020B0503030403020204" pitchFamily="34" charset="0"/>
                <a:ea typeface="Source Sans Pro" panose="020B0503030403020204" pitchFamily="34" charset="0"/>
              </a:rPr>
              <a:t>with vendor, suppliers, employees</a:t>
            </a:r>
          </a:p>
          <a:p>
            <a:pPr defTabSz="914400" eaLnBrk="1" hangingPunct="1">
              <a:spcAft>
                <a:spcPts val="1275"/>
              </a:spcAft>
            </a:pPr>
            <a:r>
              <a:rPr lang="en-US" altLang="en-US" sz="2800" dirty="0">
                <a:solidFill>
                  <a:schemeClr val="tx2"/>
                </a:solidFill>
                <a:latin typeface="Source Sans Pro" panose="020B0503030403020204" pitchFamily="34" charset="0"/>
                <a:ea typeface="Source Sans Pro" panose="020B0503030403020204" pitchFamily="34" charset="0"/>
              </a:rPr>
              <a:t>Government Contracting</a:t>
            </a:r>
          </a:p>
          <a:p>
            <a:pPr defTabSz="914400" eaLnBrk="1" hangingPunct="1">
              <a:spcAft>
                <a:spcPts val="1275"/>
              </a:spcAft>
            </a:pPr>
            <a:r>
              <a:rPr lang="en-US" altLang="en-US" sz="2800" dirty="0">
                <a:solidFill>
                  <a:schemeClr val="tx2"/>
                </a:solidFill>
                <a:latin typeface="Source Sans Pro" panose="020B0503030403020204" pitchFamily="34" charset="0"/>
                <a:ea typeface="Source Sans Pro" panose="020B0503030403020204" pitchFamily="34" charset="0"/>
              </a:rPr>
              <a:t>Intellectual property</a:t>
            </a:r>
          </a:p>
          <a:p>
            <a:endParaRPr lang="en-US" dirty="0"/>
          </a:p>
        </p:txBody>
      </p:sp>
      <p:sp>
        <p:nvSpPr>
          <p:cNvPr id="3" name="Slide Number Placeholder 2">
            <a:extLst>
              <a:ext uri="{FF2B5EF4-FFF2-40B4-BE49-F238E27FC236}">
                <a16:creationId xmlns:a16="http://schemas.microsoft.com/office/drawing/2014/main" id="{F30048F2-E2AF-7E56-3025-0F78E10E53D2}"/>
              </a:ext>
            </a:extLst>
          </p:cNvPr>
          <p:cNvSpPr>
            <a:spLocks noGrp="1"/>
          </p:cNvSpPr>
          <p:nvPr>
            <p:ph type="sldNum" sz="quarter" idx="4"/>
          </p:nvPr>
        </p:nvSpPr>
        <p:spPr/>
        <p:txBody>
          <a:bodyPr/>
          <a:lstStyle/>
          <a:p>
            <a:fld id="{EF13FA6D-C8B2-4F7A-9B51-E7C42DF59B48}" type="slidenum">
              <a:rPr lang="en-US" smtClean="0"/>
              <a:pPr/>
              <a:t>17</a:t>
            </a:fld>
            <a:endParaRPr lang="en-US" sz="900"/>
          </a:p>
        </p:txBody>
      </p:sp>
    </p:spTree>
    <p:extLst>
      <p:ext uri="{BB962C8B-B14F-4D97-AF65-F5344CB8AC3E}">
        <p14:creationId xmlns:p14="http://schemas.microsoft.com/office/powerpoint/2010/main" val="984340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D6A68CC-D45B-2908-EEB1-1428F7695983}"/>
              </a:ext>
            </a:extLst>
          </p:cNvPr>
          <p:cNvSpPr>
            <a:spLocks noGrp="1"/>
          </p:cNvSpPr>
          <p:nvPr>
            <p:ph type="sldNum" sz="quarter" idx="4"/>
          </p:nvPr>
        </p:nvSpPr>
        <p:spPr/>
        <p:txBody>
          <a:bodyPr/>
          <a:lstStyle/>
          <a:p>
            <a:fld id="{EF13FA6D-C8B2-4F7A-9B51-E7C42DF59B48}" type="slidenum">
              <a:rPr lang="en-US" smtClean="0"/>
              <a:pPr/>
              <a:t>18</a:t>
            </a:fld>
            <a:endParaRPr lang="en-US" sz="900"/>
          </a:p>
        </p:txBody>
      </p:sp>
      <p:sp>
        <p:nvSpPr>
          <p:cNvPr id="7" name="Content Placeholder 6">
            <a:extLst>
              <a:ext uri="{FF2B5EF4-FFF2-40B4-BE49-F238E27FC236}">
                <a16:creationId xmlns:a16="http://schemas.microsoft.com/office/drawing/2014/main" id="{87AA53D0-B74C-A824-695C-511398F8EDE8}"/>
              </a:ext>
            </a:extLst>
          </p:cNvPr>
          <p:cNvSpPr>
            <a:spLocks noGrp="1"/>
          </p:cNvSpPr>
          <p:nvPr>
            <p:ph sz="half" idx="13"/>
          </p:nvPr>
        </p:nvSpPr>
        <p:spPr/>
        <p:txBody>
          <a:bodyPr/>
          <a:lstStyle/>
          <a:p>
            <a:pPr defTabSz="914400" eaLnBrk="1" hangingPunct="1">
              <a:spcAft>
                <a:spcPts val="600"/>
              </a:spcAft>
            </a:pPr>
            <a:r>
              <a:rPr lang="en-US" altLang="en-US" sz="2400">
                <a:solidFill>
                  <a:schemeClr val="tx2"/>
                </a:solidFill>
                <a:latin typeface="Source Sans Pro" panose="020B0503030403020204" pitchFamily="34" charset="0"/>
                <a:ea typeface="Source Sans Pro" panose="020B0503030403020204" pitchFamily="34" charset="0"/>
              </a:rPr>
              <a:t>You may need contracts with customers, suppliers, partners, investors, employees, etc.</a:t>
            </a:r>
          </a:p>
          <a:p>
            <a:pPr defTabSz="914400" eaLnBrk="1" hangingPunct="1">
              <a:spcAft>
                <a:spcPts val="600"/>
              </a:spcAft>
            </a:pPr>
            <a:r>
              <a:rPr lang="en-US" altLang="en-US" sz="2400">
                <a:solidFill>
                  <a:schemeClr val="tx2"/>
                </a:solidFill>
                <a:latin typeface="Source Sans Pro" panose="020B0503030403020204" pitchFamily="34" charset="0"/>
                <a:ea typeface="Source Sans Pro" panose="020B0503030403020204" pitchFamily="34" charset="0"/>
              </a:rPr>
              <a:t>Contracts are often used for: purchase, non-compete, service, employment, ownership, partnership…</a:t>
            </a:r>
          </a:p>
          <a:p>
            <a:endParaRPr lang="en-US"/>
          </a:p>
        </p:txBody>
      </p:sp>
      <p:sp>
        <p:nvSpPr>
          <p:cNvPr id="8" name="Content Placeholder 7">
            <a:extLst>
              <a:ext uri="{FF2B5EF4-FFF2-40B4-BE49-F238E27FC236}">
                <a16:creationId xmlns:a16="http://schemas.microsoft.com/office/drawing/2014/main" id="{BBE3C97B-8AA6-877F-98ED-26B1084A67FC}"/>
              </a:ext>
            </a:extLst>
          </p:cNvPr>
          <p:cNvSpPr>
            <a:spLocks noGrp="1"/>
          </p:cNvSpPr>
          <p:nvPr>
            <p:ph sz="half" idx="16"/>
          </p:nvPr>
        </p:nvSpPr>
        <p:spPr/>
        <p:txBody>
          <a:bodyPr>
            <a:normAutofit/>
          </a:bodyPr>
          <a:lstStyle/>
          <a:p>
            <a:pPr defTabSz="914400" eaLnBrk="1" hangingPunct="1">
              <a:spcAft>
                <a:spcPts val="600"/>
              </a:spcAft>
            </a:pPr>
            <a:r>
              <a:rPr lang="en-US" altLang="en-US" sz="2400" dirty="0">
                <a:solidFill>
                  <a:schemeClr val="tx2"/>
                </a:solidFill>
                <a:latin typeface="Source Sans Pro" panose="020B0503030403020204" pitchFamily="34" charset="0"/>
                <a:ea typeface="Source Sans Pro" panose="020B0503030403020204" pitchFamily="34" charset="0"/>
              </a:rPr>
              <a:t>Some contracts can be customized so that, once created, you can reuse them for other purposes (fill in the blank)</a:t>
            </a:r>
          </a:p>
          <a:p>
            <a:pPr defTabSz="914400" eaLnBrk="1" hangingPunct="1">
              <a:spcAft>
                <a:spcPts val="600"/>
              </a:spcAft>
            </a:pPr>
            <a:r>
              <a:rPr lang="en-US" altLang="en-US" sz="2400" dirty="0">
                <a:solidFill>
                  <a:schemeClr val="tx2"/>
                </a:solidFill>
                <a:latin typeface="Source Sans Pro" panose="020B0503030403020204" pitchFamily="34" charset="0"/>
                <a:ea typeface="Source Sans Pro" panose="020B0503030403020204" pitchFamily="34" charset="0"/>
              </a:rPr>
              <a:t>Seek legal advice before entering into contracts</a:t>
            </a:r>
          </a:p>
          <a:p>
            <a:pPr lvl="1" defTabSz="914400" eaLnBrk="1" hangingPunct="1">
              <a:spcAft>
                <a:spcPts val="600"/>
              </a:spcAft>
            </a:pPr>
            <a:r>
              <a:rPr lang="en-US" altLang="en-US" sz="2200" i="1" dirty="0">
                <a:solidFill>
                  <a:schemeClr val="tx2"/>
                </a:solidFill>
                <a:latin typeface="Source Sans Pro" panose="020B0503030403020204" pitchFamily="34" charset="0"/>
                <a:ea typeface="Source Sans Pro" panose="020B0503030403020204" pitchFamily="34" charset="0"/>
              </a:rPr>
              <a:t>An ounce of prevention is worth a pound of cure</a:t>
            </a:r>
            <a:endParaRPr lang="en-US" sz="2200" i="1" dirty="0">
              <a:solidFill>
                <a:schemeClr val="tx2"/>
              </a:solidFill>
            </a:endParaRPr>
          </a:p>
        </p:txBody>
      </p:sp>
      <p:sp>
        <p:nvSpPr>
          <p:cNvPr id="6" name="Title 5">
            <a:extLst>
              <a:ext uri="{FF2B5EF4-FFF2-40B4-BE49-F238E27FC236}">
                <a16:creationId xmlns:a16="http://schemas.microsoft.com/office/drawing/2014/main" id="{78C6DA43-4BC8-6160-8FE4-058EEBC9C94C}"/>
              </a:ext>
            </a:extLst>
          </p:cNvPr>
          <p:cNvSpPr>
            <a:spLocks noGrp="1"/>
          </p:cNvSpPr>
          <p:nvPr>
            <p:ph type="title"/>
          </p:nvPr>
        </p:nvSpPr>
        <p:spPr/>
        <p:txBody>
          <a:bodyPr>
            <a:normAutofit/>
          </a:bodyPr>
          <a:lstStyle/>
          <a:p>
            <a:r>
              <a:rPr lang="en-US" sz="2800"/>
              <a:t>Contracts</a:t>
            </a:r>
          </a:p>
        </p:txBody>
      </p:sp>
    </p:spTree>
    <p:extLst>
      <p:ext uri="{BB962C8B-B14F-4D97-AF65-F5344CB8AC3E}">
        <p14:creationId xmlns:p14="http://schemas.microsoft.com/office/powerpoint/2010/main" val="302998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1A4C35-DFB4-E61F-4F30-9C18B5F670CE}"/>
              </a:ext>
            </a:extLst>
          </p:cNvPr>
          <p:cNvSpPr>
            <a:spLocks noGrp="1"/>
          </p:cNvSpPr>
          <p:nvPr>
            <p:ph type="sldNum" sz="quarter" idx="4"/>
          </p:nvPr>
        </p:nvSpPr>
        <p:spPr/>
        <p:txBody>
          <a:bodyPr/>
          <a:lstStyle/>
          <a:p>
            <a:fld id="{EF13FA6D-C8B2-4F7A-9B51-E7C42DF59B48}" type="slidenum">
              <a:rPr lang="en-US" smtClean="0"/>
              <a:pPr/>
              <a:t>19</a:t>
            </a:fld>
            <a:endParaRPr lang="en-US" sz="900"/>
          </a:p>
        </p:txBody>
      </p:sp>
      <p:sp>
        <p:nvSpPr>
          <p:cNvPr id="6" name="Title 5">
            <a:extLst>
              <a:ext uri="{FF2B5EF4-FFF2-40B4-BE49-F238E27FC236}">
                <a16:creationId xmlns:a16="http://schemas.microsoft.com/office/drawing/2014/main" id="{5CFEB959-D770-D56F-DADA-9994626C740E}"/>
              </a:ext>
            </a:extLst>
          </p:cNvPr>
          <p:cNvSpPr>
            <a:spLocks noGrp="1"/>
          </p:cNvSpPr>
          <p:nvPr>
            <p:ph type="title"/>
          </p:nvPr>
        </p:nvSpPr>
        <p:spPr/>
        <p:txBody>
          <a:bodyPr>
            <a:normAutofit/>
          </a:bodyPr>
          <a:lstStyle/>
          <a:p>
            <a:r>
              <a:rPr lang="en-US" altLang="en-US" sz="2800"/>
              <a:t>Government Contracting</a:t>
            </a:r>
            <a:endParaRPr lang="en-US" sz="2800"/>
          </a:p>
        </p:txBody>
      </p:sp>
      <p:sp>
        <p:nvSpPr>
          <p:cNvPr id="7" name="Content Placeholder 1">
            <a:extLst>
              <a:ext uri="{FF2B5EF4-FFF2-40B4-BE49-F238E27FC236}">
                <a16:creationId xmlns:a16="http://schemas.microsoft.com/office/drawing/2014/main" id="{C683C6E7-4DD9-DDF2-F38B-61DC57047DB6}"/>
              </a:ext>
            </a:extLst>
          </p:cNvPr>
          <p:cNvSpPr txBox="1">
            <a:spLocks/>
          </p:cNvSpPr>
          <p:nvPr/>
        </p:nvSpPr>
        <p:spPr>
          <a:xfrm>
            <a:off x="584917" y="1198178"/>
            <a:ext cx="7974166" cy="4641959"/>
          </a:xfrm>
          <a:prstGeom prst="rect">
            <a:avLst/>
          </a:prstGeom>
        </p:spPr>
        <p:txBody>
          <a:bodyPr vert="horz" lIns="91440" tIns="45720" rIns="91440" bIns="45720" rtlCol="0">
            <a:normAutofit/>
          </a:bodyPr>
          <a:lstStyle>
            <a:lvl1pPr marL="171438" indent="-171438" algn="l" defTabSz="685749" rtl="0" eaLnBrk="1" latinLnBrk="0" hangingPunct="1">
              <a:lnSpc>
                <a:spcPct val="90000"/>
              </a:lnSpc>
              <a:spcBef>
                <a:spcPts val="750"/>
              </a:spcBef>
              <a:buFont typeface="Arial"/>
              <a:buChar char="•"/>
              <a:defRPr sz="2100" kern="1200">
                <a:solidFill>
                  <a:schemeClr val="tx1"/>
                </a:solidFill>
                <a:latin typeface="Source Sans Pro" charset="0"/>
                <a:ea typeface="Source Sans Pro" charset="0"/>
                <a:cs typeface="Source Sans Pro" charset="0"/>
              </a:defRPr>
            </a:lvl1pPr>
            <a:lvl2pPr marL="514313" indent="-171438" algn="l" defTabSz="685749" rtl="0" eaLnBrk="1" latinLnBrk="0" hangingPunct="1">
              <a:lnSpc>
                <a:spcPct val="90000"/>
              </a:lnSpc>
              <a:spcBef>
                <a:spcPts val="375"/>
              </a:spcBef>
              <a:buFont typeface="Arial"/>
              <a:buChar char="•"/>
              <a:defRPr sz="1800" kern="1200">
                <a:solidFill>
                  <a:schemeClr val="tx1"/>
                </a:solidFill>
                <a:latin typeface="Source Sans Pro" charset="0"/>
                <a:ea typeface="Source Sans Pro" charset="0"/>
                <a:cs typeface="Source Sans Pro" charset="0"/>
              </a:defRPr>
            </a:lvl2pPr>
            <a:lvl3pPr marL="857186" indent="-171438" algn="l" defTabSz="685749" rtl="0" eaLnBrk="1" latinLnBrk="0" hangingPunct="1">
              <a:lnSpc>
                <a:spcPct val="90000"/>
              </a:lnSpc>
              <a:spcBef>
                <a:spcPts val="375"/>
              </a:spcBef>
              <a:buFont typeface="Arial"/>
              <a:buChar char="•"/>
              <a:defRPr sz="1500" kern="1200">
                <a:solidFill>
                  <a:schemeClr val="tx1"/>
                </a:solidFill>
                <a:latin typeface="Source Sans Pro" charset="0"/>
                <a:ea typeface="Source Sans Pro" charset="0"/>
                <a:cs typeface="Source Sans Pro" charset="0"/>
              </a:defRPr>
            </a:lvl3pPr>
            <a:lvl4pPr marL="1200060"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4pPr>
            <a:lvl5pPr marL="1542935" indent="-171438" algn="l" defTabSz="685749" rtl="0" eaLnBrk="1" latinLnBrk="0" hangingPunct="1">
              <a:lnSpc>
                <a:spcPct val="90000"/>
              </a:lnSpc>
              <a:spcBef>
                <a:spcPts val="375"/>
              </a:spcBef>
              <a:buFont typeface="Arial"/>
              <a:buChar char="•"/>
              <a:defRPr sz="1350" kern="1200">
                <a:solidFill>
                  <a:schemeClr val="tx1"/>
                </a:solidFill>
                <a:latin typeface="Source Sans Pro" charset="0"/>
                <a:ea typeface="Source Sans Pro" charset="0"/>
                <a:cs typeface="Source Sans Pro" charset="0"/>
              </a:defRPr>
            </a:lvl5pPr>
            <a:lvl6pPr marL="1885809"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defTabSz="914400">
              <a:buFont typeface="Arial"/>
              <a:buNone/>
            </a:pPr>
            <a:r>
              <a:rPr lang="en-US" altLang="en-US" sz="2400" b="1">
                <a:solidFill>
                  <a:schemeClr val="tx2"/>
                </a:solidFill>
              </a:rPr>
              <a:t>Basic Requirements:</a:t>
            </a:r>
          </a:p>
          <a:p>
            <a:pPr defTabSz="914400"/>
            <a:r>
              <a:rPr lang="en-US" altLang="en-US" sz="2400">
                <a:solidFill>
                  <a:schemeClr val="tx2"/>
                </a:solidFill>
              </a:rPr>
              <a:t>Remember, eligibility for selected government contracting programs requires qualifying individual(s) to unconditionally and directly own and control at least 51% of the business</a:t>
            </a:r>
          </a:p>
          <a:p>
            <a:pPr defTabSz="914400"/>
            <a:r>
              <a:rPr lang="en-US" altLang="en-US" sz="2400">
                <a:solidFill>
                  <a:schemeClr val="tx2"/>
                </a:solidFill>
              </a:rPr>
              <a:t>Get proper registrations and ID numbers</a:t>
            </a:r>
          </a:p>
          <a:p>
            <a:pPr defTabSz="914400"/>
            <a:r>
              <a:rPr lang="en-US" altLang="en-US" sz="2400">
                <a:solidFill>
                  <a:schemeClr val="tx2"/>
                </a:solidFill>
              </a:rPr>
              <a:t>Match business’ products and services to NAICS Code</a:t>
            </a:r>
          </a:p>
          <a:p>
            <a:pPr defTabSz="914400"/>
            <a:r>
              <a:rPr lang="en-US" altLang="en-US" sz="2400">
                <a:solidFill>
                  <a:schemeClr val="tx2"/>
                </a:solidFill>
              </a:rPr>
              <a:t>Register with SAM.gov</a:t>
            </a:r>
          </a:p>
          <a:p>
            <a:pPr marL="0" indent="0" algn="ctr" defTabSz="914400">
              <a:buFont typeface="Arial"/>
              <a:buNone/>
            </a:pPr>
            <a:r>
              <a:rPr lang="en-US" altLang="en-US" sz="2400">
                <a:solidFill>
                  <a:schemeClr val="tx2"/>
                </a:solidFill>
                <a:hlinkClick r:id="rId3">
                  <a:extLst>
                    <a:ext uri="{A12FA001-AC4F-418D-AE19-62706E023703}">
                      <ahyp:hlinkClr xmlns:ahyp="http://schemas.microsoft.com/office/drawing/2018/hyperlinkcolor" val="tx"/>
                    </a:ext>
                  </a:extLst>
                </a:hlinkClick>
              </a:rPr>
              <a:t>https://www.sba.gov/federal-contracting</a:t>
            </a:r>
            <a:r>
              <a:rPr lang="en-US" altLang="en-US" sz="2400">
                <a:solidFill>
                  <a:schemeClr val="tx2"/>
                </a:solidFill>
              </a:rPr>
              <a:t>  </a:t>
            </a:r>
            <a:endParaRPr lang="en-US" sz="2400">
              <a:solidFill>
                <a:schemeClr val="tx2"/>
              </a:solidFill>
            </a:endParaRPr>
          </a:p>
        </p:txBody>
      </p:sp>
    </p:spTree>
    <p:extLst>
      <p:ext uri="{BB962C8B-B14F-4D97-AF65-F5344CB8AC3E}">
        <p14:creationId xmlns:p14="http://schemas.microsoft.com/office/powerpoint/2010/main" val="3814007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BBF0B6A-8C1D-E717-B322-6FCDB93CCF0B}"/>
              </a:ext>
            </a:extLst>
          </p:cNvPr>
          <p:cNvSpPr txBox="1"/>
          <p:nvPr/>
        </p:nvSpPr>
        <p:spPr>
          <a:xfrm>
            <a:off x="4701822" y="2096301"/>
            <a:ext cx="1772363" cy="2708434"/>
          </a:xfrm>
          <a:prstGeom prst="rect">
            <a:avLst/>
          </a:prstGeom>
          <a:noFill/>
          <a:ln w="12700">
            <a:solidFill>
              <a:schemeClr val="bg1">
                <a:lumMod val="65000"/>
              </a:schemeClr>
            </a:solidFill>
          </a:ln>
        </p:spPr>
        <p:txBody>
          <a:bodyPr wrap="square" rtlCol="0">
            <a:spAutoFit/>
          </a:bodyPr>
          <a:lstStyle/>
          <a:p>
            <a:endParaRPr lang="en-US" dirty="0"/>
          </a:p>
          <a:p>
            <a:endParaRPr lang="en-US" dirty="0"/>
          </a:p>
          <a:p>
            <a:endParaRPr lang="en-US" dirty="0"/>
          </a:p>
          <a:p>
            <a:pPr algn="ctr"/>
            <a:r>
              <a:rPr lang="en-US" sz="2600" b="1" dirty="0"/>
              <a:t>Patent</a:t>
            </a:r>
          </a:p>
          <a:p>
            <a:r>
              <a:rPr lang="en-US" sz="2200" dirty="0"/>
              <a:t>Protects</a:t>
            </a:r>
          </a:p>
          <a:p>
            <a:r>
              <a:rPr lang="en-US" sz="2200" dirty="0"/>
              <a:t>new</a:t>
            </a:r>
          </a:p>
          <a:p>
            <a:r>
              <a:rPr lang="en-US" sz="2200" dirty="0"/>
              <a:t>inventions</a:t>
            </a:r>
          </a:p>
          <a:p>
            <a:pPr algn="ctr"/>
            <a:endParaRPr lang="en-US" sz="2400" b="1" dirty="0"/>
          </a:p>
        </p:txBody>
      </p:sp>
      <p:sp>
        <p:nvSpPr>
          <p:cNvPr id="2" name="Slide Number Placeholder 1">
            <a:extLst>
              <a:ext uri="{FF2B5EF4-FFF2-40B4-BE49-F238E27FC236}">
                <a16:creationId xmlns:a16="http://schemas.microsoft.com/office/drawing/2014/main" id="{733B18DB-D232-9871-63B5-3C11B63765E0}"/>
              </a:ext>
            </a:extLst>
          </p:cNvPr>
          <p:cNvSpPr>
            <a:spLocks noGrp="1"/>
          </p:cNvSpPr>
          <p:nvPr>
            <p:ph type="sldNum" sz="quarter" idx="4"/>
          </p:nvPr>
        </p:nvSpPr>
        <p:spPr/>
        <p:txBody>
          <a:bodyPr/>
          <a:lstStyle/>
          <a:p>
            <a:fld id="{EF13FA6D-C8B2-4F7A-9B51-E7C42DF59B48}" type="slidenum">
              <a:rPr lang="en-US" smtClean="0"/>
              <a:pPr/>
              <a:t>20</a:t>
            </a:fld>
            <a:endParaRPr lang="en-US" sz="900"/>
          </a:p>
        </p:txBody>
      </p:sp>
      <p:sp>
        <p:nvSpPr>
          <p:cNvPr id="3" name="Title 2">
            <a:extLst>
              <a:ext uri="{FF2B5EF4-FFF2-40B4-BE49-F238E27FC236}">
                <a16:creationId xmlns:a16="http://schemas.microsoft.com/office/drawing/2014/main" id="{535AC2D9-35E3-6121-F8B2-10BF4998B7BD}"/>
              </a:ext>
            </a:extLst>
          </p:cNvPr>
          <p:cNvSpPr>
            <a:spLocks noGrp="1"/>
          </p:cNvSpPr>
          <p:nvPr>
            <p:ph type="title"/>
          </p:nvPr>
        </p:nvSpPr>
        <p:spPr/>
        <p:txBody>
          <a:bodyPr>
            <a:normAutofit/>
          </a:bodyPr>
          <a:lstStyle/>
          <a:p>
            <a:r>
              <a:rPr lang="en-US" sz="2800" dirty="0"/>
              <a:t>Types of Intellectual Property</a:t>
            </a:r>
          </a:p>
        </p:txBody>
      </p:sp>
      <p:pic>
        <p:nvPicPr>
          <p:cNvPr id="9" name="Picture 8" descr="A yellow light bulb with a check mark inside&#10;&#10;Description automatically generated">
            <a:extLst>
              <a:ext uri="{FF2B5EF4-FFF2-40B4-BE49-F238E27FC236}">
                <a16:creationId xmlns:a16="http://schemas.microsoft.com/office/drawing/2014/main" id="{E8909508-67FA-1498-7CF1-2B27048D5403}"/>
              </a:ext>
            </a:extLst>
          </p:cNvPr>
          <p:cNvPicPr>
            <a:picLocks noChangeAspect="1"/>
          </p:cNvPicPr>
          <p:nvPr/>
        </p:nvPicPr>
        <p:blipFill>
          <a:blip r:embed="rId3"/>
          <a:stretch>
            <a:fillRect/>
          </a:stretch>
        </p:blipFill>
        <p:spPr>
          <a:xfrm>
            <a:off x="5251456" y="2153360"/>
            <a:ext cx="637580" cy="685800"/>
          </a:xfrm>
          <a:prstGeom prst="rect">
            <a:avLst/>
          </a:prstGeom>
        </p:spPr>
      </p:pic>
      <p:sp>
        <p:nvSpPr>
          <p:cNvPr id="10" name="TextBox 9">
            <a:extLst>
              <a:ext uri="{FF2B5EF4-FFF2-40B4-BE49-F238E27FC236}">
                <a16:creationId xmlns:a16="http://schemas.microsoft.com/office/drawing/2014/main" id="{F85086CB-2FD6-F3F3-D54B-C0FF8BF14F47}"/>
              </a:ext>
            </a:extLst>
          </p:cNvPr>
          <p:cNvSpPr txBox="1"/>
          <p:nvPr/>
        </p:nvSpPr>
        <p:spPr>
          <a:xfrm>
            <a:off x="620881" y="2079369"/>
            <a:ext cx="1772363" cy="3016210"/>
          </a:xfrm>
          <a:prstGeom prst="rect">
            <a:avLst/>
          </a:prstGeom>
          <a:noFill/>
          <a:ln w="12700">
            <a:solidFill>
              <a:schemeClr val="bg1">
                <a:lumMod val="65000"/>
              </a:schemeClr>
            </a:solidFill>
          </a:ln>
        </p:spPr>
        <p:txBody>
          <a:bodyPr wrap="square" rtlCol="0">
            <a:spAutoFit/>
          </a:bodyPr>
          <a:lstStyle/>
          <a:p>
            <a:endParaRPr lang="en-US" dirty="0"/>
          </a:p>
          <a:p>
            <a:endParaRPr lang="en-US" dirty="0"/>
          </a:p>
          <a:p>
            <a:endParaRPr lang="en-US" dirty="0"/>
          </a:p>
          <a:p>
            <a:pPr algn="ctr"/>
            <a:r>
              <a:rPr lang="en-US" sz="2600" b="1" dirty="0"/>
              <a:t>Trademark</a:t>
            </a:r>
          </a:p>
          <a:p>
            <a:r>
              <a:rPr lang="en-US" sz="2200" dirty="0"/>
              <a:t>Indicates       the source      of goods and/or   services</a:t>
            </a:r>
          </a:p>
        </p:txBody>
      </p:sp>
      <p:sp>
        <p:nvSpPr>
          <p:cNvPr id="11" name="TextBox 10">
            <a:extLst>
              <a:ext uri="{FF2B5EF4-FFF2-40B4-BE49-F238E27FC236}">
                <a16:creationId xmlns:a16="http://schemas.microsoft.com/office/drawing/2014/main" id="{ECC3ACE0-40FC-76CA-2A84-C3CEB015A8B7}"/>
              </a:ext>
            </a:extLst>
          </p:cNvPr>
          <p:cNvSpPr txBox="1"/>
          <p:nvPr/>
        </p:nvSpPr>
        <p:spPr>
          <a:xfrm>
            <a:off x="2658526" y="2073722"/>
            <a:ext cx="1772363" cy="3794760"/>
          </a:xfrm>
          <a:prstGeom prst="rect">
            <a:avLst/>
          </a:prstGeom>
          <a:noFill/>
          <a:ln w="12700">
            <a:solidFill>
              <a:schemeClr val="bg1">
                <a:lumMod val="65000"/>
              </a:schemeClr>
            </a:solidFill>
          </a:ln>
        </p:spPr>
        <p:txBody>
          <a:bodyPr wrap="square" rtlCol="0">
            <a:spAutoFit/>
          </a:bodyPr>
          <a:lstStyle/>
          <a:p>
            <a:endParaRPr lang="en-US" dirty="0"/>
          </a:p>
          <a:p>
            <a:endParaRPr lang="en-US" dirty="0"/>
          </a:p>
          <a:p>
            <a:endParaRPr lang="en-US" dirty="0"/>
          </a:p>
          <a:p>
            <a:pPr algn="ctr"/>
            <a:r>
              <a:rPr lang="en-US" sz="2600" b="1" dirty="0"/>
              <a:t>Copyright</a:t>
            </a:r>
          </a:p>
          <a:p>
            <a:r>
              <a:rPr lang="en-US" sz="2200" dirty="0"/>
              <a:t>Protects original  works of authorship when fixed in a tangible form</a:t>
            </a:r>
          </a:p>
        </p:txBody>
      </p:sp>
      <p:sp>
        <p:nvSpPr>
          <p:cNvPr id="13" name="TextBox 12">
            <a:extLst>
              <a:ext uri="{FF2B5EF4-FFF2-40B4-BE49-F238E27FC236}">
                <a16:creationId xmlns:a16="http://schemas.microsoft.com/office/drawing/2014/main" id="{8EA4800C-0C59-E4D1-7C2E-96CD2F4D2A52}"/>
              </a:ext>
            </a:extLst>
          </p:cNvPr>
          <p:cNvSpPr txBox="1"/>
          <p:nvPr/>
        </p:nvSpPr>
        <p:spPr>
          <a:xfrm>
            <a:off x="6739466" y="2090655"/>
            <a:ext cx="1896533" cy="3794760"/>
          </a:xfrm>
          <a:prstGeom prst="rect">
            <a:avLst/>
          </a:prstGeom>
          <a:noFill/>
          <a:ln w="12700">
            <a:solidFill>
              <a:schemeClr val="bg1">
                <a:lumMod val="65000"/>
              </a:schemeClr>
            </a:solidFill>
          </a:ln>
        </p:spPr>
        <p:txBody>
          <a:bodyPr wrap="square" rtlCol="0">
            <a:spAutoFit/>
          </a:bodyPr>
          <a:lstStyle/>
          <a:p>
            <a:endParaRPr lang="en-US" dirty="0"/>
          </a:p>
          <a:p>
            <a:endParaRPr lang="en-US" dirty="0"/>
          </a:p>
          <a:p>
            <a:endParaRPr lang="en-US" dirty="0"/>
          </a:p>
          <a:p>
            <a:pPr algn="ctr"/>
            <a:r>
              <a:rPr lang="en-US" sz="2500" b="1" dirty="0"/>
              <a:t>Trade secret</a:t>
            </a:r>
          </a:p>
          <a:p>
            <a:r>
              <a:rPr lang="en-US" sz="2200" dirty="0"/>
              <a:t>Any information that is  valuable and kept confidential</a:t>
            </a:r>
          </a:p>
        </p:txBody>
      </p:sp>
      <p:pic>
        <p:nvPicPr>
          <p:cNvPr id="14" name="Picture 13">
            <a:extLst>
              <a:ext uri="{FF2B5EF4-FFF2-40B4-BE49-F238E27FC236}">
                <a16:creationId xmlns:a16="http://schemas.microsoft.com/office/drawing/2014/main" id="{58E32ED0-B077-FFE0-00D1-08E895ECA647}"/>
              </a:ext>
            </a:extLst>
          </p:cNvPr>
          <p:cNvPicPr>
            <a:picLocks noChangeAspect="1"/>
          </p:cNvPicPr>
          <p:nvPr/>
        </p:nvPicPr>
        <p:blipFill>
          <a:blip r:embed="rId4"/>
          <a:srcRect/>
          <a:stretch/>
        </p:blipFill>
        <p:spPr>
          <a:xfrm>
            <a:off x="3236388" y="2171824"/>
            <a:ext cx="637580" cy="637580"/>
          </a:xfrm>
          <a:prstGeom prst="rect">
            <a:avLst/>
          </a:prstGeom>
        </p:spPr>
      </p:pic>
      <p:pic>
        <p:nvPicPr>
          <p:cNvPr id="15" name="Picture 14">
            <a:extLst>
              <a:ext uri="{FF2B5EF4-FFF2-40B4-BE49-F238E27FC236}">
                <a16:creationId xmlns:a16="http://schemas.microsoft.com/office/drawing/2014/main" id="{91938E71-3B34-B3F0-3B75-82BEB54A2DFF}"/>
              </a:ext>
            </a:extLst>
          </p:cNvPr>
          <p:cNvPicPr>
            <a:picLocks noChangeAspect="1"/>
          </p:cNvPicPr>
          <p:nvPr/>
        </p:nvPicPr>
        <p:blipFill>
          <a:blip r:embed="rId5"/>
          <a:srcRect/>
          <a:stretch/>
        </p:blipFill>
        <p:spPr>
          <a:xfrm>
            <a:off x="1193096" y="2344917"/>
            <a:ext cx="637580" cy="291393"/>
          </a:xfrm>
          <a:prstGeom prst="rect">
            <a:avLst/>
          </a:prstGeom>
        </p:spPr>
      </p:pic>
      <p:pic>
        <p:nvPicPr>
          <p:cNvPr id="16" name="Picture 15">
            <a:extLst>
              <a:ext uri="{FF2B5EF4-FFF2-40B4-BE49-F238E27FC236}">
                <a16:creationId xmlns:a16="http://schemas.microsoft.com/office/drawing/2014/main" id="{1AA6A6BB-D884-F1D8-9F01-E6B5018CEF43}"/>
              </a:ext>
            </a:extLst>
          </p:cNvPr>
          <p:cNvPicPr>
            <a:picLocks noChangeAspect="1"/>
          </p:cNvPicPr>
          <p:nvPr/>
        </p:nvPicPr>
        <p:blipFill>
          <a:blip r:embed="rId6"/>
          <a:srcRect/>
          <a:stretch/>
        </p:blipFill>
        <p:spPr>
          <a:xfrm>
            <a:off x="7366597" y="2147714"/>
            <a:ext cx="527744" cy="685800"/>
          </a:xfrm>
          <a:prstGeom prst="rect">
            <a:avLst/>
          </a:prstGeom>
        </p:spPr>
      </p:pic>
      <p:sp>
        <p:nvSpPr>
          <p:cNvPr id="17" name="TextBox 16">
            <a:extLst>
              <a:ext uri="{FF2B5EF4-FFF2-40B4-BE49-F238E27FC236}">
                <a16:creationId xmlns:a16="http://schemas.microsoft.com/office/drawing/2014/main" id="{AC0C948A-8221-A8BA-03BC-A41AEAC0A550}"/>
              </a:ext>
            </a:extLst>
          </p:cNvPr>
          <p:cNvSpPr txBox="1"/>
          <p:nvPr/>
        </p:nvSpPr>
        <p:spPr>
          <a:xfrm>
            <a:off x="914400" y="1073191"/>
            <a:ext cx="7313971" cy="646331"/>
          </a:xfrm>
          <a:prstGeom prst="rect">
            <a:avLst/>
          </a:prstGeom>
          <a:solidFill>
            <a:schemeClr val="bg2"/>
          </a:solidFill>
        </p:spPr>
        <p:txBody>
          <a:bodyPr wrap="square" rtlCol="0">
            <a:spAutoFit/>
          </a:bodyPr>
          <a:lstStyle/>
          <a:p>
            <a:pPr algn="ctr"/>
            <a:r>
              <a:rPr lang="en-US" dirty="0">
                <a:solidFill>
                  <a:schemeClr val="bg1"/>
                </a:solidFill>
                <a:latin typeface="Source Sans Pro" panose="020B0503030403020204" pitchFamily="34" charset="0"/>
                <a:ea typeface="Source Sans Pro" panose="020B0503030403020204" pitchFamily="34" charset="0"/>
              </a:rPr>
              <a:t>Refers to creations of the mind: inventions; literary and artistic works;             symbols, images names and logos used in commerce</a:t>
            </a:r>
          </a:p>
        </p:txBody>
      </p:sp>
    </p:spTree>
    <p:extLst>
      <p:ext uri="{BB962C8B-B14F-4D97-AF65-F5344CB8AC3E}">
        <p14:creationId xmlns:p14="http://schemas.microsoft.com/office/powerpoint/2010/main" val="989347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D6A68CC-D45B-2908-EEB1-1428F7695983}"/>
              </a:ext>
            </a:extLst>
          </p:cNvPr>
          <p:cNvSpPr>
            <a:spLocks noGrp="1"/>
          </p:cNvSpPr>
          <p:nvPr>
            <p:ph type="sldNum" sz="quarter" idx="4"/>
          </p:nvPr>
        </p:nvSpPr>
        <p:spPr/>
        <p:txBody>
          <a:bodyPr/>
          <a:lstStyle/>
          <a:p>
            <a:fld id="{EF13FA6D-C8B2-4F7A-9B51-E7C42DF59B48}" type="slidenum">
              <a:rPr lang="en-US" smtClean="0"/>
              <a:pPr/>
              <a:t>21</a:t>
            </a:fld>
            <a:endParaRPr lang="en-US" sz="900"/>
          </a:p>
        </p:txBody>
      </p:sp>
      <p:sp>
        <p:nvSpPr>
          <p:cNvPr id="7" name="Content Placeholder 6">
            <a:extLst>
              <a:ext uri="{FF2B5EF4-FFF2-40B4-BE49-F238E27FC236}">
                <a16:creationId xmlns:a16="http://schemas.microsoft.com/office/drawing/2014/main" id="{87AA53D0-B74C-A824-695C-511398F8EDE8}"/>
              </a:ext>
            </a:extLst>
          </p:cNvPr>
          <p:cNvSpPr>
            <a:spLocks noGrp="1"/>
          </p:cNvSpPr>
          <p:nvPr>
            <p:ph sz="half" idx="13"/>
          </p:nvPr>
        </p:nvSpPr>
        <p:spPr>
          <a:xfrm>
            <a:off x="365760" y="1423866"/>
            <a:ext cx="4020572" cy="2005134"/>
          </a:xfrm>
        </p:spPr>
        <p:txBody>
          <a:bodyPr>
            <a:noAutofit/>
          </a:bodyPr>
          <a:lstStyle/>
          <a:p>
            <a:pPr defTabSz="914400" eaLnBrk="1" hangingPunct="1">
              <a:spcAft>
                <a:spcPts val="600"/>
              </a:spcAft>
            </a:pPr>
            <a:r>
              <a:rPr lang="en-US" altLang="en-US" sz="2300" dirty="0">
                <a:solidFill>
                  <a:schemeClr val="tx2"/>
                </a:solidFill>
                <a:latin typeface="Source Sans Pro" panose="020B0503030403020204" pitchFamily="34" charset="0"/>
                <a:ea typeface="Source Sans Pro" panose="020B0503030403020204" pitchFamily="34" charset="0"/>
              </a:rPr>
              <a:t>A trademark indicates the </a:t>
            </a:r>
            <a:r>
              <a:rPr lang="en-US" altLang="en-US" sz="2300" b="1" dirty="0">
                <a:solidFill>
                  <a:schemeClr val="tx2"/>
                </a:solidFill>
                <a:latin typeface="Source Sans Pro" panose="020B0503030403020204" pitchFamily="34" charset="0"/>
                <a:ea typeface="Source Sans Pro" panose="020B0503030403020204" pitchFamily="34" charset="0"/>
              </a:rPr>
              <a:t>source of goods or services </a:t>
            </a:r>
            <a:r>
              <a:rPr lang="en-US" altLang="en-US" sz="2300" dirty="0">
                <a:solidFill>
                  <a:schemeClr val="tx2"/>
                </a:solidFill>
                <a:latin typeface="Source Sans Pro" panose="020B0503030403020204" pitchFamily="34" charset="0"/>
                <a:ea typeface="Source Sans Pro" panose="020B0503030403020204" pitchFamily="34" charset="0"/>
              </a:rPr>
              <a:t>and is how customers recognize your goods or services in the marketplace</a:t>
            </a:r>
          </a:p>
          <a:p>
            <a:endParaRPr lang="en-US" dirty="0"/>
          </a:p>
        </p:txBody>
      </p:sp>
      <p:sp>
        <p:nvSpPr>
          <p:cNvPr id="8" name="Content Placeholder 7">
            <a:extLst>
              <a:ext uri="{FF2B5EF4-FFF2-40B4-BE49-F238E27FC236}">
                <a16:creationId xmlns:a16="http://schemas.microsoft.com/office/drawing/2014/main" id="{BBE3C97B-8AA6-877F-98ED-26B1084A67FC}"/>
              </a:ext>
            </a:extLst>
          </p:cNvPr>
          <p:cNvSpPr>
            <a:spLocks noGrp="1"/>
          </p:cNvSpPr>
          <p:nvPr>
            <p:ph sz="half" idx="16"/>
          </p:nvPr>
        </p:nvSpPr>
        <p:spPr>
          <a:xfrm>
            <a:off x="4756805" y="1436058"/>
            <a:ext cx="4023360" cy="4199444"/>
          </a:xfrm>
        </p:spPr>
        <p:txBody>
          <a:bodyPr>
            <a:normAutofit/>
          </a:bodyPr>
          <a:lstStyle/>
          <a:p>
            <a:pPr defTabSz="914400" eaLnBrk="1" hangingPunct="1">
              <a:spcAft>
                <a:spcPts val="600"/>
              </a:spcAft>
            </a:pPr>
            <a:r>
              <a:rPr lang="en-US" altLang="en-US" sz="2300" dirty="0">
                <a:solidFill>
                  <a:schemeClr val="tx2"/>
                </a:solidFill>
                <a:latin typeface="Source Sans Pro" panose="020B0503030403020204" pitchFamily="34" charset="0"/>
                <a:ea typeface="Source Sans Pro" panose="020B0503030403020204" pitchFamily="34" charset="0"/>
              </a:rPr>
              <a:t>Copyright provides legal protection for </a:t>
            </a:r>
            <a:r>
              <a:rPr lang="en-US" altLang="en-US" sz="2300" b="1" dirty="0">
                <a:solidFill>
                  <a:schemeClr val="tx2"/>
                </a:solidFill>
                <a:latin typeface="Source Sans Pro" panose="020B0503030403020204" pitchFamily="34" charset="0"/>
                <a:ea typeface="Source Sans Pro" panose="020B0503030403020204" pitchFamily="34" charset="0"/>
              </a:rPr>
              <a:t>original works of authorship, </a:t>
            </a:r>
            <a:r>
              <a:rPr lang="en-US" altLang="en-US" sz="2300" dirty="0">
                <a:solidFill>
                  <a:schemeClr val="tx2"/>
                </a:solidFill>
                <a:latin typeface="Source Sans Pro" panose="020B0503030403020204" pitchFamily="34" charset="0"/>
                <a:ea typeface="Source Sans Pro" panose="020B0503030403020204" pitchFamily="34" charset="0"/>
              </a:rPr>
              <a:t>including literary, dramatic, musical, and artistic works</a:t>
            </a:r>
          </a:p>
        </p:txBody>
      </p:sp>
      <p:sp>
        <p:nvSpPr>
          <p:cNvPr id="6" name="Title 5">
            <a:extLst>
              <a:ext uri="{FF2B5EF4-FFF2-40B4-BE49-F238E27FC236}">
                <a16:creationId xmlns:a16="http://schemas.microsoft.com/office/drawing/2014/main" id="{78C6DA43-4BC8-6160-8FE4-058EEBC9C94C}"/>
              </a:ext>
            </a:extLst>
          </p:cNvPr>
          <p:cNvSpPr>
            <a:spLocks noGrp="1"/>
          </p:cNvSpPr>
          <p:nvPr>
            <p:ph type="title"/>
          </p:nvPr>
        </p:nvSpPr>
        <p:spPr/>
        <p:txBody>
          <a:bodyPr>
            <a:normAutofit/>
          </a:bodyPr>
          <a:lstStyle/>
          <a:p>
            <a:r>
              <a:rPr lang="en-US" sz="2800" dirty="0"/>
              <a:t>Types of Intellectual Property</a:t>
            </a:r>
          </a:p>
        </p:txBody>
      </p:sp>
      <p:sp>
        <p:nvSpPr>
          <p:cNvPr id="4" name="TextBox 3">
            <a:extLst>
              <a:ext uri="{FF2B5EF4-FFF2-40B4-BE49-F238E27FC236}">
                <a16:creationId xmlns:a16="http://schemas.microsoft.com/office/drawing/2014/main" id="{126D9389-05E3-4979-D2A1-F1A36DE21C56}"/>
              </a:ext>
            </a:extLst>
          </p:cNvPr>
          <p:cNvSpPr txBox="1"/>
          <p:nvPr/>
        </p:nvSpPr>
        <p:spPr>
          <a:xfrm>
            <a:off x="366623" y="949012"/>
            <a:ext cx="4020572" cy="461665"/>
          </a:xfrm>
          <a:prstGeom prst="rect">
            <a:avLst/>
          </a:prstGeom>
          <a:solidFill>
            <a:schemeClr val="bg2"/>
          </a:solidFill>
        </p:spPr>
        <p:txBody>
          <a:bodyPr wrap="square" rtlCol="0">
            <a:spAutoFit/>
          </a:bodyPr>
          <a:lstStyle/>
          <a:p>
            <a:pPr algn="ctr"/>
            <a:r>
              <a:rPr lang="en-US" sz="2400" dirty="0">
                <a:solidFill>
                  <a:schemeClr val="bg1"/>
                </a:solidFill>
                <a:latin typeface="Source Sans Pro" panose="020B0503030403020204" pitchFamily="34" charset="0"/>
                <a:ea typeface="Source Sans Pro" panose="020B0503030403020204" pitchFamily="34" charset="0"/>
              </a:rPr>
              <a:t>Trademarks</a:t>
            </a:r>
          </a:p>
        </p:txBody>
      </p:sp>
      <p:sp>
        <p:nvSpPr>
          <p:cNvPr id="9" name="TextBox 8">
            <a:extLst>
              <a:ext uri="{FF2B5EF4-FFF2-40B4-BE49-F238E27FC236}">
                <a16:creationId xmlns:a16="http://schemas.microsoft.com/office/drawing/2014/main" id="{CF2BD5B6-A9BD-FF25-59AB-EC61A67E23F9}"/>
              </a:ext>
            </a:extLst>
          </p:cNvPr>
          <p:cNvSpPr txBox="1"/>
          <p:nvPr/>
        </p:nvSpPr>
        <p:spPr>
          <a:xfrm>
            <a:off x="4767961" y="955108"/>
            <a:ext cx="4023360" cy="461665"/>
          </a:xfrm>
          <a:prstGeom prst="rect">
            <a:avLst/>
          </a:prstGeom>
          <a:solidFill>
            <a:schemeClr val="bg2"/>
          </a:solidFill>
        </p:spPr>
        <p:txBody>
          <a:bodyPr wrap="square" rtlCol="0">
            <a:spAutoFit/>
          </a:bodyPr>
          <a:lstStyle/>
          <a:p>
            <a:pPr algn="ctr"/>
            <a:r>
              <a:rPr lang="en-US" sz="2400">
                <a:solidFill>
                  <a:schemeClr val="bg1"/>
                </a:solidFill>
                <a:latin typeface="Source Sans Pro" panose="020B0503030403020204" pitchFamily="34" charset="0"/>
                <a:ea typeface="Source Sans Pro" panose="020B0503030403020204" pitchFamily="34" charset="0"/>
              </a:rPr>
              <a:t>Copyrights</a:t>
            </a:r>
          </a:p>
        </p:txBody>
      </p:sp>
      <p:sp>
        <p:nvSpPr>
          <p:cNvPr id="2" name="TextBox 1">
            <a:extLst>
              <a:ext uri="{FF2B5EF4-FFF2-40B4-BE49-F238E27FC236}">
                <a16:creationId xmlns:a16="http://schemas.microsoft.com/office/drawing/2014/main" id="{CE712262-C244-4B7C-3DB1-6B12CB5820F8}"/>
              </a:ext>
            </a:extLst>
          </p:cNvPr>
          <p:cNvSpPr txBox="1"/>
          <p:nvPr/>
        </p:nvSpPr>
        <p:spPr>
          <a:xfrm>
            <a:off x="430400" y="3360622"/>
            <a:ext cx="2012831" cy="2677656"/>
          </a:xfrm>
          <a:prstGeom prst="rect">
            <a:avLst/>
          </a:prstGeom>
          <a:noFill/>
        </p:spPr>
        <p:txBody>
          <a:bodyPr wrap="square" rtlCol="0">
            <a:spAutoFit/>
          </a:bodyPr>
          <a:lstStyle/>
          <a:p>
            <a:pPr algn="ctr">
              <a:spcAft>
                <a:spcPts val="600"/>
              </a:spcAft>
            </a:pPr>
            <a:r>
              <a:rPr lang="en-US" sz="2300" b="1" dirty="0">
                <a:solidFill>
                  <a:srgbClr val="C00000"/>
                </a:solidFill>
                <a:latin typeface="Source Sans Pro Black" panose="020B0803030403020204" pitchFamily="34" charset="0"/>
                <a:ea typeface="Source Sans Pro Black" panose="020B0803030403020204" pitchFamily="34" charset="0"/>
              </a:rPr>
              <a:t>REGISTERED WORD  MARKS</a:t>
            </a:r>
          </a:p>
          <a:p>
            <a:pPr algn="ctr">
              <a:spcBef>
                <a:spcPts val="600"/>
              </a:spcBef>
            </a:pPr>
            <a:r>
              <a:rPr lang="en-US" sz="2700" dirty="0">
                <a:latin typeface="Source Sans Pro Light" panose="020B0403030403020204" pitchFamily="34" charset="0"/>
                <a:ea typeface="Source Sans Pro Light" panose="020B0403030403020204" pitchFamily="34" charset="0"/>
              </a:rPr>
              <a:t>STARBUCKS</a:t>
            </a:r>
          </a:p>
          <a:p>
            <a:pPr algn="ctr">
              <a:spcBef>
                <a:spcPts val="600"/>
              </a:spcBef>
            </a:pPr>
            <a:r>
              <a:rPr lang="en-US" sz="2700" dirty="0">
                <a:latin typeface="Source Sans Pro Light" panose="020B0403030403020204" pitchFamily="34" charset="0"/>
                <a:ea typeface="Source Sans Pro Light" panose="020B0403030403020204" pitchFamily="34" charset="0"/>
              </a:rPr>
              <a:t>NIKE</a:t>
            </a:r>
            <a:br>
              <a:rPr lang="en-US" sz="2700" dirty="0">
                <a:latin typeface="Source Sans Pro Light" panose="020B0403030403020204" pitchFamily="34" charset="0"/>
                <a:ea typeface="Source Sans Pro Light" panose="020B0403030403020204" pitchFamily="34" charset="0"/>
              </a:rPr>
            </a:br>
            <a:r>
              <a:rPr lang="en-US" sz="2700" dirty="0">
                <a:latin typeface="Source Sans Pro Light" panose="020B0403030403020204" pitchFamily="34" charset="0"/>
                <a:ea typeface="Source Sans Pro Light" panose="020B0403030403020204" pitchFamily="34" charset="0"/>
              </a:rPr>
              <a:t>TARGET</a:t>
            </a:r>
          </a:p>
        </p:txBody>
      </p:sp>
      <p:sp>
        <p:nvSpPr>
          <p:cNvPr id="3" name="TextBox 2">
            <a:extLst>
              <a:ext uri="{FF2B5EF4-FFF2-40B4-BE49-F238E27FC236}">
                <a16:creationId xmlns:a16="http://schemas.microsoft.com/office/drawing/2014/main" id="{E401A8AA-FACC-85A6-30C9-1877379F0AA0}"/>
              </a:ext>
            </a:extLst>
          </p:cNvPr>
          <p:cNvSpPr txBox="1"/>
          <p:nvPr/>
        </p:nvSpPr>
        <p:spPr>
          <a:xfrm>
            <a:off x="2327883" y="3427812"/>
            <a:ext cx="2242868" cy="1154162"/>
          </a:xfrm>
          <a:prstGeom prst="rect">
            <a:avLst/>
          </a:prstGeom>
          <a:noFill/>
        </p:spPr>
        <p:txBody>
          <a:bodyPr wrap="square" rtlCol="0">
            <a:spAutoFit/>
          </a:bodyPr>
          <a:lstStyle/>
          <a:p>
            <a:pPr algn="ctr">
              <a:spcAft>
                <a:spcPts val="600"/>
              </a:spcAft>
            </a:pPr>
            <a:r>
              <a:rPr lang="en-US" sz="2300" b="1" dirty="0">
                <a:solidFill>
                  <a:srgbClr val="C00000"/>
                </a:solidFill>
                <a:latin typeface="Source Sans Pro Black" panose="020B0803030403020204" pitchFamily="34" charset="0"/>
                <a:ea typeface="Source Sans Pro Black" panose="020B0803030403020204" pitchFamily="34" charset="0"/>
              </a:rPr>
              <a:t>REGISTERED DESIGN   MARKS</a:t>
            </a:r>
          </a:p>
        </p:txBody>
      </p:sp>
      <p:pic>
        <p:nvPicPr>
          <p:cNvPr id="12" name="Picture 2" descr="Target logo a stylized red and white bullseye">
            <a:extLst>
              <a:ext uri="{FF2B5EF4-FFF2-40B4-BE49-F238E27FC236}">
                <a16:creationId xmlns:a16="http://schemas.microsoft.com/office/drawing/2014/main" id="{1741DBDC-545E-067B-6B11-6599B009DA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8688" y="4684349"/>
            <a:ext cx="1001273" cy="81227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Nike logo consisting of a stylized check mark">
            <a:extLst>
              <a:ext uri="{FF2B5EF4-FFF2-40B4-BE49-F238E27FC236}">
                <a16:creationId xmlns:a16="http://schemas.microsoft.com/office/drawing/2014/main" id="{FDEFADC7-1050-5EAD-D1A2-107C99F2CA1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2902347" y="5535239"/>
            <a:ext cx="1192273" cy="56091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accent1">
                        <a:gamma/>
                        <a:shade val="46275"/>
                        <a:invGamma/>
                      </a:schemeClr>
                    </a:gs>
                  </a:gsLst>
                  <a:lin ang="0" scaled="1"/>
                </a:gradFill>
              </a14:hiddenFill>
            </a:ext>
            <a:ext uri="{91240B29-F687-4F45-9708-019B960494DF}">
              <a14:hiddenLine xmlns:a14="http://schemas.microsoft.com/office/drawing/2010/main" w="38100" cap="flat" cmpd="sng">
                <a:solidFill>
                  <a:srgbClr val="EAEAEA"/>
                </a:solidFill>
                <a:prstDash val="solid"/>
                <a:miter lim="800000"/>
                <a:headEnd/>
                <a:tailEnd/>
              </a14:hiddenLine>
            </a:ext>
          </a:extLst>
        </p:spPr>
      </p:pic>
      <p:pic>
        <p:nvPicPr>
          <p:cNvPr id="14" name="Picture 13" descr="The Starbucks logo consisting of a white stylized torso of a mermaid wearing a crown placed inside a green circle.">
            <a:extLst>
              <a:ext uri="{FF2B5EF4-FFF2-40B4-BE49-F238E27FC236}">
                <a16:creationId xmlns:a16="http://schemas.microsoft.com/office/drawing/2014/main" id="{08D13C2A-B59A-1876-DD0F-2208DECC9A66}"/>
              </a:ext>
            </a:extLst>
          </p:cNvPr>
          <p:cNvPicPr>
            <a:picLocks noChangeAspect="1"/>
          </p:cNvPicPr>
          <p:nvPr/>
        </p:nvPicPr>
        <p:blipFill>
          <a:blip r:embed="rId5"/>
          <a:stretch>
            <a:fillRect/>
          </a:stretch>
        </p:blipFill>
        <p:spPr>
          <a:xfrm>
            <a:off x="2629285" y="4654577"/>
            <a:ext cx="803150" cy="812277"/>
          </a:xfrm>
          <a:prstGeom prst="rect">
            <a:avLst/>
          </a:prstGeom>
        </p:spPr>
      </p:pic>
      <p:pic>
        <p:nvPicPr>
          <p:cNvPr id="15" name="Picture 8" descr="Writer">
            <a:extLst>
              <a:ext uri="{FF2B5EF4-FFF2-40B4-BE49-F238E27FC236}">
                <a16:creationId xmlns:a16="http://schemas.microsoft.com/office/drawing/2014/main" id="{EB2B48D5-6E2B-9640-00DB-9AD1B20D646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61156"/>
          <a:stretch/>
        </p:blipFill>
        <p:spPr bwMode="auto">
          <a:xfrm>
            <a:off x="6005865" y="4630114"/>
            <a:ext cx="1278396" cy="116901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Photographer">
            <a:extLst>
              <a:ext uri="{FF2B5EF4-FFF2-40B4-BE49-F238E27FC236}">
                <a16:creationId xmlns:a16="http://schemas.microsoft.com/office/drawing/2014/main" id="{DC01139A-5DB2-E4DE-81EE-DC02FA3B615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1118"/>
          <a:stretch/>
        </p:blipFill>
        <p:spPr bwMode="auto">
          <a:xfrm>
            <a:off x="6699381" y="3364100"/>
            <a:ext cx="1352837" cy="123709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Musician">
            <a:extLst>
              <a:ext uri="{FF2B5EF4-FFF2-40B4-BE49-F238E27FC236}">
                <a16:creationId xmlns:a16="http://schemas.microsoft.com/office/drawing/2014/main" id="{ECB23085-A9C3-D311-334B-F16D6A33DF3B}"/>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63150"/>
          <a:stretch/>
        </p:blipFill>
        <p:spPr bwMode="auto">
          <a:xfrm>
            <a:off x="5362920" y="3364100"/>
            <a:ext cx="1282142" cy="1237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378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D6A68CC-D45B-2908-EEB1-1428F7695983}"/>
              </a:ext>
            </a:extLst>
          </p:cNvPr>
          <p:cNvSpPr>
            <a:spLocks noGrp="1"/>
          </p:cNvSpPr>
          <p:nvPr>
            <p:ph type="sldNum" sz="quarter" idx="4"/>
          </p:nvPr>
        </p:nvSpPr>
        <p:spPr/>
        <p:txBody>
          <a:bodyPr/>
          <a:lstStyle/>
          <a:p>
            <a:fld id="{EF13FA6D-C8B2-4F7A-9B51-E7C42DF59B48}" type="slidenum">
              <a:rPr lang="en-US" smtClean="0"/>
              <a:pPr/>
              <a:t>22</a:t>
            </a:fld>
            <a:endParaRPr lang="en-US" sz="900"/>
          </a:p>
        </p:txBody>
      </p:sp>
      <p:sp>
        <p:nvSpPr>
          <p:cNvPr id="7" name="Content Placeholder 6">
            <a:extLst>
              <a:ext uri="{FF2B5EF4-FFF2-40B4-BE49-F238E27FC236}">
                <a16:creationId xmlns:a16="http://schemas.microsoft.com/office/drawing/2014/main" id="{87AA53D0-B74C-A824-695C-511398F8EDE8}"/>
              </a:ext>
            </a:extLst>
          </p:cNvPr>
          <p:cNvSpPr>
            <a:spLocks noGrp="1"/>
          </p:cNvSpPr>
          <p:nvPr>
            <p:ph sz="half" idx="13"/>
          </p:nvPr>
        </p:nvSpPr>
        <p:spPr>
          <a:xfrm>
            <a:off x="365760" y="1423866"/>
            <a:ext cx="4020572" cy="4199444"/>
          </a:xfrm>
        </p:spPr>
        <p:txBody>
          <a:bodyPr>
            <a:noAutofit/>
          </a:bodyPr>
          <a:lstStyle/>
          <a:p>
            <a:pPr defTabSz="914400" eaLnBrk="1" hangingPunct="1">
              <a:spcAft>
                <a:spcPts val="600"/>
              </a:spcAft>
            </a:pPr>
            <a:r>
              <a:rPr lang="en-US" altLang="en-US" sz="1800" dirty="0">
                <a:solidFill>
                  <a:schemeClr val="tx2"/>
                </a:solidFill>
                <a:latin typeface="Source Sans Pro" panose="020B0503030403020204" pitchFamily="34" charset="0"/>
                <a:ea typeface="Source Sans Pro" panose="020B0503030403020204" pitchFamily="34" charset="0"/>
              </a:rPr>
              <a:t>A property right granted by the U.S. government to an inventor </a:t>
            </a:r>
            <a:r>
              <a:rPr lang="en-US" altLang="en-US" sz="1800" b="1" dirty="0">
                <a:solidFill>
                  <a:schemeClr val="tx2"/>
                </a:solidFill>
                <a:latin typeface="Source Sans Pro" panose="020B0503030403020204" pitchFamily="34" charset="0"/>
                <a:ea typeface="Source Sans Pro" panose="020B0503030403020204" pitchFamily="34" charset="0"/>
              </a:rPr>
              <a:t>for a limited time and in exchange for public disclosure </a:t>
            </a:r>
            <a:r>
              <a:rPr lang="en-US" altLang="en-US" sz="1800" dirty="0">
                <a:solidFill>
                  <a:schemeClr val="tx2"/>
                </a:solidFill>
                <a:latin typeface="Source Sans Pro" panose="020B0503030403020204" pitchFamily="34" charset="0"/>
                <a:ea typeface="Source Sans Pro" panose="020B0503030403020204" pitchFamily="34" charset="0"/>
              </a:rPr>
              <a:t>of the invention</a:t>
            </a:r>
          </a:p>
          <a:p>
            <a:pPr defTabSz="914400" eaLnBrk="1" hangingPunct="1">
              <a:spcAft>
                <a:spcPts val="600"/>
              </a:spcAft>
            </a:pPr>
            <a:r>
              <a:rPr lang="en-US" altLang="en-US" sz="1800" dirty="0">
                <a:solidFill>
                  <a:schemeClr val="tx2"/>
                </a:solidFill>
                <a:latin typeface="Source Sans Pro" panose="020B0503030403020204" pitchFamily="34" charset="0"/>
                <a:ea typeface="Source Sans Pro" panose="020B0503030403020204" pitchFamily="34" charset="0"/>
              </a:rPr>
              <a:t>Protects a new and useful process, machine, manufacture, composition of matter, or improvement thereof</a:t>
            </a:r>
          </a:p>
          <a:p>
            <a:pPr defTabSz="914400" eaLnBrk="1" hangingPunct="1">
              <a:spcAft>
                <a:spcPts val="600"/>
              </a:spcAft>
            </a:pPr>
            <a:r>
              <a:rPr lang="en-US" altLang="en-US" sz="1800" dirty="0">
                <a:solidFill>
                  <a:schemeClr val="tx2"/>
                </a:solidFill>
                <a:latin typeface="Source Sans Pro" panose="020B0503030403020204" pitchFamily="34" charset="0"/>
                <a:ea typeface="Source Sans Pro" panose="020B0503030403020204" pitchFamily="34" charset="0"/>
              </a:rPr>
              <a:t>Confers the right to exclude others from making, using, selling, or importing the invention in the U.S.</a:t>
            </a:r>
          </a:p>
          <a:p>
            <a:endParaRPr lang="en-US" dirty="0"/>
          </a:p>
        </p:txBody>
      </p:sp>
      <p:sp>
        <p:nvSpPr>
          <p:cNvPr id="8" name="Content Placeholder 7">
            <a:extLst>
              <a:ext uri="{FF2B5EF4-FFF2-40B4-BE49-F238E27FC236}">
                <a16:creationId xmlns:a16="http://schemas.microsoft.com/office/drawing/2014/main" id="{BBE3C97B-8AA6-877F-98ED-26B1084A67FC}"/>
              </a:ext>
            </a:extLst>
          </p:cNvPr>
          <p:cNvSpPr>
            <a:spLocks noGrp="1"/>
          </p:cNvSpPr>
          <p:nvPr>
            <p:ph sz="half" idx="16"/>
          </p:nvPr>
        </p:nvSpPr>
        <p:spPr>
          <a:xfrm>
            <a:off x="4756805" y="1436058"/>
            <a:ext cx="4023360" cy="4199444"/>
          </a:xfrm>
        </p:spPr>
        <p:txBody>
          <a:bodyPr>
            <a:normAutofit/>
          </a:bodyPr>
          <a:lstStyle/>
          <a:p>
            <a:pPr defTabSz="914400" eaLnBrk="1" hangingPunct="1">
              <a:spcAft>
                <a:spcPts val="600"/>
              </a:spcAft>
            </a:pPr>
            <a:r>
              <a:rPr lang="en-US" altLang="en-US" sz="1800" dirty="0">
                <a:solidFill>
                  <a:schemeClr val="tx2"/>
                </a:solidFill>
                <a:latin typeface="Source Sans Pro" panose="020B0503030403020204" pitchFamily="34" charset="0"/>
                <a:ea typeface="Source Sans Pro" panose="020B0503030403020204" pitchFamily="34" charset="0"/>
              </a:rPr>
              <a:t>Confidential business information like a formula, pattern, compilation, program, device, method, technique or process</a:t>
            </a:r>
          </a:p>
          <a:p>
            <a:pPr defTabSz="914400" eaLnBrk="1" hangingPunct="1">
              <a:spcAft>
                <a:spcPts val="600"/>
              </a:spcAft>
            </a:pPr>
            <a:r>
              <a:rPr lang="en-US" altLang="en-US" sz="1800" dirty="0">
                <a:solidFill>
                  <a:schemeClr val="tx2"/>
                </a:solidFill>
                <a:latin typeface="Source Sans Pro" panose="020B0503030403020204" pitchFamily="34" charset="0"/>
                <a:ea typeface="Source Sans Pro" panose="020B0503030403020204" pitchFamily="34" charset="0"/>
              </a:rPr>
              <a:t>Gives businesses an </a:t>
            </a:r>
            <a:r>
              <a:rPr lang="en-US" altLang="en-US" sz="1800" b="1" dirty="0">
                <a:solidFill>
                  <a:schemeClr val="tx2"/>
                </a:solidFill>
                <a:latin typeface="Source Sans Pro" panose="020B0503030403020204" pitchFamily="34" charset="0"/>
                <a:ea typeface="Source Sans Pro" panose="020B0503030403020204" pitchFamily="34" charset="0"/>
              </a:rPr>
              <a:t>opportunity to obtain an economic advantage over competitors</a:t>
            </a:r>
            <a:r>
              <a:rPr lang="en-US" altLang="en-US" sz="1800" dirty="0">
                <a:solidFill>
                  <a:schemeClr val="tx2"/>
                </a:solidFill>
                <a:latin typeface="Source Sans Pro" panose="020B0503030403020204" pitchFamily="34" charset="0"/>
                <a:ea typeface="Source Sans Pro" panose="020B0503030403020204" pitchFamily="34" charset="0"/>
              </a:rPr>
              <a:t> who do not know or use it</a:t>
            </a:r>
          </a:p>
          <a:p>
            <a:pPr defTabSz="914400" eaLnBrk="1" hangingPunct="1">
              <a:spcAft>
                <a:spcPts val="600"/>
              </a:spcAft>
            </a:pPr>
            <a:r>
              <a:rPr lang="en-US" altLang="en-US" sz="1800" dirty="0">
                <a:solidFill>
                  <a:schemeClr val="tx2"/>
                </a:solidFill>
                <a:latin typeface="Source Sans Pro" panose="020B0503030403020204" pitchFamily="34" charset="0"/>
                <a:ea typeface="Source Sans Pro" panose="020B0503030403020204" pitchFamily="34" charset="0"/>
              </a:rPr>
              <a:t>Protection of trade secrets is done through confidentiality agreements and security safeguards; </a:t>
            </a:r>
            <a:r>
              <a:rPr lang="en-US" altLang="en-US" sz="1800" b="1" dirty="0">
                <a:solidFill>
                  <a:schemeClr val="tx2"/>
                </a:solidFill>
                <a:latin typeface="Source Sans Pro" panose="020B0503030403020204" pitchFamily="34" charset="0"/>
                <a:ea typeface="Source Sans Pro" panose="020B0503030403020204" pitchFamily="34" charset="0"/>
              </a:rPr>
              <a:t>there is no database of registered trade secrets</a:t>
            </a:r>
          </a:p>
        </p:txBody>
      </p:sp>
      <p:sp>
        <p:nvSpPr>
          <p:cNvPr id="6" name="Title 5">
            <a:extLst>
              <a:ext uri="{FF2B5EF4-FFF2-40B4-BE49-F238E27FC236}">
                <a16:creationId xmlns:a16="http://schemas.microsoft.com/office/drawing/2014/main" id="{78C6DA43-4BC8-6160-8FE4-058EEBC9C94C}"/>
              </a:ext>
            </a:extLst>
          </p:cNvPr>
          <p:cNvSpPr>
            <a:spLocks noGrp="1"/>
          </p:cNvSpPr>
          <p:nvPr>
            <p:ph type="title"/>
          </p:nvPr>
        </p:nvSpPr>
        <p:spPr/>
        <p:txBody>
          <a:bodyPr>
            <a:normAutofit/>
          </a:bodyPr>
          <a:lstStyle/>
          <a:p>
            <a:r>
              <a:rPr lang="en-US" sz="2800" dirty="0"/>
              <a:t>Types of Intellectual Property</a:t>
            </a:r>
          </a:p>
        </p:txBody>
      </p:sp>
      <p:sp>
        <p:nvSpPr>
          <p:cNvPr id="4" name="TextBox 3">
            <a:extLst>
              <a:ext uri="{FF2B5EF4-FFF2-40B4-BE49-F238E27FC236}">
                <a16:creationId xmlns:a16="http://schemas.microsoft.com/office/drawing/2014/main" id="{126D9389-05E3-4979-D2A1-F1A36DE21C56}"/>
              </a:ext>
            </a:extLst>
          </p:cNvPr>
          <p:cNvSpPr txBox="1"/>
          <p:nvPr/>
        </p:nvSpPr>
        <p:spPr>
          <a:xfrm>
            <a:off x="366623" y="949012"/>
            <a:ext cx="4020572" cy="461665"/>
          </a:xfrm>
          <a:prstGeom prst="rect">
            <a:avLst/>
          </a:prstGeom>
          <a:solidFill>
            <a:schemeClr val="bg2"/>
          </a:solidFill>
        </p:spPr>
        <p:txBody>
          <a:bodyPr wrap="square" rtlCol="0">
            <a:spAutoFit/>
          </a:bodyPr>
          <a:lstStyle/>
          <a:p>
            <a:pPr algn="ctr"/>
            <a:r>
              <a:rPr lang="en-US" sz="2400">
                <a:solidFill>
                  <a:schemeClr val="bg1"/>
                </a:solidFill>
                <a:latin typeface="Source Sans Pro" panose="020B0503030403020204" pitchFamily="34" charset="0"/>
                <a:ea typeface="Source Sans Pro" panose="020B0503030403020204" pitchFamily="34" charset="0"/>
              </a:rPr>
              <a:t>Patents</a:t>
            </a:r>
          </a:p>
        </p:txBody>
      </p:sp>
      <p:sp>
        <p:nvSpPr>
          <p:cNvPr id="9" name="TextBox 8">
            <a:extLst>
              <a:ext uri="{FF2B5EF4-FFF2-40B4-BE49-F238E27FC236}">
                <a16:creationId xmlns:a16="http://schemas.microsoft.com/office/drawing/2014/main" id="{CF2BD5B6-A9BD-FF25-59AB-EC61A67E23F9}"/>
              </a:ext>
            </a:extLst>
          </p:cNvPr>
          <p:cNvSpPr txBox="1"/>
          <p:nvPr/>
        </p:nvSpPr>
        <p:spPr>
          <a:xfrm>
            <a:off x="4767961" y="955108"/>
            <a:ext cx="4023360" cy="461665"/>
          </a:xfrm>
          <a:prstGeom prst="rect">
            <a:avLst/>
          </a:prstGeom>
          <a:solidFill>
            <a:schemeClr val="bg2"/>
          </a:solidFill>
        </p:spPr>
        <p:txBody>
          <a:bodyPr wrap="square" rtlCol="0">
            <a:spAutoFit/>
          </a:bodyPr>
          <a:lstStyle/>
          <a:p>
            <a:pPr algn="ctr"/>
            <a:r>
              <a:rPr lang="en-US" sz="2400">
                <a:solidFill>
                  <a:schemeClr val="bg1"/>
                </a:solidFill>
                <a:latin typeface="Source Sans Pro" panose="020B0503030403020204" pitchFamily="34" charset="0"/>
                <a:ea typeface="Source Sans Pro" panose="020B0503030403020204" pitchFamily="34" charset="0"/>
              </a:rPr>
              <a:t>Trade Secrets</a:t>
            </a:r>
          </a:p>
        </p:txBody>
      </p:sp>
      <p:pic>
        <p:nvPicPr>
          <p:cNvPr id="10" name="Picture 9" descr="Image from US Pat. No. 3,962,748 of a man using TV control device to operate the TV.">
            <a:extLst>
              <a:ext uri="{FF2B5EF4-FFF2-40B4-BE49-F238E27FC236}">
                <a16:creationId xmlns:a16="http://schemas.microsoft.com/office/drawing/2014/main" id="{4873240E-CEB9-45C1-B7C7-29F3E35D571E}"/>
              </a:ext>
            </a:extLst>
          </p:cNvPr>
          <p:cNvPicPr>
            <a:picLocks noChangeAspect="1"/>
          </p:cNvPicPr>
          <p:nvPr/>
        </p:nvPicPr>
        <p:blipFill>
          <a:blip r:embed="rId3"/>
          <a:stretch>
            <a:fillRect/>
          </a:stretch>
        </p:blipFill>
        <p:spPr>
          <a:xfrm>
            <a:off x="841771" y="4497394"/>
            <a:ext cx="3058206" cy="1830254"/>
          </a:xfrm>
          <a:prstGeom prst="rect">
            <a:avLst/>
          </a:prstGeom>
        </p:spPr>
      </p:pic>
      <p:pic>
        <p:nvPicPr>
          <p:cNvPr id="11" name="Picture 4" descr="Image of Krispy Kreme Doughnuts and logo.">
            <a:extLst>
              <a:ext uri="{FF2B5EF4-FFF2-40B4-BE49-F238E27FC236}">
                <a16:creationId xmlns:a16="http://schemas.microsoft.com/office/drawing/2014/main" id="{143F6F81-02BB-AB68-7D74-122C071FE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9646" y="4886736"/>
            <a:ext cx="1247925" cy="1214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5360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5141174-D78F-7647-2CE4-B1A5D99B4803}"/>
              </a:ext>
            </a:extLst>
          </p:cNvPr>
          <p:cNvSpPr>
            <a:spLocks noGrp="1"/>
          </p:cNvSpPr>
          <p:nvPr>
            <p:ph idx="1"/>
          </p:nvPr>
        </p:nvSpPr>
        <p:spPr>
          <a:xfrm>
            <a:off x="628650" y="1058571"/>
            <a:ext cx="7886700" cy="3745078"/>
          </a:xfrm>
        </p:spPr>
        <p:txBody>
          <a:bodyPr>
            <a:normAutofit/>
          </a:bodyPr>
          <a:lstStyle/>
          <a:p>
            <a:pPr>
              <a:spcBef>
                <a:spcPts val="1200"/>
              </a:spcBef>
              <a:spcAft>
                <a:spcPts val="1200"/>
              </a:spcAft>
            </a:pPr>
            <a:r>
              <a:rPr lang="en-US" sz="2200" dirty="0"/>
              <a:t>Protect your inventions, brands, and creations early to preserve your business advantages</a:t>
            </a:r>
          </a:p>
          <a:p>
            <a:r>
              <a:rPr lang="en-US" sz="2200" dirty="0"/>
              <a:t>U.S. Patent and Trademark Office: </a:t>
            </a:r>
            <a:r>
              <a:rPr lang="en-US" sz="2200" dirty="0">
                <a:hlinkClick r:id="rId3"/>
              </a:rPr>
              <a:t>www.uspto.gov</a:t>
            </a:r>
            <a:r>
              <a:rPr lang="en-US" sz="2200" dirty="0"/>
              <a:t> </a:t>
            </a:r>
          </a:p>
          <a:p>
            <a:pPr lvl="1"/>
            <a:r>
              <a:rPr lang="en-US" dirty="0"/>
              <a:t>Issues U.S. patents and registers federal trademarks</a:t>
            </a:r>
          </a:p>
          <a:p>
            <a:pPr lvl="1"/>
            <a:r>
              <a:rPr lang="en-US" dirty="0"/>
              <a:t>Landing page for entrepreneurs and inventors: </a:t>
            </a:r>
            <a:r>
              <a:rPr lang="en-US" dirty="0">
                <a:hlinkClick r:id="rId4"/>
              </a:rPr>
              <a:t>www.uspto.gov/inventors</a:t>
            </a:r>
            <a:endParaRPr lang="en-US" dirty="0"/>
          </a:p>
          <a:p>
            <a:pPr lvl="1">
              <a:spcAft>
                <a:spcPts val="1200"/>
              </a:spcAft>
            </a:pPr>
            <a:r>
              <a:rPr lang="en-US" dirty="0"/>
              <a:t>Landing page for military-connected customers:  </a:t>
            </a:r>
            <a:r>
              <a:rPr lang="en-US" sz="1600" dirty="0">
                <a:hlinkClick r:id="rId5"/>
              </a:rPr>
              <a:t>https://www.uspto.gov/initiatives/entrepreneurship-resources-military-community</a:t>
            </a:r>
            <a:r>
              <a:rPr lang="en-US" sz="1600" dirty="0"/>
              <a:t> </a:t>
            </a:r>
          </a:p>
          <a:p>
            <a:r>
              <a:rPr lang="en-US" sz="2200" dirty="0"/>
              <a:t>U.S. Copyright Office: </a:t>
            </a:r>
            <a:r>
              <a:rPr lang="en-US" sz="2200" dirty="0">
                <a:hlinkClick r:id="rId6"/>
              </a:rPr>
              <a:t>www.copyright.gov</a:t>
            </a:r>
            <a:r>
              <a:rPr lang="en-US" sz="2200" dirty="0"/>
              <a:t> </a:t>
            </a:r>
          </a:p>
          <a:p>
            <a:pPr lvl="1"/>
            <a:r>
              <a:rPr lang="en-US" sz="1800" dirty="0"/>
              <a:t>Registers creative works </a:t>
            </a:r>
          </a:p>
          <a:p>
            <a:pPr lvl="1"/>
            <a:r>
              <a:rPr lang="en-US" sz="1800" dirty="0"/>
              <a:t>Copyright basics video series: </a:t>
            </a:r>
            <a:r>
              <a:rPr lang="en-US" sz="1800" dirty="0">
                <a:hlinkClick r:id="rId7"/>
              </a:rPr>
              <a:t>www.copyright.gov/learning-engine</a:t>
            </a:r>
            <a:r>
              <a:rPr lang="en-US" sz="1800" dirty="0"/>
              <a:t> </a:t>
            </a:r>
          </a:p>
          <a:p>
            <a:endParaRPr lang="en-US" dirty="0"/>
          </a:p>
        </p:txBody>
      </p:sp>
      <p:sp>
        <p:nvSpPr>
          <p:cNvPr id="2" name="Slide Number Placeholder 1">
            <a:extLst>
              <a:ext uri="{FF2B5EF4-FFF2-40B4-BE49-F238E27FC236}">
                <a16:creationId xmlns:a16="http://schemas.microsoft.com/office/drawing/2014/main" id="{FB5DBF2D-B200-BC61-1243-D804155362C7}"/>
              </a:ext>
            </a:extLst>
          </p:cNvPr>
          <p:cNvSpPr>
            <a:spLocks noGrp="1"/>
          </p:cNvSpPr>
          <p:nvPr>
            <p:ph type="sldNum" sz="quarter" idx="4"/>
          </p:nvPr>
        </p:nvSpPr>
        <p:spPr/>
        <p:txBody>
          <a:bodyPr/>
          <a:lstStyle/>
          <a:p>
            <a:fld id="{EF13FA6D-C8B2-4F7A-9B51-E7C42DF59B48}" type="slidenum">
              <a:rPr lang="en-US" smtClean="0"/>
              <a:pPr/>
              <a:t>23</a:t>
            </a:fld>
            <a:endParaRPr lang="en-US" sz="900"/>
          </a:p>
        </p:txBody>
      </p:sp>
      <p:sp>
        <p:nvSpPr>
          <p:cNvPr id="3" name="Title 2">
            <a:extLst>
              <a:ext uri="{FF2B5EF4-FFF2-40B4-BE49-F238E27FC236}">
                <a16:creationId xmlns:a16="http://schemas.microsoft.com/office/drawing/2014/main" id="{9D183DAA-8CF6-C648-7760-C7DB08BFD34A}"/>
              </a:ext>
            </a:extLst>
          </p:cNvPr>
          <p:cNvSpPr>
            <a:spLocks noGrp="1"/>
          </p:cNvSpPr>
          <p:nvPr>
            <p:ph type="title"/>
          </p:nvPr>
        </p:nvSpPr>
        <p:spPr/>
        <p:txBody>
          <a:bodyPr>
            <a:normAutofit/>
          </a:bodyPr>
          <a:lstStyle/>
          <a:p>
            <a:r>
              <a:rPr lang="en-US" dirty="0"/>
              <a:t>Intellectual Property Resources and Services</a:t>
            </a:r>
          </a:p>
        </p:txBody>
      </p:sp>
      <p:sp>
        <p:nvSpPr>
          <p:cNvPr id="5" name="Rectangle 4">
            <a:extLst>
              <a:ext uri="{FF2B5EF4-FFF2-40B4-BE49-F238E27FC236}">
                <a16:creationId xmlns:a16="http://schemas.microsoft.com/office/drawing/2014/main" id="{C36B7C03-99C2-CC74-FE7E-08B81B570EE3}"/>
              </a:ext>
            </a:extLst>
          </p:cNvPr>
          <p:cNvSpPr/>
          <p:nvPr/>
        </p:nvSpPr>
        <p:spPr>
          <a:xfrm>
            <a:off x="1300835" y="4686482"/>
            <a:ext cx="6333785" cy="769441"/>
          </a:xfrm>
          <a:prstGeom prst="rect">
            <a:avLst/>
          </a:prstGeom>
        </p:spPr>
        <p:txBody>
          <a:bodyPr wrap="none">
            <a:spAutoFit/>
          </a:bodyPr>
          <a:lstStyle/>
          <a:p>
            <a:pPr algn="ctr"/>
            <a:r>
              <a:rPr lang="en-US" sz="2200" b="1" dirty="0">
                <a:solidFill>
                  <a:srgbClr val="003E7F"/>
                </a:solidFill>
                <a:latin typeface="Source Sans Pro" panose="020B0503030403020204" pitchFamily="34" charset="0"/>
                <a:ea typeface="Source Sans Pro" panose="020B0503030403020204" pitchFamily="34" charset="0"/>
              </a:rPr>
              <a:t>Contact the USPTO at: </a:t>
            </a:r>
            <a:r>
              <a:rPr lang="en-US" sz="2200" b="1" dirty="0">
                <a:latin typeface="Source Sans Pro" panose="020B0503030403020204" pitchFamily="34" charset="0"/>
                <a:ea typeface="Source Sans Pro" panose="020B0503030403020204" pitchFamily="34" charset="0"/>
                <a:hlinkClick r:id="rId8"/>
              </a:rPr>
              <a:t>militaryoutreach@uspto.gov</a:t>
            </a:r>
            <a:r>
              <a:rPr lang="en-US" sz="2200" b="1" dirty="0">
                <a:latin typeface="Source Sans Pro" panose="020B0503030403020204" pitchFamily="34" charset="0"/>
                <a:ea typeface="Source Sans Pro" panose="020B0503030403020204" pitchFamily="34" charset="0"/>
              </a:rPr>
              <a:t> </a:t>
            </a:r>
            <a:br>
              <a:rPr lang="en-US" sz="2200" b="1" dirty="0">
                <a:latin typeface="Source Sans Pro" panose="020B0503030403020204" pitchFamily="34" charset="0"/>
                <a:ea typeface="Source Sans Pro" panose="020B0503030403020204" pitchFamily="34" charset="0"/>
              </a:rPr>
            </a:br>
            <a:r>
              <a:rPr lang="en-US" sz="2200" b="1" dirty="0">
                <a:solidFill>
                  <a:srgbClr val="003E7F"/>
                </a:solidFill>
                <a:latin typeface="Source Sans Pro" panose="020B0503030403020204" pitchFamily="34" charset="0"/>
                <a:ea typeface="Source Sans Pro" panose="020B0503030403020204" pitchFamily="34" charset="0"/>
              </a:rPr>
              <a:t>for further assistance and guidance </a:t>
            </a:r>
          </a:p>
        </p:txBody>
      </p:sp>
      <p:sp>
        <p:nvSpPr>
          <p:cNvPr id="6" name="TextBox 5">
            <a:extLst>
              <a:ext uri="{FF2B5EF4-FFF2-40B4-BE49-F238E27FC236}">
                <a16:creationId xmlns:a16="http://schemas.microsoft.com/office/drawing/2014/main" id="{3A19D18E-F39F-BC16-1B82-C837FA1DEF82}"/>
              </a:ext>
            </a:extLst>
          </p:cNvPr>
          <p:cNvSpPr txBox="1"/>
          <p:nvPr/>
        </p:nvSpPr>
        <p:spPr>
          <a:xfrm>
            <a:off x="1264352" y="5508982"/>
            <a:ext cx="6479822" cy="710451"/>
          </a:xfrm>
          <a:prstGeom prst="rect">
            <a:avLst/>
          </a:prstGeom>
          <a:noFill/>
        </p:spPr>
        <p:txBody>
          <a:bodyPr wrap="square" rtlCol="0">
            <a:spAutoFit/>
          </a:bodyPr>
          <a:lstStyle/>
          <a:p>
            <a:pPr marL="0" indent="0" algn="ctr">
              <a:lnSpc>
                <a:spcPct val="100000"/>
              </a:lnSpc>
              <a:spcBef>
                <a:spcPts val="500"/>
              </a:spcBef>
              <a:buNone/>
            </a:pPr>
            <a:r>
              <a:rPr lang="en-US" b="1" dirty="0">
                <a:solidFill>
                  <a:srgbClr val="AB162C"/>
                </a:solidFill>
                <a:latin typeface="Source Sans Pro" panose="020B0503030403020204" pitchFamily="34" charset="0"/>
              </a:rPr>
              <a:t>PATENT PROTECTION CAN BE </a:t>
            </a:r>
            <a:r>
              <a:rPr lang="en-US" b="1">
                <a:solidFill>
                  <a:srgbClr val="AB162C"/>
                </a:solidFill>
                <a:latin typeface="Source Sans Pro" panose="020B0503030403020204" pitchFamily="34" charset="0"/>
              </a:rPr>
              <a:t>EXPENSIVE. </a:t>
            </a:r>
            <a:endParaRPr lang="en-US" b="1" dirty="0">
              <a:solidFill>
                <a:srgbClr val="AB162C"/>
              </a:solidFill>
              <a:latin typeface="Source Sans Pro" panose="020B0503030403020204" pitchFamily="34" charset="0"/>
            </a:endParaRPr>
          </a:p>
          <a:p>
            <a:pPr marL="0" indent="0" algn="ctr">
              <a:lnSpc>
                <a:spcPct val="100000"/>
              </a:lnSpc>
              <a:spcBef>
                <a:spcPts val="500"/>
              </a:spcBef>
              <a:buNone/>
            </a:pPr>
            <a:r>
              <a:rPr lang="en-US" b="1" dirty="0">
                <a:solidFill>
                  <a:srgbClr val="AB162C"/>
                </a:solidFill>
                <a:latin typeface="Source Sans Pro" panose="020B0503030403020204" pitchFamily="34" charset="0"/>
              </a:rPr>
              <a:t>EDUCATE YOURSELF BEFORE MOVING FORWARD!</a:t>
            </a:r>
            <a:endParaRPr lang="en-US" sz="1800" b="1" dirty="0">
              <a:solidFill>
                <a:srgbClr val="AB162C"/>
              </a:solidFill>
              <a:latin typeface="Source Sans Pro" panose="020B0503030403020204" pitchFamily="34" charset="0"/>
            </a:endParaRPr>
          </a:p>
        </p:txBody>
      </p:sp>
    </p:spTree>
    <p:extLst>
      <p:ext uri="{BB962C8B-B14F-4D97-AF65-F5344CB8AC3E}">
        <p14:creationId xmlns:p14="http://schemas.microsoft.com/office/powerpoint/2010/main" val="1457962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488B62F8-22FF-F65D-648B-4420C841822A}"/>
              </a:ext>
            </a:extLst>
          </p:cNvPr>
          <p:cNvSpPr>
            <a:spLocks noGrp="1"/>
          </p:cNvSpPr>
          <p:nvPr>
            <p:ph type="sldNum" sz="quarter" idx="4"/>
          </p:nvPr>
        </p:nvSpPr>
        <p:spPr/>
        <p:txBody>
          <a:bodyPr/>
          <a:lstStyle/>
          <a:p>
            <a:fld id="{EF13FA6D-C8B2-4F7A-9B51-E7C42DF59B48}" type="slidenum">
              <a:rPr lang="en-US" smtClean="0"/>
              <a:pPr/>
              <a:t>24</a:t>
            </a:fld>
            <a:endParaRPr lang="en-US" sz="900"/>
          </a:p>
        </p:txBody>
      </p:sp>
      <p:sp>
        <p:nvSpPr>
          <p:cNvPr id="16" name="Title 15">
            <a:extLst>
              <a:ext uri="{FF2B5EF4-FFF2-40B4-BE49-F238E27FC236}">
                <a16:creationId xmlns:a16="http://schemas.microsoft.com/office/drawing/2014/main" id="{E5D8D007-4775-D828-DE70-E14ACAC13031}"/>
              </a:ext>
            </a:extLst>
          </p:cNvPr>
          <p:cNvSpPr>
            <a:spLocks noGrp="1"/>
          </p:cNvSpPr>
          <p:nvPr>
            <p:ph type="title"/>
          </p:nvPr>
        </p:nvSpPr>
        <p:spPr/>
        <p:txBody>
          <a:bodyPr>
            <a:normAutofit/>
          </a:bodyPr>
          <a:lstStyle/>
          <a:p>
            <a:r>
              <a:rPr lang="en-US" sz="2800"/>
              <a:t>Key Takeaways</a:t>
            </a:r>
          </a:p>
        </p:txBody>
      </p:sp>
      <p:sp>
        <p:nvSpPr>
          <p:cNvPr id="17" name="Content Placeholder 1">
            <a:extLst>
              <a:ext uri="{FF2B5EF4-FFF2-40B4-BE49-F238E27FC236}">
                <a16:creationId xmlns:a16="http://schemas.microsoft.com/office/drawing/2014/main" id="{83CE27FA-C726-06F9-5547-BF0F4D31CB09}"/>
              </a:ext>
            </a:extLst>
          </p:cNvPr>
          <p:cNvSpPr txBox="1">
            <a:spLocks/>
          </p:cNvSpPr>
          <p:nvPr/>
        </p:nvSpPr>
        <p:spPr>
          <a:xfrm>
            <a:off x="589810" y="1150061"/>
            <a:ext cx="7779089" cy="4557877"/>
          </a:xfrm>
          <a:prstGeom prst="rect">
            <a:avLst/>
          </a:prstGeom>
        </p:spPr>
        <p:txBody>
          <a:bodyPr vert="horz" lIns="91440" tIns="45720" rIns="91440" bIns="45720" rtlCol="0">
            <a:normAutofit/>
          </a:bodyPr>
          <a:lstStyle>
            <a:lvl1pPr marL="180010" indent="-180010" algn="l" defTabSz="720036" rtl="0" eaLnBrk="1" latinLnBrk="0" hangingPunct="1">
              <a:lnSpc>
                <a:spcPct val="90000"/>
              </a:lnSpc>
              <a:spcBef>
                <a:spcPts val="788"/>
              </a:spcBef>
              <a:buFont typeface="Arial"/>
              <a:buChar char="•"/>
              <a:defRPr sz="2205" kern="1200">
                <a:solidFill>
                  <a:srgbClr val="002E6D"/>
                </a:solidFill>
                <a:latin typeface="Source Sans Pro" charset="0"/>
                <a:ea typeface="Source Sans Pro" charset="0"/>
                <a:cs typeface="Source Sans Pro" charset="0"/>
              </a:defRPr>
            </a:lvl1pPr>
            <a:lvl2pPr marL="540029" indent="-180010" algn="l" defTabSz="720036" rtl="0" eaLnBrk="1" latinLnBrk="0" hangingPunct="1">
              <a:lnSpc>
                <a:spcPct val="90000"/>
              </a:lnSpc>
              <a:spcBef>
                <a:spcPts val="394"/>
              </a:spcBef>
              <a:buFont typeface="Arial"/>
              <a:buChar char="•"/>
              <a:defRPr sz="1890" kern="1200">
                <a:solidFill>
                  <a:srgbClr val="002E6D"/>
                </a:solidFill>
                <a:latin typeface="Source Sans Pro" charset="0"/>
                <a:ea typeface="Source Sans Pro" charset="0"/>
                <a:cs typeface="Source Sans Pro" charset="0"/>
              </a:defRPr>
            </a:lvl2pPr>
            <a:lvl3pPr marL="900045" indent="-180010" algn="l" defTabSz="720036" rtl="0" eaLnBrk="1" latinLnBrk="0" hangingPunct="1">
              <a:lnSpc>
                <a:spcPct val="90000"/>
              </a:lnSpc>
              <a:spcBef>
                <a:spcPts val="394"/>
              </a:spcBef>
              <a:buFont typeface="Arial"/>
              <a:buChar char="•"/>
              <a:defRPr sz="1575" kern="1200">
                <a:solidFill>
                  <a:srgbClr val="002E6D"/>
                </a:solidFill>
                <a:latin typeface="Source Sans Pro" charset="0"/>
                <a:ea typeface="Source Sans Pro" charset="0"/>
                <a:cs typeface="Source Sans Pro" charset="0"/>
              </a:defRPr>
            </a:lvl3pPr>
            <a:lvl4pPr marL="1260063" indent="-180010" algn="l" defTabSz="720036" rtl="0" eaLnBrk="1" latinLnBrk="0" hangingPunct="1">
              <a:lnSpc>
                <a:spcPct val="90000"/>
              </a:lnSpc>
              <a:spcBef>
                <a:spcPts val="394"/>
              </a:spcBef>
              <a:buFont typeface="Arial"/>
              <a:buChar char="•"/>
              <a:defRPr sz="1418" kern="1200">
                <a:solidFill>
                  <a:srgbClr val="002E6D"/>
                </a:solidFill>
                <a:latin typeface="Source Sans Pro" charset="0"/>
                <a:ea typeface="Source Sans Pro" charset="0"/>
                <a:cs typeface="Source Sans Pro" charset="0"/>
              </a:defRPr>
            </a:lvl4pPr>
            <a:lvl5pPr marL="1620082" indent="-180010" algn="l" defTabSz="720036" rtl="0" eaLnBrk="1" latinLnBrk="0" hangingPunct="1">
              <a:lnSpc>
                <a:spcPct val="90000"/>
              </a:lnSpc>
              <a:spcBef>
                <a:spcPts val="394"/>
              </a:spcBef>
              <a:buFont typeface="Arial"/>
              <a:buChar char="•"/>
              <a:defRPr sz="1418" kern="1200">
                <a:solidFill>
                  <a:srgbClr val="002E6D"/>
                </a:solidFill>
                <a:latin typeface="Source Sans Pro" charset="0"/>
                <a:ea typeface="Source Sans Pro" charset="0"/>
                <a:cs typeface="Source Sans Pro" charset="0"/>
              </a:defRPr>
            </a:lvl5pPr>
            <a:lvl6pPr marL="1980099"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6pPr>
            <a:lvl7pPr marL="2340118"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7pPr>
            <a:lvl8pPr marL="2700136"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8pPr>
            <a:lvl9pPr marL="3060155" indent="-180010" algn="l" defTabSz="720036" rtl="0" eaLnBrk="1" latinLnBrk="0" hangingPunct="1">
              <a:lnSpc>
                <a:spcPct val="90000"/>
              </a:lnSpc>
              <a:spcBef>
                <a:spcPts val="394"/>
              </a:spcBef>
              <a:buFont typeface="Arial"/>
              <a:buChar char="•"/>
              <a:defRPr sz="1418" kern="1200">
                <a:solidFill>
                  <a:schemeClr val="tx1"/>
                </a:solidFill>
                <a:latin typeface="+mn-lt"/>
                <a:ea typeface="+mn-ea"/>
                <a:cs typeface="+mn-cs"/>
              </a:defRPr>
            </a:lvl9pPr>
          </a:lstStyle>
          <a:p>
            <a:pPr defTabSz="914400" eaLnBrk="1" hangingPunct="1">
              <a:spcAft>
                <a:spcPts val="1275"/>
              </a:spcAft>
            </a:pPr>
            <a:r>
              <a:rPr lang="en-US" altLang="en-US" sz="2400" dirty="0">
                <a:solidFill>
                  <a:schemeClr val="tx2"/>
                </a:solidFill>
                <a:latin typeface="Source Sans Pro" panose="020B0503030403020204" pitchFamily="34" charset="0"/>
                <a:ea typeface="Source Sans Pro" panose="020B0503030403020204" pitchFamily="34" charset="0"/>
              </a:rPr>
              <a:t>As part of founding your firm, seek the advice of a qualified lawyer</a:t>
            </a:r>
          </a:p>
          <a:p>
            <a:pPr defTabSz="914400" eaLnBrk="1" hangingPunct="1">
              <a:spcAft>
                <a:spcPts val="1275"/>
              </a:spcAft>
            </a:pPr>
            <a:r>
              <a:rPr lang="en-US" altLang="en-US" sz="2400" dirty="0">
                <a:solidFill>
                  <a:schemeClr val="tx2"/>
                </a:solidFill>
                <a:latin typeface="Source Sans Pro" panose="020B0503030403020204" pitchFamily="34" charset="0"/>
                <a:ea typeface="Source Sans Pro" panose="020B0503030403020204" pitchFamily="34" charset="0"/>
              </a:rPr>
              <a:t>Assemble a good BAIL team</a:t>
            </a:r>
          </a:p>
          <a:p>
            <a:pPr defTabSz="914400" eaLnBrk="1" hangingPunct="1">
              <a:spcAft>
                <a:spcPts val="1275"/>
              </a:spcAft>
            </a:pPr>
            <a:r>
              <a:rPr lang="en-US" sz="2400" dirty="0">
                <a:solidFill>
                  <a:schemeClr val="tx2"/>
                </a:solidFill>
                <a:latin typeface="Source Sans Pro" panose="020B0503030403020204" pitchFamily="34" charset="0"/>
                <a:ea typeface="Source Sans Pro" panose="020B0503030403020204" pitchFamily="34" charset="0"/>
              </a:rPr>
              <a:t>Keep your personal and business finances separate</a:t>
            </a:r>
          </a:p>
          <a:p>
            <a:pPr defTabSz="914400" eaLnBrk="1" hangingPunct="1">
              <a:spcAft>
                <a:spcPts val="1275"/>
              </a:spcAft>
            </a:pPr>
            <a:r>
              <a:rPr lang="en-US" altLang="en-US" sz="2400" dirty="0">
                <a:solidFill>
                  <a:schemeClr val="tx2"/>
                </a:solidFill>
                <a:latin typeface="Source Sans Pro" panose="020B0503030403020204" pitchFamily="34" charset="0"/>
                <a:ea typeface="Source Sans Pro" panose="020B0503030403020204" pitchFamily="34" charset="0"/>
              </a:rPr>
              <a:t>Laws and regulations differ across states, and sometimes, within states </a:t>
            </a:r>
          </a:p>
          <a:p>
            <a:pPr defTabSz="914400">
              <a:spcAft>
                <a:spcPts val="1275"/>
              </a:spcAft>
            </a:pPr>
            <a:r>
              <a:rPr lang="en-US" altLang="en-US" sz="2400" dirty="0">
                <a:solidFill>
                  <a:schemeClr val="tx2"/>
                </a:solidFill>
                <a:latin typeface="Source Sans Pro" panose="020B0503030403020204" pitchFamily="34" charset="0"/>
                <a:ea typeface="Source Sans Pro" panose="020B0503030403020204" pitchFamily="34" charset="0"/>
              </a:rPr>
              <a:t>The consequences of not knowing could have serious legal and financial ramifications</a:t>
            </a:r>
          </a:p>
        </p:txBody>
      </p:sp>
    </p:spTree>
    <p:extLst>
      <p:ext uri="{BB962C8B-B14F-4D97-AF65-F5344CB8AC3E}">
        <p14:creationId xmlns:p14="http://schemas.microsoft.com/office/powerpoint/2010/main" val="3499580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A83DA42B-5FD7-FA71-B2CE-D23E4DCC3EF3}"/>
              </a:ext>
            </a:extLst>
          </p:cNvPr>
          <p:cNvSpPr>
            <a:spLocks noGrp="1"/>
          </p:cNvSpPr>
          <p:nvPr>
            <p:ph type="sldNum" sz="quarter" idx="4"/>
          </p:nvPr>
        </p:nvSpPr>
        <p:spPr/>
        <p:txBody>
          <a:bodyPr/>
          <a:lstStyle/>
          <a:p>
            <a:fld id="{EF13FA6D-C8B2-4F7A-9B51-E7C42DF59B48}" type="slidenum">
              <a:rPr lang="en-US" smtClean="0"/>
              <a:pPr/>
              <a:t>25</a:t>
            </a:fld>
            <a:endParaRPr lang="en-US" sz="900" dirty="0"/>
          </a:p>
        </p:txBody>
      </p:sp>
      <p:sp>
        <p:nvSpPr>
          <p:cNvPr id="16" name="Content Placeholder 2">
            <a:extLst>
              <a:ext uri="{FF2B5EF4-FFF2-40B4-BE49-F238E27FC236}">
                <a16:creationId xmlns:a16="http://schemas.microsoft.com/office/drawing/2014/main" id="{A5B11E40-212C-E0D4-C339-BAD1135552F5}"/>
              </a:ext>
            </a:extLst>
          </p:cNvPr>
          <p:cNvSpPr txBox="1">
            <a:spLocks/>
          </p:cNvSpPr>
          <p:nvPr/>
        </p:nvSpPr>
        <p:spPr bwMode="auto">
          <a:xfrm>
            <a:off x="2747994" y="2322909"/>
            <a:ext cx="3657600" cy="2212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20000"/>
              </a:spcBef>
              <a:buFont typeface="Arial" pitchFamily="34" charset="0"/>
              <a:buChar char="•"/>
              <a:defRPr sz="3400">
                <a:solidFill>
                  <a:srgbClr val="AB162B"/>
                </a:solidFill>
                <a:latin typeface="Franklin Gothic Medium" pitchFamily="34" charset="0"/>
              </a:defRPr>
            </a:lvl1pPr>
            <a:lvl2pPr marL="742950" indent="-285750" eaLnBrk="0" hangingPunct="0">
              <a:spcBef>
                <a:spcPct val="20000"/>
              </a:spcBef>
              <a:buFont typeface="Arial" pitchFamily="34" charset="0"/>
              <a:buChar char="•"/>
              <a:defRPr sz="3000">
                <a:solidFill>
                  <a:schemeClr val="tx1"/>
                </a:solidFill>
                <a:latin typeface="Franklin Gothic Book" pitchFamily="34" charset="0"/>
              </a:defRPr>
            </a:lvl2pPr>
            <a:lvl3pPr marL="1143000" indent="-228600" eaLnBrk="0" hangingPunct="0">
              <a:spcBef>
                <a:spcPct val="20000"/>
              </a:spcBef>
              <a:buFont typeface="Arial" pitchFamily="34" charset="0"/>
              <a:buChar char="•"/>
              <a:defRPr sz="2500">
                <a:solidFill>
                  <a:schemeClr val="tx1"/>
                </a:solidFill>
                <a:latin typeface="Franklin Gothic Book" pitchFamily="34" charset="0"/>
              </a:defRPr>
            </a:lvl3pPr>
            <a:lvl4pPr marL="1600200" indent="-228600" eaLnBrk="0" hangingPunct="0">
              <a:spcBef>
                <a:spcPct val="20000"/>
              </a:spcBef>
              <a:buFont typeface="Arial" pitchFamily="34" charset="0"/>
              <a:buChar char="•"/>
              <a:defRPr sz="2100">
                <a:solidFill>
                  <a:schemeClr val="tx1"/>
                </a:solidFill>
                <a:latin typeface="Franklin Gothic Book" pitchFamily="34" charset="0"/>
              </a:defRPr>
            </a:lvl4pPr>
            <a:lvl5pPr marL="2057400" indent="-228600" eaLnBrk="0" hangingPunct="0">
              <a:spcBef>
                <a:spcPct val="20000"/>
              </a:spcBef>
              <a:buFont typeface="Arial" pitchFamily="34" charset="0"/>
              <a:buChar char="•"/>
              <a:defRPr sz="2100">
                <a:solidFill>
                  <a:schemeClr val="tx1"/>
                </a:solidFill>
                <a:latin typeface="Franklin Gothic Book" pitchFamily="34" charset="0"/>
              </a:defRPr>
            </a:lvl5pPr>
            <a:lvl6pPr marL="2514600" indent="-2286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6pPr>
            <a:lvl7pPr marL="2971800" indent="-2286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7pPr>
            <a:lvl8pPr marL="3429000" indent="-2286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8pPr>
            <a:lvl9pPr marL="3886200" indent="-228600" eaLnBrk="0" fontAlgn="base" hangingPunct="0">
              <a:spcBef>
                <a:spcPct val="20000"/>
              </a:spcBef>
              <a:spcAft>
                <a:spcPct val="0"/>
              </a:spcAft>
              <a:buFont typeface="Arial" pitchFamily="34" charset="0"/>
              <a:buChar char="•"/>
              <a:defRPr sz="2100">
                <a:solidFill>
                  <a:schemeClr val="tx1"/>
                </a:solidFill>
                <a:latin typeface="Franklin Gothic Book" pitchFamily="34" charset="0"/>
              </a:defRPr>
            </a:lvl9pPr>
          </a:lstStyle>
          <a:p>
            <a:pPr algn="ctr" defTabSz="914400" eaLnBrk="1" hangingPunct="1">
              <a:spcBef>
                <a:spcPct val="0"/>
              </a:spcBef>
              <a:buFont typeface="Arial" pitchFamily="34" charset="0"/>
              <a:buNone/>
            </a:pPr>
            <a:r>
              <a:rPr lang="en-US" altLang="en-US" sz="4400" b="1" dirty="0">
                <a:solidFill>
                  <a:srgbClr val="002E6D"/>
                </a:solidFill>
                <a:latin typeface="Source Sans Pro" panose="020B0503030403020204" pitchFamily="34" charset="0"/>
                <a:ea typeface="Source Sans Pro" panose="020B0503030403020204" pitchFamily="34" charset="0"/>
              </a:rPr>
              <a:t>Questions       &amp;      Discussion</a:t>
            </a:r>
          </a:p>
        </p:txBody>
      </p:sp>
    </p:spTree>
    <p:extLst>
      <p:ext uri="{BB962C8B-B14F-4D97-AF65-F5344CB8AC3E}">
        <p14:creationId xmlns:p14="http://schemas.microsoft.com/office/powerpoint/2010/main" val="3562621198"/>
      </p:ext>
    </p:extLst>
  </p:cSld>
  <p:clrMapOvr>
    <a:masterClrMapping/>
  </p:clrMapOvr>
</p:sld>
</file>

<file path=ppt/theme/theme1.xml><?xml version="1.0" encoding="utf-8"?>
<a:theme xmlns:a="http://schemas.openxmlformats.org/drawingml/2006/main" name="Office Theme">
  <a:themeElements>
    <a:clrScheme name="Custom 1">
      <a:dk1>
        <a:srgbClr val="1B1E29"/>
      </a:dk1>
      <a:lt1>
        <a:srgbClr val="FFFFFF"/>
      </a:lt1>
      <a:dk2>
        <a:srgbClr val="002E6D"/>
      </a:dk2>
      <a:lt2>
        <a:srgbClr val="007DBC"/>
      </a:lt2>
      <a:accent1>
        <a:srgbClr val="969696"/>
      </a:accent1>
      <a:accent2>
        <a:srgbClr val="197E4E"/>
      </a:accent2>
      <a:accent3>
        <a:srgbClr val="F1C400"/>
      </a:accent3>
      <a:accent4>
        <a:srgbClr val="7AC5EB"/>
      </a:accent4>
      <a:accent5>
        <a:srgbClr val="CC0000"/>
      </a:accent5>
      <a:accent6>
        <a:srgbClr val="FFFFFF"/>
      </a:accent6>
      <a:hlink>
        <a:srgbClr val="007DBC"/>
      </a:hlink>
      <a:folHlink>
        <a:srgbClr val="7AC5EB"/>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BA-Template-4x3" id="{10B8EB85-0603-6C4A-B199-97FFBF5C934D}" vid="{C65D1D54-2505-3642-821A-0245DDC064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82706d8-95c0-48cc-aef3-5e3ecbe53914">
      <UserInfo>
        <DisplayName>Williams, Mark J.</DisplayName>
        <AccountId>57</AccountId>
        <AccountType/>
      </UserInfo>
      <UserInfo>
        <DisplayName>Varn, Sophie A. (Contractor)</DisplayName>
        <AccountId>2808</AccountId>
        <AccountType/>
      </UserInfo>
    </SharedWithUsers>
    <lcf76f155ced4ddcb4097134ff3c332f xmlns="b51dd3a9-6de1-4731-b3d5-4a5aecad7bc8">
      <Terms xmlns="http://schemas.microsoft.com/office/infopath/2007/PartnerControls"/>
    </lcf76f155ced4ddcb4097134ff3c332f>
    <TaxCatchAll xmlns="582706d8-95c0-48cc-aef3-5e3ecbe53914"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F4BFECC814B6A4DA79CE86AB86465EC" ma:contentTypeVersion="25" ma:contentTypeDescription="Create a new document." ma:contentTypeScope="" ma:versionID="deb428b8d0a1a02353db7c84da74ce00">
  <xsd:schema xmlns:xsd="http://www.w3.org/2001/XMLSchema" xmlns:xs="http://www.w3.org/2001/XMLSchema" xmlns:p="http://schemas.microsoft.com/office/2006/metadata/properties" xmlns:ns1="http://schemas.microsoft.com/sharepoint/v3" xmlns:ns2="582706d8-95c0-48cc-aef3-5e3ecbe53914" xmlns:ns3="b51dd3a9-6de1-4731-b3d5-4a5aecad7bc8" targetNamespace="http://schemas.microsoft.com/office/2006/metadata/properties" ma:root="true" ma:fieldsID="293e540fecca39719ed55cfa479d9129" ns1:_="" ns2:_="" ns3:_="">
    <xsd:import namespace="http://schemas.microsoft.com/sharepoint/v3"/>
    <xsd:import namespace="582706d8-95c0-48cc-aef3-5e3ecbe53914"/>
    <xsd:import namespace="b51dd3a9-6de1-4731-b3d5-4a5aecad7bc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1:_ip_UnifiedCompliancePolicyProperties" minOccurs="0"/>
                <xsd:element ref="ns1:_ip_UnifiedCompliancePolicyUIAction" minOccurs="0"/>
                <xsd:element ref="ns3:MediaServiceEventHashCode" minOccurs="0"/>
                <xsd:element ref="ns3:MediaServiceGenerationTime"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82706d8-95c0-48cc-aef3-5e3ecbe53914"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30b4a906-f53d-4acc-9786-517b136676d0}" ma:internalName="TaxCatchAll" ma:showField="CatchAllData" ma:web="582706d8-95c0-48cc-aef3-5e3ecbe5391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51dd3a9-6de1-4731-b3d5-4a5aecad7bc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fa0e949-ffd4-4536-b9e8-54043ebe243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B4868AA-5616-4225-BE3D-74CBF4BE4004}">
  <ds:schemaRefs>
    <ds:schemaRef ds:uri="http://www.w3.org/XML/1998/namespace"/>
    <ds:schemaRef ds:uri="http://purl.org/dc/dcmitype/"/>
    <ds:schemaRef ds:uri="http://schemas.microsoft.com/office/2006/documentManagement/types"/>
    <ds:schemaRef ds:uri="http://purl.org/dc/terms/"/>
    <ds:schemaRef ds:uri="http://schemas.microsoft.com/sharepoint/v3"/>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b51dd3a9-6de1-4731-b3d5-4a5aecad7bc8"/>
    <ds:schemaRef ds:uri="582706d8-95c0-48cc-aef3-5e3ecbe53914"/>
  </ds:schemaRefs>
</ds:datastoreItem>
</file>

<file path=customXml/itemProps2.xml><?xml version="1.0" encoding="utf-8"?>
<ds:datastoreItem xmlns:ds="http://schemas.openxmlformats.org/officeDocument/2006/customXml" ds:itemID="{1A0DBBB0-3622-42BD-BE80-08B04E8A36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82706d8-95c0-48cc-aef3-5e3ecbe53914"/>
    <ds:schemaRef ds:uri="b51dd3a9-6de1-4731-b3d5-4a5aecad7b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B3626-63E2-462F-9586-1AF8B3BAA9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1109</TotalTime>
  <Words>6092</Words>
  <Application>Microsoft Office PowerPoint</Application>
  <PresentationFormat>On-screen Show (4:3)</PresentationFormat>
  <Paragraphs>556</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Calibri</vt:lpstr>
      <vt:lpstr>Calibri Light</vt:lpstr>
      <vt:lpstr>Google Sans</vt:lpstr>
      <vt:lpstr>Segoe UI</vt:lpstr>
      <vt:lpstr>Source Sans Pro</vt:lpstr>
      <vt:lpstr>Source Sans Pro Black</vt:lpstr>
      <vt:lpstr>Source Sans Pro Light</vt:lpstr>
      <vt:lpstr>Wingdings</vt:lpstr>
      <vt:lpstr>Office Theme</vt:lpstr>
      <vt:lpstr>Boots to Business Module 5</vt:lpstr>
      <vt:lpstr>Objective</vt:lpstr>
      <vt:lpstr>Agenda</vt:lpstr>
      <vt:lpstr>PowerPoint Presentation</vt:lpstr>
      <vt:lpstr>Selecting a Business Structure for  Your Business</vt:lpstr>
      <vt:lpstr>Types of Business Structures</vt:lpstr>
      <vt:lpstr>Sole Proprietorship (DBA)</vt:lpstr>
      <vt:lpstr>Partnership</vt:lpstr>
      <vt:lpstr>Limited Liability Company (LLC)</vt:lpstr>
      <vt:lpstr>Corporation (C-Corp)</vt:lpstr>
      <vt:lpstr>S-Corporation (S-Corp)</vt:lpstr>
      <vt:lpstr>Other Legal Entities</vt:lpstr>
      <vt:lpstr>Compare Business Structures</vt:lpstr>
      <vt:lpstr> Entities In Summary</vt:lpstr>
      <vt:lpstr>Registration Steps</vt:lpstr>
      <vt:lpstr>Banking/Accounting/Taxes</vt:lpstr>
      <vt:lpstr>Other Legal Issues to Consider</vt:lpstr>
      <vt:lpstr>Contracts</vt:lpstr>
      <vt:lpstr>Government Contracting</vt:lpstr>
      <vt:lpstr>Types of Intellectual Property</vt:lpstr>
      <vt:lpstr>Types of Intellectual Property</vt:lpstr>
      <vt:lpstr>Types of Intellectual Property</vt:lpstr>
      <vt:lpstr>Intellectual Property Resources and Services</vt:lpstr>
      <vt:lpstr>Key Takeaways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B2B Module 5 (Legal)</dc:title>
  <dc:creator>SBA Office of Veterans Business Development</dc:creator>
  <cp:lastModifiedBy>Robert Sewell</cp:lastModifiedBy>
  <cp:revision>11</cp:revision>
  <cp:lastPrinted>2019-10-17T13:00:55Z</cp:lastPrinted>
  <dcterms:created xsi:type="dcterms:W3CDTF">2019-07-09T20:09:35Z</dcterms:created>
  <dcterms:modified xsi:type="dcterms:W3CDTF">2026-02-15T21:24:35Z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0x0101002F4BFECC814B6A4DA79CE86AB86465EC</vt:lpwstr>
  </property>
  <property fmtid="{D5CDD505-2E9C-101B-9397-08002B2CF9AE}" pid="3" name="MediaServiceImageTags">
    <vt:lpwstr/>
  </property>
</Properties>
</file>