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5" r:id="rId4"/>
  </p:sldMasterIdLst>
  <p:notesMasterIdLst>
    <p:notesMasterId r:id="rId32"/>
  </p:notesMasterIdLst>
  <p:handoutMasterIdLst>
    <p:handoutMasterId r:id="rId33"/>
  </p:handoutMasterIdLst>
  <p:sldIdLst>
    <p:sldId id="257" r:id="rId5"/>
    <p:sldId id="258" r:id="rId6"/>
    <p:sldId id="276" r:id="rId7"/>
    <p:sldId id="260" r:id="rId8"/>
    <p:sldId id="261" r:id="rId9"/>
    <p:sldId id="262" r:id="rId10"/>
    <p:sldId id="263" r:id="rId11"/>
    <p:sldId id="264" r:id="rId12"/>
    <p:sldId id="265" r:id="rId13"/>
    <p:sldId id="266" r:id="rId14"/>
    <p:sldId id="267" r:id="rId15"/>
    <p:sldId id="268" r:id="rId16"/>
    <p:sldId id="271" r:id="rId17"/>
    <p:sldId id="279" r:id="rId18"/>
    <p:sldId id="272" r:id="rId19"/>
    <p:sldId id="269" r:id="rId20"/>
    <p:sldId id="561" r:id="rId21"/>
    <p:sldId id="563" r:id="rId22"/>
    <p:sldId id="562" r:id="rId23"/>
    <p:sldId id="564" r:id="rId24"/>
    <p:sldId id="565" r:id="rId25"/>
    <p:sldId id="273" r:id="rId26"/>
    <p:sldId id="274" r:id="rId27"/>
    <p:sldId id="275" r:id="rId28"/>
    <p:sldId id="280" r:id="rId29"/>
    <p:sldId id="298" r:id="rId30"/>
    <p:sldId id="281" r:id="rId3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aren Killian" initials="KK" lastIdx="1" clrIdx="0"/>
  <p:cmAuthor id="2" name="Kehoe, Tyler E. (Contractor)" initials="TEK" lastIdx="1" clrIdx="1"/>
  <p:cmAuthor id="3" name="Varn, Sophie A. (Contractor)" initials="VSA(" lastIdx="1" clrIdx="2">
    <p:extLst>
      <p:ext uri="{19B8F6BF-5375-455C-9EA6-DF929625EA0E}">
        <p15:presenceInfo xmlns:p15="http://schemas.microsoft.com/office/powerpoint/2012/main" userId="S::savarn@sba.gov::67d188c9-c423-4e04-81bf-1b9d14b0254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E7F"/>
    <a:srgbClr val="000000"/>
    <a:srgbClr val="F3F3F4"/>
    <a:srgbClr val="F5F6F6"/>
    <a:srgbClr val="969696"/>
    <a:srgbClr val="C00000"/>
    <a:srgbClr val="002E6D"/>
    <a:srgbClr val="898989"/>
    <a:srgbClr val="CC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671" autoAdjust="0"/>
  </p:normalViewPr>
  <p:slideViewPr>
    <p:cSldViewPr snapToGrid="0">
      <p:cViewPr varScale="1">
        <p:scale>
          <a:sx n="80" d="100"/>
          <a:sy n="80" d="100"/>
        </p:scale>
        <p:origin x="1026" y="300"/>
      </p:cViewPr>
      <p:guideLst>
        <p:guide orient="horz" pos="2160"/>
        <p:guide pos="288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619F1A-CE98-46E3-BD55-943E7DB3C4BF}" type="doc">
      <dgm:prSet loTypeId="urn:microsoft.com/office/officeart/2005/8/layout/cycle6" loCatId="cycle" qsTypeId="urn:microsoft.com/office/officeart/2005/8/quickstyle/simple1" qsCatId="simple" csTypeId="urn:microsoft.com/office/officeart/2005/8/colors/accent1_2" csCatId="accent1" phldr="1"/>
      <dgm:spPr/>
      <dgm:t>
        <a:bodyPr/>
        <a:lstStyle/>
        <a:p>
          <a:endParaRPr lang="en-US"/>
        </a:p>
      </dgm:t>
    </dgm:pt>
    <dgm:pt modelId="{8ADBBE1C-B6A2-4EC5-A770-2D8B53BE014F}">
      <dgm:prSet phldrT="[Text]"/>
      <dgm:spPr>
        <a:solidFill>
          <a:srgbClr val="AB162C"/>
        </a:solidFill>
      </dgm:spPr>
      <dgm:t>
        <a:bodyPr/>
        <a:lstStyle/>
        <a:p>
          <a:r>
            <a:rPr lang="en-US" b="1">
              <a:latin typeface="Source Sans Pro" panose="020B0503030403020204" pitchFamily="34" charset="0"/>
              <a:ea typeface="Source Sans Pro" panose="020B0503030403020204" pitchFamily="34" charset="0"/>
              <a:cs typeface="Franklin Gothic Demi"/>
            </a:rPr>
            <a:t>Revenue Drivers</a:t>
          </a:r>
        </a:p>
      </dgm:t>
    </dgm:pt>
    <dgm:pt modelId="{5AF55FFC-090E-4148-BE00-7C477A37E3E8}" type="parTrans" cxnId="{C9F45B09-9647-43A6-A927-50AF50E20275}">
      <dgm:prSet/>
      <dgm:spPr/>
      <dgm:t>
        <a:bodyPr/>
        <a:lstStyle/>
        <a:p>
          <a:endParaRPr lang="en-US"/>
        </a:p>
      </dgm:t>
    </dgm:pt>
    <dgm:pt modelId="{436E41E7-4EB4-4E4D-B824-97ACA1954A37}" type="sibTrans" cxnId="{C9F45B09-9647-43A6-A927-50AF50E20275}">
      <dgm:prSet/>
      <dgm:spPr>
        <a:ln>
          <a:solidFill>
            <a:srgbClr val="001970"/>
          </a:solidFill>
        </a:ln>
      </dgm:spPr>
      <dgm:t>
        <a:bodyPr/>
        <a:lstStyle/>
        <a:p>
          <a:endParaRPr lang="en-US"/>
        </a:p>
      </dgm:t>
    </dgm:pt>
    <dgm:pt modelId="{C32861A4-44F5-46A3-A37E-EF46A5B5750E}">
      <dgm:prSet phldrT="[Text]"/>
      <dgm:spPr>
        <a:solidFill>
          <a:srgbClr val="AB162C"/>
        </a:solidFill>
      </dgm:spPr>
      <dgm:t>
        <a:bodyPr/>
        <a:lstStyle/>
        <a:p>
          <a:r>
            <a:rPr lang="en-US" b="1">
              <a:latin typeface="Source Sans Pro" panose="020B0503030403020204" pitchFamily="34" charset="0"/>
              <a:ea typeface="Source Sans Pro" panose="020B0503030403020204" pitchFamily="34" charset="0"/>
              <a:cs typeface="Franklin Gothic Demi"/>
            </a:rPr>
            <a:t>Margins</a:t>
          </a:r>
        </a:p>
      </dgm:t>
    </dgm:pt>
    <dgm:pt modelId="{F8BBF592-C7F8-4405-BB06-B781A2603FB0}" type="parTrans" cxnId="{AFC8BB95-773F-4D65-BB8D-F38C1202F2FB}">
      <dgm:prSet/>
      <dgm:spPr/>
      <dgm:t>
        <a:bodyPr/>
        <a:lstStyle/>
        <a:p>
          <a:endParaRPr lang="en-US"/>
        </a:p>
      </dgm:t>
    </dgm:pt>
    <dgm:pt modelId="{3265A0B1-3C63-412E-A6E2-288248B6662D}" type="sibTrans" cxnId="{AFC8BB95-773F-4D65-BB8D-F38C1202F2FB}">
      <dgm:prSet/>
      <dgm:spPr>
        <a:ln>
          <a:solidFill>
            <a:srgbClr val="001970"/>
          </a:solidFill>
        </a:ln>
      </dgm:spPr>
      <dgm:t>
        <a:bodyPr/>
        <a:lstStyle/>
        <a:p>
          <a:endParaRPr lang="en-US"/>
        </a:p>
      </dgm:t>
    </dgm:pt>
    <dgm:pt modelId="{E7CFA083-C099-4C5D-999C-5D2D2900E0E9}">
      <dgm:prSet phldrT="[Text]"/>
      <dgm:spPr>
        <a:solidFill>
          <a:srgbClr val="AB162C"/>
        </a:solidFill>
      </dgm:spPr>
      <dgm:t>
        <a:bodyPr/>
        <a:lstStyle/>
        <a:p>
          <a:r>
            <a:rPr lang="en-US" b="1">
              <a:latin typeface="Source Sans Pro" panose="020B0503030403020204" pitchFamily="34" charset="0"/>
              <a:ea typeface="Source Sans Pro" panose="020B0503030403020204" pitchFamily="34" charset="0"/>
              <a:cs typeface="Franklin Gothic Demi"/>
            </a:rPr>
            <a:t>Volumes</a:t>
          </a:r>
        </a:p>
      </dgm:t>
    </dgm:pt>
    <dgm:pt modelId="{9B8AD236-D0A2-42B7-85A3-18C66DF82806}" type="parTrans" cxnId="{05D1A0FA-D377-4451-AD0B-708142EDDC47}">
      <dgm:prSet/>
      <dgm:spPr/>
      <dgm:t>
        <a:bodyPr/>
        <a:lstStyle/>
        <a:p>
          <a:endParaRPr lang="en-US"/>
        </a:p>
      </dgm:t>
    </dgm:pt>
    <dgm:pt modelId="{F9E7C0B4-0482-43EA-A442-1C80D19E7B11}" type="sibTrans" cxnId="{05D1A0FA-D377-4451-AD0B-708142EDDC47}">
      <dgm:prSet/>
      <dgm:spPr>
        <a:ln>
          <a:solidFill>
            <a:srgbClr val="001970"/>
          </a:solidFill>
        </a:ln>
      </dgm:spPr>
      <dgm:t>
        <a:bodyPr/>
        <a:lstStyle/>
        <a:p>
          <a:endParaRPr lang="en-US"/>
        </a:p>
      </dgm:t>
    </dgm:pt>
    <dgm:pt modelId="{C1CA0276-FC5B-41A4-96A4-35B11405A39E}">
      <dgm:prSet phldrT="[Text]"/>
      <dgm:spPr>
        <a:solidFill>
          <a:srgbClr val="AB162C"/>
        </a:solidFill>
      </dgm:spPr>
      <dgm:t>
        <a:bodyPr/>
        <a:lstStyle/>
        <a:p>
          <a:r>
            <a:rPr lang="en-US" b="1">
              <a:latin typeface="Source Sans Pro" panose="020B0503030403020204" pitchFamily="34" charset="0"/>
              <a:ea typeface="Source Sans Pro" panose="020B0503030403020204" pitchFamily="34" charset="0"/>
              <a:cs typeface="Franklin Gothic Demi"/>
            </a:rPr>
            <a:t>Operating Leverage</a:t>
          </a:r>
        </a:p>
      </dgm:t>
    </dgm:pt>
    <dgm:pt modelId="{102A8084-40B5-4AFE-A70F-3B557B3CBE40}" type="parTrans" cxnId="{6E4CAF80-B235-4486-85E6-745C992D5527}">
      <dgm:prSet/>
      <dgm:spPr/>
      <dgm:t>
        <a:bodyPr/>
        <a:lstStyle/>
        <a:p>
          <a:endParaRPr lang="en-US"/>
        </a:p>
      </dgm:t>
    </dgm:pt>
    <dgm:pt modelId="{AE2194AC-C506-4F5C-AB24-A7F07D67A552}" type="sibTrans" cxnId="{6E4CAF80-B235-4486-85E6-745C992D5527}">
      <dgm:prSet/>
      <dgm:spPr>
        <a:ln>
          <a:solidFill>
            <a:srgbClr val="001970"/>
          </a:solidFill>
        </a:ln>
      </dgm:spPr>
      <dgm:t>
        <a:bodyPr/>
        <a:lstStyle/>
        <a:p>
          <a:endParaRPr lang="en-US"/>
        </a:p>
      </dgm:t>
    </dgm:pt>
    <dgm:pt modelId="{668F740F-4AA8-4550-9EDB-9F301438868F}" type="pres">
      <dgm:prSet presAssocID="{D9619F1A-CE98-46E3-BD55-943E7DB3C4BF}" presName="cycle" presStyleCnt="0">
        <dgm:presLayoutVars>
          <dgm:dir/>
          <dgm:resizeHandles val="exact"/>
        </dgm:presLayoutVars>
      </dgm:prSet>
      <dgm:spPr/>
    </dgm:pt>
    <dgm:pt modelId="{A1B640A8-890C-46AC-A2DC-12ACCC62D54F}" type="pres">
      <dgm:prSet presAssocID="{8ADBBE1C-B6A2-4EC5-A770-2D8B53BE014F}" presName="node" presStyleLbl="node1" presStyleIdx="0" presStyleCnt="4">
        <dgm:presLayoutVars>
          <dgm:bulletEnabled val="1"/>
        </dgm:presLayoutVars>
      </dgm:prSet>
      <dgm:spPr/>
    </dgm:pt>
    <dgm:pt modelId="{66038003-8A0E-4A18-950B-E6BC5778BDB9}" type="pres">
      <dgm:prSet presAssocID="{8ADBBE1C-B6A2-4EC5-A770-2D8B53BE014F}" presName="spNode" presStyleCnt="0"/>
      <dgm:spPr/>
    </dgm:pt>
    <dgm:pt modelId="{3FDB9296-36A5-4DB8-8C50-0E52679667C6}" type="pres">
      <dgm:prSet presAssocID="{436E41E7-4EB4-4E4D-B824-97ACA1954A37}" presName="sibTrans" presStyleLbl="sibTrans1D1" presStyleIdx="0" presStyleCnt="4"/>
      <dgm:spPr/>
    </dgm:pt>
    <dgm:pt modelId="{4B7FDB1E-01FB-40BE-84C9-2AE2B315EB30}" type="pres">
      <dgm:prSet presAssocID="{C32861A4-44F5-46A3-A37E-EF46A5B5750E}" presName="node" presStyleLbl="node1" presStyleIdx="1" presStyleCnt="4">
        <dgm:presLayoutVars>
          <dgm:bulletEnabled val="1"/>
        </dgm:presLayoutVars>
      </dgm:prSet>
      <dgm:spPr/>
    </dgm:pt>
    <dgm:pt modelId="{3709BDA0-F8B1-4314-95A4-2B97DF996A6D}" type="pres">
      <dgm:prSet presAssocID="{C32861A4-44F5-46A3-A37E-EF46A5B5750E}" presName="spNode" presStyleCnt="0"/>
      <dgm:spPr/>
    </dgm:pt>
    <dgm:pt modelId="{0E385D0A-D94D-41F9-8518-F1B54CFD8B03}" type="pres">
      <dgm:prSet presAssocID="{3265A0B1-3C63-412E-A6E2-288248B6662D}" presName="sibTrans" presStyleLbl="sibTrans1D1" presStyleIdx="1" presStyleCnt="4"/>
      <dgm:spPr/>
    </dgm:pt>
    <dgm:pt modelId="{22EA334A-B88C-49A3-94D6-AA7779641542}" type="pres">
      <dgm:prSet presAssocID="{E7CFA083-C099-4C5D-999C-5D2D2900E0E9}" presName="node" presStyleLbl="node1" presStyleIdx="2" presStyleCnt="4">
        <dgm:presLayoutVars>
          <dgm:bulletEnabled val="1"/>
        </dgm:presLayoutVars>
      </dgm:prSet>
      <dgm:spPr/>
    </dgm:pt>
    <dgm:pt modelId="{EA059D37-372E-473B-AEEB-6AC65A603C2B}" type="pres">
      <dgm:prSet presAssocID="{E7CFA083-C099-4C5D-999C-5D2D2900E0E9}" presName="spNode" presStyleCnt="0"/>
      <dgm:spPr/>
    </dgm:pt>
    <dgm:pt modelId="{75068149-7A68-4135-AC1F-C09648DB61A8}" type="pres">
      <dgm:prSet presAssocID="{F9E7C0B4-0482-43EA-A442-1C80D19E7B11}" presName="sibTrans" presStyleLbl="sibTrans1D1" presStyleIdx="2" presStyleCnt="4"/>
      <dgm:spPr/>
    </dgm:pt>
    <dgm:pt modelId="{EAA67687-930F-4E93-9DE6-B982FB571A2D}" type="pres">
      <dgm:prSet presAssocID="{C1CA0276-FC5B-41A4-96A4-35B11405A39E}" presName="node" presStyleLbl="node1" presStyleIdx="3" presStyleCnt="4" custScaleX="110049">
        <dgm:presLayoutVars>
          <dgm:bulletEnabled val="1"/>
        </dgm:presLayoutVars>
      </dgm:prSet>
      <dgm:spPr/>
    </dgm:pt>
    <dgm:pt modelId="{D7124803-D34D-4C0A-8F81-6C0F5F75A47C}" type="pres">
      <dgm:prSet presAssocID="{C1CA0276-FC5B-41A4-96A4-35B11405A39E}" presName="spNode" presStyleCnt="0"/>
      <dgm:spPr/>
    </dgm:pt>
    <dgm:pt modelId="{18688A3E-8188-42AF-93E7-7517F5AD89E0}" type="pres">
      <dgm:prSet presAssocID="{AE2194AC-C506-4F5C-AB24-A7F07D67A552}" presName="sibTrans" presStyleLbl="sibTrans1D1" presStyleIdx="3" presStyleCnt="4"/>
      <dgm:spPr/>
    </dgm:pt>
  </dgm:ptLst>
  <dgm:cxnLst>
    <dgm:cxn modelId="{C9F45B09-9647-43A6-A927-50AF50E20275}" srcId="{D9619F1A-CE98-46E3-BD55-943E7DB3C4BF}" destId="{8ADBBE1C-B6A2-4EC5-A770-2D8B53BE014F}" srcOrd="0" destOrd="0" parTransId="{5AF55FFC-090E-4148-BE00-7C477A37E3E8}" sibTransId="{436E41E7-4EB4-4E4D-B824-97ACA1954A37}"/>
    <dgm:cxn modelId="{1DC8BC0F-EA61-4126-81A0-32990FA1EEFD}" type="presOf" srcId="{F9E7C0B4-0482-43EA-A442-1C80D19E7B11}" destId="{75068149-7A68-4135-AC1F-C09648DB61A8}" srcOrd="0" destOrd="0" presId="urn:microsoft.com/office/officeart/2005/8/layout/cycle6"/>
    <dgm:cxn modelId="{2EB09E21-C3B5-4FC9-8DBA-6A7F464A0989}" type="presOf" srcId="{C1CA0276-FC5B-41A4-96A4-35B11405A39E}" destId="{EAA67687-930F-4E93-9DE6-B982FB571A2D}" srcOrd="0" destOrd="0" presId="urn:microsoft.com/office/officeart/2005/8/layout/cycle6"/>
    <dgm:cxn modelId="{952A4D34-0514-44EB-AAE5-DF18875CB0D0}" type="presOf" srcId="{8ADBBE1C-B6A2-4EC5-A770-2D8B53BE014F}" destId="{A1B640A8-890C-46AC-A2DC-12ACCC62D54F}" srcOrd="0" destOrd="0" presId="urn:microsoft.com/office/officeart/2005/8/layout/cycle6"/>
    <dgm:cxn modelId="{EB83685B-DDFA-49E5-881A-D3EBD19D7BE7}" type="presOf" srcId="{3265A0B1-3C63-412E-A6E2-288248B6662D}" destId="{0E385D0A-D94D-41F9-8518-F1B54CFD8B03}" srcOrd="0" destOrd="0" presId="urn:microsoft.com/office/officeart/2005/8/layout/cycle6"/>
    <dgm:cxn modelId="{6E4CAF80-B235-4486-85E6-745C992D5527}" srcId="{D9619F1A-CE98-46E3-BD55-943E7DB3C4BF}" destId="{C1CA0276-FC5B-41A4-96A4-35B11405A39E}" srcOrd="3" destOrd="0" parTransId="{102A8084-40B5-4AFE-A70F-3B557B3CBE40}" sibTransId="{AE2194AC-C506-4F5C-AB24-A7F07D67A552}"/>
    <dgm:cxn modelId="{AFC8BB95-773F-4D65-BB8D-F38C1202F2FB}" srcId="{D9619F1A-CE98-46E3-BD55-943E7DB3C4BF}" destId="{C32861A4-44F5-46A3-A37E-EF46A5B5750E}" srcOrd="1" destOrd="0" parTransId="{F8BBF592-C7F8-4405-BB06-B781A2603FB0}" sibTransId="{3265A0B1-3C63-412E-A6E2-288248B6662D}"/>
    <dgm:cxn modelId="{A137A1AB-B4C9-434C-B804-6D2EEB79CD14}" type="presOf" srcId="{AE2194AC-C506-4F5C-AB24-A7F07D67A552}" destId="{18688A3E-8188-42AF-93E7-7517F5AD89E0}" srcOrd="0" destOrd="0" presId="urn:microsoft.com/office/officeart/2005/8/layout/cycle6"/>
    <dgm:cxn modelId="{FE94D9C0-042F-4C9F-B74A-76DB28DD8728}" type="presOf" srcId="{E7CFA083-C099-4C5D-999C-5D2D2900E0E9}" destId="{22EA334A-B88C-49A3-94D6-AA7779641542}" srcOrd="0" destOrd="0" presId="urn:microsoft.com/office/officeart/2005/8/layout/cycle6"/>
    <dgm:cxn modelId="{BD62DAC2-F659-4788-909C-3FCFF4F3BFEB}" type="presOf" srcId="{436E41E7-4EB4-4E4D-B824-97ACA1954A37}" destId="{3FDB9296-36A5-4DB8-8C50-0E52679667C6}" srcOrd="0" destOrd="0" presId="urn:microsoft.com/office/officeart/2005/8/layout/cycle6"/>
    <dgm:cxn modelId="{7C856AD5-7102-4192-B484-DA3DA103CE87}" type="presOf" srcId="{C32861A4-44F5-46A3-A37E-EF46A5B5750E}" destId="{4B7FDB1E-01FB-40BE-84C9-2AE2B315EB30}" srcOrd="0" destOrd="0" presId="urn:microsoft.com/office/officeart/2005/8/layout/cycle6"/>
    <dgm:cxn modelId="{1E0481E1-04EE-4114-8F6B-7339485F8939}" type="presOf" srcId="{D9619F1A-CE98-46E3-BD55-943E7DB3C4BF}" destId="{668F740F-4AA8-4550-9EDB-9F301438868F}" srcOrd="0" destOrd="0" presId="urn:microsoft.com/office/officeart/2005/8/layout/cycle6"/>
    <dgm:cxn modelId="{05D1A0FA-D377-4451-AD0B-708142EDDC47}" srcId="{D9619F1A-CE98-46E3-BD55-943E7DB3C4BF}" destId="{E7CFA083-C099-4C5D-999C-5D2D2900E0E9}" srcOrd="2" destOrd="0" parTransId="{9B8AD236-D0A2-42B7-85A3-18C66DF82806}" sibTransId="{F9E7C0B4-0482-43EA-A442-1C80D19E7B11}"/>
    <dgm:cxn modelId="{C3573CD3-2B90-4849-9FEE-C0D52FF03387}" type="presParOf" srcId="{668F740F-4AA8-4550-9EDB-9F301438868F}" destId="{A1B640A8-890C-46AC-A2DC-12ACCC62D54F}" srcOrd="0" destOrd="0" presId="urn:microsoft.com/office/officeart/2005/8/layout/cycle6"/>
    <dgm:cxn modelId="{177DFF6B-5A12-4D77-9024-D879AD1F4711}" type="presParOf" srcId="{668F740F-4AA8-4550-9EDB-9F301438868F}" destId="{66038003-8A0E-4A18-950B-E6BC5778BDB9}" srcOrd="1" destOrd="0" presId="urn:microsoft.com/office/officeart/2005/8/layout/cycle6"/>
    <dgm:cxn modelId="{13FD849C-A69A-4914-B64E-85511791EF0A}" type="presParOf" srcId="{668F740F-4AA8-4550-9EDB-9F301438868F}" destId="{3FDB9296-36A5-4DB8-8C50-0E52679667C6}" srcOrd="2" destOrd="0" presId="urn:microsoft.com/office/officeart/2005/8/layout/cycle6"/>
    <dgm:cxn modelId="{04DDB69E-1DDB-4D5E-9772-6D299178C0A7}" type="presParOf" srcId="{668F740F-4AA8-4550-9EDB-9F301438868F}" destId="{4B7FDB1E-01FB-40BE-84C9-2AE2B315EB30}" srcOrd="3" destOrd="0" presId="urn:microsoft.com/office/officeart/2005/8/layout/cycle6"/>
    <dgm:cxn modelId="{367EC303-3EFE-46A2-979A-72C5D33DD7E6}" type="presParOf" srcId="{668F740F-4AA8-4550-9EDB-9F301438868F}" destId="{3709BDA0-F8B1-4314-95A4-2B97DF996A6D}" srcOrd="4" destOrd="0" presId="urn:microsoft.com/office/officeart/2005/8/layout/cycle6"/>
    <dgm:cxn modelId="{FBD9F4F5-738D-4E48-913F-328476CDBA71}" type="presParOf" srcId="{668F740F-4AA8-4550-9EDB-9F301438868F}" destId="{0E385D0A-D94D-41F9-8518-F1B54CFD8B03}" srcOrd="5" destOrd="0" presId="urn:microsoft.com/office/officeart/2005/8/layout/cycle6"/>
    <dgm:cxn modelId="{4E25E39D-C243-4E5D-9745-D30D368B7510}" type="presParOf" srcId="{668F740F-4AA8-4550-9EDB-9F301438868F}" destId="{22EA334A-B88C-49A3-94D6-AA7779641542}" srcOrd="6" destOrd="0" presId="urn:microsoft.com/office/officeart/2005/8/layout/cycle6"/>
    <dgm:cxn modelId="{4AF3C250-F937-4A41-BA79-BDF5E38A256E}" type="presParOf" srcId="{668F740F-4AA8-4550-9EDB-9F301438868F}" destId="{EA059D37-372E-473B-AEEB-6AC65A603C2B}" srcOrd="7" destOrd="0" presId="urn:microsoft.com/office/officeart/2005/8/layout/cycle6"/>
    <dgm:cxn modelId="{C3C28EBA-FE8D-4B94-860C-D6285519026D}" type="presParOf" srcId="{668F740F-4AA8-4550-9EDB-9F301438868F}" destId="{75068149-7A68-4135-AC1F-C09648DB61A8}" srcOrd="8" destOrd="0" presId="urn:microsoft.com/office/officeart/2005/8/layout/cycle6"/>
    <dgm:cxn modelId="{108DA2BF-DDB3-4383-97D5-BB476E35BAD3}" type="presParOf" srcId="{668F740F-4AA8-4550-9EDB-9F301438868F}" destId="{EAA67687-930F-4E93-9DE6-B982FB571A2D}" srcOrd="9" destOrd="0" presId="urn:microsoft.com/office/officeart/2005/8/layout/cycle6"/>
    <dgm:cxn modelId="{7C7010F6-B643-428A-BB4E-26488D10D335}" type="presParOf" srcId="{668F740F-4AA8-4550-9EDB-9F301438868F}" destId="{D7124803-D34D-4C0A-8F81-6C0F5F75A47C}" srcOrd="10" destOrd="0" presId="urn:microsoft.com/office/officeart/2005/8/layout/cycle6"/>
    <dgm:cxn modelId="{7AA20ACB-C603-445D-876C-8C8359C452DE}" type="presParOf" srcId="{668F740F-4AA8-4550-9EDB-9F301438868F}" destId="{18688A3E-8188-42AF-93E7-7517F5AD89E0}" srcOrd="11" destOrd="0" presId="urn:microsoft.com/office/officeart/2005/8/layout/cycle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B640A8-890C-46AC-A2DC-12ACCC62D54F}">
      <dsp:nvSpPr>
        <dsp:cNvPr id="0" name=""/>
        <dsp:cNvSpPr/>
      </dsp:nvSpPr>
      <dsp:spPr>
        <a:xfrm>
          <a:off x="2681483" y="2114"/>
          <a:ext cx="1682436" cy="1093583"/>
        </a:xfrm>
        <a:prstGeom prst="roundRect">
          <a:avLst/>
        </a:prstGeom>
        <a:solidFill>
          <a:srgbClr val="AB162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b="1" kern="1200">
              <a:latin typeface="Source Sans Pro" panose="020B0503030403020204" pitchFamily="34" charset="0"/>
              <a:ea typeface="Source Sans Pro" panose="020B0503030403020204" pitchFamily="34" charset="0"/>
              <a:cs typeface="Franklin Gothic Demi"/>
            </a:rPr>
            <a:t>Revenue Drivers</a:t>
          </a:r>
        </a:p>
      </dsp:txBody>
      <dsp:txXfrm>
        <a:off x="2734867" y="55498"/>
        <a:ext cx="1575668" cy="986815"/>
      </dsp:txXfrm>
    </dsp:sp>
    <dsp:sp modelId="{3FDB9296-36A5-4DB8-8C50-0E52679667C6}">
      <dsp:nvSpPr>
        <dsp:cNvPr id="0" name=""/>
        <dsp:cNvSpPr/>
      </dsp:nvSpPr>
      <dsp:spPr>
        <a:xfrm>
          <a:off x="1714488" y="548906"/>
          <a:ext cx="3616427" cy="3616427"/>
        </a:xfrm>
        <a:custGeom>
          <a:avLst/>
          <a:gdLst/>
          <a:ahLst/>
          <a:cxnLst/>
          <a:rect l="0" t="0" r="0" b="0"/>
          <a:pathLst>
            <a:path>
              <a:moveTo>
                <a:pt x="2661574" y="214032"/>
              </a:moveTo>
              <a:arcTo wR="1808213" hR="1808213" stAng="17889601" swAng="2628184"/>
            </a:path>
          </a:pathLst>
        </a:custGeom>
        <a:noFill/>
        <a:ln w="6350" cap="flat" cmpd="sng" algn="ctr">
          <a:solidFill>
            <a:srgbClr val="001970"/>
          </a:solidFill>
          <a:prstDash val="solid"/>
          <a:miter lim="800000"/>
        </a:ln>
        <a:effectLst/>
      </dsp:spPr>
      <dsp:style>
        <a:lnRef idx="1">
          <a:scrgbClr r="0" g="0" b="0"/>
        </a:lnRef>
        <a:fillRef idx="0">
          <a:scrgbClr r="0" g="0" b="0"/>
        </a:fillRef>
        <a:effectRef idx="0">
          <a:scrgbClr r="0" g="0" b="0"/>
        </a:effectRef>
        <a:fontRef idx="minor"/>
      </dsp:style>
    </dsp:sp>
    <dsp:sp modelId="{4B7FDB1E-01FB-40BE-84C9-2AE2B315EB30}">
      <dsp:nvSpPr>
        <dsp:cNvPr id="0" name=""/>
        <dsp:cNvSpPr/>
      </dsp:nvSpPr>
      <dsp:spPr>
        <a:xfrm>
          <a:off x="4489697" y="1810328"/>
          <a:ext cx="1682436" cy="1093583"/>
        </a:xfrm>
        <a:prstGeom prst="roundRect">
          <a:avLst/>
        </a:prstGeom>
        <a:solidFill>
          <a:srgbClr val="AB162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b="1" kern="1200">
              <a:latin typeface="Source Sans Pro" panose="020B0503030403020204" pitchFamily="34" charset="0"/>
              <a:ea typeface="Source Sans Pro" panose="020B0503030403020204" pitchFamily="34" charset="0"/>
              <a:cs typeface="Franklin Gothic Demi"/>
            </a:rPr>
            <a:t>Margins</a:t>
          </a:r>
        </a:p>
      </dsp:txBody>
      <dsp:txXfrm>
        <a:off x="4543081" y="1863712"/>
        <a:ext cx="1575668" cy="986815"/>
      </dsp:txXfrm>
    </dsp:sp>
    <dsp:sp modelId="{0E385D0A-D94D-41F9-8518-F1B54CFD8B03}">
      <dsp:nvSpPr>
        <dsp:cNvPr id="0" name=""/>
        <dsp:cNvSpPr/>
      </dsp:nvSpPr>
      <dsp:spPr>
        <a:xfrm>
          <a:off x="1714488" y="548906"/>
          <a:ext cx="3616427" cy="3616427"/>
        </a:xfrm>
        <a:custGeom>
          <a:avLst/>
          <a:gdLst/>
          <a:ahLst/>
          <a:cxnLst/>
          <a:rect l="0" t="0" r="0" b="0"/>
          <a:pathLst>
            <a:path>
              <a:moveTo>
                <a:pt x="3527566" y="2368090"/>
              </a:moveTo>
              <a:arcTo wR="1808213" hR="1808213" stAng="1082215" swAng="2628184"/>
            </a:path>
          </a:pathLst>
        </a:custGeom>
        <a:noFill/>
        <a:ln w="6350" cap="flat" cmpd="sng" algn="ctr">
          <a:solidFill>
            <a:srgbClr val="001970"/>
          </a:solidFill>
          <a:prstDash val="solid"/>
          <a:miter lim="800000"/>
        </a:ln>
        <a:effectLst/>
      </dsp:spPr>
      <dsp:style>
        <a:lnRef idx="1">
          <a:scrgbClr r="0" g="0" b="0"/>
        </a:lnRef>
        <a:fillRef idx="0">
          <a:scrgbClr r="0" g="0" b="0"/>
        </a:fillRef>
        <a:effectRef idx="0">
          <a:scrgbClr r="0" g="0" b="0"/>
        </a:effectRef>
        <a:fontRef idx="minor"/>
      </dsp:style>
    </dsp:sp>
    <dsp:sp modelId="{22EA334A-B88C-49A3-94D6-AA7779641542}">
      <dsp:nvSpPr>
        <dsp:cNvPr id="0" name=""/>
        <dsp:cNvSpPr/>
      </dsp:nvSpPr>
      <dsp:spPr>
        <a:xfrm>
          <a:off x="2681483" y="3618541"/>
          <a:ext cx="1682436" cy="1093583"/>
        </a:xfrm>
        <a:prstGeom prst="roundRect">
          <a:avLst/>
        </a:prstGeom>
        <a:solidFill>
          <a:srgbClr val="AB162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b="1" kern="1200">
              <a:latin typeface="Source Sans Pro" panose="020B0503030403020204" pitchFamily="34" charset="0"/>
              <a:ea typeface="Source Sans Pro" panose="020B0503030403020204" pitchFamily="34" charset="0"/>
              <a:cs typeface="Franklin Gothic Demi"/>
            </a:rPr>
            <a:t>Volumes</a:t>
          </a:r>
        </a:p>
      </dsp:txBody>
      <dsp:txXfrm>
        <a:off x="2734867" y="3671925"/>
        <a:ext cx="1575668" cy="986815"/>
      </dsp:txXfrm>
    </dsp:sp>
    <dsp:sp modelId="{75068149-7A68-4135-AC1F-C09648DB61A8}">
      <dsp:nvSpPr>
        <dsp:cNvPr id="0" name=""/>
        <dsp:cNvSpPr/>
      </dsp:nvSpPr>
      <dsp:spPr>
        <a:xfrm>
          <a:off x="1714488" y="548906"/>
          <a:ext cx="3616427" cy="3616427"/>
        </a:xfrm>
        <a:custGeom>
          <a:avLst/>
          <a:gdLst/>
          <a:ahLst/>
          <a:cxnLst/>
          <a:rect l="0" t="0" r="0" b="0"/>
          <a:pathLst>
            <a:path>
              <a:moveTo>
                <a:pt x="954853" y="3402394"/>
              </a:moveTo>
              <a:arcTo wR="1808213" hR="1808213" stAng="7089601" swAng="2628184"/>
            </a:path>
          </a:pathLst>
        </a:custGeom>
        <a:noFill/>
        <a:ln w="6350" cap="flat" cmpd="sng" algn="ctr">
          <a:solidFill>
            <a:srgbClr val="001970"/>
          </a:solidFill>
          <a:prstDash val="solid"/>
          <a:miter lim="800000"/>
        </a:ln>
        <a:effectLst/>
      </dsp:spPr>
      <dsp:style>
        <a:lnRef idx="1">
          <a:scrgbClr r="0" g="0" b="0"/>
        </a:lnRef>
        <a:fillRef idx="0">
          <a:scrgbClr r="0" g="0" b="0"/>
        </a:fillRef>
        <a:effectRef idx="0">
          <a:scrgbClr r="0" g="0" b="0"/>
        </a:effectRef>
        <a:fontRef idx="minor"/>
      </dsp:style>
    </dsp:sp>
    <dsp:sp modelId="{EAA67687-930F-4E93-9DE6-B982FB571A2D}">
      <dsp:nvSpPr>
        <dsp:cNvPr id="0" name=""/>
        <dsp:cNvSpPr/>
      </dsp:nvSpPr>
      <dsp:spPr>
        <a:xfrm>
          <a:off x="788735" y="1810328"/>
          <a:ext cx="1851504" cy="1093583"/>
        </a:xfrm>
        <a:prstGeom prst="roundRect">
          <a:avLst/>
        </a:prstGeom>
        <a:solidFill>
          <a:srgbClr val="AB162C"/>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b="1" kern="1200">
              <a:latin typeface="Source Sans Pro" panose="020B0503030403020204" pitchFamily="34" charset="0"/>
              <a:ea typeface="Source Sans Pro" panose="020B0503030403020204" pitchFamily="34" charset="0"/>
              <a:cs typeface="Franklin Gothic Demi"/>
            </a:rPr>
            <a:t>Operating Leverage</a:t>
          </a:r>
        </a:p>
      </dsp:txBody>
      <dsp:txXfrm>
        <a:off x="842119" y="1863712"/>
        <a:ext cx="1744736" cy="986815"/>
      </dsp:txXfrm>
    </dsp:sp>
    <dsp:sp modelId="{18688A3E-8188-42AF-93E7-7517F5AD89E0}">
      <dsp:nvSpPr>
        <dsp:cNvPr id="0" name=""/>
        <dsp:cNvSpPr/>
      </dsp:nvSpPr>
      <dsp:spPr>
        <a:xfrm>
          <a:off x="1714488" y="548906"/>
          <a:ext cx="3616427" cy="3616427"/>
        </a:xfrm>
        <a:custGeom>
          <a:avLst/>
          <a:gdLst/>
          <a:ahLst/>
          <a:cxnLst/>
          <a:rect l="0" t="0" r="0" b="0"/>
          <a:pathLst>
            <a:path>
              <a:moveTo>
                <a:pt x="88860" y="1248336"/>
              </a:moveTo>
              <a:arcTo wR="1808213" hR="1808213" stAng="11882215" swAng="2628184"/>
            </a:path>
          </a:pathLst>
        </a:custGeom>
        <a:noFill/>
        <a:ln w="6350" cap="flat" cmpd="sng" algn="ctr">
          <a:solidFill>
            <a:srgbClr val="001970"/>
          </a:solidFill>
          <a:prstDash val="solid"/>
          <a:miter lim="800000"/>
        </a:ln>
        <a:effectLst/>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6">
  <dgm:title val=""/>
  <dgm:desc val=""/>
  <dgm:catLst>
    <dgm:cat type="cycle" pri="4000"/>
    <dgm:cat type="relationship" pri="24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param type="endSty" val="noArr"/>
              </dgm:alg>
              <dgm:shape xmlns:r="http://schemas.openxmlformats.org/officeDocument/2006/relationships" type="conn" r:blip="">
                <dgm:adjLst/>
              </dgm:shape>
              <dgm:presOf axis="self"/>
              <dgm:constrLst>
                <dgm:constr type="h" refType="w" fact="0.65"/>
                <dgm:constr type="connDist"/>
                <dgm:constr type="begPad" refType="connDist" fact="0.01"/>
                <dgm:constr type="endPad" refType="connDist" fact="0.01"/>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7062E8F-0327-1B44-880E-F1AFCA2C073C}" type="datetimeFigureOut">
              <a:rPr lang="en-US" smtClean="0"/>
              <a:t>2/15/2026</a:t>
            </a:fld>
            <a:endParaRPr lang="en-US"/>
          </a:p>
        </p:txBody>
      </p:sp>
      <p:sp>
        <p:nvSpPr>
          <p:cNvPr id="4" name="Footer Placeholder 3"/>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721A873F-EF5E-994B-9976-428F934A075E}" type="slidenum">
              <a:rPr lang="en-US" smtClean="0"/>
              <a:t>‹#›</a:t>
            </a:fld>
            <a:endParaRPr lang="en-US"/>
          </a:p>
        </p:txBody>
      </p:sp>
    </p:spTree>
    <p:extLst>
      <p:ext uri="{BB962C8B-B14F-4D97-AF65-F5344CB8AC3E}">
        <p14:creationId xmlns:p14="http://schemas.microsoft.com/office/powerpoint/2010/main" val="64262024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0C0BF4D7-81BE-0B4C-B655-82AD930F9C8A}" type="datetimeFigureOut">
              <a:rPr lang="en-US" smtClean="0"/>
              <a:t>2/15/2026</a:t>
            </a:fld>
            <a:endParaRPr lang="en-US"/>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452140A9-11FD-AB46-B99D-C1331D8D84D1}" type="slidenum">
              <a:rPr lang="en-US" smtClean="0"/>
              <a:t>‹#›</a:t>
            </a:fld>
            <a:endParaRPr lang="en-US"/>
          </a:p>
        </p:txBody>
      </p:sp>
    </p:spTree>
    <p:extLst>
      <p:ext uri="{BB962C8B-B14F-4D97-AF65-F5344CB8AC3E}">
        <p14:creationId xmlns:p14="http://schemas.microsoft.com/office/powerpoint/2010/main" val="760070603"/>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600" b="1" dirty="0"/>
              <a:t>Instructor Notes:</a:t>
            </a:r>
            <a:endParaRPr lang="en-US" altLang="en-US" sz="1600" b="1" dirty="0">
              <a:cs typeface="Calibri"/>
            </a:endParaRPr>
          </a:p>
          <a:p>
            <a:pPr eaLnBrk="1" hangingPunct="1">
              <a:spcBef>
                <a:spcPct val="0"/>
              </a:spcBef>
            </a:pPr>
            <a:endParaRPr lang="en-US" altLang="en-US" sz="1400" dirty="0"/>
          </a:p>
          <a:p>
            <a:pPr eaLnBrk="1" hangingPunct="1"/>
            <a:r>
              <a:rPr lang="en-US" altLang="en-US" sz="1400" b="0" dirty="0"/>
              <a:t>Explain that the economic model is where the rubber meets the road and is ultimately a key source of advantage.</a:t>
            </a:r>
          </a:p>
          <a:p>
            <a:pPr eaLnBrk="1" hangingPunct="1"/>
            <a:endParaRPr lang="en-US" altLang="en-US" sz="1400" b="0" dirty="0"/>
          </a:p>
          <a:p>
            <a:pPr eaLnBrk="1" hangingPunct="1"/>
            <a:r>
              <a:rPr lang="en-US" altLang="en-US" sz="1400" b="0" dirty="0"/>
              <a:t>Create a running example to be used throughout the Module ‐ $4 dollar pencil (</a:t>
            </a:r>
            <a:r>
              <a:rPr lang="en-US" altLang="en-US" sz="1400" b="0" dirty="0" err="1"/>
              <a:t>inflatedcost</a:t>
            </a:r>
            <a:r>
              <a:rPr lang="en-US" altLang="en-US" sz="1400" b="0" dirty="0"/>
              <a:t> to demonstrate the different components) or stick with the Starbucks cup of coffee example.</a:t>
            </a:r>
          </a:p>
          <a:p>
            <a:endParaRPr lang="en-US" sz="1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400" b="1" dirty="0"/>
              <a:t>Business Model Canvas: </a:t>
            </a:r>
            <a:r>
              <a:rPr lang="en-US" altLang="en-US" sz="1400" b="0" dirty="0"/>
              <a:t>At the end of the module</a:t>
            </a:r>
            <a:r>
              <a:rPr lang="en-US" altLang="en-US" sz="1400" b="0" dirty="0">
                <a:latin typeface="+mn-lt"/>
              </a:rPr>
              <a:t> the students will work on filling out the </a:t>
            </a:r>
            <a:r>
              <a:rPr lang="en-US" altLang="en-US" sz="1400" b="0" i="1" dirty="0">
                <a:latin typeface="+mn-lt"/>
              </a:rPr>
              <a:t>Revenue Streams </a:t>
            </a:r>
            <a:r>
              <a:rPr lang="en-US" altLang="en-US" sz="1400" b="0" dirty="0">
                <a:latin typeface="+mn-lt"/>
              </a:rPr>
              <a:t>and </a:t>
            </a:r>
            <a:r>
              <a:rPr lang="en-US" altLang="en-US" sz="1400" b="0" i="1" dirty="0">
                <a:latin typeface="+mn-lt"/>
              </a:rPr>
              <a:t>Cost Structure </a:t>
            </a:r>
            <a:r>
              <a:rPr lang="en-US" altLang="en-US" sz="1400" b="0" dirty="0">
                <a:latin typeface="+mn-lt"/>
              </a:rPr>
              <a:t>sections of their Business Model Canvas (Page 56 &amp; 57 in the Printed workbook, page 192 in the Virtual workbook).</a:t>
            </a:r>
          </a:p>
          <a:p>
            <a:endParaRPr lang="en-US" sz="1400"/>
          </a:p>
          <a:p>
            <a:endParaRPr lang="en-US" sz="1400" dirty="0"/>
          </a:p>
        </p:txBody>
      </p:sp>
    </p:spTree>
    <p:extLst>
      <p:ext uri="{BB962C8B-B14F-4D97-AF65-F5344CB8AC3E}">
        <p14:creationId xmlns:p14="http://schemas.microsoft.com/office/powerpoint/2010/main" val="10592878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200"/>
          </a:p>
          <a:p>
            <a:pPr eaLnBrk="1" hangingPunct="1">
              <a:spcBef>
                <a:spcPct val="0"/>
              </a:spcBef>
            </a:pPr>
            <a:r>
              <a:rPr lang="en-US" altLang="en-US" sz="1200"/>
              <a:t>Module Learning Objective(s): </a:t>
            </a:r>
            <a:r>
              <a:rPr lang="en-US" altLang="en-US" sz="1200" b="0"/>
              <a:t>These do not need to be expanded upon other than to ensure that the students understand what the module will cover.</a:t>
            </a:r>
          </a:p>
          <a:p>
            <a:pPr eaLnBrk="1" hangingPunct="1">
              <a:spcBef>
                <a:spcPct val="0"/>
              </a:spcBef>
            </a:pPr>
            <a:endParaRPr lang="en-US" altLang="en-US" sz="1200"/>
          </a:p>
          <a:p>
            <a:pPr eaLnBrk="1" hangingPunct="1">
              <a:spcBef>
                <a:spcPct val="0"/>
              </a:spcBef>
            </a:pPr>
            <a:r>
              <a:rPr lang="en-US" altLang="en-US" sz="1200"/>
              <a:t>Additionally:</a:t>
            </a:r>
          </a:p>
          <a:p>
            <a:pPr eaLnBrk="1" hangingPunct="1">
              <a:spcBef>
                <a:spcPct val="0"/>
              </a:spcBef>
            </a:pPr>
            <a:r>
              <a:rPr lang="en-US" altLang="en-US" sz="1200" b="0"/>
              <a:t>Understand how to arrange and re-arrange the levers of an economic model based on the stage of business.</a:t>
            </a:r>
          </a:p>
          <a:p>
            <a:endParaRPr lang="en-US"/>
          </a:p>
        </p:txBody>
      </p:sp>
    </p:spTree>
    <p:extLst>
      <p:ext uri="{BB962C8B-B14F-4D97-AF65-F5344CB8AC3E}">
        <p14:creationId xmlns:p14="http://schemas.microsoft.com/office/powerpoint/2010/main" val="3517912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a:p>
          <a:p>
            <a:pPr marL="171450" indent="-171450" defTabSz="966407" eaLnBrk="1" fontAlgn="auto" hangingPunct="1">
              <a:spcBef>
                <a:spcPts val="0"/>
              </a:spcBef>
              <a:spcAft>
                <a:spcPts val="0"/>
              </a:spcAft>
              <a:buFont typeface="Arial" panose="020B0604020202020204" pitchFamily="34" charset="0"/>
              <a:buChar char="•"/>
              <a:defRPr/>
            </a:pPr>
            <a:r>
              <a:rPr lang="en-US" sz="1200" b="0"/>
              <a:t>We will talk about the 4 levers in the economic model and how they interact to form your risk profile.  </a:t>
            </a:r>
          </a:p>
          <a:p>
            <a:pPr marL="171450" indent="-171450" defTabSz="966407" eaLnBrk="1" fontAlgn="auto" hangingPunct="1">
              <a:spcBef>
                <a:spcPts val="0"/>
              </a:spcBef>
              <a:spcAft>
                <a:spcPts val="0"/>
              </a:spcAft>
              <a:buFont typeface="Arial" panose="020B0604020202020204" pitchFamily="34" charset="0"/>
              <a:buChar char="•"/>
              <a:defRPr/>
            </a:pPr>
            <a:r>
              <a:rPr lang="en-US" sz="1200" b="0"/>
              <a:t>A lot of this information may be intuitive and we will give you a common vocabulary to use when building your economic model.  </a:t>
            </a:r>
          </a:p>
          <a:p>
            <a:pPr marL="171450" indent="-171450" defTabSz="966407" eaLnBrk="1" fontAlgn="auto" hangingPunct="1">
              <a:spcBef>
                <a:spcPts val="0"/>
              </a:spcBef>
              <a:spcAft>
                <a:spcPts val="0"/>
              </a:spcAft>
              <a:buFont typeface="Arial" panose="020B0604020202020204" pitchFamily="34" charset="0"/>
              <a:buChar char="•"/>
              <a:defRPr/>
            </a:pPr>
            <a:r>
              <a:rPr lang="en-US" sz="1200" b="0"/>
              <a:t>You want to know how your model impacts risk, regardless of how you are funded (self, debt, equity).</a:t>
            </a:r>
          </a:p>
          <a:p>
            <a:endParaRPr lang="en-US"/>
          </a:p>
        </p:txBody>
      </p:sp>
    </p:spTree>
    <p:extLst>
      <p:ext uri="{BB962C8B-B14F-4D97-AF65-F5344CB8AC3E}">
        <p14:creationId xmlns:p14="http://schemas.microsoft.com/office/powerpoint/2010/main" val="28099920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sz="1100"/>
          </a:p>
          <a:p>
            <a:pPr marL="285750" indent="-285750" defTabSz="966407" eaLnBrk="1" fontAlgn="auto" hangingPunct="1">
              <a:spcBef>
                <a:spcPts val="0"/>
              </a:spcBef>
              <a:spcAft>
                <a:spcPts val="0"/>
              </a:spcAft>
              <a:buFont typeface="Arial" panose="020B0604020202020204" pitchFamily="34" charset="0"/>
              <a:buChar char="•"/>
              <a:defRPr/>
            </a:pPr>
            <a:r>
              <a:rPr lang="en-US" sz="1200" b="0"/>
              <a:t>Business Model – How You Make Money – Customer Facing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This is how the business earns its income that is valuated in the form of financial return.</a:t>
            </a:r>
          </a:p>
          <a:p>
            <a:pPr marL="768953" lvl="1" indent="-285750" defTabSz="966407" eaLnBrk="1" fontAlgn="auto" hangingPunct="1">
              <a:spcBef>
                <a:spcPts val="0"/>
              </a:spcBef>
              <a:spcAft>
                <a:spcPts val="0"/>
              </a:spcAft>
              <a:buFont typeface="Arial" panose="020B0604020202020204" pitchFamily="34" charset="0"/>
              <a:buChar char="•"/>
              <a:defRPr/>
            </a:pPr>
            <a:r>
              <a:rPr lang="en-US" sz="1200"/>
              <a:t>The Business Model, as discussed in Module 3, is how a company makes money </a:t>
            </a:r>
          </a:p>
          <a:p>
            <a:pPr marL="1252157" lvl="2" indent="-285750" defTabSz="966407" eaLnBrk="1" fontAlgn="auto" hangingPunct="1">
              <a:spcBef>
                <a:spcPts val="0"/>
              </a:spcBef>
              <a:spcAft>
                <a:spcPts val="0"/>
              </a:spcAft>
              <a:buFont typeface="Arial" panose="020B0604020202020204" pitchFamily="34" charset="0"/>
              <a:buChar char="•"/>
              <a:defRPr/>
            </a:pPr>
            <a:r>
              <a:rPr lang="en-US" sz="1200"/>
              <a:t>What product or service does it sell? Who are their primary customers? What industry does the company compete it? </a:t>
            </a:r>
          </a:p>
          <a:p>
            <a:pPr defTabSz="966407" eaLnBrk="1" fontAlgn="auto" hangingPunct="1">
              <a:spcBef>
                <a:spcPts val="0"/>
              </a:spcBef>
              <a:spcAft>
                <a:spcPts val="0"/>
              </a:spcAft>
              <a:defRPr/>
            </a:pPr>
            <a:endParaRPr lang="en-US" sz="1200" b="0"/>
          </a:p>
          <a:p>
            <a:pPr marL="285750" indent="-285750" defTabSz="966407" eaLnBrk="1" fontAlgn="auto" hangingPunct="1">
              <a:spcBef>
                <a:spcPts val="0"/>
              </a:spcBef>
              <a:spcAft>
                <a:spcPts val="0"/>
              </a:spcAft>
              <a:buFont typeface="Arial" panose="020B0604020202020204" pitchFamily="34" charset="0"/>
              <a:buChar char="•"/>
              <a:defRPr/>
            </a:pPr>
            <a:r>
              <a:rPr lang="en-US" sz="1200" b="0"/>
              <a:t>Economic Model – How You Manage Money – Owner Facing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Module 4 is about the Economic Model – How does the company manage their money?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This is the aspect of business that the majority of people do not want to focus on, but can be problematic.</a:t>
            </a:r>
          </a:p>
          <a:p>
            <a:pPr marL="768953" lvl="1" indent="-285750" defTabSz="966407" eaLnBrk="1" fontAlgn="auto" hangingPunct="1">
              <a:spcBef>
                <a:spcPts val="0"/>
              </a:spcBef>
              <a:spcAft>
                <a:spcPts val="0"/>
              </a:spcAft>
              <a:buFont typeface="Arial" panose="020B0604020202020204" pitchFamily="34" charset="0"/>
              <a:buChar char="•"/>
              <a:defRPr/>
            </a:pPr>
            <a:r>
              <a:rPr lang="en-US" sz="1200"/>
              <a:t>Businesses often fail because they do not fully comprehend the importance of the topics covered in this module</a:t>
            </a:r>
            <a:br>
              <a:rPr lang="en-US" sz="1200"/>
            </a:br>
            <a:endParaRPr lang="en-US" sz="1200"/>
          </a:p>
          <a:p>
            <a:pPr marL="285750" indent="-285750" defTabSz="966407" eaLnBrk="1" fontAlgn="auto" hangingPunct="1">
              <a:spcBef>
                <a:spcPts val="0"/>
              </a:spcBef>
              <a:spcAft>
                <a:spcPts val="0"/>
              </a:spcAft>
              <a:buFont typeface="Arial" panose="020B0604020202020204" pitchFamily="34" charset="0"/>
              <a:buChar char="•"/>
              <a:defRPr/>
            </a:pPr>
            <a:r>
              <a:rPr lang="en-US" sz="1200" b="0"/>
              <a:t>Emphasize that businesses create value for customers AND owners.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Successful businesses are able to capture the value they create for customers and turn it into a shareholder return.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Apps and website are good examples of how they create value for users without capturing that value for owners (monetization).  </a:t>
            </a:r>
          </a:p>
          <a:p>
            <a:pPr defTabSz="966407" eaLnBrk="1" fontAlgn="auto" hangingPunct="1">
              <a:spcBef>
                <a:spcPts val="0"/>
              </a:spcBef>
              <a:spcAft>
                <a:spcPts val="0"/>
              </a:spcAft>
              <a:defRPr/>
            </a:pPr>
            <a:endParaRPr lang="en-US" sz="1200" b="0"/>
          </a:p>
          <a:p>
            <a:endParaRPr lang="en-US"/>
          </a:p>
        </p:txBody>
      </p:sp>
    </p:spTree>
    <p:extLst>
      <p:ext uri="{BB962C8B-B14F-4D97-AF65-F5344CB8AC3E}">
        <p14:creationId xmlns:p14="http://schemas.microsoft.com/office/powerpoint/2010/main" val="63419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200"/>
          </a:p>
          <a:p>
            <a:pPr eaLnBrk="1" hangingPunct="1">
              <a:spcBef>
                <a:spcPct val="0"/>
              </a:spcBef>
              <a:buFontTx/>
              <a:buChar char="•"/>
            </a:pPr>
            <a:r>
              <a:rPr lang="en-US" altLang="en-US" sz="1200" b="0"/>
              <a:t>This module is designed to help participants understand the importance of making moving money to be profitable over the long-term.  </a:t>
            </a:r>
          </a:p>
          <a:p>
            <a:pPr eaLnBrk="1" hangingPunct="1">
              <a:spcBef>
                <a:spcPct val="0"/>
              </a:spcBef>
              <a:buFontTx/>
              <a:buChar char="•"/>
            </a:pPr>
            <a:r>
              <a:rPr lang="en-US" altLang="en-US" sz="1200" b="0"/>
              <a:t>Too often business owners move money through their sales income and access to various sources of operating cash like a business credit card or a line of credit.  </a:t>
            </a:r>
          </a:p>
          <a:p>
            <a:pPr eaLnBrk="1" hangingPunct="1">
              <a:spcBef>
                <a:spcPct val="0"/>
              </a:spcBef>
              <a:buFontTx/>
              <a:buChar char="•"/>
            </a:pPr>
            <a:r>
              <a:rPr lang="en-US" altLang="en-US" sz="1200" b="0"/>
              <a:t>Unless owners seek to understand and evaluate the costs of doing business in relation to their sales income, they will never gain a clear understanding of their profitability. They often find this out when it is too late and their business is in financial trouble.</a:t>
            </a:r>
          </a:p>
          <a:p>
            <a:pPr eaLnBrk="1" hangingPunct="1">
              <a:spcBef>
                <a:spcPct val="0"/>
              </a:spcBef>
              <a:buFontTx/>
              <a:buChar char="•"/>
            </a:pPr>
            <a:endParaRPr lang="en-US" altLang="en-US" sz="1200" b="0"/>
          </a:p>
          <a:p>
            <a:pPr eaLnBrk="1" hangingPunct="1">
              <a:spcBef>
                <a:spcPct val="0"/>
              </a:spcBef>
              <a:buFontTx/>
              <a:buChar char="•"/>
            </a:pPr>
            <a:r>
              <a:rPr lang="en-US" altLang="en-US" sz="1200" b="0"/>
              <a:t>The focus of Module 4 - how to understand if your business is truly profitable and what it takes to do that. This is where the rubber meets the road!</a:t>
            </a:r>
          </a:p>
          <a:p>
            <a:pPr marL="768350" lvl="1" indent="-285750" eaLnBrk="1" hangingPunct="1">
              <a:spcBef>
                <a:spcPct val="0"/>
              </a:spcBef>
              <a:buFontTx/>
              <a:buChar char="•"/>
            </a:pPr>
            <a:r>
              <a:rPr lang="en-US" altLang="en-US" sz="1200"/>
              <a:t>Re-emphasize why its important.  </a:t>
            </a:r>
          </a:p>
          <a:p>
            <a:pPr marL="768350" lvl="1" indent="-285750" eaLnBrk="1" hangingPunct="1">
              <a:spcBef>
                <a:spcPct val="0"/>
              </a:spcBef>
              <a:buFontTx/>
              <a:buChar char="•"/>
            </a:pPr>
            <a:r>
              <a:rPr lang="en-US" altLang="en-US" sz="1200"/>
              <a:t>Illustrate with a company you are familiar with.  </a:t>
            </a:r>
          </a:p>
          <a:p>
            <a:pPr marL="1250950" lvl="2" indent="-285750" eaLnBrk="1" hangingPunct="1">
              <a:spcBef>
                <a:spcPct val="0"/>
              </a:spcBef>
              <a:buFontTx/>
              <a:buChar char="•"/>
            </a:pPr>
            <a:r>
              <a:rPr lang="en-US" altLang="en-US" sz="1200"/>
              <a:t>One example is the difference between Southwest and American Airlines. Both firms compete in the same market space yet they leverage different business and economic models to deliver value to their customers. </a:t>
            </a:r>
          </a:p>
          <a:p>
            <a:pPr marL="768350" lvl="1" indent="-285750" eaLnBrk="1" hangingPunct="1">
              <a:spcBef>
                <a:spcPct val="0"/>
              </a:spcBef>
              <a:buFontTx/>
              <a:buChar char="•"/>
            </a:pPr>
            <a:endParaRPr lang="en-US" altLang="en-US" sz="1200"/>
          </a:p>
          <a:p>
            <a:pPr eaLnBrk="1" hangingPunct="1">
              <a:spcBef>
                <a:spcPct val="0"/>
              </a:spcBef>
              <a:buFontTx/>
              <a:buChar char="•"/>
            </a:pPr>
            <a:r>
              <a:rPr lang="en-US" altLang="en-US" sz="1200" b="0"/>
              <a:t>Discussion questions: </a:t>
            </a:r>
          </a:p>
          <a:p>
            <a:pPr marL="768350" lvl="1" indent="-285750" eaLnBrk="1" hangingPunct="1">
              <a:spcBef>
                <a:spcPct val="0"/>
              </a:spcBef>
              <a:buFontTx/>
              <a:buChar char="•"/>
            </a:pPr>
            <a:r>
              <a:rPr lang="en-US" altLang="en-US" sz="1200"/>
              <a:t>If American knows exactly how Southwest does business, why can’t they imitate Southwest’s success?  What is different about the two companies?</a:t>
            </a:r>
          </a:p>
          <a:p>
            <a:endParaRPr lang="en-US"/>
          </a:p>
        </p:txBody>
      </p:sp>
    </p:spTree>
    <p:extLst>
      <p:ext uri="{BB962C8B-B14F-4D97-AF65-F5344CB8AC3E}">
        <p14:creationId xmlns:p14="http://schemas.microsoft.com/office/powerpoint/2010/main" val="2966425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sz="1400"/>
          </a:p>
          <a:p>
            <a:pPr marL="171450" indent="-171450" defTabSz="966407" eaLnBrk="1" fontAlgn="auto" hangingPunct="1">
              <a:spcBef>
                <a:spcPts val="0"/>
              </a:spcBef>
              <a:spcAft>
                <a:spcPts val="0"/>
              </a:spcAft>
              <a:buFont typeface="Arial" panose="020B0604020202020204" pitchFamily="34" charset="0"/>
              <a:buChar char="•"/>
              <a:defRPr/>
            </a:pPr>
            <a:r>
              <a:rPr lang="en-US" sz="1200" b="0"/>
              <a:t>Understanding the relationship between these four terms determines whether your company is profitable or not.</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Most small businesses don’t fail because they are not good at what they do.  They don’t understand these levers/terms and how they fit together.</a:t>
            </a:r>
          </a:p>
          <a:p>
            <a:pPr defTabSz="966407" eaLnBrk="1" fontAlgn="auto" hangingPunct="1">
              <a:spcBef>
                <a:spcPts val="0"/>
              </a:spcBef>
              <a:spcAft>
                <a:spcPts val="0"/>
              </a:spcAft>
              <a:defRPr/>
            </a:pPr>
            <a:endParaRPr lang="en-US" sz="1200" b="0"/>
          </a:p>
          <a:p>
            <a:pPr defTabSz="966407" eaLnBrk="1" fontAlgn="auto" hangingPunct="1">
              <a:spcBef>
                <a:spcPts val="0"/>
              </a:spcBef>
              <a:spcAft>
                <a:spcPts val="0"/>
              </a:spcAft>
              <a:defRPr/>
            </a:pPr>
            <a:r>
              <a:rPr lang="en-US" sz="1200"/>
              <a:t>The Four Levers of an Economic Model:</a:t>
            </a:r>
          </a:p>
          <a:p>
            <a:pPr marL="285750" indent="-285750" defTabSz="966407" eaLnBrk="1" fontAlgn="auto" hangingPunct="1">
              <a:spcBef>
                <a:spcPts val="0"/>
              </a:spcBef>
              <a:spcAft>
                <a:spcPts val="0"/>
              </a:spcAft>
              <a:buFont typeface="Arial" panose="020B0604020202020204" pitchFamily="34" charset="0"/>
              <a:buChar char="•"/>
              <a:defRPr/>
            </a:pPr>
            <a:r>
              <a:rPr lang="en-US" sz="1200"/>
              <a:t>Revenue Drivers </a:t>
            </a:r>
            <a:r>
              <a:rPr lang="en-US" sz="1200" b="0"/>
              <a:t>- the sources of sales dollars generated by the company’s business activity</a:t>
            </a:r>
          </a:p>
          <a:p>
            <a:pPr marL="285750" indent="-285750" defTabSz="966407" eaLnBrk="1" fontAlgn="auto" hangingPunct="1">
              <a:spcBef>
                <a:spcPts val="0"/>
              </a:spcBef>
              <a:spcAft>
                <a:spcPts val="0"/>
              </a:spcAft>
              <a:buFont typeface="Arial" panose="020B0604020202020204" pitchFamily="34" charset="0"/>
              <a:buChar char="•"/>
              <a:defRPr/>
            </a:pPr>
            <a:r>
              <a:rPr lang="en-US" sz="1200"/>
              <a:t>Margins</a:t>
            </a:r>
            <a:r>
              <a:rPr lang="en-US" sz="1200" b="0"/>
              <a:t> - the gross sales dollars minus first the company’s sales/variable expenses and second subtracting the company’s operating/fixed expenses</a:t>
            </a:r>
          </a:p>
          <a:p>
            <a:pPr marL="285750" indent="-285750" defTabSz="966407" eaLnBrk="1" fontAlgn="auto" hangingPunct="1">
              <a:spcBef>
                <a:spcPts val="0"/>
              </a:spcBef>
              <a:spcAft>
                <a:spcPts val="0"/>
              </a:spcAft>
              <a:buFont typeface="Arial" panose="020B0604020202020204" pitchFamily="34" charset="0"/>
              <a:buChar char="•"/>
              <a:defRPr/>
            </a:pPr>
            <a:r>
              <a:rPr lang="en-US" sz="1200"/>
              <a:t>Volumes</a:t>
            </a:r>
            <a:r>
              <a:rPr lang="en-US" sz="1200" b="0"/>
              <a:t> - the dollar amount of sales needed to cover all the company’s variable and fixed expenses.  It is only when the company has generated enough sales dollars to cover all expenses that it actually begins making money for you</a:t>
            </a:r>
          </a:p>
          <a:p>
            <a:pPr marL="285750" indent="-285750" defTabSz="966407" eaLnBrk="1" fontAlgn="auto" hangingPunct="1">
              <a:spcBef>
                <a:spcPts val="0"/>
              </a:spcBef>
              <a:spcAft>
                <a:spcPts val="0"/>
              </a:spcAft>
              <a:buFont typeface="Arial" panose="020B0604020202020204" pitchFamily="34" charset="0"/>
              <a:buChar char="•"/>
              <a:defRPr/>
            </a:pPr>
            <a:r>
              <a:rPr lang="en-US" sz="1200"/>
              <a:t>Operating Leverage </a:t>
            </a:r>
            <a:r>
              <a:rPr lang="en-US" sz="1200" b="0"/>
              <a:t>- the relationship between the company’s sales/variable expenses (the numerator) and its operating/fixed expenses (the denominator) </a:t>
            </a:r>
          </a:p>
          <a:p>
            <a:pPr defTabSz="966407" eaLnBrk="1" fontAlgn="auto" hangingPunct="1">
              <a:spcBef>
                <a:spcPts val="0"/>
              </a:spcBef>
              <a:spcAft>
                <a:spcPts val="0"/>
              </a:spcAft>
              <a:defRPr/>
            </a:pPr>
            <a:endParaRPr lang="en-US" sz="1200" b="0"/>
          </a:p>
          <a:p>
            <a:pPr defTabSz="966407" eaLnBrk="1" fontAlgn="auto" hangingPunct="1">
              <a:spcBef>
                <a:spcPts val="0"/>
              </a:spcBef>
              <a:spcAft>
                <a:spcPts val="0"/>
              </a:spcAft>
              <a:defRPr/>
            </a:pPr>
            <a:r>
              <a:rPr lang="en-US" sz="1200"/>
              <a:t>Key discussion question on operating leverage:  </a:t>
            </a:r>
          </a:p>
          <a:p>
            <a:pPr marL="285750" indent="-285750" defTabSz="966407" eaLnBrk="1" fontAlgn="auto" hangingPunct="1">
              <a:spcBef>
                <a:spcPts val="0"/>
              </a:spcBef>
              <a:spcAft>
                <a:spcPts val="0"/>
              </a:spcAft>
              <a:buFont typeface="Arial" panose="020B0604020202020204" pitchFamily="34" charset="0"/>
              <a:buChar char="•"/>
              <a:defRPr/>
            </a:pPr>
            <a:r>
              <a:rPr lang="en-US" sz="1200" b="0"/>
              <a:t>Why would you want your fixed costs to be as low as possible in relation to your variable expenses?  </a:t>
            </a:r>
          </a:p>
          <a:p>
            <a:pPr marL="285750" indent="-285750" defTabSz="966407" eaLnBrk="1" fontAlgn="auto" hangingPunct="1">
              <a:spcBef>
                <a:spcPts val="0"/>
              </a:spcBef>
              <a:spcAft>
                <a:spcPts val="0"/>
              </a:spcAft>
              <a:buFont typeface="Arial" panose="020B0604020202020204" pitchFamily="34" charset="0"/>
              <a:buChar char="•"/>
              <a:defRPr/>
            </a:pPr>
            <a:r>
              <a:rPr lang="en-US" sz="1200" b="0"/>
              <a:t>Why does that matter in your business?</a:t>
            </a:r>
          </a:p>
          <a:p>
            <a:pPr defTabSz="966407" eaLnBrk="1" fontAlgn="auto" hangingPunct="1">
              <a:spcBef>
                <a:spcPts val="0"/>
              </a:spcBef>
              <a:spcAft>
                <a:spcPts val="0"/>
              </a:spcAft>
              <a:defRPr/>
            </a:pPr>
            <a:endParaRPr lang="en-US" sz="1200" b="0" i="1">
              <a:solidFill>
                <a:srgbClr val="000000"/>
              </a:solidFill>
            </a:endParaRPr>
          </a:p>
          <a:p>
            <a:endParaRPr lang="en-US"/>
          </a:p>
        </p:txBody>
      </p:sp>
    </p:spTree>
    <p:extLst>
      <p:ext uri="{BB962C8B-B14F-4D97-AF65-F5344CB8AC3E}">
        <p14:creationId xmlns:p14="http://schemas.microsoft.com/office/powerpoint/2010/main" val="1105331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200"/>
          </a:p>
          <a:p>
            <a:pPr eaLnBrk="1" hangingPunct="1">
              <a:spcBef>
                <a:spcPct val="0"/>
              </a:spcBef>
              <a:buFontTx/>
              <a:buChar char="•"/>
            </a:pPr>
            <a:r>
              <a:rPr lang="en-US" altLang="en-US" sz="1200" b="0"/>
              <a:t>These are the products or services that actually generate revenue for the company through their sale and delivery.  </a:t>
            </a:r>
          </a:p>
          <a:p>
            <a:pPr eaLnBrk="1" hangingPunct="1">
              <a:spcBef>
                <a:spcPct val="0"/>
              </a:spcBef>
              <a:buFontTx/>
              <a:buChar char="•"/>
            </a:pPr>
            <a:r>
              <a:rPr lang="en-US" altLang="en-US" sz="1200" b="0"/>
              <a:t>One question business owners must grapple with is whether to be “narrow” or limited/small in what they offer in their product line in order to be really good at what they do - or to be ‘broader’ with diverse products and services in order to attract a wider customer base.  </a:t>
            </a:r>
          </a:p>
          <a:p>
            <a:pPr eaLnBrk="1" hangingPunct="1">
              <a:spcBef>
                <a:spcPct val="0"/>
              </a:spcBef>
              <a:buFontTx/>
              <a:buChar char="•"/>
            </a:pPr>
            <a:r>
              <a:rPr lang="en-US" altLang="en-US" sz="1200" b="0"/>
              <a:t>Discuss what the implications could be to their business for each of these approaches</a:t>
            </a:r>
          </a:p>
          <a:p>
            <a:pPr eaLnBrk="1" hangingPunct="1">
              <a:spcBef>
                <a:spcPct val="0"/>
              </a:spcBef>
            </a:pPr>
            <a:endParaRPr lang="en-US" altLang="en-US" sz="1200"/>
          </a:p>
          <a:p>
            <a:pPr eaLnBrk="1" hangingPunct="1">
              <a:spcBef>
                <a:spcPct val="0"/>
              </a:spcBef>
              <a:buFontTx/>
              <a:buChar char="•"/>
            </a:pPr>
            <a:r>
              <a:rPr lang="en-US" altLang="en-US" sz="1200"/>
              <a:t>One driver allows focus, many allows for diversity.  Both have risks.  Discuss them.</a:t>
            </a:r>
          </a:p>
          <a:p>
            <a:pPr eaLnBrk="1" hangingPunct="1">
              <a:spcBef>
                <a:spcPct val="0"/>
              </a:spcBef>
              <a:buFontTx/>
              <a:buChar char="•"/>
            </a:pPr>
            <a:endParaRPr lang="en-US" altLang="en-US" sz="1200"/>
          </a:p>
          <a:p>
            <a:r>
              <a:rPr lang="en-US" altLang="en-US" sz="1200"/>
              <a:t>Follow-on Resource(s) Plug:</a:t>
            </a:r>
          </a:p>
          <a:p>
            <a:endParaRPr lang="en-US" altLang="en-US" sz="1200"/>
          </a:p>
          <a:p>
            <a:r>
              <a:rPr lang="en-US" altLang="en-US" sz="1200" b="0" i="1"/>
              <a:t>(Optional) We think the concept covered with this slide is an area where our resource partners and/or follow-on curriculum have strong programs or coursework.  If you’re comfortable doing so,  in your own words, let attendees know how the resource below might be able to help them with their business concept or idea.</a:t>
            </a:r>
          </a:p>
          <a:p>
            <a:endParaRPr lang="en-US" altLang="en-US" sz="1200" b="0" i="1"/>
          </a:p>
          <a:p>
            <a:r>
              <a:rPr lang="en-US" altLang="en-US" sz="1200" b="0"/>
              <a:t>Students in the B2B Revenue Readiness follow-on course learn about the different types of revenue streams as part of developing their business model.  Pricing strategies are also explained.</a:t>
            </a:r>
          </a:p>
          <a:p>
            <a:endParaRPr lang="en-US"/>
          </a:p>
        </p:txBody>
      </p:sp>
    </p:spTree>
    <p:extLst>
      <p:ext uri="{BB962C8B-B14F-4D97-AF65-F5344CB8AC3E}">
        <p14:creationId xmlns:p14="http://schemas.microsoft.com/office/powerpoint/2010/main" val="1339423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sz="1200"/>
          </a:p>
          <a:p>
            <a:pPr marL="171450" indent="-171450" defTabSz="966407" eaLnBrk="1" fontAlgn="auto" hangingPunct="1">
              <a:spcBef>
                <a:spcPts val="0"/>
              </a:spcBef>
              <a:spcAft>
                <a:spcPts val="0"/>
              </a:spcAft>
              <a:buFont typeface="Arial" panose="020B0604020202020204" pitchFamily="34" charset="0"/>
              <a:buChar char="•"/>
              <a:defRPr/>
            </a:pPr>
            <a:r>
              <a:rPr lang="en-US" sz="1200" b="0"/>
              <a:t>Ask how many revenue drivers Starbucks has (the number of ways to separate customers from their money)   </a:t>
            </a:r>
          </a:p>
          <a:p>
            <a:pPr marL="171450" indent="-171450" defTabSz="966407" eaLnBrk="1" fontAlgn="auto" hangingPunct="1">
              <a:spcBef>
                <a:spcPts val="0"/>
              </a:spcBef>
              <a:spcAft>
                <a:spcPts val="0"/>
              </a:spcAft>
              <a:buFont typeface="Arial" panose="020B0604020202020204" pitchFamily="34" charset="0"/>
              <a:buChar char="•"/>
              <a:defRPr/>
            </a:pPr>
            <a:r>
              <a:rPr lang="en-US" sz="1200" b="0"/>
              <a:t>What are the ways Starbucks creates value for them (i.e., why they go there)?  </a:t>
            </a:r>
          </a:p>
          <a:p>
            <a:pPr marL="171450" indent="-171450" defTabSz="966407" eaLnBrk="1" fontAlgn="auto" hangingPunct="1">
              <a:spcBef>
                <a:spcPts val="0"/>
              </a:spcBef>
              <a:spcAft>
                <a:spcPts val="0"/>
              </a:spcAft>
              <a:buFont typeface="Arial" panose="020B0604020202020204" pitchFamily="34" charset="0"/>
              <a:buChar char="•"/>
              <a:defRPr/>
            </a:pPr>
            <a:r>
              <a:rPr lang="en-US" sz="1200" b="0"/>
              <a:t>Then ask them to consider how all of that is captured through an economic model for shareholder benefit.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As they list things, try to categorize them into the 4 components of the Economic Model (revenue drivers, margins, volume…operating leverage won’t be as obvious).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If they are stuck or off base, prompt them with questions like “What else do they sell”? (revenue drivers), “How much do they keep on each single cup of coffee?” (margins), “How much coffee do you think they sell?” (volume)</a:t>
            </a:r>
          </a:p>
          <a:p>
            <a:endParaRPr lang="en-US"/>
          </a:p>
        </p:txBody>
      </p:sp>
    </p:spTree>
    <p:extLst>
      <p:ext uri="{BB962C8B-B14F-4D97-AF65-F5344CB8AC3E}">
        <p14:creationId xmlns:p14="http://schemas.microsoft.com/office/powerpoint/2010/main" val="6579755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sz="1100" b="0"/>
          </a:p>
          <a:p>
            <a:pPr marL="171450" indent="-171450" defTabSz="966407" eaLnBrk="1" fontAlgn="auto" hangingPunct="1">
              <a:spcBef>
                <a:spcPts val="0"/>
              </a:spcBef>
              <a:spcAft>
                <a:spcPts val="0"/>
              </a:spcAft>
              <a:buFont typeface="Arial" panose="020B0604020202020204" pitchFamily="34" charset="0"/>
              <a:buChar char="•"/>
              <a:defRPr/>
            </a:pPr>
            <a:r>
              <a:rPr lang="en-US" sz="1200" b="0"/>
              <a:t>The Porsche on the left sells for about $91K and the Nissan Versa on the right sells for $16K.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How different can the unit cost be?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How much overhead can you support on a single sale of a Porsche?  </a:t>
            </a:r>
          </a:p>
          <a:p>
            <a:pPr marL="171450" indent="-171450" defTabSz="966407" eaLnBrk="1" fontAlgn="auto" hangingPunct="1">
              <a:spcBef>
                <a:spcPts val="0"/>
              </a:spcBef>
              <a:spcAft>
                <a:spcPts val="0"/>
              </a:spcAft>
              <a:buFont typeface="Arial" panose="020B0604020202020204" pitchFamily="34" charset="0"/>
              <a:buChar char="•"/>
              <a:defRPr/>
            </a:pPr>
            <a:r>
              <a:rPr lang="en-US" sz="1200" b="0"/>
              <a:t>Have fun with this slide.</a:t>
            </a:r>
          </a:p>
          <a:p>
            <a:endParaRPr lang="en-US"/>
          </a:p>
        </p:txBody>
      </p:sp>
    </p:spTree>
    <p:extLst>
      <p:ext uri="{BB962C8B-B14F-4D97-AF65-F5344CB8AC3E}">
        <p14:creationId xmlns:p14="http://schemas.microsoft.com/office/powerpoint/2010/main" val="38526136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100"/>
          </a:p>
          <a:p>
            <a:pPr eaLnBrk="1" hangingPunct="1">
              <a:spcBef>
                <a:spcPct val="0"/>
              </a:spcBef>
              <a:buFontTx/>
              <a:buChar char="•"/>
            </a:pPr>
            <a:r>
              <a:rPr lang="en-US" altLang="en-US" sz="1200" b="0"/>
              <a:t>Margins will help participants understand what their true costs of doing business will be - both their sales-related costs (also referred to as variable costs) and their operating costs (also referred to as fixed costs).  </a:t>
            </a:r>
          </a:p>
          <a:p>
            <a:pPr marL="654050" lvl="1" indent="-171450" eaLnBrk="1" hangingPunct="1">
              <a:spcBef>
                <a:spcPct val="0"/>
              </a:spcBef>
              <a:buFontTx/>
              <a:buChar char="•"/>
            </a:pPr>
            <a:r>
              <a:rPr lang="en-US" altLang="en-US" sz="1200"/>
              <a:t>Does their sales revenue cover these costs for a given period of time? If yes, they can begin to understand at what point or amount of sales do they actually become profitable.  </a:t>
            </a:r>
          </a:p>
          <a:p>
            <a:pPr marL="654050" lvl="1" indent="-171450" eaLnBrk="1" hangingPunct="1">
              <a:spcBef>
                <a:spcPct val="0"/>
              </a:spcBef>
              <a:buFontTx/>
              <a:buChar char="•"/>
            </a:pPr>
            <a:r>
              <a:rPr lang="en-US" altLang="en-US" sz="1200"/>
              <a:t>This also called the break even analysis. If no, their business is NOT profitable and they must reassess the pricing for their products or their costs of doing business.</a:t>
            </a:r>
          </a:p>
          <a:p>
            <a:pPr eaLnBrk="1" hangingPunct="1">
              <a:spcBef>
                <a:spcPct val="0"/>
              </a:spcBef>
            </a:pPr>
            <a:endParaRPr lang="en-US" altLang="en-US" sz="1200" b="0"/>
          </a:p>
          <a:p>
            <a:pPr eaLnBrk="1" hangingPunct="1">
              <a:spcBef>
                <a:spcPct val="0"/>
              </a:spcBef>
              <a:buFontTx/>
              <a:buChar char="•"/>
            </a:pPr>
            <a:r>
              <a:rPr lang="en-US" altLang="en-US" sz="1200" b="0"/>
              <a:t>Define gross margin as gross sales dollars minus the company’s variable costs.  </a:t>
            </a:r>
          </a:p>
          <a:p>
            <a:pPr marL="654050" lvl="1" indent="-171450" eaLnBrk="1" hangingPunct="1">
              <a:spcBef>
                <a:spcPct val="0"/>
              </a:spcBef>
              <a:buFontTx/>
              <a:buChar char="•"/>
            </a:pPr>
            <a:r>
              <a:rPr lang="en-US" altLang="en-US" sz="1200"/>
              <a:t>The company’s fixed costs come out of the gross margin dollar amount and this is your net profit. May use P&amp;L handout as a visual aide to explain this concept.</a:t>
            </a:r>
          </a:p>
          <a:p>
            <a:pPr eaLnBrk="1" hangingPunct="1">
              <a:spcBef>
                <a:spcPct val="0"/>
              </a:spcBef>
            </a:pPr>
            <a:endParaRPr lang="en-US" altLang="en-US" sz="1200" b="0"/>
          </a:p>
          <a:p>
            <a:pPr eaLnBrk="1" hangingPunct="1">
              <a:spcBef>
                <a:spcPct val="0"/>
              </a:spcBef>
            </a:pPr>
            <a:r>
              <a:rPr lang="en-US" altLang="en-US" sz="1200"/>
              <a:t>Question</a:t>
            </a:r>
            <a:r>
              <a:rPr lang="en-US" altLang="en-US" sz="1200" b="0"/>
              <a:t>: Ask if anyone knows how much it costs them to deliver one single unit of whatever it is they sell.  </a:t>
            </a:r>
          </a:p>
          <a:p>
            <a:pPr marL="654050" lvl="1" indent="-171450" eaLnBrk="1" hangingPunct="1">
              <a:spcBef>
                <a:spcPct val="0"/>
              </a:spcBef>
              <a:buFontTx/>
              <a:buChar char="•"/>
            </a:pPr>
            <a:r>
              <a:rPr lang="en-US" altLang="en-US" sz="1200"/>
              <a:t>Discuss the high and low margins (i.e.: a workout facility/gym versus an IT company) - Emphasize the importance of this.  </a:t>
            </a:r>
          </a:p>
          <a:p>
            <a:pPr marL="654050" lvl="1" indent="-171450" eaLnBrk="1" hangingPunct="1">
              <a:spcBef>
                <a:spcPct val="0"/>
              </a:spcBef>
              <a:buFontTx/>
              <a:buChar char="•"/>
            </a:pPr>
            <a:r>
              <a:rPr lang="en-US" altLang="en-US" sz="1200"/>
              <a:t>Ask how to price a product - be sure that they understand the only way to price a product is based on what the customer is willing to pay.</a:t>
            </a:r>
          </a:p>
          <a:p>
            <a:pPr eaLnBrk="1" hangingPunct="1">
              <a:spcBef>
                <a:spcPct val="0"/>
              </a:spcBef>
            </a:pPr>
            <a:endParaRPr lang="en-US" altLang="en-US" sz="1200" b="0"/>
          </a:p>
          <a:p>
            <a:pPr eaLnBrk="1" hangingPunct="1">
              <a:spcBef>
                <a:spcPct val="0"/>
              </a:spcBef>
              <a:buFontTx/>
              <a:buChar char="•"/>
            </a:pPr>
            <a:r>
              <a:rPr lang="en-US" altLang="en-US" sz="1200" b="0"/>
              <a:t>Instructor should note that the cost of a product/service also includes such things as wages, taxes, etc. </a:t>
            </a:r>
          </a:p>
          <a:p>
            <a:endParaRPr lang="en-US"/>
          </a:p>
        </p:txBody>
      </p:sp>
    </p:spTree>
    <p:extLst>
      <p:ext uri="{BB962C8B-B14F-4D97-AF65-F5344CB8AC3E}">
        <p14:creationId xmlns:p14="http://schemas.microsoft.com/office/powerpoint/2010/main" val="42078794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example is meant to show the difference between a high volume retailer (</a:t>
            </a:r>
            <a:r>
              <a:rPr lang="en-US" sz="1200" b="0" err="1"/>
              <a:t>WalMart</a:t>
            </a:r>
            <a:r>
              <a:rPr lang="en-US" sz="1200" b="0"/>
              <a:t>) and a more upscale retailer such as Nordstrom.</a:t>
            </a:r>
          </a:p>
          <a:p>
            <a:pPr marL="171450" indent="-171450" defTabSz="966407" eaLnBrk="1" fontAlgn="auto" hangingPunct="1">
              <a:spcBef>
                <a:spcPts val="0"/>
              </a:spcBef>
              <a:spcAft>
                <a:spcPts val="0"/>
              </a:spcAft>
              <a:buFont typeface="Arial" panose="020B0604020202020204" pitchFamily="34" charset="0"/>
              <a:buChar char="•"/>
              <a:defRPr/>
            </a:pPr>
            <a:r>
              <a:rPr lang="en-US" sz="1200" b="0"/>
              <a:t>In the </a:t>
            </a:r>
            <a:r>
              <a:rPr lang="en-US" sz="1200" b="0" err="1"/>
              <a:t>WalMart</a:t>
            </a:r>
            <a:r>
              <a:rPr lang="en-US" sz="1200" b="0"/>
              <a:t> example margins are usually low.  The store does not make much profit off of the items they sell unless they sell a LOT of whatever it is.</a:t>
            </a:r>
          </a:p>
          <a:p>
            <a:pPr marL="171450" indent="-171450" defTabSz="966407" eaLnBrk="1" fontAlgn="auto" hangingPunct="1">
              <a:spcBef>
                <a:spcPts val="0"/>
              </a:spcBef>
              <a:spcAft>
                <a:spcPts val="0"/>
              </a:spcAft>
              <a:buFont typeface="Arial" panose="020B0604020202020204" pitchFamily="34" charset="0"/>
              <a:buChar char="•"/>
              <a:defRPr/>
            </a:pPr>
            <a:r>
              <a:rPr lang="en-US" sz="1200" b="0"/>
              <a:t>Nordstrom sells the types of goods where margins are high.  They won’t sell the same quantity of items that </a:t>
            </a:r>
            <a:r>
              <a:rPr lang="en-US" sz="1200" b="0" err="1"/>
              <a:t>WalMart</a:t>
            </a:r>
            <a:r>
              <a:rPr lang="en-US" sz="1200" b="0"/>
              <a:t> does, but they can sell in lower quantity, and still generate a profit because they typically make more profit off each item they sell.</a:t>
            </a:r>
          </a:p>
          <a:p>
            <a:pPr marL="171450" indent="-171450" defTabSz="966407" eaLnBrk="1" fontAlgn="auto" hangingPunct="1">
              <a:spcBef>
                <a:spcPts val="0"/>
              </a:spcBef>
              <a:spcAft>
                <a:spcPts val="0"/>
              </a:spcAft>
              <a:buFont typeface="Arial" panose="020B0604020202020204" pitchFamily="34" charset="0"/>
              <a:buChar char="•"/>
              <a:defRPr/>
            </a:pPr>
            <a:r>
              <a:rPr lang="en-US" sz="1200" b="0"/>
              <a:t>Please use your own experiences as a consumer to bring some life to this example. </a:t>
            </a:r>
          </a:p>
          <a:p>
            <a:endParaRPr lang="en-US"/>
          </a:p>
        </p:txBody>
      </p:sp>
    </p:spTree>
    <p:extLst>
      <p:ext uri="{BB962C8B-B14F-4D97-AF65-F5344CB8AC3E}">
        <p14:creationId xmlns:p14="http://schemas.microsoft.com/office/powerpoint/2010/main" val="2876475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400"/>
          </a:p>
          <a:p>
            <a:pPr eaLnBrk="1" hangingPunct="1">
              <a:spcBef>
                <a:spcPct val="0"/>
              </a:spcBef>
              <a:buFontTx/>
              <a:buChar char="•"/>
            </a:pPr>
            <a:r>
              <a:rPr lang="en-US" altLang="en-US" sz="1200" b="0"/>
              <a:t>This slide should be linked to the discussion on margins to emphasize the importance of understanding what amount of sales revenue is needed for a given period of time to cover the company’s variable and fixed costs for that same time period.  The sales over that breakeven point is where the company actually become profitable and makes money.</a:t>
            </a:r>
          </a:p>
          <a:p>
            <a:pPr eaLnBrk="1" hangingPunct="1">
              <a:spcBef>
                <a:spcPct val="0"/>
              </a:spcBef>
            </a:pPr>
            <a:endParaRPr lang="en-US" altLang="en-US" sz="1200" b="0"/>
          </a:p>
          <a:p>
            <a:pPr eaLnBrk="1" hangingPunct="1">
              <a:spcBef>
                <a:spcPct val="0"/>
              </a:spcBef>
              <a:buFontTx/>
              <a:buChar char="•"/>
            </a:pPr>
            <a:r>
              <a:rPr lang="en-US" altLang="en-US" sz="1200" b="0"/>
              <a:t>Volume is the amount of total sales dollars needed to pay/cover all the company’s variable/sales expenses and its fixed/operating expenses.  A net profit is not actually generated until the company has covered/paid ALL of its expenses for a given period of time.  Working through this process is called a breakeven analysis. Instructor may use a breakeven analysis example to demonstrate this concept.</a:t>
            </a:r>
          </a:p>
          <a:p>
            <a:pPr eaLnBrk="1" hangingPunct="1">
              <a:spcBef>
                <a:spcPct val="0"/>
              </a:spcBef>
            </a:pPr>
            <a:endParaRPr lang="en-US" altLang="en-US" sz="1200" b="0"/>
          </a:p>
          <a:p>
            <a:pPr eaLnBrk="1" hangingPunct="1">
              <a:spcBef>
                <a:spcPct val="0"/>
              </a:spcBef>
              <a:buFontTx/>
              <a:buChar char="•"/>
            </a:pPr>
            <a:r>
              <a:rPr lang="en-US" altLang="en-US" sz="1200" b="0"/>
              <a:t>Reflect back on Starbucks’ volume.  Then make the point that they have 3 levers in the right position (high margin, high volume, and multiple revenue drivers).</a:t>
            </a:r>
          </a:p>
          <a:p>
            <a:endParaRPr lang="en-US"/>
          </a:p>
        </p:txBody>
      </p:sp>
    </p:spTree>
    <p:extLst>
      <p:ext uri="{BB962C8B-B14F-4D97-AF65-F5344CB8AC3E}">
        <p14:creationId xmlns:p14="http://schemas.microsoft.com/office/powerpoint/2010/main" val="26799862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400" b="0"/>
          </a:p>
          <a:p>
            <a:pPr eaLnBrk="1" hangingPunct="1">
              <a:spcBef>
                <a:spcPct val="0"/>
              </a:spcBef>
              <a:buFontTx/>
              <a:buChar char="•"/>
            </a:pPr>
            <a:r>
              <a:rPr lang="en-US" altLang="en-US" sz="1200" b="0"/>
              <a:t>Variable Costs are the costs associated with producing the company’s sales revenue.  Examples:  raw materials, supplies for your direct product  etc. They are called variable costs because they “vary” depending on your company’s sales volume.</a:t>
            </a:r>
          </a:p>
          <a:p>
            <a:pPr eaLnBrk="1" hangingPunct="1">
              <a:spcBef>
                <a:spcPct val="0"/>
              </a:spcBef>
            </a:pPr>
            <a:endParaRPr lang="en-US" altLang="en-US" sz="1200" b="0"/>
          </a:p>
          <a:p>
            <a:pPr eaLnBrk="1" hangingPunct="1">
              <a:spcBef>
                <a:spcPct val="0"/>
              </a:spcBef>
              <a:buFontTx/>
              <a:buChar char="•"/>
            </a:pPr>
            <a:r>
              <a:rPr lang="en-US" altLang="en-US" sz="1200" b="0"/>
              <a:t>The key is that the variable costs change with sales.  That is the litmus test.</a:t>
            </a:r>
          </a:p>
          <a:p>
            <a:pPr eaLnBrk="1" hangingPunct="1">
              <a:spcBef>
                <a:spcPct val="0"/>
              </a:spcBef>
            </a:pPr>
            <a:endParaRPr lang="en-US" altLang="en-US" sz="1200" b="0"/>
          </a:p>
          <a:p>
            <a:pPr eaLnBrk="1" hangingPunct="1">
              <a:spcBef>
                <a:spcPct val="0"/>
              </a:spcBef>
              <a:buFontTx/>
              <a:buChar char="•"/>
            </a:pPr>
            <a:r>
              <a:rPr lang="en-US" altLang="en-US" sz="1200" b="0"/>
              <a:t>“What does it cost for you to deliver your product or service?” and then tie it back to the Profit and Loss statement.</a:t>
            </a:r>
          </a:p>
          <a:p>
            <a:pPr eaLnBrk="1" hangingPunct="1">
              <a:spcBef>
                <a:spcPct val="0"/>
              </a:spcBef>
            </a:pPr>
            <a:endParaRPr lang="en-US" altLang="en-US"/>
          </a:p>
          <a:p>
            <a:endParaRPr lang="en-US"/>
          </a:p>
        </p:txBody>
      </p:sp>
    </p:spTree>
    <p:extLst>
      <p:ext uri="{BB962C8B-B14F-4D97-AF65-F5344CB8AC3E}">
        <p14:creationId xmlns:p14="http://schemas.microsoft.com/office/powerpoint/2010/main" val="12602385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sz="1200" b="0"/>
          </a:p>
          <a:p>
            <a:pPr eaLnBrk="1" hangingPunct="1">
              <a:spcBef>
                <a:spcPct val="0"/>
              </a:spcBef>
              <a:buFontTx/>
              <a:buChar char="•"/>
            </a:pPr>
            <a:r>
              <a:rPr lang="en-US" altLang="en-US" sz="1200" b="0"/>
              <a:t>Fixed Costs are the company’s recurring operating expenses such as its light bill, rent, employee salaries, etc.  These are set or fixed and must be paid every month, regardless of your company’s sales volume. These are the costs that even if you do not make a single sale you still need to pay, i.e. depreciation, rent, utilities, insurance fees and advertising costs.</a:t>
            </a:r>
          </a:p>
          <a:p>
            <a:pPr eaLnBrk="1" hangingPunct="1">
              <a:spcBef>
                <a:spcPct val="0"/>
              </a:spcBef>
            </a:pPr>
            <a:endParaRPr lang="en-US" altLang="en-US" sz="1200" b="0"/>
          </a:p>
          <a:p>
            <a:pPr eaLnBrk="1" hangingPunct="1">
              <a:spcBef>
                <a:spcPct val="0"/>
              </a:spcBef>
              <a:buFontTx/>
              <a:buChar char="•"/>
            </a:pPr>
            <a:r>
              <a:rPr lang="en-US" altLang="en-US" sz="1200" b="0"/>
              <a:t>Fixed costs are the company’s overhead and are paid out of its gross margins on each unit of sale.  So, Starbucks has high margins and can support all the overhead (fixed costs) they have. </a:t>
            </a:r>
          </a:p>
          <a:p>
            <a:pPr eaLnBrk="1" hangingPunct="1">
              <a:spcBef>
                <a:spcPct val="0"/>
              </a:spcBef>
            </a:pPr>
            <a:endParaRPr lang="en-US" altLang="en-US" sz="1200" b="0"/>
          </a:p>
          <a:p>
            <a:pPr eaLnBrk="1" hangingPunct="1">
              <a:spcBef>
                <a:spcPct val="0"/>
              </a:spcBef>
              <a:buFontTx/>
              <a:buChar char="•"/>
            </a:pPr>
            <a:r>
              <a:rPr lang="en-US" altLang="en-US" sz="1200" b="0"/>
              <a:t>Talk through some of the examples and throw them the last question to see what they say (could actually be fixed or variable).</a:t>
            </a:r>
          </a:p>
          <a:p>
            <a:pPr eaLnBrk="1" hangingPunct="1">
              <a:spcBef>
                <a:spcPct val="0"/>
              </a:spcBef>
            </a:pPr>
            <a:endParaRPr lang="en-US" altLang="en-US" b="0"/>
          </a:p>
          <a:p>
            <a:endParaRPr lang="en-US"/>
          </a:p>
        </p:txBody>
      </p:sp>
    </p:spTree>
    <p:extLst>
      <p:ext uri="{BB962C8B-B14F-4D97-AF65-F5344CB8AC3E}">
        <p14:creationId xmlns:p14="http://schemas.microsoft.com/office/powerpoint/2010/main" val="34180727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b="0"/>
          </a:p>
          <a:p>
            <a:pPr marL="171450" indent="-171450" defTabSz="966407" eaLnBrk="1" fontAlgn="auto" hangingPunct="1">
              <a:spcBef>
                <a:spcPts val="0"/>
              </a:spcBef>
              <a:spcAft>
                <a:spcPts val="0"/>
              </a:spcAft>
              <a:buFont typeface="Arial" panose="020B0604020202020204" pitchFamily="34" charset="0"/>
              <a:buChar char="•"/>
              <a:defRPr/>
            </a:pPr>
            <a:r>
              <a:rPr lang="en-US" sz="1200" b="0"/>
              <a:t>The best day in an entrepreneur’s business life is the day the company actually makes no money for the first time (breaks even, as opposed to losing money).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Once business owners know their fixed costs, they can tell you how many units of product or service they need to sell to breakeven.  Assuming they know their pricing, they can tell you the dollar amount that volume represents.</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Break even brings nothing home for the owner.</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Besides the sales required to breakeven, how many additional sales does the business have to generate to create enough profit for the owners to be able to pay </a:t>
            </a:r>
            <a:r>
              <a:rPr lang="en-US" sz="1200" b="0" i="1"/>
              <a:t>their</a:t>
            </a:r>
            <a:r>
              <a:rPr lang="en-US" sz="1200" b="0"/>
              <a:t> bills?</a:t>
            </a:r>
          </a:p>
          <a:p>
            <a:pPr marL="171450" indent="-171450" defTabSz="966407" eaLnBrk="1" fontAlgn="auto" hangingPunct="1">
              <a:spcBef>
                <a:spcPts val="0"/>
              </a:spcBef>
              <a:spcAft>
                <a:spcPts val="0"/>
              </a:spcAft>
              <a:buFont typeface="Arial" panose="020B0604020202020204" pitchFamily="34" charset="0"/>
              <a:buChar char="•"/>
              <a:defRPr/>
            </a:pPr>
            <a:endParaRPr lang="en-US" sz="1200" b="0"/>
          </a:p>
          <a:p>
            <a:pPr>
              <a:defRPr/>
            </a:pPr>
            <a:r>
              <a:rPr lang="en-US"/>
              <a:t>Follow-on Resource(s) Plug:</a:t>
            </a:r>
          </a:p>
          <a:p>
            <a:pPr>
              <a:defRPr/>
            </a:pPr>
            <a:r>
              <a:rPr lang="en-US" sz="1200" b="0" i="1"/>
              <a:t>(Optional) We think the concept covered with this slide is an area where our resource partners and/or follow-on curriculum have strong programs or coursework.  If you’re comfortable doing so,  in your own words, let attendees know how the resource below might be able to help them with their business concept or idea.</a:t>
            </a:r>
          </a:p>
          <a:p>
            <a:pPr>
              <a:defRPr/>
            </a:pPr>
            <a:endParaRPr lang="en-US" sz="1200" b="0" i="1"/>
          </a:p>
          <a:p>
            <a:pPr>
              <a:defRPr/>
            </a:pPr>
            <a:r>
              <a:rPr lang="en-US" sz="1200" b="0"/>
              <a:t>In the B2B Revenue Readiness follow-on course breakeven is defined and examples are provided.  Based on student projections, and using the financial projections tool provided in the course, breakeven is calculated for their business concept.</a:t>
            </a:r>
          </a:p>
          <a:p>
            <a:endParaRPr lang="en-US"/>
          </a:p>
        </p:txBody>
      </p:sp>
    </p:spTree>
    <p:extLst>
      <p:ext uri="{BB962C8B-B14F-4D97-AF65-F5344CB8AC3E}">
        <p14:creationId xmlns:p14="http://schemas.microsoft.com/office/powerpoint/2010/main" val="39714295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defRPr/>
            </a:pPr>
            <a:r>
              <a:rPr lang="en-US" altLang="en-US" sz="1400" b="1"/>
              <a:t>Instructor Notes:</a:t>
            </a:r>
            <a:endParaRPr lang="en-US" altLang="en-US" sz="1400" b="1">
              <a:cs typeface="Calibri"/>
            </a:endParaRPr>
          </a:p>
          <a:p>
            <a:pPr eaLnBrk="1" hangingPunct="1">
              <a:spcBef>
                <a:spcPct val="0"/>
              </a:spcBef>
              <a:defRPr/>
            </a:pPr>
            <a:endParaRPr lang="en-US" altLang="en-US" sz="1200"/>
          </a:p>
          <a:p>
            <a:pPr marL="171450" indent="-171450" defTabSz="966407" eaLnBrk="1" fontAlgn="auto" hangingPunct="1">
              <a:spcBef>
                <a:spcPts val="0"/>
              </a:spcBef>
              <a:spcAft>
                <a:spcPts val="0"/>
              </a:spcAft>
              <a:buFont typeface="Arial" panose="020B0604020202020204" pitchFamily="34" charset="0"/>
              <a:buChar char="•"/>
              <a:defRPr/>
            </a:pPr>
            <a:r>
              <a:rPr lang="en-US" sz="1200" b="0"/>
              <a:t>This example is meant to show the difference between a brick and mortar coffee business, like a Starbucks, and a coffee stand like someone in the class may be likely to go into business with, at the start</a:t>
            </a:r>
          </a:p>
          <a:p>
            <a:pPr marL="171450" indent="-171450" defTabSz="966407" eaLnBrk="1" fontAlgn="auto" hangingPunct="1">
              <a:spcBef>
                <a:spcPts val="0"/>
              </a:spcBef>
              <a:spcAft>
                <a:spcPts val="0"/>
              </a:spcAft>
              <a:buFont typeface="Arial" panose="020B0604020202020204" pitchFamily="34" charset="0"/>
              <a:buChar char="•"/>
              <a:defRPr/>
            </a:pPr>
            <a:r>
              <a:rPr lang="en-US" sz="1200" b="0"/>
              <a:t>The brick and mortar store is going to have a lot more in the way of fixed costs than the coffee stand.</a:t>
            </a:r>
          </a:p>
          <a:p>
            <a:pPr marL="171450" indent="-171450" defTabSz="966407" eaLnBrk="1" fontAlgn="auto" hangingPunct="1">
              <a:spcBef>
                <a:spcPts val="0"/>
              </a:spcBef>
              <a:spcAft>
                <a:spcPts val="0"/>
              </a:spcAft>
              <a:buFont typeface="Arial" panose="020B0604020202020204" pitchFamily="34" charset="0"/>
              <a:buChar char="•"/>
              <a:defRPr/>
            </a:pPr>
            <a:r>
              <a:rPr lang="en-US" sz="1200" b="0"/>
              <a:t>Please use your own experiences as a consumer to bring some life to this example. </a:t>
            </a:r>
          </a:p>
          <a:p>
            <a:endParaRPr lang="en-US"/>
          </a:p>
        </p:txBody>
      </p:sp>
    </p:spTree>
    <p:extLst>
      <p:ext uri="{BB962C8B-B14F-4D97-AF65-F5344CB8AC3E}">
        <p14:creationId xmlns:p14="http://schemas.microsoft.com/office/powerpoint/2010/main" val="8101237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a:p>
          <a:p>
            <a:pPr marL="171450" indent="-171450" defTabSz="966407" eaLnBrk="1" fontAlgn="auto" hangingPunct="1">
              <a:spcBef>
                <a:spcPts val="0"/>
              </a:spcBef>
              <a:spcAft>
                <a:spcPts val="0"/>
              </a:spcAft>
              <a:buFont typeface="Arial" panose="020B0604020202020204" pitchFamily="34" charset="0"/>
              <a:buChar char="•"/>
              <a:defRPr/>
            </a:pPr>
            <a:r>
              <a:rPr lang="en-US" sz="1200" b="0"/>
              <a:t>The Giddy Up Coffee illustration shows a monthly P&amp;L statement from a typical mobile coffee stand.  </a:t>
            </a:r>
          </a:p>
          <a:p>
            <a:pPr marL="171450" indent="-171450" defTabSz="966407" eaLnBrk="1" fontAlgn="auto" hangingPunct="1">
              <a:spcBef>
                <a:spcPts val="0"/>
              </a:spcBef>
              <a:spcAft>
                <a:spcPts val="0"/>
              </a:spcAft>
              <a:buFont typeface="Arial" panose="020B0604020202020204" pitchFamily="34" charset="0"/>
              <a:buChar char="•"/>
              <a:defRPr/>
            </a:pPr>
            <a:r>
              <a:rPr lang="en-US" sz="1200" b="0"/>
              <a:t>Using the red highlighted words show how you are now pulling together everything you’ve been talking about:  Revenue (and Price), Margin, Volume, Variable and Fixed Costs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Purpose is to show a basic example of how moving the levers of the economic model around can effect a business’ net profit.  </a:t>
            </a:r>
            <a:r>
              <a:rPr lang="en-US" sz="1200">
                <a:solidFill>
                  <a:srgbClr val="FF0000"/>
                </a:solidFill>
              </a:rPr>
              <a:t>You can now start to bring together the $2.00 revenue, $.65 variable cost, with the $1.35 margin that you’ve been talking about in previous slides</a:t>
            </a:r>
            <a:r>
              <a:rPr lang="en-US" sz="1200"/>
              <a:t> </a:t>
            </a:r>
          </a:p>
          <a:p>
            <a:pPr marL="768953" lvl="1" indent="-285750" defTabSz="966407" eaLnBrk="1" fontAlgn="auto" hangingPunct="1">
              <a:spcBef>
                <a:spcPts val="0"/>
              </a:spcBef>
              <a:spcAft>
                <a:spcPts val="0"/>
              </a:spcAft>
              <a:buFont typeface="Arial" panose="020B0604020202020204" pitchFamily="34" charset="0"/>
              <a:buChar char="•"/>
              <a:defRPr/>
            </a:pPr>
            <a:r>
              <a:rPr lang="en-US" sz="1200"/>
              <a:t>In this example - Variable costs include: coffee beans, water, cups, sugar, and all of the other coffee accoutrements.</a:t>
            </a:r>
          </a:p>
          <a:p>
            <a:pPr marL="768953" lvl="1" indent="-285750" defTabSz="966407" eaLnBrk="1" fontAlgn="auto" hangingPunct="1">
              <a:spcBef>
                <a:spcPts val="0"/>
              </a:spcBef>
              <a:spcAft>
                <a:spcPts val="0"/>
              </a:spcAft>
              <a:buFont typeface="Arial" panose="020B0604020202020204" pitchFamily="34" charset="0"/>
              <a:buChar char="•"/>
              <a:defRPr/>
            </a:pPr>
            <a:r>
              <a:rPr lang="en-US" sz="1200">
                <a:solidFill>
                  <a:srgbClr val="FF0000"/>
                </a:solidFill>
              </a:rPr>
              <a:t>Point out the 3200 cup volume.  The business has to sell 3200 cups to break even.  (Profit is Zero)</a:t>
            </a:r>
          </a:p>
          <a:p>
            <a:pPr marL="768953" lvl="1" indent="-285750" defTabSz="966407" eaLnBrk="1" fontAlgn="auto" hangingPunct="1">
              <a:spcBef>
                <a:spcPts val="0"/>
              </a:spcBef>
              <a:spcAft>
                <a:spcPts val="0"/>
              </a:spcAft>
              <a:buFont typeface="Arial" panose="020B0604020202020204" pitchFamily="34" charset="0"/>
              <a:buChar char="•"/>
              <a:defRPr/>
            </a:pPr>
            <a:r>
              <a:rPr lang="en-US" sz="1200">
                <a:solidFill>
                  <a:srgbClr val="FF0000"/>
                </a:solidFill>
              </a:rPr>
              <a:t>Ask what happens If they sell 3201 cups (Answer: owner gets to keep $1.35 profit).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Monthly fixed costs include: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Renting the space, cart lease payment, transportation/utilities expenses such as gas, and insurance.</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In this example, the cart is in operation 5 days a week, 8 hours a day. Joe’s averaged sales of 20 cups of coffee/hour during operating hours.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Upon comparing the cost and pricing information provided above against Giddy Up’s sales information (average of 20 cups of coffee sold per hour) we realize that Giddy Up is breaking even - i.e. they don’t earn a profit or run at a deficit.</a:t>
            </a:r>
          </a:p>
          <a:p>
            <a:endParaRPr lang="en-US"/>
          </a:p>
        </p:txBody>
      </p:sp>
      <p:sp>
        <p:nvSpPr>
          <p:cNvPr id="4" name="Slide Number Placeholder 3"/>
          <p:cNvSpPr>
            <a:spLocks noGrp="1"/>
          </p:cNvSpPr>
          <p:nvPr>
            <p:ph type="sldNum" sz="quarter" idx="5"/>
          </p:nvPr>
        </p:nvSpPr>
        <p:spPr/>
        <p:txBody>
          <a:bodyPr/>
          <a:lstStyle/>
          <a:p>
            <a:fld id="{747DFF0B-ED0E-442F-AC07-12258C36CF38}" type="slidenum">
              <a:rPr lang="en-US" smtClean="0"/>
              <a:t>17</a:t>
            </a:fld>
            <a:endParaRPr lang="en-US"/>
          </a:p>
        </p:txBody>
      </p:sp>
    </p:spTree>
    <p:extLst>
      <p:ext uri="{BB962C8B-B14F-4D97-AF65-F5344CB8AC3E}">
        <p14:creationId xmlns:p14="http://schemas.microsoft.com/office/powerpoint/2010/main" val="16539713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slide is meant to show the effect of </a:t>
            </a:r>
            <a:r>
              <a:rPr lang="en-US" sz="1200" b="1"/>
              <a:t>increased sales  - </a:t>
            </a:r>
            <a:r>
              <a:rPr lang="en-US" sz="1200" b="1" err="1"/>
              <a:t>i.e</a:t>
            </a:r>
            <a:r>
              <a:rPr lang="en-US" sz="1200" b="1"/>
              <a:t> Volume</a:t>
            </a:r>
            <a:r>
              <a:rPr lang="en-US" sz="1200" b="0"/>
              <a:t>.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In the previous slide, Giddy Up Coffee reached break even by averaging 20 cups of coffee per hour sold.</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month, business is little better:  </a:t>
            </a:r>
          </a:p>
          <a:p>
            <a:pPr marL="654653" lvl="1" indent="-171450" defTabSz="966407" eaLnBrk="1" fontAlgn="auto" hangingPunct="1">
              <a:spcBef>
                <a:spcPts val="0"/>
              </a:spcBef>
              <a:spcAft>
                <a:spcPts val="0"/>
              </a:spcAft>
              <a:buFont typeface="Arial" panose="020B0604020202020204" pitchFamily="34" charset="0"/>
              <a:buChar char="•"/>
              <a:defRPr/>
            </a:pPr>
            <a:r>
              <a:rPr lang="en-US" sz="1200"/>
              <a:t>Word has gotten out about the great-tasting coffee and great service, and more customers are picking Giddy Up Coffee instead of the competitors.</a:t>
            </a:r>
          </a:p>
          <a:p>
            <a:pPr marL="654653" lvl="1" indent="-171450" defTabSz="966407" eaLnBrk="1" fontAlgn="auto" hangingPunct="1">
              <a:spcBef>
                <a:spcPts val="0"/>
              </a:spcBef>
              <a:spcAft>
                <a:spcPts val="0"/>
              </a:spcAft>
              <a:buFont typeface="Arial" panose="020B0604020202020204" pitchFamily="34" charset="0"/>
              <a:buChar char="•"/>
              <a:defRPr/>
            </a:pPr>
            <a:r>
              <a:rPr lang="en-US" sz="1200"/>
              <a:t>Meanwhile, the owner of the stand has gotten more efficient, and can make coffee and complete the sale more quickly.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allows Giddy Up to sell an additional 5 cups of coffee each hour, to average selling 25 cups per hour this month.</a:t>
            </a:r>
          </a:p>
          <a:p>
            <a:pPr marL="171450" indent="-171450" defTabSz="966407" eaLnBrk="1" fontAlgn="auto" hangingPunct="1">
              <a:spcBef>
                <a:spcPts val="0"/>
              </a:spcBef>
              <a:spcAft>
                <a:spcPts val="0"/>
              </a:spcAft>
              <a:buFont typeface="Arial" panose="020B0604020202020204" pitchFamily="34" charset="0"/>
              <a:buChar char="•"/>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highlight>
                  <a:srgbClr val="FFFF00"/>
                </a:highlight>
              </a:rPr>
              <a:t>Point out that fixed costs didn’t change</a:t>
            </a:r>
            <a:r>
              <a:rPr lang="en-US" sz="1200" b="0"/>
              <a:t> from prior slide.  </a:t>
            </a:r>
            <a:r>
              <a:rPr lang="en-US" sz="1200" b="0">
                <a:highlight>
                  <a:srgbClr val="FFFF00"/>
                </a:highlight>
              </a:rPr>
              <a:t>Owner gets to keep $1.35 each for the additional 800 cups sold.</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results in a net profit of $1,080 for the owner.   </a:t>
            </a:r>
            <a:endParaRPr lang="en-US" sz="1200"/>
          </a:p>
          <a:p>
            <a:pPr defTabSz="966407" eaLnBrk="1" fontAlgn="auto" hangingPunct="1">
              <a:spcBef>
                <a:spcPts val="0"/>
              </a:spcBef>
              <a:spcAft>
                <a:spcPts val="0"/>
              </a:spcAft>
              <a:defRPr/>
            </a:pPr>
            <a:endParaRPr lang="en-US" b="0"/>
          </a:p>
          <a:p>
            <a:endParaRPr lang="en-US"/>
          </a:p>
        </p:txBody>
      </p:sp>
      <p:sp>
        <p:nvSpPr>
          <p:cNvPr id="4" name="Slide Number Placeholder 3"/>
          <p:cNvSpPr>
            <a:spLocks noGrp="1"/>
          </p:cNvSpPr>
          <p:nvPr>
            <p:ph type="sldNum" sz="quarter" idx="5"/>
          </p:nvPr>
        </p:nvSpPr>
        <p:spPr/>
        <p:txBody>
          <a:bodyPr/>
          <a:lstStyle/>
          <a:p>
            <a:fld id="{747DFF0B-ED0E-442F-AC07-12258C36CF38}" type="slidenum">
              <a:rPr lang="en-US" smtClean="0"/>
              <a:t>18</a:t>
            </a:fld>
            <a:endParaRPr lang="en-US"/>
          </a:p>
        </p:txBody>
      </p:sp>
    </p:spTree>
    <p:extLst>
      <p:ext uri="{BB962C8B-B14F-4D97-AF65-F5344CB8AC3E}">
        <p14:creationId xmlns:p14="http://schemas.microsoft.com/office/powerpoint/2010/main" val="19294043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sz="1800"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slide is meant to show the effect of </a:t>
            </a:r>
            <a:r>
              <a:rPr lang="en-US" sz="1200" b="1"/>
              <a:t>improving a business’ margins</a:t>
            </a:r>
            <a:r>
              <a:rPr lang="en-US" sz="1200" b="0"/>
              <a:t>. </a:t>
            </a:r>
          </a:p>
          <a:p>
            <a:pPr marL="0" indent="0" defTabSz="966407" eaLnBrk="1" fontAlgn="auto" hangingPunct="1">
              <a:spcBef>
                <a:spcPts val="0"/>
              </a:spcBef>
              <a:spcAft>
                <a:spcPts val="0"/>
              </a:spcAft>
              <a:buFont typeface="Arial" panose="020B0604020202020204" pitchFamily="34" charset="0"/>
              <a:buNone/>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To do this Giddy Up needs to either pay less for the coffee and other supplies, or sell the coffee at a higher price.  In this example, Giddy Up was able to do both.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Giddy Up’s owner was able to cut some deals with vendors, which shaved a nickel per cup off his cost.  Meanwhile, he raised his price a quarter per cup from $2.00 to $2.25.  This moves his margin from $1.35 per cup to $1.65, resulting in an extra $1200 in profit from the previous month. </a:t>
            </a:r>
            <a:r>
              <a:rPr lang="en-US" sz="1200" b="0">
                <a:highlight>
                  <a:srgbClr val="FFFF00"/>
                </a:highlight>
              </a:rPr>
              <a:t>(an extra $.30/per cup X 4,000 cups)</a:t>
            </a:r>
          </a:p>
          <a:p>
            <a:pPr marL="171450" indent="-171450" defTabSz="966407" eaLnBrk="1" fontAlgn="auto" hangingPunct="1">
              <a:spcBef>
                <a:spcPts val="0"/>
              </a:spcBef>
              <a:spcAft>
                <a:spcPts val="0"/>
              </a:spcAft>
              <a:buFont typeface="Arial" panose="020B0604020202020204" pitchFamily="34" charset="0"/>
              <a:buChar char="•"/>
              <a:defRPr/>
            </a:pPr>
            <a:endParaRPr lang="en-US" sz="1200" b="0">
              <a:highlight>
                <a:srgbClr val="FFFF00"/>
              </a:highlight>
            </a:endParaRPr>
          </a:p>
          <a:p>
            <a:pPr marL="171450" indent="-171450" defTabSz="966407" eaLnBrk="1" fontAlgn="auto" hangingPunct="1">
              <a:spcBef>
                <a:spcPts val="0"/>
              </a:spcBef>
              <a:spcAft>
                <a:spcPts val="0"/>
              </a:spcAft>
              <a:buFont typeface="Arial" panose="020B0604020202020204" pitchFamily="34" charset="0"/>
              <a:buChar char="•"/>
              <a:defRPr/>
            </a:pPr>
            <a:r>
              <a:rPr lang="en-US" sz="1200" b="0">
                <a:highlight>
                  <a:srgbClr val="FFFF00"/>
                </a:highlight>
              </a:rPr>
              <a:t>This is the value of a business owner understanding their numbers.  It allows the owner to make decisions to improve profits.  </a:t>
            </a:r>
          </a:p>
          <a:p>
            <a:pPr defTabSz="966407" eaLnBrk="1" fontAlgn="auto" hangingPunct="1">
              <a:spcBef>
                <a:spcPts val="0"/>
              </a:spcBef>
              <a:spcAft>
                <a:spcPts val="0"/>
              </a:spcAft>
              <a:defRPr/>
            </a:pPr>
            <a:endParaRPr lang="en-US">
              <a:highlight>
                <a:srgbClr val="FFFF00"/>
              </a:highlight>
            </a:endParaRPr>
          </a:p>
          <a:p>
            <a:pPr defTabSz="966407" eaLnBrk="1" fontAlgn="auto" hangingPunct="1">
              <a:spcBef>
                <a:spcPts val="0"/>
              </a:spcBef>
              <a:spcAft>
                <a:spcPts val="0"/>
              </a:spcAft>
              <a:defRPr/>
            </a:pPr>
            <a:endParaRPr lang="en-US" b="0"/>
          </a:p>
          <a:p>
            <a:pPr defTabSz="966407" eaLnBrk="1" fontAlgn="auto" hangingPunct="1">
              <a:spcBef>
                <a:spcPts val="0"/>
              </a:spcBef>
              <a:spcAft>
                <a:spcPts val="0"/>
              </a:spcAft>
              <a:defRPr/>
            </a:pPr>
            <a:endParaRPr lang="en-US" b="0"/>
          </a:p>
          <a:p>
            <a:pPr defTabSz="966407" eaLnBrk="1" fontAlgn="auto" hangingPunct="1">
              <a:spcBef>
                <a:spcPts val="0"/>
              </a:spcBef>
              <a:spcAft>
                <a:spcPts val="0"/>
              </a:spcAft>
              <a:defRPr/>
            </a:pPr>
            <a:endParaRPr lang="en-US" b="0"/>
          </a:p>
          <a:p>
            <a:endParaRPr lang="en-US"/>
          </a:p>
        </p:txBody>
      </p:sp>
      <p:sp>
        <p:nvSpPr>
          <p:cNvPr id="4" name="Slide Number Placeholder 3"/>
          <p:cNvSpPr>
            <a:spLocks noGrp="1"/>
          </p:cNvSpPr>
          <p:nvPr>
            <p:ph type="sldNum" sz="quarter" idx="5"/>
          </p:nvPr>
        </p:nvSpPr>
        <p:spPr/>
        <p:txBody>
          <a:bodyPr/>
          <a:lstStyle/>
          <a:p>
            <a:fld id="{747DFF0B-ED0E-442F-AC07-12258C36CF38}" type="slidenum">
              <a:rPr lang="en-US" smtClean="0"/>
              <a:t>19</a:t>
            </a:fld>
            <a:endParaRPr lang="en-US"/>
          </a:p>
        </p:txBody>
      </p:sp>
    </p:spTree>
    <p:extLst>
      <p:ext uri="{BB962C8B-B14F-4D97-AF65-F5344CB8AC3E}">
        <p14:creationId xmlns:p14="http://schemas.microsoft.com/office/powerpoint/2010/main" val="15401056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Instructor Notes:</a:t>
            </a:r>
          </a:p>
          <a:p>
            <a:endParaRPr lang="en-US"/>
          </a:p>
          <a:p>
            <a:r>
              <a:rPr lang="en-US"/>
              <a:t>This last slide shows the impact of reducing fixed costs. </a:t>
            </a:r>
          </a:p>
          <a:p>
            <a:pPr marL="171450" indent="-171450">
              <a:buFont typeface="Arial" panose="020B0604020202020204" pitchFamily="34" charset="0"/>
              <a:buChar char="•"/>
            </a:pPr>
            <a:r>
              <a:rPr lang="en-US"/>
              <a:t>The owner looks at fixed costs to see if there’s any opportunity to reduce these costs.</a:t>
            </a:r>
          </a:p>
          <a:p>
            <a:pPr marL="171450" indent="-171450">
              <a:buFont typeface="Arial" panose="020B0604020202020204" pitchFamily="34" charset="0"/>
              <a:buChar char="•"/>
            </a:pPr>
            <a:r>
              <a:rPr lang="en-US"/>
              <a:t>The Cart Lease Payment is $750/month.  But the owner found a used cart that would “make do” </a:t>
            </a:r>
          </a:p>
          <a:p>
            <a:pPr marL="171450" indent="-171450">
              <a:buFont typeface="Arial" panose="020B0604020202020204" pitchFamily="34" charset="0"/>
              <a:buChar char="•"/>
            </a:pPr>
            <a:r>
              <a:rPr lang="en-US"/>
              <a:t>Not only does it increase profits, but it also means you get to breakeven sooner, and lowering your risk because you don’t have to sell as many to hit breakeven!</a:t>
            </a:r>
          </a:p>
          <a:p>
            <a:pPr marL="171450" indent="-171450">
              <a:buFont typeface="Arial" panose="020B0604020202020204" pitchFamily="34" charset="0"/>
              <a:buChar char="•"/>
            </a:pPr>
            <a:endParaRPr lang="en-US"/>
          </a:p>
          <a:p>
            <a:pPr marL="171450" indent="-171450">
              <a:buFont typeface="Arial" panose="020B0604020202020204" pitchFamily="34" charset="0"/>
              <a:buChar char="•"/>
            </a:pPr>
            <a:r>
              <a:rPr lang="en-US"/>
              <a:t>In this example, how much sooner does the owner get to breakeven? (NEXT SLIDE)</a:t>
            </a:r>
          </a:p>
        </p:txBody>
      </p:sp>
      <p:sp>
        <p:nvSpPr>
          <p:cNvPr id="4" name="Slide Number Placeholder 3"/>
          <p:cNvSpPr>
            <a:spLocks noGrp="1"/>
          </p:cNvSpPr>
          <p:nvPr>
            <p:ph type="sldNum" sz="quarter" idx="5"/>
          </p:nvPr>
        </p:nvSpPr>
        <p:spPr/>
        <p:txBody>
          <a:bodyPr/>
          <a:lstStyle/>
          <a:p>
            <a:fld id="{747DFF0B-ED0E-442F-AC07-12258C36CF38}" type="slidenum">
              <a:rPr lang="en-US" smtClean="0"/>
              <a:t>20</a:t>
            </a:fld>
            <a:endParaRPr lang="en-US"/>
          </a:p>
        </p:txBody>
      </p:sp>
    </p:spTree>
    <p:extLst>
      <p:ext uri="{BB962C8B-B14F-4D97-AF65-F5344CB8AC3E}">
        <p14:creationId xmlns:p14="http://schemas.microsoft.com/office/powerpoint/2010/main" val="1125664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a:t>Instructor Notes:</a:t>
            </a:r>
            <a:endParaRPr lang="en-US" sz="1400" b="1">
              <a:cs typeface="Calibri"/>
            </a:endParaRPr>
          </a:p>
          <a:p>
            <a:endParaRPr lang="en-US"/>
          </a:p>
          <a:p>
            <a:r>
              <a:rPr lang="en-US"/>
              <a:t>Bring it all together now – </a:t>
            </a:r>
          </a:p>
          <a:p>
            <a:endParaRPr lang="en-US"/>
          </a:p>
          <a:p>
            <a:r>
              <a:rPr lang="en-US"/>
              <a:t>Start by Pointing out top left chart.  When the price was 2.00, Margin was 1.35, and fixed costs were $4320, it took selling 3200 cups to breakeven at the end of the month.  Zero Profit and now starting over the next month with fixed costs all over again.</a:t>
            </a:r>
          </a:p>
          <a:p>
            <a:endParaRPr lang="en-US"/>
          </a:p>
          <a:p>
            <a:r>
              <a:rPr lang="en-US"/>
              <a:t>By understanding the economic model and the business numbers, the owner made some strategic decisions to increase price, renegotiate variable cost and reduce fixed costs.  Point out lower right chart…….</a:t>
            </a:r>
          </a:p>
          <a:p>
            <a:pPr marL="171450" indent="-171450">
              <a:buFont typeface="Arial" panose="020B0604020202020204" pitchFamily="34" charset="0"/>
              <a:buChar char="•"/>
            </a:pPr>
            <a:r>
              <a:rPr lang="en-US"/>
              <a:t>Breakeven is a  over 1000 cups less, and occurs at the end of Week 2!</a:t>
            </a:r>
          </a:p>
          <a:p>
            <a:pPr marL="171450" indent="-171450">
              <a:buFont typeface="Arial" panose="020B0604020202020204" pitchFamily="34" charset="0"/>
              <a:buChar char="•"/>
            </a:pPr>
            <a:r>
              <a:rPr lang="en-US"/>
              <a:t>Profits are now over $3000!</a:t>
            </a:r>
          </a:p>
          <a:p>
            <a:pPr marL="0" indent="0">
              <a:buFont typeface="Arial" panose="020B0604020202020204" pitchFamily="34" charset="0"/>
              <a:buNone/>
            </a:pPr>
            <a:endParaRPr lang="en-US"/>
          </a:p>
          <a:p>
            <a:pPr marL="0" indent="0">
              <a:buFont typeface="Arial" panose="020B0604020202020204" pitchFamily="34" charset="0"/>
              <a:buNone/>
            </a:pPr>
            <a:endParaRPr lang="en-US"/>
          </a:p>
          <a:p>
            <a:pPr marL="171450" indent="-171450">
              <a:buFont typeface="Arial" panose="020B0604020202020204" pitchFamily="34" charset="0"/>
              <a:buChar char="•"/>
            </a:pPr>
            <a:endParaRPr lang="en-US"/>
          </a:p>
        </p:txBody>
      </p:sp>
      <p:sp>
        <p:nvSpPr>
          <p:cNvPr id="4" name="Slide Number Placeholder 3"/>
          <p:cNvSpPr>
            <a:spLocks noGrp="1"/>
          </p:cNvSpPr>
          <p:nvPr>
            <p:ph type="sldNum" sz="quarter" idx="5"/>
          </p:nvPr>
        </p:nvSpPr>
        <p:spPr/>
        <p:txBody>
          <a:bodyPr/>
          <a:lstStyle/>
          <a:p>
            <a:fld id="{747DFF0B-ED0E-442F-AC07-12258C36CF38}" type="slidenum">
              <a:rPr lang="en-US" smtClean="0"/>
              <a:t>21</a:t>
            </a:fld>
            <a:endParaRPr lang="en-US"/>
          </a:p>
        </p:txBody>
      </p:sp>
    </p:spTree>
    <p:extLst>
      <p:ext uri="{BB962C8B-B14F-4D97-AF65-F5344CB8AC3E}">
        <p14:creationId xmlns:p14="http://schemas.microsoft.com/office/powerpoint/2010/main" val="8466952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pPr>
            <a:endParaRPr lang="en-US" altLang="en-US" b="0"/>
          </a:p>
          <a:p>
            <a:pPr eaLnBrk="1" hangingPunct="1">
              <a:spcBef>
                <a:spcPct val="0"/>
              </a:spcBef>
              <a:buFontTx/>
              <a:buChar char="•"/>
            </a:pPr>
            <a:r>
              <a:rPr lang="en-US" altLang="en-US" sz="1200" b="0"/>
              <a:t>Operating Leverage is the relationship between the company’s variable/sales costs and your fixed/operating costs.  Variable costs are your numerator and fixed costs are your denominator.  Why would you want the fixed costs to be as low as possible relative to the variable costs?  What does that do for your business?</a:t>
            </a:r>
          </a:p>
          <a:p>
            <a:pPr eaLnBrk="1" hangingPunct="1">
              <a:spcBef>
                <a:spcPct val="0"/>
              </a:spcBef>
            </a:pPr>
            <a:endParaRPr lang="en-US" altLang="en-US" sz="1200" b="0"/>
          </a:p>
          <a:p>
            <a:pPr eaLnBrk="1" hangingPunct="1">
              <a:spcBef>
                <a:spcPct val="0"/>
              </a:spcBef>
              <a:buFontTx/>
              <a:buChar char="•"/>
            </a:pPr>
            <a:r>
              <a:rPr lang="en-US" altLang="en-US" sz="1200" b="0"/>
              <a:t>Lower operating leverage = higher flexibility + lower risk</a:t>
            </a:r>
          </a:p>
          <a:p>
            <a:pPr eaLnBrk="1" hangingPunct="1">
              <a:spcBef>
                <a:spcPct val="0"/>
              </a:spcBef>
            </a:pPr>
            <a:endParaRPr lang="en-US" altLang="en-US" b="0"/>
          </a:p>
          <a:p>
            <a:endParaRPr lang="en-US"/>
          </a:p>
        </p:txBody>
      </p:sp>
    </p:spTree>
    <p:extLst>
      <p:ext uri="{BB962C8B-B14F-4D97-AF65-F5344CB8AC3E}">
        <p14:creationId xmlns:p14="http://schemas.microsoft.com/office/powerpoint/2010/main" val="25196075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b="0"/>
          </a:p>
          <a:p>
            <a:pPr marL="171450" indent="-171450" defTabSz="966407" eaLnBrk="1" fontAlgn="auto" hangingPunct="1">
              <a:spcBef>
                <a:spcPts val="0"/>
              </a:spcBef>
              <a:spcAft>
                <a:spcPts val="0"/>
              </a:spcAft>
              <a:buFont typeface="Arial" panose="020B0604020202020204" pitchFamily="34" charset="0"/>
              <a:buChar char="•"/>
              <a:defRPr/>
            </a:pPr>
            <a:r>
              <a:rPr lang="en-US" sz="1200" b="0"/>
              <a:t>This shows that one is not better or worse…just different.  Most start ups are low operating leverage, high variable cost companies because the risk is lower. </a:t>
            </a:r>
          </a:p>
          <a:p>
            <a:pPr defTabSz="966407" eaLnBrk="1" fontAlgn="auto" hangingPunct="1">
              <a:spcBef>
                <a:spcPts val="0"/>
              </a:spcBef>
              <a:spcAft>
                <a:spcPts val="0"/>
              </a:spcAft>
              <a:defRPr/>
            </a:pPr>
            <a:endParaRPr lang="en-US" sz="1200" b="0"/>
          </a:p>
          <a:p>
            <a:pPr marL="171450" indent="-171450" defTabSz="966407" eaLnBrk="1" fontAlgn="auto" hangingPunct="1">
              <a:spcBef>
                <a:spcPts val="0"/>
              </a:spcBef>
              <a:spcAft>
                <a:spcPts val="0"/>
              </a:spcAft>
              <a:buFont typeface="Arial" panose="020B0604020202020204" pitchFamily="34" charset="0"/>
              <a:buChar char="•"/>
              <a:defRPr/>
            </a:pPr>
            <a:r>
              <a:rPr lang="en-US" sz="1200" b="0"/>
              <a:t>Established companies have higher operating leverage and more reward.  Emphasize the risk-reward dynamic and that entrepreneurs mitigate risk first.</a:t>
            </a:r>
          </a:p>
          <a:p>
            <a:endParaRPr lang="en-US"/>
          </a:p>
        </p:txBody>
      </p:sp>
    </p:spTree>
    <p:extLst>
      <p:ext uri="{BB962C8B-B14F-4D97-AF65-F5344CB8AC3E}">
        <p14:creationId xmlns:p14="http://schemas.microsoft.com/office/powerpoint/2010/main" val="9823840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66407" eaLnBrk="1" fontAlgn="auto" hangingPunct="1">
              <a:spcBef>
                <a:spcPts val="0"/>
              </a:spcBef>
              <a:spcAft>
                <a:spcPts val="0"/>
              </a:spcAft>
              <a:defRPr/>
            </a:pPr>
            <a:r>
              <a:rPr lang="en-US" sz="1400" b="1"/>
              <a:t>Instructor Notes:</a:t>
            </a:r>
            <a:endParaRPr lang="en-US" sz="1400" b="1">
              <a:cs typeface="Calibri"/>
            </a:endParaRPr>
          </a:p>
          <a:p>
            <a:pPr defTabSz="966407" eaLnBrk="1" fontAlgn="auto" hangingPunct="1">
              <a:spcBef>
                <a:spcPts val="0"/>
              </a:spcBef>
              <a:spcAft>
                <a:spcPts val="0"/>
              </a:spcAft>
              <a:defRPr/>
            </a:pPr>
            <a:endParaRPr lang="en-US"/>
          </a:p>
          <a:p>
            <a:pPr marL="171450" indent="-171450" defTabSz="966407" eaLnBrk="1" fontAlgn="auto" hangingPunct="1">
              <a:spcBef>
                <a:spcPts val="0"/>
              </a:spcBef>
              <a:spcAft>
                <a:spcPts val="0"/>
              </a:spcAft>
              <a:buFont typeface="Arial" panose="020B0604020202020204" pitchFamily="34" charset="0"/>
              <a:buChar char="•"/>
              <a:defRPr/>
            </a:pPr>
            <a:r>
              <a:rPr lang="en-US" sz="1200" b="0"/>
              <a:t>These are questions potential business owners should know the answers to before they go into business.</a:t>
            </a:r>
          </a:p>
          <a:p>
            <a:endParaRPr lang="en-US"/>
          </a:p>
        </p:txBody>
      </p:sp>
    </p:spTree>
    <p:extLst>
      <p:ext uri="{BB962C8B-B14F-4D97-AF65-F5344CB8AC3E}">
        <p14:creationId xmlns:p14="http://schemas.microsoft.com/office/powerpoint/2010/main" val="22883381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spcBef>
                <a:spcPct val="0"/>
              </a:spcBef>
            </a:pPr>
            <a:r>
              <a:rPr lang="en-US" altLang="en-US" sz="1400" b="1"/>
              <a:t>Instructor Notes:</a:t>
            </a:r>
            <a:endParaRPr lang="en-US" altLang="en-US" sz="1400" b="1">
              <a:cs typeface="Calibri"/>
            </a:endParaRPr>
          </a:p>
          <a:p>
            <a:pPr eaLnBrk="1" hangingPunct="1">
              <a:spcBef>
                <a:spcPct val="0"/>
              </a:spcBef>
              <a:buFontTx/>
              <a:buChar char="•"/>
            </a:pPr>
            <a:endParaRPr lang="en-US" altLang="en-US" sz="1200" b="0"/>
          </a:p>
          <a:p>
            <a:pPr eaLnBrk="1" hangingPunct="1">
              <a:spcBef>
                <a:spcPct val="0"/>
              </a:spcBef>
              <a:buFontTx/>
              <a:buChar char="•"/>
            </a:pPr>
            <a:r>
              <a:rPr lang="en-US" altLang="en-US" sz="1200" b="0"/>
              <a:t>This wraps it all up for them.  Relate it back to Starbucks or another company you may have discussed with the group.</a:t>
            </a:r>
          </a:p>
          <a:p>
            <a:pPr eaLnBrk="1" hangingPunct="1">
              <a:spcBef>
                <a:spcPct val="0"/>
              </a:spcBef>
              <a:buFontTx/>
              <a:buChar char="•"/>
            </a:pPr>
            <a:endParaRPr lang="en-US" altLang="en-US" sz="1200" b="0"/>
          </a:p>
          <a:p>
            <a:pPr eaLnBrk="1" hangingPunct="1">
              <a:spcBef>
                <a:spcPct val="0"/>
              </a:spcBef>
              <a:buFontTx/>
              <a:buChar char="•"/>
            </a:pPr>
            <a:r>
              <a:rPr lang="en-US" altLang="en-US" sz="1200" b="0"/>
              <a:t>Tie P&amp;L/Income Statement back into the discussion. </a:t>
            </a:r>
          </a:p>
          <a:p>
            <a:pPr eaLnBrk="1" hangingPunct="1">
              <a:spcBef>
                <a:spcPct val="0"/>
              </a:spcBef>
              <a:buFontTx/>
              <a:buChar char="•"/>
            </a:pPr>
            <a:endParaRPr lang="en-US" altLang="en-US" sz="1200" b="0"/>
          </a:p>
          <a:p>
            <a:pPr eaLnBrk="1" hangingPunct="1">
              <a:spcBef>
                <a:spcPct val="0"/>
              </a:spcBef>
              <a:buFontTx/>
              <a:buChar char="•"/>
            </a:pPr>
            <a:r>
              <a:rPr lang="en-US" altLang="en-US" sz="1200" b="0"/>
              <a:t>Reference that when the factors of the Economic Model are successfully put together, ultimately a company will get to a profit. </a:t>
            </a:r>
          </a:p>
          <a:p>
            <a:pPr eaLnBrk="1" hangingPunct="1">
              <a:spcBef>
                <a:spcPct val="0"/>
              </a:spcBef>
              <a:buFontTx/>
              <a:buChar char="•"/>
            </a:pPr>
            <a:endParaRPr lang="en-US" altLang="en-US" sz="1200" b="0"/>
          </a:p>
          <a:p>
            <a:pPr eaLnBrk="1" hangingPunct="1">
              <a:spcBef>
                <a:spcPct val="0"/>
              </a:spcBef>
              <a:buFontTx/>
              <a:buChar char="•"/>
            </a:pPr>
            <a:r>
              <a:rPr lang="en-US" altLang="en-US" sz="1200" b="0"/>
              <a:t>Profit is the surplus remaining after total costs are deducted from total revenues.</a:t>
            </a:r>
          </a:p>
          <a:p>
            <a:endParaRPr lang="en-US"/>
          </a:p>
        </p:txBody>
      </p:sp>
    </p:spTree>
    <p:extLst>
      <p:ext uri="{BB962C8B-B14F-4D97-AF65-F5344CB8AC3E}">
        <p14:creationId xmlns:p14="http://schemas.microsoft.com/office/powerpoint/2010/main" val="32399394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t>Business Model Canvas Notes: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b="0" dirty="0">
                <a:latin typeface="+mn-lt"/>
              </a:rPr>
              <a:t>For this section, have the students work on the </a:t>
            </a:r>
            <a:r>
              <a:rPr lang="en-US" altLang="en-US" sz="1200" b="0" i="1" dirty="0">
                <a:latin typeface="+mn-lt"/>
              </a:rPr>
              <a:t>Revenue Streams </a:t>
            </a:r>
            <a:r>
              <a:rPr lang="en-US" altLang="en-US" sz="1200" b="0" dirty="0">
                <a:latin typeface="+mn-lt"/>
              </a:rPr>
              <a:t>and </a:t>
            </a:r>
            <a:r>
              <a:rPr lang="en-US" altLang="en-US" sz="1200" b="0" i="1" dirty="0">
                <a:latin typeface="+mn-lt"/>
              </a:rPr>
              <a:t>Cost Structure </a:t>
            </a:r>
            <a:r>
              <a:rPr lang="en-US" altLang="en-US" sz="1200" b="0" dirty="0">
                <a:latin typeface="+mn-lt"/>
              </a:rPr>
              <a:t>sections of their Business Model Canvas (Page 56 &amp; 57 in the Printed workbook, page 192 in the Virtual workbook).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dirty="0">
              <a:latin typeface="+mn-l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b="0" dirty="0">
                <a:latin typeface="+mn-lt"/>
              </a:rPr>
              <a:t>1. When defining </a:t>
            </a:r>
            <a:r>
              <a:rPr lang="en-US" altLang="en-US" sz="1200" b="1" dirty="0">
                <a:latin typeface="+mn-lt"/>
              </a:rPr>
              <a:t>Revenue Streams </a:t>
            </a:r>
            <a:r>
              <a:rPr lang="en-US" altLang="en-US" sz="1200" b="0" dirty="0">
                <a:latin typeface="+mn-lt"/>
              </a:rPr>
              <a:t>on the Business Model Canvas, </a:t>
            </a:r>
            <a:r>
              <a:rPr lang="en-US" altLang="en-US" dirty="0"/>
              <a:t>business owners should ask themselves</a:t>
            </a:r>
            <a:r>
              <a:rPr lang="en-US" altLang="en-US" sz="1200" b="0" dirty="0">
                <a:latin typeface="+mn-lt"/>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dirty="0">
              <a:latin typeface="+mn-l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dirty="0">
                <a:latin typeface="+mn-lt"/>
              </a:rPr>
              <a:t>How do customers currently pay for our products or services?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dirty="0">
                <a:latin typeface="+mn-lt"/>
              </a:rPr>
              <a:t>Are there additional ways we can monetize our offerings?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dirty="0">
                <a:latin typeface="+mn-lt"/>
              </a:rPr>
              <a:t>What pricing strategies are most suitable for each revenue stream?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dirty="0">
                <a:latin typeface="+mn-lt"/>
              </a:rPr>
              <a:t>How can we balance different revenue streams to ensure financial stability?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dirty="0">
              <a:latin typeface="+mn-l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b="0" i="1" dirty="0">
                <a:latin typeface="+mn-lt"/>
              </a:rPr>
              <a:t>By diversifying revenue streams and aligning them with the value the business provides, a company can create a resilient financial model that supports its growth, innovation, and overall success in the market.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i="1" dirty="0">
              <a:latin typeface="+mn-l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b="0" i="0" dirty="0">
                <a:latin typeface="+mn-lt"/>
              </a:rPr>
              <a:t>2. When defining </a:t>
            </a:r>
            <a:r>
              <a:rPr lang="en-US" altLang="en-US" sz="1200" b="1" i="0" dirty="0">
                <a:latin typeface="+mn-lt"/>
              </a:rPr>
              <a:t>Cost Structure </a:t>
            </a:r>
            <a:r>
              <a:rPr lang="en-US" altLang="en-US" sz="1200" b="0" i="0" dirty="0">
                <a:latin typeface="+mn-lt"/>
              </a:rPr>
              <a:t>on the Business Model Canvas, business owners should ask themselves: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i="0" dirty="0">
              <a:latin typeface="+mn-l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i="0" dirty="0">
                <a:latin typeface="+mn-lt"/>
              </a:rPr>
              <a:t>What are the major categories of costs we incur?</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i="0" dirty="0">
                <a:latin typeface="+mn-lt"/>
              </a:rPr>
              <a:t>Which costs are fixed, and which are variable?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i="0" dirty="0">
                <a:latin typeface="+mn-lt"/>
              </a:rPr>
              <a:t>How do our costs compare to our revenue streams?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en-US" sz="1200" b="0" i="0" dirty="0">
                <a:latin typeface="+mn-lt"/>
              </a:rPr>
              <a:t>Are there ways to optimize costs without compromising value delivery?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en-US" sz="1200" b="0" i="0" dirty="0">
              <a:latin typeface="+mn-l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en-US" sz="1200" b="0" i="1" dirty="0">
                <a:latin typeface="+mn-lt"/>
              </a:rPr>
              <a:t>By understanding and effectively managing the cost structure, a business can make informed decisions about pricing, resource allocation, and strategic planning, leading to improved financial performance and sustainable growth.</a:t>
            </a:r>
          </a:p>
          <a:p>
            <a:endParaRPr lang="en-US" dirty="0"/>
          </a:p>
        </p:txBody>
      </p:sp>
    </p:spTree>
    <p:extLst>
      <p:ext uri="{BB962C8B-B14F-4D97-AF65-F5344CB8AC3E}">
        <p14:creationId xmlns:p14="http://schemas.microsoft.com/office/powerpoint/2010/main" val="377769934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ct val="0"/>
              </a:spcBef>
              <a:defRPr/>
            </a:pPr>
            <a:r>
              <a:rPr lang="en-US" altLang="en-US" sz="1400" b="1" dirty="0"/>
              <a:t>Q&amp;A  / Discussion Starters:</a:t>
            </a:r>
            <a:endParaRPr lang="en-US" altLang="en-US" sz="1400" b="1" dirty="0">
              <a:cs typeface="Calibri"/>
            </a:endParaRPr>
          </a:p>
          <a:p>
            <a:pPr eaLnBrk="1" hangingPunct="1">
              <a:spcBef>
                <a:spcPct val="0"/>
              </a:spcBef>
              <a:defRPr/>
            </a:pPr>
            <a:endParaRPr lang="en-US" altLang="en-US" sz="1200" b="0" dirty="0"/>
          </a:p>
          <a:p>
            <a:pPr eaLnBrk="1" hangingPunct="1">
              <a:spcBef>
                <a:spcPct val="0"/>
              </a:spcBef>
              <a:defRPr/>
            </a:pPr>
            <a:r>
              <a:rPr lang="en-US" altLang="en-US" sz="1200" b="0" dirty="0"/>
              <a:t>The below questions (or other questions you may choose to use instead) are provided to either ask in question form or use to start a dialogue, and are meant to help check for understanding and emphasize key information from the module they have just completed.  </a:t>
            </a:r>
          </a:p>
          <a:p>
            <a:pPr eaLnBrk="1" hangingPunct="1">
              <a:spcBef>
                <a:spcPct val="0"/>
              </a:spcBef>
              <a:defRPr/>
            </a:pPr>
            <a:endParaRPr lang="en-US" altLang="en-US" sz="1200" dirty="0"/>
          </a:p>
          <a:p>
            <a:pPr eaLnBrk="1" hangingPunct="1">
              <a:spcBef>
                <a:spcPct val="0"/>
              </a:spcBef>
              <a:defRPr/>
            </a:pPr>
            <a:r>
              <a:rPr lang="en-US" altLang="en-US" sz="1200" b="1" dirty="0"/>
              <a:t>Question 1</a:t>
            </a:r>
            <a:r>
              <a:rPr lang="en-US" altLang="en-US" sz="1200" dirty="0"/>
              <a:t>: </a:t>
            </a:r>
            <a:r>
              <a:rPr lang="en-US" altLang="en-US" sz="1200" b="0" i="1" dirty="0"/>
              <a:t>What is the difference between fixed and variable costs?</a:t>
            </a:r>
          </a:p>
          <a:p>
            <a:pPr defTabSz="966407" eaLnBrk="1" fontAlgn="auto" hangingPunct="1">
              <a:spcBef>
                <a:spcPts val="0"/>
              </a:spcBef>
              <a:spcAft>
                <a:spcPts val="0"/>
              </a:spcAft>
              <a:buFont typeface="Arial" panose="020B0604020202020204" pitchFamily="34" charset="0"/>
              <a:buNone/>
              <a:defRPr/>
            </a:pPr>
            <a:r>
              <a:rPr lang="en-US" altLang="en-US" sz="1200" dirty="0"/>
              <a:t>Answer 1:  Variable Costs </a:t>
            </a:r>
            <a:r>
              <a:rPr lang="en-US" altLang="en-US" sz="1200" b="0" dirty="0"/>
              <a:t>are the costs associated with producing revenue.  (Examples: raw materials, supplies for your direct product, </a:t>
            </a:r>
            <a:r>
              <a:rPr lang="en-US" altLang="en-US" sz="1200" b="0" dirty="0" err="1"/>
              <a:t>etc</a:t>
            </a:r>
            <a:r>
              <a:rPr lang="en-US" altLang="en-US" sz="1200" b="0" dirty="0"/>
              <a:t>). They “vary” depending on sales volume.  The key is that the variable costs change with sales. </a:t>
            </a:r>
            <a:r>
              <a:rPr lang="en-US" altLang="en-US" sz="1200" dirty="0"/>
              <a:t>Fixed Costs </a:t>
            </a:r>
            <a:r>
              <a:rPr lang="en-US" altLang="en-US" sz="1200" b="0" dirty="0"/>
              <a:t>are recurring operating expenses.  These are set or fixed and must be paid every month, regardless of sales volume. These are the costs that even if you do not make a single sale you still need to pay.</a:t>
            </a:r>
          </a:p>
          <a:p>
            <a:pPr eaLnBrk="1" hangingPunct="1">
              <a:spcBef>
                <a:spcPct val="0"/>
              </a:spcBef>
              <a:defRPr/>
            </a:pPr>
            <a:endParaRPr lang="en-US" altLang="en-US" sz="1200" dirty="0"/>
          </a:p>
          <a:p>
            <a:pPr eaLnBrk="1" hangingPunct="1">
              <a:spcBef>
                <a:spcPct val="0"/>
              </a:spcBef>
              <a:defRPr/>
            </a:pPr>
            <a:r>
              <a:rPr lang="en-US" altLang="en-US" sz="1200" b="1" dirty="0"/>
              <a:t>Question 2</a:t>
            </a:r>
            <a:r>
              <a:rPr lang="en-US" altLang="en-US" sz="1200" dirty="0"/>
              <a:t>: </a:t>
            </a:r>
            <a:r>
              <a:rPr lang="en-US" altLang="en-US" sz="1200" b="0" i="1" dirty="0"/>
              <a:t>What are some examples of fixed costs?</a:t>
            </a:r>
          </a:p>
          <a:p>
            <a:pPr defTabSz="966407" eaLnBrk="1" fontAlgn="auto" hangingPunct="1">
              <a:spcBef>
                <a:spcPts val="0"/>
              </a:spcBef>
              <a:spcAft>
                <a:spcPts val="0"/>
              </a:spcAft>
              <a:buFont typeface="Arial" panose="020B0604020202020204" pitchFamily="34" charset="0"/>
              <a:buNone/>
              <a:defRPr/>
            </a:pPr>
            <a:r>
              <a:rPr lang="en-US" altLang="en-US" sz="1200" dirty="0"/>
              <a:t>Answer 2:  </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rent </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brick and mortar location</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salaries (not hourly pay) </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advertising</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insurance </a:t>
            </a:r>
          </a:p>
          <a:p>
            <a:pPr marL="285750" indent="-285750" defTabSz="966407" eaLnBrk="1" fontAlgn="auto" hangingPunct="1">
              <a:spcBef>
                <a:spcPts val="0"/>
              </a:spcBef>
              <a:spcAft>
                <a:spcPts val="0"/>
              </a:spcAft>
              <a:buFont typeface="Arial" panose="020B0604020202020204" pitchFamily="34" charset="0"/>
              <a:buChar char="•"/>
              <a:defRPr/>
            </a:pPr>
            <a:r>
              <a:rPr lang="en-US" sz="1200" b="0" dirty="0"/>
              <a:t>write-off of equipment</a:t>
            </a:r>
          </a:p>
          <a:p>
            <a:pPr eaLnBrk="1" hangingPunct="1">
              <a:spcBef>
                <a:spcPct val="0"/>
              </a:spcBef>
              <a:defRPr/>
            </a:pPr>
            <a:endParaRPr lang="en-US" altLang="en-US" sz="1200" b="0" dirty="0"/>
          </a:p>
          <a:p>
            <a:pPr eaLnBrk="1" hangingPunct="1">
              <a:spcBef>
                <a:spcPct val="0"/>
              </a:spcBef>
              <a:defRPr/>
            </a:pPr>
            <a:r>
              <a:rPr lang="en-US" altLang="en-US" sz="1200" b="1" dirty="0"/>
              <a:t>Question 3</a:t>
            </a:r>
            <a:r>
              <a:rPr lang="en-US" altLang="en-US" sz="1200" dirty="0"/>
              <a:t>: </a:t>
            </a:r>
            <a:r>
              <a:rPr lang="en-US" altLang="en-US" sz="1200" b="0" i="1" dirty="0"/>
              <a:t>What is “breakeven?”</a:t>
            </a:r>
          </a:p>
          <a:p>
            <a:pPr eaLnBrk="1" hangingPunct="1">
              <a:spcBef>
                <a:spcPct val="0"/>
              </a:spcBef>
              <a:defRPr/>
            </a:pPr>
            <a:r>
              <a:rPr lang="en-US" altLang="en-US" sz="1200" b="0" dirty="0"/>
              <a:t>Answer 3:  The break-even point (BEP) is the point at which total cost and total revenue are equal. There is no net loss or gain, and the business has "broken even.” </a:t>
            </a:r>
            <a:r>
              <a:rPr lang="en-US" sz="1200" b="0" dirty="0"/>
              <a:t>Once business owners know their fixed costs, they can tell you how many units of product or service they need to sell to breakeven. </a:t>
            </a:r>
            <a:r>
              <a:rPr lang="en-US" altLang="en-US" sz="1200" b="0" dirty="0"/>
              <a:t>  </a:t>
            </a:r>
          </a:p>
          <a:p>
            <a:pPr eaLnBrk="1" hangingPunct="1">
              <a:spcBef>
                <a:spcPct val="0"/>
              </a:spcBef>
              <a:defRPr/>
            </a:pPr>
            <a:endParaRPr lang="en-US" altLang="en-US" sz="1200" b="0" dirty="0"/>
          </a:p>
          <a:p>
            <a:pPr marL="0" marR="0" lvl="0" indent="0" algn="l" defTabSz="914400" rtl="0" eaLnBrk="1" fontAlgn="auto" latinLnBrk="0" hangingPunct="1">
              <a:lnSpc>
                <a:spcPct val="100000"/>
              </a:lnSpc>
              <a:spcBef>
                <a:spcPct val="0"/>
              </a:spcBef>
              <a:spcAft>
                <a:spcPts val="0"/>
              </a:spcAft>
              <a:buClrTx/>
              <a:buSzTx/>
              <a:buFontTx/>
              <a:buNone/>
              <a:tabLst/>
              <a:defRPr/>
            </a:pPr>
            <a:r>
              <a:rPr lang="en-US" altLang="en-US" sz="1200" b="1" dirty="0">
                <a:latin typeface="+mn-lt"/>
              </a:rPr>
              <a:t>Answer any questions the group may have or if there are topics they’d like to discuss. </a:t>
            </a:r>
          </a:p>
          <a:p>
            <a:pPr marL="0" marR="0" lvl="0" indent="0" algn="l" defTabSz="914400" rtl="0" eaLnBrk="1" fontAlgn="auto" latinLnBrk="0" hangingPunct="1">
              <a:lnSpc>
                <a:spcPct val="100000"/>
              </a:lnSpc>
              <a:spcBef>
                <a:spcPct val="0"/>
              </a:spcBef>
              <a:spcAft>
                <a:spcPts val="0"/>
              </a:spcAft>
              <a:buClrTx/>
              <a:buSzTx/>
              <a:buFontTx/>
              <a:buNone/>
              <a:tabLst/>
              <a:defRPr/>
            </a:pPr>
            <a:endParaRPr lang="en-US" altLang="en-US" sz="1200" b="1" dirty="0">
              <a:latin typeface="+mn-lt"/>
            </a:endParaRPr>
          </a:p>
          <a:p>
            <a:pPr marL="0" marR="0" lvl="0" indent="0" algn="l" defTabSz="914400" rtl="0" eaLnBrk="1" fontAlgn="auto" latinLnBrk="0" hangingPunct="1">
              <a:lnSpc>
                <a:spcPct val="100000"/>
              </a:lnSpc>
              <a:spcBef>
                <a:spcPct val="0"/>
              </a:spcBef>
              <a:spcAft>
                <a:spcPts val="0"/>
              </a:spcAft>
              <a:buClrTx/>
              <a:buSzTx/>
              <a:buFontTx/>
              <a:buNone/>
              <a:tabLst/>
              <a:defRPr/>
            </a:pPr>
            <a:r>
              <a:rPr lang="en-US" altLang="en-US" sz="1200" b="1" dirty="0">
                <a:latin typeface="+mn-lt"/>
              </a:rPr>
              <a:t>The next slide gives students the opportunity to complete the </a:t>
            </a:r>
            <a:r>
              <a:rPr lang="en-US" altLang="en-US" sz="1200" b="1" i="1" dirty="0">
                <a:latin typeface="+mn-lt"/>
              </a:rPr>
              <a:t>Revenue Streams and Cost Structure </a:t>
            </a:r>
            <a:r>
              <a:rPr lang="en-US" altLang="en-US" sz="1200" b="1" dirty="0">
                <a:latin typeface="+mn-lt"/>
              </a:rPr>
              <a:t>sections of their Business Model Canvas. </a:t>
            </a:r>
          </a:p>
          <a:p>
            <a:pPr eaLnBrk="1" hangingPunct="1">
              <a:spcBef>
                <a:spcPct val="0"/>
              </a:spcBef>
              <a:defRPr/>
            </a:pPr>
            <a:endParaRPr lang="en-US" altLang="en-US" sz="1200" dirty="0"/>
          </a:p>
          <a:p>
            <a:pPr eaLnBrk="1" hangingPunct="1">
              <a:spcBef>
                <a:spcPct val="0"/>
              </a:spcBef>
              <a:defRPr/>
            </a:pPr>
            <a:endParaRPr lang="en-US" altLang="en-US" sz="1200" dirty="0"/>
          </a:p>
          <a:p>
            <a:pPr eaLnBrk="1" hangingPunct="1">
              <a:spcBef>
                <a:spcPct val="0"/>
              </a:spcBef>
              <a:defRPr/>
            </a:pPr>
            <a:endParaRPr lang="en-US" altLang="en-US" sz="1200" dirty="0"/>
          </a:p>
          <a:p>
            <a:pPr eaLnBrk="1" hangingPunct="1">
              <a:spcBef>
                <a:spcPct val="0"/>
              </a:spcBef>
              <a:defRPr/>
            </a:pPr>
            <a:endParaRPr lang="en-US" altLang="en-US" sz="1200" dirty="0"/>
          </a:p>
          <a:p>
            <a:endParaRPr lang="en-US" dirty="0"/>
          </a:p>
        </p:txBody>
      </p:sp>
    </p:spTree>
    <p:extLst>
      <p:ext uri="{BB962C8B-B14F-4D97-AF65-F5344CB8AC3E}">
        <p14:creationId xmlns:p14="http://schemas.microsoft.com/office/powerpoint/2010/main" val="1426201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SBA Logo Slide">
    <p:bg>
      <p:bgPr>
        <a:solidFill>
          <a:srgbClr val="003E7F">
            <a:alpha val="0"/>
          </a:srgb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C2260EA-3420-071B-02CA-D50E10AD2D72}"/>
              </a:ext>
            </a:extLst>
          </p:cNvPr>
          <p:cNvSpPr/>
          <p:nvPr userDrawn="1"/>
        </p:nvSpPr>
        <p:spPr>
          <a:xfrm>
            <a:off x="0" y="-7889"/>
            <a:ext cx="9144000" cy="6870412"/>
          </a:xfrm>
          <a:prstGeom prst="rect">
            <a:avLst/>
          </a:prstGeom>
          <a:solidFill>
            <a:srgbClr val="003E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95312" y="1606513"/>
            <a:ext cx="3353375" cy="3644973"/>
          </a:xfrm>
          <a:prstGeom prst="rect">
            <a:avLst/>
          </a:prstGeom>
        </p:spPr>
      </p:pic>
      <p:grpSp>
        <p:nvGrpSpPr>
          <p:cNvPr id="6" name="Group 5">
            <a:extLst>
              <a:ext uri="{FF2B5EF4-FFF2-40B4-BE49-F238E27FC236}">
                <a16:creationId xmlns:a16="http://schemas.microsoft.com/office/drawing/2014/main" id="{96E10BB7-582E-8005-5992-54E6F4A88D69}"/>
              </a:ext>
            </a:extLst>
          </p:cNvPr>
          <p:cNvGrpSpPr/>
          <p:nvPr userDrawn="1"/>
        </p:nvGrpSpPr>
        <p:grpSpPr>
          <a:xfrm>
            <a:off x="-4138" y="-3943"/>
            <a:ext cx="2056283" cy="6874356"/>
            <a:chOff x="-4138" y="-3943"/>
            <a:chExt cx="2056283" cy="6874356"/>
          </a:xfrm>
        </p:grpSpPr>
        <p:sp>
          <p:nvSpPr>
            <p:cNvPr id="5" name="Rectangle 2">
              <a:extLst>
                <a:ext uri="{FF2B5EF4-FFF2-40B4-BE49-F238E27FC236}">
                  <a16:creationId xmlns:a16="http://schemas.microsoft.com/office/drawing/2014/main" id="{DF56F6D1-59E0-AB69-137A-06517D801938}"/>
                </a:ext>
              </a:extLst>
            </p:cNvPr>
            <p:cNvSpPr/>
            <p:nvPr userDrawn="1"/>
          </p:nvSpPr>
          <p:spPr>
            <a:xfrm>
              <a:off x="128752" y="-3943"/>
              <a:ext cx="1923393" cy="6865884"/>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393" h="6865884">
                  <a:moveTo>
                    <a:pt x="0" y="0"/>
                  </a:moveTo>
                  <a:lnTo>
                    <a:pt x="1923393" y="0"/>
                  </a:lnTo>
                  <a:lnTo>
                    <a:pt x="299545" y="6865884"/>
                  </a:lnTo>
                  <a:lnTo>
                    <a:pt x="0" y="6858000"/>
                  </a:lnTo>
                  <a:lnTo>
                    <a:pt x="0" y="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91B4B311-4D36-5BBC-A5EB-6F6F1DA8B5B8}"/>
                </a:ext>
              </a:extLst>
            </p:cNvPr>
            <p:cNvSpPr/>
            <p:nvPr userDrawn="1"/>
          </p:nvSpPr>
          <p:spPr>
            <a:xfrm>
              <a:off x="-4138" y="1"/>
              <a:ext cx="1927531" cy="6870412"/>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7531" h="6870412">
                  <a:moveTo>
                    <a:pt x="4138" y="0"/>
                  </a:moveTo>
                  <a:lnTo>
                    <a:pt x="1927531" y="0"/>
                  </a:lnTo>
                  <a:lnTo>
                    <a:pt x="303683" y="6865884"/>
                  </a:lnTo>
                  <a:lnTo>
                    <a:pt x="0" y="6870412"/>
                  </a:lnTo>
                  <a:cubicBezTo>
                    <a:pt x="1379" y="4583033"/>
                    <a:pt x="2759" y="2287379"/>
                    <a:pt x="4138" y="0"/>
                  </a:cubicBez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Group 6">
            <a:extLst>
              <a:ext uri="{FF2B5EF4-FFF2-40B4-BE49-F238E27FC236}">
                <a16:creationId xmlns:a16="http://schemas.microsoft.com/office/drawing/2014/main" id="{4C59C5A7-C9A4-747A-1402-DF4A725A4640}"/>
              </a:ext>
            </a:extLst>
          </p:cNvPr>
          <p:cNvGrpSpPr/>
          <p:nvPr userDrawn="1"/>
        </p:nvGrpSpPr>
        <p:grpSpPr>
          <a:xfrm rot="10800000">
            <a:off x="7096184" y="-7889"/>
            <a:ext cx="2056283" cy="6874356"/>
            <a:chOff x="-4138" y="-3943"/>
            <a:chExt cx="2056283" cy="6874356"/>
          </a:xfrm>
        </p:grpSpPr>
        <p:sp>
          <p:nvSpPr>
            <p:cNvPr id="8" name="Rectangle 2">
              <a:extLst>
                <a:ext uri="{FF2B5EF4-FFF2-40B4-BE49-F238E27FC236}">
                  <a16:creationId xmlns:a16="http://schemas.microsoft.com/office/drawing/2014/main" id="{ECBAF26A-4C5C-FAD9-0527-A1FBB00CEDB3}"/>
                </a:ext>
              </a:extLst>
            </p:cNvPr>
            <p:cNvSpPr/>
            <p:nvPr userDrawn="1"/>
          </p:nvSpPr>
          <p:spPr>
            <a:xfrm>
              <a:off x="128752" y="-3943"/>
              <a:ext cx="1923393" cy="6865884"/>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3393" h="6865884">
                  <a:moveTo>
                    <a:pt x="0" y="0"/>
                  </a:moveTo>
                  <a:lnTo>
                    <a:pt x="1923393" y="0"/>
                  </a:lnTo>
                  <a:lnTo>
                    <a:pt x="299545" y="6865884"/>
                  </a:lnTo>
                  <a:lnTo>
                    <a:pt x="0" y="6858000"/>
                  </a:lnTo>
                  <a:lnTo>
                    <a:pt x="0" y="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2">
              <a:extLst>
                <a:ext uri="{FF2B5EF4-FFF2-40B4-BE49-F238E27FC236}">
                  <a16:creationId xmlns:a16="http://schemas.microsoft.com/office/drawing/2014/main" id="{CD13260E-D01F-F6B4-24A7-06E2FA4FA13B}"/>
                </a:ext>
              </a:extLst>
            </p:cNvPr>
            <p:cNvSpPr/>
            <p:nvPr userDrawn="1"/>
          </p:nvSpPr>
          <p:spPr>
            <a:xfrm>
              <a:off x="-4138" y="1"/>
              <a:ext cx="1927531" cy="6870412"/>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27531" h="6870412">
                  <a:moveTo>
                    <a:pt x="4138" y="0"/>
                  </a:moveTo>
                  <a:lnTo>
                    <a:pt x="1927531" y="0"/>
                  </a:lnTo>
                  <a:lnTo>
                    <a:pt x="303683" y="6865884"/>
                  </a:lnTo>
                  <a:lnTo>
                    <a:pt x="0" y="6870412"/>
                  </a:lnTo>
                  <a:cubicBezTo>
                    <a:pt x="1379" y="4583033"/>
                    <a:pt x="2759" y="2287379"/>
                    <a:pt x="4138" y="0"/>
                  </a:cubicBezTo>
                  <a:close/>
                </a:path>
              </a:pathLst>
            </a:cu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983657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4_Title Slide - Texture, SBA Only">
    <p:bg>
      <p:bgPr>
        <a:solidFill>
          <a:srgbClr val="003E7F">
            <a:alpha val="0"/>
          </a:srgbClr>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F5E6546-4499-ABB1-4412-0C81E29721B5}"/>
              </a:ext>
            </a:extLst>
          </p:cNvPr>
          <p:cNvPicPr>
            <a:picLocks noChangeAspect="1"/>
          </p:cNvPicPr>
          <p:nvPr userDrawn="1"/>
        </p:nvPicPr>
        <p:blipFill>
          <a:blip r:embed="rId2"/>
          <a:srcRect/>
          <a:stretch/>
        </p:blipFill>
        <p:spPr>
          <a:xfrm>
            <a:off x="-2850" y="0"/>
            <a:ext cx="9140691" cy="6858000"/>
          </a:xfrm>
          <a:prstGeom prst="rect">
            <a:avLst/>
          </a:prstGeom>
        </p:spPr>
      </p:pic>
      <p:sp>
        <p:nvSpPr>
          <p:cNvPr id="2" name="Rectangle 1">
            <a:extLst>
              <a:ext uri="{FF2B5EF4-FFF2-40B4-BE49-F238E27FC236}">
                <a16:creationId xmlns:a16="http://schemas.microsoft.com/office/drawing/2014/main" id="{A0C6324D-0DF3-401C-806B-3D8A0E62866B}"/>
              </a:ext>
            </a:extLst>
          </p:cNvPr>
          <p:cNvSpPr/>
          <p:nvPr userDrawn="1"/>
        </p:nvSpPr>
        <p:spPr>
          <a:xfrm rot="10800000">
            <a:off x="-9002" y="-399"/>
            <a:ext cx="9152997" cy="145454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087787A3-8DB7-64A8-A69B-136FE082A6F5}"/>
              </a:ext>
            </a:extLst>
          </p:cNvPr>
          <p:cNvGrpSpPr/>
          <p:nvPr userDrawn="1"/>
        </p:nvGrpSpPr>
        <p:grpSpPr>
          <a:xfrm rot="10800000">
            <a:off x="-8998" y="5538603"/>
            <a:ext cx="9152998" cy="1319397"/>
            <a:chOff x="0" y="-868826"/>
            <a:chExt cx="9152998" cy="1319397"/>
          </a:xfrm>
        </p:grpSpPr>
        <p:sp>
          <p:nvSpPr>
            <p:cNvPr id="11" name="Rectangle 10">
              <a:extLst>
                <a:ext uri="{FF2B5EF4-FFF2-40B4-BE49-F238E27FC236}">
                  <a16:creationId xmlns:a16="http://schemas.microsoft.com/office/drawing/2014/main" id="{C533F2A0-3029-4370-8773-7CA30FEF180D}"/>
                </a:ext>
              </a:extLst>
            </p:cNvPr>
            <p:cNvSpPr/>
            <p:nvPr userDrawn="1"/>
          </p:nvSpPr>
          <p:spPr>
            <a:xfrm>
              <a:off x="1" y="-868826"/>
              <a:ext cx="9152997" cy="11539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v</a:t>
              </a:r>
            </a:p>
          </p:txBody>
        </p:sp>
        <p:sp>
          <p:nvSpPr>
            <p:cNvPr id="12" name="Rectangle 11">
              <a:extLst>
                <a:ext uri="{FF2B5EF4-FFF2-40B4-BE49-F238E27FC236}">
                  <a16:creationId xmlns:a16="http://schemas.microsoft.com/office/drawing/2014/main" id="{1BD833B5-B2C6-1EED-F4D9-FE439D5F6F3A}"/>
                </a:ext>
              </a:extLst>
            </p:cNvPr>
            <p:cNvSpPr/>
            <p:nvPr userDrawn="1"/>
          </p:nvSpPr>
          <p:spPr>
            <a:xfrm>
              <a:off x="0" y="206205"/>
              <a:ext cx="9152997" cy="244366"/>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Title 1">
            <a:extLst>
              <a:ext uri="{FF2B5EF4-FFF2-40B4-BE49-F238E27FC236}">
                <a16:creationId xmlns:a16="http://schemas.microsoft.com/office/drawing/2014/main" id="{5DFC2853-1831-F2C1-7B3B-C7EB3BC79960}"/>
              </a:ext>
            </a:extLst>
          </p:cNvPr>
          <p:cNvSpPr>
            <a:spLocks noGrp="1"/>
          </p:cNvSpPr>
          <p:nvPr>
            <p:ph type="ctrTitle" hasCustomPrompt="1"/>
          </p:nvPr>
        </p:nvSpPr>
        <p:spPr>
          <a:xfrm>
            <a:off x="1143000" y="1527676"/>
            <a:ext cx="6858000" cy="2136039"/>
          </a:xfrm>
          <a:prstGeom prst="rect">
            <a:avLst/>
          </a:prstGeom>
        </p:spPr>
        <p:txBody>
          <a:bodyPr anchor="b">
            <a:normAutofit/>
          </a:bodyPr>
          <a:lstStyle>
            <a:lvl1pPr algn="ctr">
              <a:lnSpc>
                <a:spcPct val="75000"/>
              </a:lnSpc>
              <a:defRPr sz="6000" spc="-225">
                <a:solidFill>
                  <a:srgbClr val="003F80"/>
                </a:solidFill>
              </a:defRPr>
            </a:lvl1pPr>
          </a:lstStyle>
          <a:p>
            <a:r>
              <a:rPr lang="en-US"/>
              <a:t>Click to edit master title</a:t>
            </a:r>
          </a:p>
        </p:txBody>
      </p:sp>
      <p:sp>
        <p:nvSpPr>
          <p:cNvPr id="8" name="Text Placeholder 7">
            <a:extLst>
              <a:ext uri="{FF2B5EF4-FFF2-40B4-BE49-F238E27FC236}">
                <a16:creationId xmlns:a16="http://schemas.microsoft.com/office/drawing/2014/main" id="{6699BB1E-1E6B-C1A2-335F-02BA096298E4}"/>
              </a:ext>
            </a:extLst>
          </p:cNvPr>
          <p:cNvSpPr>
            <a:spLocks noGrp="1"/>
          </p:cNvSpPr>
          <p:nvPr>
            <p:ph type="body" sz="quarter" idx="10" hasCustomPrompt="1"/>
          </p:nvPr>
        </p:nvSpPr>
        <p:spPr>
          <a:xfrm>
            <a:off x="1143000" y="3796647"/>
            <a:ext cx="6858000" cy="1646237"/>
          </a:xfrm>
        </p:spPr>
        <p:txBody>
          <a:bodyPr>
            <a:noAutofit/>
          </a:bodyPr>
          <a:lstStyle>
            <a:lvl1pPr marL="0" indent="0" algn="ctr">
              <a:buNone/>
              <a:defRPr sz="2800" b="1">
                <a:solidFill>
                  <a:srgbClr val="C00000"/>
                </a:solidFill>
              </a:defRPr>
            </a:lvl1pPr>
            <a:lvl2pPr marL="342875" indent="0" algn="ctr">
              <a:buNone/>
              <a:defRPr sz="2400" b="1">
                <a:solidFill>
                  <a:srgbClr val="898989"/>
                </a:solidFill>
              </a:defRPr>
            </a:lvl2pPr>
            <a:lvl3pPr marL="685749" indent="0" algn="ctr">
              <a:buNone/>
              <a:defRPr sz="2400" b="1">
                <a:solidFill>
                  <a:srgbClr val="898989"/>
                </a:solidFill>
              </a:defRPr>
            </a:lvl3pPr>
            <a:lvl4pPr marL="1028624" indent="0" algn="ctr">
              <a:buNone/>
              <a:defRPr sz="2400" b="1">
                <a:solidFill>
                  <a:srgbClr val="898989"/>
                </a:solidFill>
              </a:defRPr>
            </a:lvl4pPr>
            <a:lvl5pPr marL="1371498" indent="0" algn="ctr">
              <a:buNone/>
              <a:defRPr sz="2400" b="1">
                <a:solidFill>
                  <a:srgbClr val="898989"/>
                </a:solidFill>
              </a:defRPr>
            </a:lvl5pPr>
          </a:lstStyle>
          <a:p>
            <a:pPr lvl="0"/>
            <a:r>
              <a:rPr lang="en-US"/>
              <a:t>Click to edit subtitle</a:t>
            </a:r>
          </a:p>
        </p:txBody>
      </p:sp>
      <p:pic>
        <p:nvPicPr>
          <p:cNvPr id="3" name="Picture 2">
            <a:extLst>
              <a:ext uri="{FF2B5EF4-FFF2-40B4-BE49-F238E27FC236}">
                <a16:creationId xmlns:a16="http://schemas.microsoft.com/office/drawing/2014/main" id="{95B666D0-0DF0-7689-7945-AB58B30F62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67338" y="495318"/>
            <a:ext cx="2409324" cy="661760"/>
          </a:xfrm>
          <a:prstGeom prst="rect">
            <a:avLst/>
          </a:prstGeom>
        </p:spPr>
      </p:pic>
    </p:spTree>
    <p:extLst>
      <p:ext uri="{BB962C8B-B14F-4D97-AF65-F5344CB8AC3E}">
        <p14:creationId xmlns:p14="http://schemas.microsoft.com/office/powerpoint/2010/main" val="2912967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Slide - Texture, SBA Boots">
    <p:bg>
      <p:bgPr>
        <a:solidFill>
          <a:srgbClr val="003E7F">
            <a:alpha val="0"/>
          </a:srgbClr>
        </a:solidFill>
        <a:effectLst/>
      </p:bgPr>
    </p:bg>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8DB86856-CCF1-2756-F3AA-8F03FB107F7F}"/>
              </a:ext>
            </a:extLst>
          </p:cNvPr>
          <p:cNvPicPr>
            <a:picLocks noChangeAspect="1"/>
          </p:cNvPicPr>
          <p:nvPr userDrawn="1"/>
        </p:nvPicPr>
        <p:blipFill>
          <a:blip r:embed="rId2"/>
          <a:srcRect/>
          <a:stretch/>
        </p:blipFill>
        <p:spPr>
          <a:xfrm>
            <a:off x="1654" y="0"/>
            <a:ext cx="9141406" cy="6858535"/>
          </a:xfrm>
          <a:prstGeom prst="rect">
            <a:avLst/>
          </a:prstGeom>
        </p:spPr>
      </p:pic>
      <p:sp>
        <p:nvSpPr>
          <p:cNvPr id="2" name="Title 1"/>
          <p:cNvSpPr>
            <a:spLocks noGrp="1"/>
          </p:cNvSpPr>
          <p:nvPr>
            <p:ph type="ctrTitle" hasCustomPrompt="1"/>
          </p:nvPr>
        </p:nvSpPr>
        <p:spPr>
          <a:xfrm>
            <a:off x="1143000" y="1527676"/>
            <a:ext cx="6858000" cy="2136039"/>
          </a:xfrm>
          <a:prstGeom prst="rect">
            <a:avLst/>
          </a:prstGeom>
        </p:spPr>
        <p:txBody>
          <a:bodyPr anchor="b">
            <a:normAutofit/>
          </a:bodyPr>
          <a:lstStyle>
            <a:lvl1pPr algn="ctr">
              <a:lnSpc>
                <a:spcPct val="75000"/>
              </a:lnSpc>
              <a:defRPr sz="6000" spc="-225">
                <a:solidFill>
                  <a:srgbClr val="003E7F"/>
                </a:solidFill>
              </a:defRPr>
            </a:lvl1pPr>
          </a:lstStyle>
          <a:p>
            <a:r>
              <a:rPr lang="en-US"/>
              <a:t>Click to edit master title</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8566" y="664519"/>
            <a:ext cx="2407901" cy="661370"/>
          </a:xfrm>
          <a:prstGeom prst="rect">
            <a:avLst/>
          </a:prstGeom>
        </p:spPr>
      </p:pic>
      <p:pic>
        <p:nvPicPr>
          <p:cNvPr id="14" name="Picture 13" descr="A picture containing text, font, graphics, graphic design&#10;&#10;Description automatically generated">
            <a:extLst>
              <a:ext uri="{FF2B5EF4-FFF2-40B4-BE49-F238E27FC236}">
                <a16:creationId xmlns:a16="http://schemas.microsoft.com/office/drawing/2014/main" id="{1030001F-1C6C-2F14-5BA7-9350BEADA992}"/>
              </a:ext>
            </a:extLst>
          </p:cNvPr>
          <p:cNvPicPr>
            <a:picLocks noChangeAspect="1"/>
          </p:cNvPicPr>
          <p:nvPr userDrawn="1"/>
        </p:nvPicPr>
        <p:blipFill>
          <a:blip r:embed="rId4"/>
          <a:stretch>
            <a:fillRect/>
          </a:stretch>
        </p:blipFill>
        <p:spPr>
          <a:xfrm>
            <a:off x="7048981" y="665010"/>
            <a:ext cx="1578578" cy="633967"/>
          </a:xfrm>
          <a:prstGeom prst="rect">
            <a:avLst/>
          </a:prstGeom>
        </p:spPr>
      </p:pic>
      <p:sp>
        <p:nvSpPr>
          <p:cNvPr id="5" name="Text Placeholder 7">
            <a:extLst>
              <a:ext uri="{FF2B5EF4-FFF2-40B4-BE49-F238E27FC236}">
                <a16:creationId xmlns:a16="http://schemas.microsoft.com/office/drawing/2014/main" id="{E6E35A73-BE2C-8311-E082-C0587225BD11}"/>
              </a:ext>
            </a:extLst>
          </p:cNvPr>
          <p:cNvSpPr>
            <a:spLocks noGrp="1"/>
          </p:cNvSpPr>
          <p:nvPr>
            <p:ph type="body" sz="quarter" idx="11" hasCustomPrompt="1"/>
          </p:nvPr>
        </p:nvSpPr>
        <p:spPr>
          <a:xfrm>
            <a:off x="1143000" y="3796646"/>
            <a:ext cx="6858000" cy="1646237"/>
          </a:xfrm>
        </p:spPr>
        <p:txBody>
          <a:bodyPr>
            <a:noAutofit/>
          </a:bodyPr>
          <a:lstStyle>
            <a:lvl1pPr marL="0" indent="0" algn="ctr">
              <a:buNone/>
              <a:defRPr sz="2800" b="1">
                <a:solidFill>
                  <a:srgbClr val="C00000"/>
                </a:solidFill>
              </a:defRPr>
            </a:lvl1pPr>
            <a:lvl2pPr marL="342875" indent="0" algn="ctr">
              <a:buNone/>
              <a:defRPr sz="2400" b="1">
                <a:solidFill>
                  <a:srgbClr val="898989"/>
                </a:solidFill>
              </a:defRPr>
            </a:lvl2pPr>
            <a:lvl3pPr marL="685749" indent="0" algn="ctr">
              <a:buNone/>
              <a:defRPr sz="2400" b="1">
                <a:solidFill>
                  <a:srgbClr val="898989"/>
                </a:solidFill>
              </a:defRPr>
            </a:lvl3pPr>
            <a:lvl4pPr marL="1028624" indent="0" algn="ctr">
              <a:buNone/>
              <a:defRPr sz="2400" b="1">
                <a:solidFill>
                  <a:srgbClr val="898989"/>
                </a:solidFill>
              </a:defRPr>
            </a:lvl4pPr>
            <a:lvl5pPr marL="1371498" indent="0" algn="ctr">
              <a:buNone/>
              <a:defRPr sz="2400" b="1">
                <a:solidFill>
                  <a:srgbClr val="898989"/>
                </a:solidFill>
              </a:defRPr>
            </a:lvl5pPr>
          </a:lstStyle>
          <a:p>
            <a:pPr lvl="0"/>
            <a:r>
              <a:rPr lang="en-US"/>
              <a:t>Click to edit subtitle</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3_Title Slide - Texture, SBA Only">
    <p:bg>
      <p:bgPr>
        <a:solidFill>
          <a:srgbClr val="003E7F">
            <a:alpha val="0"/>
          </a:srgbClr>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896D0959-212F-7E87-2FE9-0856DFCCDC4E}"/>
              </a:ext>
            </a:extLst>
          </p:cNvPr>
          <p:cNvPicPr>
            <a:picLocks noChangeAspect="1"/>
          </p:cNvPicPr>
          <p:nvPr userDrawn="1"/>
        </p:nvPicPr>
        <p:blipFill>
          <a:blip r:embed="rId2"/>
          <a:srcRect/>
          <a:stretch/>
        </p:blipFill>
        <p:spPr>
          <a:xfrm>
            <a:off x="1654" y="0"/>
            <a:ext cx="9141406" cy="6858536"/>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8048" y="699244"/>
            <a:ext cx="2407901" cy="661370"/>
          </a:xfrm>
          <a:prstGeom prst="rect">
            <a:avLst/>
          </a:prstGeom>
        </p:spPr>
      </p:pic>
      <p:sp>
        <p:nvSpPr>
          <p:cNvPr id="5" name="Title 1">
            <a:extLst>
              <a:ext uri="{FF2B5EF4-FFF2-40B4-BE49-F238E27FC236}">
                <a16:creationId xmlns:a16="http://schemas.microsoft.com/office/drawing/2014/main" id="{5DFC2853-1831-F2C1-7B3B-C7EB3BC79960}"/>
              </a:ext>
            </a:extLst>
          </p:cNvPr>
          <p:cNvSpPr>
            <a:spLocks noGrp="1"/>
          </p:cNvSpPr>
          <p:nvPr>
            <p:ph type="ctrTitle" hasCustomPrompt="1"/>
          </p:nvPr>
        </p:nvSpPr>
        <p:spPr>
          <a:xfrm>
            <a:off x="1143000" y="1527676"/>
            <a:ext cx="6858000" cy="2136039"/>
          </a:xfrm>
          <a:prstGeom prst="rect">
            <a:avLst/>
          </a:prstGeom>
        </p:spPr>
        <p:txBody>
          <a:bodyPr anchor="b">
            <a:normAutofit/>
          </a:bodyPr>
          <a:lstStyle>
            <a:lvl1pPr algn="ctr">
              <a:lnSpc>
                <a:spcPct val="75000"/>
              </a:lnSpc>
              <a:defRPr sz="6000" spc="-225">
                <a:solidFill>
                  <a:srgbClr val="003F80"/>
                </a:solidFill>
              </a:defRPr>
            </a:lvl1pPr>
          </a:lstStyle>
          <a:p>
            <a:r>
              <a:rPr lang="en-US"/>
              <a:t>Click to edit master title</a:t>
            </a:r>
          </a:p>
        </p:txBody>
      </p:sp>
      <p:sp>
        <p:nvSpPr>
          <p:cNvPr id="8" name="Text Placeholder 7">
            <a:extLst>
              <a:ext uri="{FF2B5EF4-FFF2-40B4-BE49-F238E27FC236}">
                <a16:creationId xmlns:a16="http://schemas.microsoft.com/office/drawing/2014/main" id="{6699BB1E-1E6B-C1A2-335F-02BA096298E4}"/>
              </a:ext>
            </a:extLst>
          </p:cNvPr>
          <p:cNvSpPr>
            <a:spLocks noGrp="1"/>
          </p:cNvSpPr>
          <p:nvPr>
            <p:ph type="body" sz="quarter" idx="10" hasCustomPrompt="1"/>
          </p:nvPr>
        </p:nvSpPr>
        <p:spPr>
          <a:xfrm>
            <a:off x="1143000" y="3796647"/>
            <a:ext cx="6858000" cy="1646237"/>
          </a:xfrm>
        </p:spPr>
        <p:txBody>
          <a:bodyPr>
            <a:noAutofit/>
          </a:bodyPr>
          <a:lstStyle>
            <a:lvl1pPr marL="0" indent="0" algn="ctr">
              <a:buNone/>
              <a:defRPr sz="2800" b="1">
                <a:solidFill>
                  <a:srgbClr val="C00000"/>
                </a:solidFill>
              </a:defRPr>
            </a:lvl1pPr>
            <a:lvl2pPr marL="342875" indent="0" algn="ctr">
              <a:buNone/>
              <a:defRPr sz="2400" b="1">
                <a:solidFill>
                  <a:srgbClr val="898989"/>
                </a:solidFill>
              </a:defRPr>
            </a:lvl2pPr>
            <a:lvl3pPr marL="685749" indent="0" algn="ctr">
              <a:buNone/>
              <a:defRPr sz="2400" b="1">
                <a:solidFill>
                  <a:srgbClr val="898989"/>
                </a:solidFill>
              </a:defRPr>
            </a:lvl3pPr>
            <a:lvl4pPr marL="1028624" indent="0" algn="ctr">
              <a:buNone/>
              <a:defRPr sz="2400" b="1">
                <a:solidFill>
                  <a:srgbClr val="898989"/>
                </a:solidFill>
              </a:defRPr>
            </a:lvl4pPr>
            <a:lvl5pPr marL="1371498" indent="0" algn="ctr">
              <a:buNone/>
              <a:defRPr sz="2400" b="1">
                <a:solidFill>
                  <a:srgbClr val="898989"/>
                </a:solidFill>
              </a:defRPr>
            </a:lvl5pPr>
          </a:lstStyle>
          <a:p>
            <a:pPr lvl="0"/>
            <a:r>
              <a:rPr lang="en-US"/>
              <a:t>Click to edit subtitle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Chapter Slide - Blue Screen Only">
    <p:bg>
      <p:bgPr>
        <a:solidFill>
          <a:srgbClr val="003E7F">
            <a:alpha val="0"/>
          </a:srgb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AB10919-14D9-0AB0-6292-0A32AF9B6BDA}"/>
              </a:ext>
            </a:extLst>
          </p:cNvPr>
          <p:cNvSpPr/>
          <p:nvPr userDrawn="1"/>
        </p:nvSpPr>
        <p:spPr>
          <a:xfrm>
            <a:off x="-11632" y="0"/>
            <a:ext cx="9155632"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1143000" y="1122363"/>
            <a:ext cx="6858000" cy="2387600"/>
          </a:xfrm>
          <a:prstGeom prst="rect">
            <a:avLst/>
          </a:prstGeom>
        </p:spPr>
        <p:txBody>
          <a:bodyPr anchor="b"/>
          <a:lstStyle>
            <a:lvl1pPr algn="ctr">
              <a:lnSpc>
                <a:spcPts val="4500"/>
              </a:lnSpc>
              <a:defRPr sz="4500">
                <a:solidFill>
                  <a:schemeClr val="bg1"/>
                </a:solidFill>
              </a:defRPr>
            </a:lvl1pPr>
          </a:lstStyle>
          <a:p>
            <a:r>
              <a:rPr lang="en-US"/>
              <a:t>Click to edit master chapter</a:t>
            </a:r>
          </a:p>
        </p:txBody>
      </p:sp>
      <p:sp>
        <p:nvSpPr>
          <p:cNvPr id="3" name="Subtitle 2"/>
          <p:cNvSpPr>
            <a:spLocks noGrp="1"/>
          </p:cNvSpPr>
          <p:nvPr>
            <p:ph type="subTitle" idx="1" hasCustomPrompt="1"/>
          </p:nvPr>
        </p:nvSpPr>
        <p:spPr>
          <a:xfrm>
            <a:off x="1143000" y="3602038"/>
            <a:ext cx="6858000" cy="1655762"/>
          </a:xfrm>
        </p:spPr>
        <p:txBody>
          <a:bodyPr/>
          <a:lstStyle>
            <a:lvl1pPr marL="0" indent="0" algn="ctr">
              <a:buNone/>
              <a:defRPr sz="1800" b="1">
                <a:solidFill>
                  <a:schemeClr val="bg1">
                    <a:lumMod val="85000"/>
                  </a:schemeClr>
                </a:solidFill>
              </a:defRPr>
            </a:lvl1pPr>
            <a:lvl2pPr marL="342875" indent="0" algn="ctr">
              <a:buNone/>
              <a:defRPr sz="1500"/>
            </a:lvl2pPr>
            <a:lvl3pPr marL="685749" indent="0" algn="ctr">
              <a:buNone/>
              <a:defRPr sz="1350"/>
            </a:lvl3pPr>
            <a:lvl4pPr marL="1028624" indent="0" algn="ctr">
              <a:buNone/>
              <a:defRPr sz="1200"/>
            </a:lvl4pPr>
            <a:lvl5pPr marL="1371498" indent="0" algn="ctr">
              <a:buNone/>
              <a:defRPr sz="1200"/>
            </a:lvl5pPr>
            <a:lvl6pPr marL="1714373" indent="0" algn="ctr">
              <a:buNone/>
              <a:defRPr sz="1200"/>
            </a:lvl6pPr>
            <a:lvl7pPr marL="2057246" indent="0" algn="ctr">
              <a:buNone/>
              <a:defRPr sz="1200"/>
            </a:lvl7pPr>
            <a:lvl8pPr marL="2400120" indent="0" algn="ctr">
              <a:buNone/>
              <a:defRPr sz="1200"/>
            </a:lvl8pPr>
            <a:lvl9pPr marL="2742995" indent="0" algn="ctr">
              <a:buNone/>
              <a:defRPr sz="1200"/>
            </a:lvl9pPr>
          </a:lstStyle>
          <a:p>
            <a:r>
              <a:rPr lang="en-US"/>
              <a:t>Click to edit subtitle</a:t>
            </a:r>
          </a:p>
        </p:txBody>
      </p:sp>
      <p:sp>
        <p:nvSpPr>
          <p:cNvPr id="7" name="Rectangle 2">
            <a:extLst>
              <a:ext uri="{FF2B5EF4-FFF2-40B4-BE49-F238E27FC236}">
                <a16:creationId xmlns:a16="http://schemas.microsoft.com/office/drawing/2014/main" id="{AC6D910E-71DE-137A-93F3-A20F243E7315}"/>
              </a:ext>
            </a:extLst>
          </p:cNvPr>
          <p:cNvSpPr/>
          <p:nvPr userDrawn="1"/>
        </p:nvSpPr>
        <p:spPr>
          <a:xfrm>
            <a:off x="-11633" y="0"/>
            <a:ext cx="1170528" cy="5116563"/>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 name="connsiteX0" fmla="*/ 4138 w 825754"/>
              <a:gd name="connsiteY0" fmla="*/ 22485 h 6892897"/>
              <a:gd name="connsiteX1" fmla="*/ 825754 w 825754"/>
              <a:gd name="connsiteY1" fmla="*/ 0 h 6892897"/>
              <a:gd name="connsiteX2" fmla="*/ 303683 w 825754"/>
              <a:gd name="connsiteY2" fmla="*/ 6888369 h 6892897"/>
              <a:gd name="connsiteX3" fmla="*/ 0 w 825754"/>
              <a:gd name="connsiteY3" fmla="*/ 6892897 h 6892897"/>
              <a:gd name="connsiteX4" fmla="*/ 4138 w 825754"/>
              <a:gd name="connsiteY4" fmla="*/ 22485 h 6892897"/>
              <a:gd name="connsiteX0" fmla="*/ 4138 w 1163033"/>
              <a:gd name="connsiteY0" fmla="*/ 0 h 6870412"/>
              <a:gd name="connsiteX1" fmla="*/ 1163033 w 1163033"/>
              <a:gd name="connsiteY1" fmla="*/ 0 h 6870412"/>
              <a:gd name="connsiteX2" fmla="*/ 303683 w 1163033"/>
              <a:gd name="connsiteY2" fmla="*/ 6865884 h 6870412"/>
              <a:gd name="connsiteX3" fmla="*/ 0 w 1163033"/>
              <a:gd name="connsiteY3" fmla="*/ 6870412 h 6870412"/>
              <a:gd name="connsiteX4" fmla="*/ 4138 w 1163033"/>
              <a:gd name="connsiteY4" fmla="*/ 0 h 6870412"/>
              <a:gd name="connsiteX0" fmla="*/ 4138 w 1163033"/>
              <a:gd name="connsiteY0" fmla="*/ 0 h 6873379"/>
              <a:gd name="connsiteX1" fmla="*/ 1163033 w 1163033"/>
              <a:gd name="connsiteY1" fmla="*/ 0 h 6873379"/>
              <a:gd name="connsiteX2" fmla="*/ 108811 w 1163033"/>
              <a:gd name="connsiteY2" fmla="*/ 6873379 h 6873379"/>
              <a:gd name="connsiteX3" fmla="*/ 0 w 1163033"/>
              <a:gd name="connsiteY3" fmla="*/ 6870412 h 6873379"/>
              <a:gd name="connsiteX4" fmla="*/ 4138 w 1163033"/>
              <a:gd name="connsiteY4" fmla="*/ 0 h 6873379"/>
              <a:gd name="connsiteX0" fmla="*/ 4138 w 1163033"/>
              <a:gd name="connsiteY0" fmla="*/ 0 h 6870412"/>
              <a:gd name="connsiteX1" fmla="*/ 1163033 w 1163033"/>
              <a:gd name="connsiteY1" fmla="*/ 0 h 6870412"/>
              <a:gd name="connsiteX2" fmla="*/ 146287 w 1163033"/>
              <a:gd name="connsiteY2" fmla="*/ 4894678 h 6870412"/>
              <a:gd name="connsiteX3" fmla="*/ 0 w 1163033"/>
              <a:gd name="connsiteY3" fmla="*/ 6870412 h 6870412"/>
              <a:gd name="connsiteX4" fmla="*/ 4138 w 1163033"/>
              <a:gd name="connsiteY4" fmla="*/ 0 h 6870412"/>
              <a:gd name="connsiteX0" fmla="*/ 562389 w 1721284"/>
              <a:gd name="connsiteY0" fmla="*/ 0 h 6870412"/>
              <a:gd name="connsiteX1" fmla="*/ 1721284 w 1721284"/>
              <a:gd name="connsiteY1" fmla="*/ 0 h 6870412"/>
              <a:gd name="connsiteX2" fmla="*/ 0 w 1721284"/>
              <a:gd name="connsiteY2" fmla="*/ 4362527 h 6870412"/>
              <a:gd name="connsiteX3" fmla="*/ 558251 w 1721284"/>
              <a:gd name="connsiteY3" fmla="*/ 6870412 h 6870412"/>
              <a:gd name="connsiteX4" fmla="*/ 562389 w 1721284"/>
              <a:gd name="connsiteY4" fmla="*/ 0 h 6870412"/>
              <a:gd name="connsiteX0" fmla="*/ 157655 w 1316550"/>
              <a:gd name="connsiteY0" fmla="*/ 0 h 6870412"/>
              <a:gd name="connsiteX1" fmla="*/ 1316550 w 1316550"/>
              <a:gd name="connsiteY1" fmla="*/ 0 h 6870412"/>
              <a:gd name="connsiteX2" fmla="*/ 0 w 1316550"/>
              <a:gd name="connsiteY2" fmla="*/ 5606710 h 6870412"/>
              <a:gd name="connsiteX3" fmla="*/ 153517 w 1316550"/>
              <a:gd name="connsiteY3" fmla="*/ 6870412 h 6870412"/>
              <a:gd name="connsiteX4" fmla="*/ 157655 w 1316550"/>
              <a:gd name="connsiteY4" fmla="*/ 0 h 6870412"/>
              <a:gd name="connsiteX0" fmla="*/ 7753 w 1166648"/>
              <a:gd name="connsiteY0" fmla="*/ 0 h 6870412"/>
              <a:gd name="connsiteX1" fmla="*/ 1166648 w 1166648"/>
              <a:gd name="connsiteY1" fmla="*/ 0 h 6870412"/>
              <a:gd name="connsiteX2" fmla="*/ 0 w 1166648"/>
              <a:gd name="connsiteY2" fmla="*/ 4992114 h 6870412"/>
              <a:gd name="connsiteX3" fmla="*/ 3615 w 1166648"/>
              <a:gd name="connsiteY3" fmla="*/ 6870412 h 6870412"/>
              <a:gd name="connsiteX4" fmla="*/ 7753 w 1166648"/>
              <a:gd name="connsiteY4" fmla="*/ 0 h 6870412"/>
              <a:gd name="connsiteX0" fmla="*/ 11633 w 1170528"/>
              <a:gd name="connsiteY0" fmla="*/ 0 h 5004137"/>
              <a:gd name="connsiteX1" fmla="*/ 1170528 w 1170528"/>
              <a:gd name="connsiteY1" fmla="*/ 0 h 5004137"/>
              <a:gd name="connsiteX2" fmla="*/ 3880 w 1170528"/>
              <a:gd name="connsiteY2" fmla="*/ 4992114 h 5004137"/>
              <a:gd name="connsiteX3" fmla="*/ 0 w 1170528"/>
              <a:gd name="connsiteY3" fmla="*/ 5004137 h 5004137"/>
              <a:gd name="connsiteX4" fmla="*/ 11633 w 1170528"/>
              <a:gd name="connsiteY4" fmla="*/ 0 h 5004137"/>
              <a:gd name="connsiteX0" fmla="*/ 11633 w 1170528"/>
              <a:gd name="connsiteY0" fmla="*/ 0 h 5116563"/>
              <a:gd name="connsiteX1" fmla="*/ 1170528 w 1170528"/>
              <a:gd name="connsiteY1" fmla="*/ 0 h 5116563"/>
              <a:gd name="connsiteX2" fmla="*/ 3880 w 1170528"/>
              <a:gd name="connsiteY2" fmla="*/ 4992114 h 5116563"/>
              <a:gd name="connsiteX3" fmla="*/ 0 w 1170528"/>
              <a:gd name="connsiteY3" fmla="*/ 5116563 h 5116563"/>
              <a:gd name="connsiteX4" fmla="*/ 11633 w 1170528"/>
              <a:gd name="connsiteY4" fmla="*/ 0 h 5116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0528" h="5116563">
                <a:moveTo>
                  <a:pt x="11633" y="0"/>
                </a:moveTo>
                <a:lnTo>
                  <a:pt x="1170528" y="0"/>
                </a:lnTo>
                <a:lnTo>
                  <a:pt x="3880" y="4992114"/>
                </a:lnTo>
                <a:lnTo>
                  <a:pt x="0" y="5116563"/>
                </a:lnTo>
                <a:cubicBezTo>
                  <a:pt x="1379" y="2829184"/>
                  <a:pt x="10254" y="2287379"/>
                  <a:pt x="11633" y="0"/>
                </a:cubicBezTo>
                <a:close/>
              </a:path>
            </a:pathLst>
          </a:custGeom>
          <a:solidFill>
            <a:srgbClr val="003E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2">
            <a:extLst>
              <a:ext uri="{FF2B5EF4-FFF2-40B4-BE49-F238E27FC236}">
                <a16:creationId xmlns:a16="http://schemas.microsoft.com/office/drawing/2014/main" id="{337BB8E4-A84B-3079-497D-774CA8EB51B3}"/>
              </a:ext>
            </a:extLst>
          </p:cNvPr>
          <p:cNvSpPr/>
          <p:nvPr userDrawn="1"/>
        </p:nvSpPr>
        <p:spPr>
          <a:xfrm rot="10800000">
            <a:off x="8001000" y="1741437"/>
            <a:ext cx="1170528" cy="5116563"/>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 name="connsiteX0" fmla="*/ 4138 w 825754"/>
              <a:gd name="connsiteY0" fmla="*/ 22485 h 6892897"/>
              <a:gd name="connsiteX1" fmla="*/ 825754 w 825754"/>
              <a:gd name="connsiteY1" fmla="*/ 0 h 6892897"/>
              <a:gd name="connsiteX2" fmla="*/ 303683 w 825754"/>
              <a:gd name="connsiteY2" fmla="*/ 6888369 h 6892897"/>
              <a:gd name="connsiteX3" fmla="*/ 0 w 825754"/>
              <a:gd name="connsiteY3" fmla="*/ 6892897 h 6892897"/>
              <a:gd name="connsiteX4" fmla="*/ 4138 w 825754"/>
              <a:gd name="connsiteY4" fmla="*/ 22485 h 6892897"/>
              <a:gd name="connsiteX0" fmla="*/ 4138 w 1163033"/>
              <a:gd name="connsiteY0" fmla="*/ 0 h 6870412"/>
              <a:gd name="connsiteX1" fmla="*/ 1163033 w 1163033"/>
              <a:gd name="connsiteY1" fmla="*/ 0 h 6870412"/>
              <a:gd name="connsiteX2" fmla="*/ 303683 w 1163033"/>
              <a:gd name="connsiteY2" fmla="*/ 6865884 h 6870412"/>
              <a:gd name="connsiteX3" fmla="*/ 0 w 1163033"/>
              <a:gd name="connsiteY3" fmla="*/ 6870412 h 6870412"/>
              <a:gd name="connsiteX4" fmla="*/ 4138 w 1163033"/>
              <a:gd name="connsiteY4" fmla="*/ 0 h 6870412"/>
              <a:gd name="connsiteX0" fmla="*/ 4138 w 1163033"/>
              <a:gd name="connsiteY0" fmla="*/ 0 h 6873379"/>
              <a:gd name="connsiteX1" fmla="*/ 1163033 w 1163033"/>
              <a:gd name="connsiteY1" fmla="*/ 0 h 6873379"/>
              <a:gd name="connsiteX2" fmla="*/ 108811 w 1163033"/>
              <a:gd name="connsiteY2" fmla="*/ 6873379 h 6873379"/>
              <a:gd name="connsiteX3" fmla="*/ 0 w 1163033"/>
              <a:gd name="connsiteY3" fmla="*/ 6870412 h 6873379"/>
              <a:gd name="connsiteX4" fmla="*/ 4138 w 1163033"/>
              <a:gd name="connsiteY4" fmla="*/ 0 h 6873379"/>
              <a:gd name="connsiteX0" fmla="*/ 4138 w 1163033"/>
              <a:gd name="connsiteY0" fmla="*/ 0 h 6870412"/>
              <a:gd name="connsiteX1" fmla="*/ 1163033 w 1163033"/>
              <a:gd name="connsiteY1" fmla="*/ 0 h 6870412"/>
              <a:gd name="connsiteX2" fmla="*/ 146287 w 1163033"/>
              <a:gd name="connsiteY2" fmla="*/ 4894678 h 6870412"/>
              <a:gd name="connsiteX3" fmla="*/ 0 w 1163033"/>
              <a:gd name="connsiteY3" fmla="*/ 6870412 h 6870412"/>
              <a:gd name="connsiteX4" fmla="*/ 4138 w 1163033"/>
              <a:gd name="connsiteY4" fmla="*/ 0 h 6870412"/>
              <a:gd name="connsiteX0" fmla="*/ 562389 w 1721284"/>
              <a:gd name="connsiteY0" fmla="*/ 0 h 6870412"/>
              <a:gd name="connsiteX1" fmla="*/ 1721284 w 1721284"/>
              <a:gd name="connsiteY1" fmla="*/ 0 h 6870412"/>
              <a:gd name="connsiteX2" fmla="*/ 0 w 1721284"/>
              <a:gd name="connsiteY2" fmla="*/ 4362527 h 6870412"/>
              <a:gd name="connsiteX3" fmla="*/ 558251 w 1721284"/>
              <a:gd name="connsiteY3" fmla="*/ 6870412 h 6870412"/>
              <a:gd name="connsiteX4" fmla="*/ 562389 w 1721284"/>
              <a:gd name="connsiteY4" fmla="*/ 0 h 6870412"/>
              <a:gd name="connsiteX0" fmla="*/ 157655 w 1316550"/>
              <a:gd name="connsiteY0" fmla="*/ 0 h 6870412"/>
              <a:gd name="connsiteX1" fmla="*/ 1316550 w 1316550"/>
              <a:gd name="connsiteY1" fmla="*/ 0 h 6870412"/>
              <a:gd name="connsiteX2" fmla="*/ 0 w 1316550"/>
              <a:gd name="connsiteY2" fmla="*/ 5606710 h 6870412"/>
              <a:gd name="connsiteX3" fmla="*/ 153517 w 1316550"/>
              <a:gd name="connsiteY3" fmla="*/ 6870412 h 6870412"/>
              <a:gd name="connsiteX4" fmla="*/ 157655 w 1316550"/>
              <a:gd name="connsiteY4" fmla="*/ 0 h 6870412"/>
              <a:gd name="connsiteX0" fmla="*/ 7753 w 1166648"/>
              <a:gd name="connsiteY0" fmla="*/ 0 h 6870412"/>
              <a:gd name="connsiteX1" fmla="*/ 1166648 w 1166648"/>
              <a:gd name="connsiteY1" fmla="*/ 0 h 6870412"/>
              <a:gd name="connsiteX2" fmla="*/ 0 w 1166648"/>
              <a:gd name="connsiteY2" fmla="*/ 4992114 h 6870412"/>
              <a:gd name="connsiteX3" fmla="*/ 3615 w 1166648"/>
              <a:gd name="connsiteY3" fmla="*/ 6870412 h 6870412"/>
              <a:gd name="connsiteX4" fmla="*/ 7753 w 1166648"/>
              <a:gd name="connsiteY4" fmla="*/ 0 h 6870412"/>
              <a:gd name="connsiteX0" fmla="*/ 11633 w 1170528"/>
              <a:gd name="connsiteY0" fmla="*/ 0 h 5004137"/>
              <a:gd name="connsiteX1" fmla="*/ 1170528 w 1170528"/>
              <a:gd name="connsiteY1" fmla="*/ 0 h 5004137"/>
              <a:gd name="connsiteX2" fmla="*/ 3880 w 1170528"/>
              <a:gd name="connsiteY2" fmla="*/ 4992114 h 5004137"/>
              <a:gd name="connsiteX3" fmla="*/ 0 w 1170528"/>
              <a:gd name="connsiteY3" fmla="*/ 5004137 h 5004137"/>
              <a:gd name="connsiteX4" fmla="*/ 11633 w 1170528"/>
              <a:gd name="connsiteY4" fmla="*/ 0 h 5004137"/>
              <a:gd name="connsiteX0" fmla="*/ 11633 w 1170528"/>
              <a:gd name="connsiteY0" fmla="*/ 0 h 5116563"/>
              <a:gd name="connsiteX1" fmla="*/ 1170528 w 1170528"/>
              <a:gd name="connsiteY1" fmla="*/ 0 h 5116563"/>
              <a:gd name="connsiteX2" fmla="*/ 3880 w 1170528"/>
              <a:gd name="connsiteY2" fmla="*/ 4992114 h 5116563"/>
              <a:gd name="connsiteX3" fmla="*/ 0 w 1170528"/>
              <a:gd name="connsiteY3" fmla="*/ 5116563 h 5116563"/>
              <a:gd name="connsiteX4" fmla="*/ 11633 w 1170528"/>
              <a:gd name="connsiteY4" fmla="*/ 0 h 5116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0528" h="5116563">
                <a:moveTo>
                  <a:pt x="11633" y="0"/>
                </a:moveTo>
                <a:lnTo>
                  <a:pt x="1170528" y="0"/>
                </a:lnTo>
                <a:lnTo>
                  <a:pt x="3880" y="4992114"/>
                </a:lnTo>
                <a:lnTo>
                  <a:pt x="0" y="5116563"/>
                </a:lnTo>
                <a:cubicBezTo>
                  <a:pt x="1379" y="2829184"/>
                  <a:pt x="10254" y="2287379"/>
                  <a:pt x="11633" y="0"/>
                </a:cubicBezTo>
                <a:close/>
              </a:path>
            </a:pathLst>
          </a:custGeom>
          <a:solidFill>
            <a:srgbClr val="003E7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 preserve="1">
  <p:cSld name="Chapter Slide - White Screen Only">
    <p:bg>
      <p:bgPr>
        <a:solidFill>
          <a:srgbClr val="003E7F">
            <a:alpha val="0"/>
          </a:srgbClr>
        </a:solidFill>
        <a:effectLst/>
      </p:bgPr>
    </p:bg>
    <p:spTree>
      <p:nvGrpSpPr>
        <p:cNvPr id="1" name=""/>
        <p:cNvGrpSpPr/>
        <p:nvPr/>
      </p:nvGrpSpPr>
      <p:grpSpPr>
        <a:xfrm>
          <a:off x="0" y="0"/>
          <a:ext cx="0" cy="0"/>
          <a:chOff x="0" y="0"/>
          <a:chExt cx="0" cy="0"/>
        </a:xfrm>
      </p:grpSpPr>
      <p:sp>
        <p:nvSpPr>
          <p:cNvPr id="5" name="Rectangle 2">
            <a:extLst>
              <a:ext uri="{FF2B5EF4-FFF2-40B4-BE49-F238E27FC236}">
                <a16:creationId xmlns:a16="http://schemas.microsoft.com/office/drawing/2014/main" id="{4A8B996D-9F42-16F9-2232-3B81DC19B39F}"/>
              </a:ext>
            </a:extLst>
          </p:cNvPr>
          <p:cNvSpPr/>
          <p:nvPr userDrawn="1"/>
        </p:nvSpPr>
        <p:spPr>
          <a:xfrm>
            <a:off x="-11633" y="0"/>
            <a:ext cx="1170528" cy="5116563"/>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 name="connsiteX0" fmla="*/ 4138 w 825754"/>
              <a:gd name="connsiteY0" fmla="*/ 22485 h 6892897"/>
              <a:gd name="connsiteX1" fmla="*/ 825754 w 825754"/>
              <a:gd name="connsiteY1" fmla="*/ 0 h 6892897"/>
              <a:gd name="connsiteX2" fmla="*/ 303683 w 825754"/>
              <a:gd name="connsiteY2" fmla="*/ 6888369 h 6892897"/>
              <a:gd name="connsiteX3" fmla="*/ 0 w 825754"/>
              <a:gd name="connsiteY3" fmla="*/ 6892897 h 6892897"/>
              <a:gd name="connsiteX4" fmla="*/ 4138 w 825754"/>
              <a:gd name="connsiteY4" fmla="*/ 22485 h 6892897"/>
              <a:gd name="connsiteX0" fmla="*/ 4138 w 1163033"/>
              <a:gd name="connsiteY0" fmla="*/ 0 h 6870412"/>
              <a:gd name="connsiteX1" fmla="*/ 1163033 w 1163033"/>
              <a:gd name="connsiteY1" fmla="*/ 0 h 6870412"/>
              <a:gd name="connsiteX2" fmla="*/ 303683 w 1163033"/>
              <a:gd name="connsiteY2" fmla="*/ 6865884 h 6870412"/>
              <a:gd name="connsiteX3" fmla="*/ 0 w 1163033"/>
              <a:gd name="connsiteY3" fmla="*/ 6870412 h 6870412"/>
              <a:gd name="connsiteX4" fmla="*/ 4138 w 1163033"/>
              <a:gd name="connsiteY4" fmla="*/ 0 h 6870412"/>
              <a:gd name="connsiteX0" fmla="*/ 4138 w 1163033"/>
              <a:gd name="connsiteY0" fmla="*/ 0 h 6873379"/>
              <a:gd name="connsiteX1" fmla="*/ 1163033 w 1163033"/>
              <a:gd name="connsiteY1" fmla="*/ 0 h 6873379"/>
              <a:gd name="connsiteX2" fmla="*/ 108811 w 1163033"/>
              <a:gd name="connsiteY2" fmla="*/ 6873379 h 6873379"/>
              <a:gd name="connsiteX3" fmla="*/ 0 w 1163033"/>
              <a:gd name="connsiteY3" fmla="*/ 6870412 h 6873379"/>
              <a:gd name="connsiteX4" fmla="*/ 4138 w 1163033"/>
              <a:gd name="connsiteY4" fmla="*/ 0 h 6873379"/>
              <a:gd name="connsiteX0" fmla="*/ 4138 w 1163033"/>
              <a:gd name="connsiteY0" fmla="*/ 0 h 6870412"/>
              <a:gd name="connsiteX1" fmla="*/ 1163033 w 1163033"/>
              <a:gd name="connsiteY1" fmla="*/ 0 h 6870412"/>
              <a:gd name="connsiteX2" fmla="*/ 146287 w 1163033"/>
              <a:gd name="connsiteY2" fmla="*/ 4894678 h 6870412"/>
              <a:gd name="connsiteX3" fmla="*/ 0 w 1163033"/>
              <a:gd name="connsiteY3" fmla="*/ 6870412 h 6870412"/>
              <a:gd name="connsiteX4" fmla="*/ 4138 w 1163033"/>
              <a:gd name="connsiteY4" fmla="*/ 0 h 6870412"/>
              <a:gd name="connsiteX0" fmla="*/ 562389 w 1721284"/>
              <a:gd name="connsiteY0" fmla="*/ 0 h 6870412"/>
              <a:gd name="connsiteX1" fmla="*/ 1721284 w 1721284"/>
              <a:gd name="connsiteY1" fmla="*/ 0 h 6870412"/>
              <a:gd name="connsiteX2" fmla="*/ 0 w 1721284"/>
              <a:gd name="connsiteY2" fmla="*/ 4362527 h 6870412"/>
              <a:gd name="connsiteX3" fmla="*/ 558251 w 1721284"/>
              <a:gd name="connsiteY3" fmla="*/ 6870412 h 6870412"/>
              <a:gd name="connsiteX4" fmla="*/ 562389 w 1721284"/>
              <a:gd name="connsiteY4" fmla="*/ 0 h 6870412"/>
              <a:gd name="connsiteX0" fmla="*/ 157655 w 1316550"/>
              <a:gd name="connsiteY0" fmla="*/ 0 h 6870412"/>
              <a:gd name="connsiteX1" fmla="*/ 1316550 w 1316550"/>
              <a:gd name="connsiteY1" fmla="*/ 0 h 6870412"/>
              <a:gd name="connsiteX2" fmla="*/ 0 w 1316550"/>
              <a:gd name="connsiteY2" fmla="*/ 5606710 h 6870412"/>
              <a:gd name="connsiteX3" fmla="*/ 153517 w 1316550"/>
              <a:gd name="connsiteY3" fmla="*/ 6870412 h 6870412"/>
              <a:gd name="connsiteX4" fmla="*/ 157655 w 1316550"/>
              <a:gd name="connsiteY4" fmla="*/ 0 h 6870412"/>
              <a:gd name="connsiteX0" fmla="*/ 7753 w 1166648"/>
              <a:gd name="connsiteY0" fmla="*/ 0 h 6870412"/>
              <a:gd name="connsiteX1" fmla="*/ 1166648 w 1166648"/>
              <a:gd name="connsiteY1" fmla="*/ 0 h 6870412"/>
              <a:gd name="connsiteX2" fmla="*/ 0 w 1166648"/>
              <a:gd name="connsiteY2" fmla="*/ 4992114 h 6870412"/>
              <a:gd name="connsiteX3" fmla="*/ 3615 w 1166648"/>
              <a:gd name="connsiteY3" fmla="*/ 6870412 h 6870412"/>
              <a:gd name="connsiteX4" fmla="*/ 7753 w 1166648"/>
              <a:gd name="connsiteY4" fmla="*/ 0 h 6870412"/>
              <a:gd name="connsiteX0" fmla="*/ 11633 w 1170528"/>
              <a:gd name="connsiteY0" fmla="*/ 0 h 5004137"/>
              <a:gd name="connsiteX1" fmla="*/ 1170528 w 1170528"/>
              <a:gd name="connsiteY1" fmla="*/ 0 h 5004137"/>
              <a:gd name="connsiteX2" fmla="*/ 3880 w 1170528"/>
              <a:gd name="connsiteY2" fmla="*/ 4992114 h 5004137"/>
              <a:gd name="connsiteX3" fmla="*/ 0 w 1170528"/>
              <a:gd name="connsiteY3" fmla="*/ 5004137 h 5004137"/>
              <a:gd name="connsiteX4" fmla="*/ 11633 w 1170528"/>
              <a:gd name="connsiteY4" fmla="*/ 0 h 5004137"/>
              <a:gd name="connsiteX0" fmla="*/ 11633 w 1170528"/>
              <a:gd name="connsiteY0" fmla="*/ 0 h 5116563"/>
              <a:gd name="connsiteX1" fmla="*/ 1170528 w 1170528"/>
              <a:gd name="connsiteY1" fmla="*/ 0 h 5116563"/>
              <a:gd name="connsiteX2" fmla="*/ 3880 w 1170528"/>
              <a:gd name="connsiteY2" fmla="*/ 4992114 h 5116563"/>
              <a:gd name="connsiteX3" fmla="*/ 0 w 1170528"/>
              <a:gd name="connsiteY3" fmla="*/ 5116563 h 5116563"/>
              <a:gd name="connsiteX4" fmla="*/ 11633 w 1170528"/>
              <a:gd name="connsiteY4" fmla="*/ 0 h 5116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0528" h="5116563">
                <a:moveTo>
                  <a:pt x="11633" y="0"/>
                </a:moveTo>
                <a:lnTo>
                  <a:pt x="1170528" y="0"/>
                </a:lnTo>
                <a:lnTo>
                  <a:pt x="3880" y="4992114"/>
                </a:lnTo>
                <a:lnTo>
                  <a:pt x="0" y="5116563"/>
                </a:lnTo>
                <a:cubicBezTo>
                  <a:pt x="1379" y="2829184"/>
                  <a:pt x="10254" y="2287379"/>
                  <a:pt x="11633" y="0"/>
                </a:cubicBezTo>
                <a:close/>
              </a:path>
            </a:pathLst>
          </a:cu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2">
            <a:extLst>
              <a:ext uri="{FF2B5EF4-FFF2-40B4-BE49-F238E27FC236}">
                <a16:creationId xmlns:a16="http://schemas.microsoft.com/office/drawing/2014/main" id="{63702A93-44C1-C2FD-085F-6AAFB7D99401}"/>
              </a:ext>
            </a:extLst>
          </p:cNvPr>
          <p:cNvSpPr/>
          <p:nvPr userDrawn="1"/>
        </p:nvSpPr>
        <p:spPr>
          <a:xfrm rot="10800000">
            <a:off x="8001000" y="1741437"/>
            <a:ext cx="1170528" cy="5116563"/>
          </a:xfrm>
          <a:custGeom>
            <a:avLst/>
            <a:gdLst>
              <a:gd name="connsiteX0" fmla="*/ 0 w 1923393"/>
              <a:gd name="connsiteY0" fmla="*/ 0 h 6858000"/>
              <a:gd name="connsiteX1" fmla="*/ 1923393 w 1923393"/>
              <a:gd name="connsiteY1" fmla="*/ 0 h 6858000"/>
              <a:gd name="connsiteX2" fmla="*/ 1923393 w 1923393"/>
              <a:gd name="connsiteY2" fmla="*/ 6858000 h 6858000"/>
              <a:gd name="connsiteX3" fmla="*/ 0 w 1923393"/>
              <a:gd name="connsiteY3" fmla="*/ 6858000 h 6858000"/>
              <a:gd name="connsiteX4" fmla="*/ 0 w 1923393"/>
              <a:gd name="connsiteY4" fmla="*/ 0 h 6858000"/>
              <a:gd name="connsiteX0" fmla="*/ 0 w 1923393"/>
              <a:gd name="connsiteY0" fmla="*/ 0 h 6858000"/>
              <a:gd name="connsiteX1" fmla="*/ 1923393 w 1923393"/>
              <a:gd name="connsiteY1" fmla="*/ 0 h 6858000"/>
              <a:gd name="connsiteX2" fmla="*/ 591207 w 1923393"/>
              <a:gd name="connsiteY2" fmla="*/ 6850118 h 6858000"/>
              <a:gd name="connsiteX3" fmla="*/ 0 w 1923393"/>
              <a:gd name="connsiteY3" fmla="*/ 6858000 h 6858000"/>
              <a:gd name="connsiteX4" fmla="*/ 0 w 1923393"/>
              <a:gd name="connsiteY4" fmla="*/ 0 h 6858000"/>
              <a:gd name="connsiteX0" fmla="*/ 0 w 1923393"/>
              <a:gd name="connsiteY0" fmla="*/ 0 h 6858001"/>
              <a:gd name="connsiteX1" fmla="*/ 1923393 w 1923393"/>
              <a:gd name="connsiteY1" fmla="*/ 0 h 6858001"/>
              <a:gd name="connsiteX2" fmla="*/ 228600 w 1923393"/>
              <a:gd name="connsiteY2" fmla="*/ 6858001 h 6858001"/>
              <a:gd name="connsiteX3" fmla="*/ 0 w 1923393"/>
              <a:gd name="connsiteY3" fmla="*/ 6858000 h 6858001"/>
              <a:gd name="connsiteX4" fmla="*/ 0 w 1923393"/>
              <a:gd name="connsiteY4" fmla="*/ 0 h 6858001"/>
              <a:gd name="connsiteX0" fmla="*/ 0 w 1923393"/>
              <a:gd name="connsiteY0" fmla="*/ 0 h 6865884"/>
              <a:gd name="connsiteX1" fmla="*/ 1923393 w 1923393"/>
              <a:gd name="connsiteY1" fmla="*/ 0 h 6865884"/>
              <a:gd name="connsiteX2" fmla="*/ 299545 w 1923393"/>
              <a:gd name="connsiteY2" fmla="*/ 6865884 h 6865884"/>
              <a:gd name="connsiteX3" fmla="*/ 0 w 1923393"/>
              <a:gd name="connsiteY3" fmla="*/ 6858000 h 6865884"/>
              <a:gd name="connsiteX4" fmla="*/ 0 w 1923393"/>
              <a:gd name="connsiteY4" fmla="*/ 0 h 6865884"/>
              <a:gd name="connsiteX0" fmla="*/ 4138 w 1927531"/>
              <a:gd name="connsiteY0" fmla="*/ 0 h 6865884"/>
              <a:gd name="connsiteX1" fmla="*/ 1927531 w 1927531"/>
              <a:gd name="connsiteY1" fmla="*/ 0 h 6865884"/>
              <a:gd name="connsiteX2" fmla="*/ 303683 w 1927531"/>
              <a:gd name="connsiteY2" fmla="*/ 6865884 h 6865884"/>
              <a:gd name="connsiteX3" fmla="*/ 0 w 1927531"/>
              <a:gd name="connsiteY3" fmla="*/ 6862137 h 6865884"/>
              <a:gd name="connsiteX4" fmla="*/ 4138 w 1927531"/>
              <a:gd name="connsiteY4" fmla="*/ 0 h 6865884"/>
              <a:gd name="connsiteX0" fmla="*/ 4138 w 1927531"/>
              <a:gd name="connsiteY0" fmla="*/ 0 h 6870412"/>
              <a:gd name="connsiteX1" fmla="*/ 1927531 w 1927531"/>
              <a:gd name="connsiteY1" fmla="*/ 0 h 6870412"/>
              <a:gd name="connsiteX2" fmla="*/ 303683 w 1927531"/>
              <a:gd name="connsiteY2" fmla="*/ 6865884 h 6870412"/>
              <a:gd name="connsiteX3" fmla="*/ 0 w 1927531"/>
              <a:gd name="connsiteY3" fmla="*/ 6870412 h 6870412"/>
              <a:gd name="connsiteX4" fmla="*/ 4138 w 1927531"/>
              <a:gd name="connsiteY4" fmla="*/ 0 h 6870412"/>
              <a:gd name="connsiteX0" fmla="*/ 4138 w 825754"/>
              <a:gd name="connsiteY0" fmla="*/ 22485 h 6892897"/>
              <a:gd name="connsiteX1" fmla="*/ 825754 w 825754"/>
              <a:gd name="connsiteY1" fmla="*/ 0 h 6892897"/>
              <a:gd name="connsiteX2" fmla="*/ 303683 w 825754"/>
              <a:gd name="connsiteY2" fmla="*/ 6888369 h 6892897"/>
              <a:gd name="connsiteX3" fmla="*/ 0 w 825754"/>
              <a:gd name="connsiteY3" fmla="*/ 6892897 h 6892897"/>
              <a:gd name="connsiteX4" fmla="*/ 4138 w 825754"/>
              <a:gd name="connsiteY4" fmla="*/ 22485 h 6892897"/>
              <a:gd name="connsiteX0" fmla="*/ 4138 w 1163033"/>
              <a:gd name="connsiteY0" fmla="*/ 0 h 6870412"/>
              <a:gd name="connsiteX1" fmla="*/ 1163033 w 1163033"/>
              <a:gd name="connsiteY1" fmla="*/ 0 h 6870412"/>
              <a:gd name="connsiteX2" fmla="*/ 303683 w 1163033"/>
              <a:gd name="connsiteY2" fmla="*/ 6865884 h 6870412"/>
              <a:gd name="connsiteX3" fmla="*/ 0 w 1163033"/>
              <a:gd name="connsiteY3" fmla="*/ 6870412 h 6870412"/>
              <a:gd name="connsiteX4" fmla="*/ 4138 w 1163033"/>
              <a:gd name="connsiteY4" fmla="*/ 0 h 6870412"/>
              <a:gd name="connsiteX0" fmla="*/ 4138 w 1163033"/>
              <a:gd name="connsiteY0" fmla="*/ 0 h 6873379"/>
              <a:gd name="connsiteX1" fmla="*/ 1163033 w 1163033"/>
              <a:gd name="connsiteY1" fmla="*/ 0 h 6873379"/>
              <a:gd name="connsiteX2" fmla="*/ 108811 w 1163033"/>
              <a:gd name="connsiteY2" fmla="*/ 6873379 h 6873379"/>
              <a:gd name="connsiteX3" fmla="*/ 0 w 1163033"/>
              <a:gd name="connsiteY3" fmla="*/ 6870412 h 6873379"/>
              <a:gd name="connsiteX4" fmla="*/ 4138 w 1163033"/>
              <a:gd name="connsiteY4" fmla="*/ 0 h 6873379"/>
              <a:gd name="connsiteX0" fmla="*/ 4138 w 1163033"/>
              <a:gd name="connsiteY0" fmla="*/ 0 h 6870412"/>
              <a:gd name="connsiteX1" fmla="*/ 1163033 w 1163033"/>
              <a:gd name="connsiteY1" fmla="*/ 0 h 6870412"/>
              <a:gd name="connsiteX2" fmla="*/ 146287 w 1163033"/>
              <a:gd name="connsiteY2" fmla="*/ 4894678 h 6870412"/>
              <a:gd name="connsiteX3" fmla="*/ 0 w 1163033"/>
              <a:gd name="connsiteY3" fmla="*/ 6870412 h 6870412"/>
              <a:gd name="connsiteX4" fmla="*/ 4138 w 1163033"/>
              <a:gd name="connsiteY4" fmla="*/ 0 h 6870412"/>
              <a:gd name="connsiteX0" fmla="*/ 562389 w 1721284"/>
              <a:gd name="connsiteY0" fmla="*/ 0 h 6870412"/>
              <a:gd name="connsiteX1" fmla="*/ 1721284 w 1721284"/>
              <a:gd name="connsiteY1" fmla="*/ 0 h 6870412"/>
              <a:gd name="connsiteX2" fmla="*/ 0 w 1721284"/>
              <a:gd name="connsiteY2" fmla="*/ 4362527 h 6870412"/>
              <a:gd name="connsiteX3" fmla="*/ 558251 w 1721284"/>
              <a:gd name="connsiteY3" fmla="*/ 6870412 h 6870412"/>
              <a:gd name="connsiteX4" fmla="*/ 562389 w 1721284"/>
              <a:gd name="connsiteY4" fmla="*/ 0 h 6870412"/>
              <a:gd name="connsiteX0" fmla="*/ 157655 w 1316550"/>
              <a:gd name="connsiteY0" fmla="*/ 0 h 6870412"/>
              <a:gd name="connsiteX1" fmla="*/ 1316550 w 1316550"/>
              <a:gd name="connsiteY1" fmla="*/ 0 h 6870412"/>
              <a:gd name="connsiteX2" fmla="*/ 0 w 1316550"/>
              <a:gd name="connsiteY2" fmla="*/ 5606710 h 6870412"/>
              <a:gd name="connsiteX3" fmla="*/ 153517 w 1316550"/>
              <a:gd name="connsiteY3" fmla="*/ 6870412 h 6870412"/>
              <a:gd name="connsiteX4" fmla="*/ 157655 w 1316550"/>
              <a:gd name="connsiteY4" fmla="*/ 0 h 6870412"/>
              <a:gd name="connsiteX0" fmla="*/ 7753 w 1166648"/>
              <a:gd name="connsiteY0" fmla="*/ 0 h 6870412"/>
              <a:gd name="connsiteX1" fmla="*/ 1166648 w 1166648"/>
              <a:gd name="connsiteY1" fmla="*/ 0 h 6870412"/>
              <a:gd name="connsiteX2" fmla="*/ 0 w 1166648"/>
              <a:gd name="connsiteY2" fmla="*/ 4992114 h 6870412"/>
              <a:gd name="connsiteX3" fmla="*/ 3615 w 1166648"/>
              <a:gd name="connsiteY3" fmla="*/ 6870412 h 6870412"/>
              <a:gd name="connsiteX4" fmla="*/ 7753 w 1166648"/>
              <a:gd name="connsiteY4" fmla="*/ 0 h 6870412"/>
              <a:gd name="connsiteX0" fmla="*/ 11633 w 1170528"/>
              <a:gd name="connsiteY0" fmla="*/ 0 h 5004137"/>
              <a:gd name="connsiteX1" fmla="*/ 1170528 w 1170528"/>
              <a:gd name="connsiteY1" fmla="*/ 0 h 5004137"/>
              <a:gd name="connsiteX2" fmla="*/ 3880 w 1170528"/>
              <a:gd name="connsiteY2" fmla="*/ 4992114 h 5004137"/>
              <a:gd name="connsiteX3" fmla="*/ 0 w 1170528"/>
              <a:gd name="connsiteY3" fmla="*/ 5004137 h 5004137"/>
              <a:gd name="connsiteX4" fmla="*/ 11633 w 1170528"/>
              <a:gd name="connsiteY4" fmla="*/ 0 h 5004137"/>
              <a:gd name="connsiteX0" fmla="*/ 11633 w 1170528"/>
              <a:gd name="connsiteY0" fmla="*/ 0 h 5116563"/>
              <a:gd name="connsiteX1" fmla="*/ 1170528 w 1170528"/>
              <a:gd name="connsiteY1" fmla="*/ 0 h 5116563"/>
              <a:gd name="connsiteX2" fmla="*/ 3880 w 1170528"/>
              <a:gd name="connsiteY2" fmla="*/ 4992114 h 5116563"/>
              <a:gd name="connsiteX3" fmla="*/ 0 w 1170528"/>
              <a:gd name="connsiteY3" fmla="*/ 5116563 h 5116563"/>
              <a:gd name="connsiteX4" fmla="*/ 11633 w 1170528"/>
              <a:gd name="connsiteY4" fmla="*/ 0 h 5116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0528" h="5116563">
                <a:moveTo>
                  <a:pt x="11633" y="0"/>
                </a:moveTo>
                <a:lnTo>
                  <a:pt x="1170528" y="0"/>
                </a:lnTo>
                <a:lnTo>
                  <a:pt x="3880" y="4992114"/>
                </a:lnTo>
                <a:lnTo>
                  <a:pt x="0" y="5116563"/>
                </a:lnTo>
                <a:cubicBezTo>
                  <a:pt x="1379" y="2829184"/>
                  <a:pt x="10254" y="2287379"/>
                  <a:pt x="11633" y="0"/>
                </a:cubicBezTo>
                <a:close/>
              </a:path>
            </a:pathLst>
          </a:cu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1143000" y="1122363"/>
            <a:ext cx="6858000" cy="2387600"/>
          </a:xfrm>
          <a:prstGeom prst="rect">
            <a:avLst/>
          </a:prstGeom>
        </p:spPr>
        <p:txBody>
          <a:bodyPr anchor="b"/>
          <a:lstStyle>
            <a:lvl1pPr algn="ctr">
              <a:lnSpc>
                <a:spcPts val="4500"/>
              </a:lnSpc>
              <a:defRPr sz="4500">
                <a:solidFill>
                  <a:srgbClr val="007EB4"/>
                </a:solidFill>
              </a:defRPr>
            </a:lvl1pPr>
          </a:lstStyle>
          <a:p>
            <a:r>
              <a:rPr lang="en-US"/>
              <a:t>Click to edit master chapter</a:t>
            </a:r>
          </a:p>
        </p:txBody>
      </p:sp>
      <p:sp>
        <p:nvSpPr>
          <p:cNvPr id="3" name="Subtitle 2"/>
          <p:cNvSpPr>
            <a:spLocks noGrp="1"/>
          </p:cNvSpPr>
          <p:nvPr>
            <p:ph type="subTitle" idx="1" hasCustomPrompt="1"/>
          </p:nvPr>
        </p:nvSpPr>
        <p:spPr>
          <a:xfrm>
            <a:off x="1143000" y="3602038"/>
            <a:ext cx="6858000" cy="1655762"/>
          </a:xfrm>
        </p:spPr>
        <p:txBody>
          <a:bodyPr/>
          <a:lstStyle>
            <a:lvl1pPr marL="0" indent="0" algn="ctr">
              <a:buNone/>
              <a:defRPr sz="1800" b="1">
                <a:solidFill>
                  <a:srgbClr val="898989"/>
                </a:solidFill>
              </a:defRPr>
            </a:lvl1pPr>
            <a:lvl2pPr marL="342875" indent="0" algn="ctr">
              <a:buNone/>
              <a:defRPr sz="1500"/>
            </a:lvl2pPr>
            <a:lvl3pPr marL="685749" indent="0" algn="ctr">
              <a:buNone/>
              <a:defRPr sz="1350"/>
            </a:lvl3pPr>
            <a:lvl4pPr marL="1028624" indent="0" algn="ctr">
              <a:buNone/>
              <a:defRPr sz="1200"/>
            </a:lvl4pPr>
            <a:lvl5pPr marL="1371498" indent="0" algn="ctr">
              <a:buNone/>
              <a:defRPr sz="1200"/>
            </a:lvl5pPr>
            <a:lvl6pPr marL="1714373" indent="0" algn="ctr">
              <a:buNone/>
              <a:defRPr sz="1200"/>
            </a:lvl6pPr>
            <a:lvl7pPr marL="2057246" indent="0" algn="ctr">
              <a:buNone/>
              <a:defRPr sz="1200"/>
            </a:lvl7pPr>
            <a:lvl8pPr marL="2400120" indent="0" algn="ctr">
              <a:buNone/>
              <a:defRPr sz="1200"/>
            </a:lvl8pPr>
            <a:lvl9pPr marL="2742995" indent="0" algn="ctr">
              <a:buNone/>
              <a:defRPr sz="1200"/>
            </a:lvl9pPr>
          </a:lstStyle>
          <a:p>
            <a:r>
              <a:rPr lang="en-US"/>
              <a:t>Click to edit subtitle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hapter Slide - Text Only">
    <p:spTree>
      <p:nvGrpSpPr>
        <p:cNvPr id="1" name=""/>
        <p:cNvGrpSpPr/>
        <p:nvPr/>
      </p:nvGrpSpPr>
      <p:grpSpPr>
        <a:xfrm>
          <a:off x="0" y="0"/>
          <a:ext cx="0" cy="0"/>
          <a:chOff x="0" y="0"/>
          <a:chExt cx="0" cy="0"/>
        </a:xfrm>
      </p:grpSpPr>
      <p:sp>
        <p:nvSpPr>
          <p:cNvPr id="4" name="Date Placeholder 3"/>
          <p:cNvSpPr>
            <a:spLocks noGrp="1"/>
          </p:cNvSpPr>
          <p:nvPr>
            <p:ph type="dt" sz="half" idx="10"/>
          </p:nvPr>
        </p:nvSpPr>
        <p:spPr>
          <a:xfrm>
            <a:off x="419100" y="6194307"/>
            <a:ext cx="1767635" cy="365125"/>
          </a:xfrm>
          <a:prstGeom prst="rect">
            <a:avLst/>
          </a:prstGeom>
        </p:spPr>
        <p:txBody>
          <a:bodyPr/>
          <a:lstStyle/>
          <a:p>
            <a:endParaRPr lang="en-US"/>
          </a:p>
        </p:txBody>
      </p:sp>
      <p:sp>
        <p:nvSpPr>
          <p:cNvPr id="15" name="Subtitle 2">
            <a:extLst>
              <a:ext uri="{FF2B5EF4-FFF2-40B4-BE49-F238E27FC236}">
                <a16:creationId xmlns:a16="http://schemas.microsoft.com/office/drawing/2014/main" id="{1D7E37CD-EC9F-28DC-17D8-986843017BC1}"/>
              </a:ext>
            </a:extLst>
          </p:cNvPr>
          <p:cNvSpPr>
            <a:spLocks noGrp="1"/>
          </p:cNvSpPr>
          <p:nvPr>
            <p:ph type="subTitle" idx="11" hasCustomPrompt="1"/>
          </p:nvPr>
        </p:nvSpPr>
        <p:spPr>
          <a:xfrm>
            <a:off x="1143000" y="3602038"/>
            <a:ext cx="6858000" cy="1655762"/>
          </a:xfrm>
        </p:spPr>
        <p:txBody>
          <a:bodyPr/>
          <a:lstStyle>
            <a:lvl1pPr marL="0" indent="0" algn="ctr">
              <a:buNone/>
              <a:defRPr sz="1800" b="1">
                <a:solidFill>
                  <a:srgbClr val="898989"/>
                </a:solidFill>
              </a:defRPr>
            </a:lvl1pPr>
            <a:lvl2pPr marL="342875" indent="0" algn="ctr">
              <a:buNone/>
              <a:defRPr sz="1500"/>
            </a:lvl2pPr>
            <a:lvl3pPr marL="685749" indent="0" algn="ctr">
              <a:buNone/>
              <a:defRPr sz="1350"/>
            </a:lvl3pPr>
            <a:lvl4pPr marL="1028624" indent="0" algn="ctr">
              <a:buNone/>
              <a:defRPr sz="1200"/>
            </a:lvl4pPr>
            <a:lvl5pPr marL="1371498" indent="0" algn="ctr">
              <a:buNone/>
              <a:defRPr sz="1200"/>
            </a:lvl5pPr>
            <a:lvl6pPr marL="1714373" indent="0" algn="ctr">
              <a:buNone/>
              <a:defRPr sz="1200"/>
            </a:lvl6pPr>
            <a:lvl7pPr marL="2057246" indent="0" algn="ctr">
              <a:buNone/>
              <a:defRPr sz="1200"/>
            </a:lvl7pPr>
            <a:lvl8pPr marL="2400120" indent="0" algn="ctr">
              <a:buNone/>
              <a:defRPr sz="1200"/>
            </a:lvl8pPr>
            <a:lvl9pPr marL="2742995" indent="0" algn="ctr">
              <a:buNone/>
              <a:defRPr sz="1200"/>
            </a:lvl9pPr>
          </a:lstStyle>
          <a:p>
            <a:r>
              <a:rPr lang="en-US"/>
              <a:t>Click to edit subtitle</a:t>
            </a:r>
          </a:p>
        </p:txBody>
      </p:sp>
      <p:sp>
        <p:nvSpPr>
          <p:cNvPr id="19" name="Title 1">
            <a:extLst>
              <a:ext uri="{FF2B5EF4-FFF2-40B4-BE49-F238E27FC236}">
                <a16:creationId xmlns:a16="http://schemas.microsoft.com/office/drawing/2014/main" id="{87575A43-287C-45DC-18DC-BAA423DF852A}"/>
              </a:ext>
            </a:extLst>
          </p:cNvPr>
          <p:cNvSpPr>
            <a:spLocks noGrp="1"/>
          </p:cNvSpPr>
          <p:nvPr>
            <p:ph type="ctrTitle" hasCustomPrompt="1"/>
          </p:nvPr>
        </p:nvSpPr>
        <p:spPr>
          <a:xfrm>
            <a:off x="1143000" y="1122363"/>
            <a:ext cx="6858000" cy="2387600"/>
          </a:xfrm>
          <a:prstGeom prst="rect">
            <a:avLst/>
          </a:prstGeom>
        </p:spPr>
        <p:txBody>
          <a:bodyPr anchor="b"/>
          <a:lstStyle>
            <a:lvl1pPr algn="ctr">
              <a:lnSpc>
                <a:spcPts val="4500"/>
              </a:lnSpc>
              <a:defRPr sz="4500">
                <a:solidFill>
                  <a:srgbClr val="003E7F"/>
                </a:solidFill>
              </a:defRPr>
            </a:lvl1pPr>
          </a:lstStyle>
          <a:p>
            <a:r>
              <a:rPr lang="en-US"/>
              <a:t>Click to edit master </a:t>
            </a:r>
            <a:br>
              <a:rPr lang="en-US"/>
            </a:br>
            <a:r>
              <a:rPr lang="en-US"/>
              <a:t>chapter</a:t>
            </a:r>
          </a:p>
        </p:txBody>
      </p:sp>
      <p:sp>
        <p:nvSpPr>
          <p:cNvPr id="21" name="Slide Number Placeholder 5">
            <a:extLst>
              <a:ext uri="{FF2B5EF4-FFF2-40B4-BE49-F238E27FC236}">
                <a16:creationId xmlns:a16="http://schemas.microsoft.com/office/drawing/2014/main" id="{F3D42113-899C-86FE-7250-759022FBADA6}"/>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Tree>
    <p:extLst>
      <p:ext uri="{BB962C8B-B14F-4D97-AF65-F5344CB8AC3E}">
        <p14:creationId xmlns:p14="http://schemas.microsoft.com/office/powerpoint/2010/main" val="647864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with Subtitle">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28650" y="1716374"/>
            <a:ext cx="7886700" cy="4315883"/>
          </a:xfrm>
        </p:spPr>
        <p:txBody>
          <a:bodyPr/>
          <a:lstStyle>
            <a:lvl1pPr>
              <a:defRPr>
                <a:solidFill>
                  <a:srgbClr val="003E7F"/>
                </a:solidFill>
              </a:defRPr>
            </a:lvl1pPr>
            <a:lvl2pPr>
              <a:defRPr>
                <a:solidFill>
                  <a:srgbClr val="003E7F"/>
                </a:solidFill>
              </a:defRPr>
            </a:lvl2pPr>
            <a:lvl3pPr>
              <a:defRPr>
                <a:solidFill>
                  <a:srgbClr val="003E7F"/>
                </a:solidFill>
              </a:defRPr>
            </a:lvl3pPr>
            <a:lvl4pPr>
              <a:defRPr>
                <a:solidFill>
                  <a:srgbClr val="003E7F"/>
                </a:solidFill>
              </a:defRPr>
            </a:lvl4pPr>
            <a:lvl5pPr>
              <a:defRPr>
                <a:solidFill>
                  <a:srgbClr val="003E7F"/>
                </a:solidFill>
              </a:defRPr>
            </a:lvl5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8" name="Date Placeholder 4"/>
          <p:cNvSpPr>
            <a:spLocks noGrp="1"/>
          </p:cNvSpPr>
          <p:nvPr>
            <p:ph type="dt" sz="half" idx="10"/>
          </p:nvPr>
        </p:nvSpPr>
        <p:spPr>
          <a:xfrm>
            <a:off x="417815" y="6194307"/>
            <a:ext cx="1778243" cy="365125"/>
          </a:xfrm>
          <a:prstGeom prst="rect">
            <a:avLst/>
          </a:prstGeom>
        </p:spPr>
        <p:txBody>
          <a:bodyPr/>
          <a:lstStyle/>
          <a:p>
            <a:endParaRPr lang="en-US"/>
          </a:p>
        </p:txBody>
      </p:sp>
      <p:sp>
        <p:nvSpPr>
          <p:cNvPr id="11" name="Subtitle 2"/>
          <p:cNvSpPr>
            <a:spLocks noGrp="1"/>
          </p:cNvSpPr>
          <p:nvPr>
            <p:ph type="subTitle" idx="13" hasCustomPrompt="1"/>
          </p:nvPr>
        </p:nvSpPr>
        <p:spPr>
          <a:xfrm>
            <a:off x="628650" y="1112218"/>
            <a:ext cx="7886700" cy="604156"/>
          </a:xfrm>
        </p:spPr>
        <p:txBody>
          <a:bodyPr>
            <a:normAutofit/>
          </a:bodyPr>
          <a:lstStyle>
            <a:lvl1pPr marL="0" indent="0" algn="ctr">
              <a:buNone/>
              <a:defRPr sz="1575" b="1">
                <a:solidFill>
                  <a:srgbClr val="898989"/>
                </a:solidFill>
              </a:defRPr>
            </a:lvl1pPr>
            <a:lvl2pPr marL="342875" indent="0" algn="ctr">
              <a:buNone/>
              <a:defRPr sz="1500"/>
            </a:lvl2pPr>
            <a:lvl3pPr marL="685749" indent="0" algn="ctr">
              <a:buNone/>
              <a:defRPr sz="1350"/>
            </a:lvl3pPr>
            <a:lvl4pPr marL="1028624" indent="0" algn="ctr">
              <a:buNone/>
              <a:defRPr sz="1200"/>
            </a:lvl4pPr>
            <a:lvl5pPr marL="1371498" indent="0" algn="ctr">
              <a:buNone/>
              <a:defRPr sz="1200"/>
            </a:lvl5pPr>
            <a:lvl6pPr marL="1714373" indent="0" algn="ctr">
              <a:buNone/>
              <a:defRPr sz="1200"/>
            </a:lvl6pPr>
            <a:lvl7pPr marL="2057246" indent="0" algn="ctr">
              <a:buNone/>
              <a:defRPr sz="1200"/>
            </a:lvl7pPr>
            <a:lvl8pPr marL="2400120" indent="0" algn="ctr">
              <a:buNone/>
              <a:defRPr sz="1200"/>
            </a:lvl8pPr>
            <a:lvl9pPr marL="2742995" indent="0" algn="ctr">
              <a:buNone/>
              <a:defRPr sz="1200"/>
            </a:lvl9pPr>
          </a:lstStyle>
          <a:p>
            <a:pPr marL="0" marR="0" lvl="0" indent="0" algn="ctr" defTabSz="685749" rtl="0" eaLnBrk="1" fontAlgn="auto" latinLnBrk="0" hangingPunct="1">
              <a:lnSpc>
                <a:spcPct val="90000"/>
              </a:lnSpc>
              <a:spcBef>
                <a:spcPts val="750"/>
              </a:spcBef>
              <a:spcAft>
                <a:spcPts val="0"/>
              </a:spcAft>
              <a:buClrTx/>
              <a:buSzTx/>
              <a:buFont typeface="Arial"/>
              <a:buNone/>
              <a:tabLst/>
              <a:defRPr/>
            </a:pPr>
            <a:r>
              <a:rPr lang="en-US"/>
              <a:t>Click to edit subtitle</a:t>
            </a:r>
          </a:p>
        </p:txBody>
      </p:sp>
      <p:sp>
        <p:nvSpPr>
          <p:cNvPr id="7" name="Slide Number Placeholder 5">
            <a:extLst>
              <a:ext uri="{FF2B5EF4-FFF2-40B4-BE49-F238E27FC236}">
                <a16:creationId xmlns:a16="http://schemas.microsoft.com/office/drawing/2014/main" id="{C6C61651-FA5B-2F5B-9721-4E7C0F7EBE04}"/>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13" name="Title Placeholder 1">
            <a:extLst>
              <a:ext uri="{FF2B5EF4-FFF2-40B4-BE49-F238E27FC236}">
                <a16:creationId xmlns:a16="http://schemas.microsoft.com/office/drawing/2014/main" id="{D207A640-EA07-C40E-C214-77050DDD0D6A}"/>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9470932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419100" y="6194307"/>
            <a:ext cx="1767635" cy="365125"/>
          </a:xfrm>
          <a:prstGeom prst="rect">
            <a:avLst/>
          </a:prstGeom>
        </p:spPr>
        <p:txBody>
          <a:bodyPr/>
          <a:lstStyle/>
          <a:p>
            <a:endParaRPr lang="en-US"/>
          </a:p>
        </p:txBody>
      </p:sp>
      <p:sp>
        <p:nvSpPr>
          <p:cNvPr id="8" name="Slide Number Placeholder 5">
            <a:extLst>
              <a:ext uri="{FF2B5EF4-FFF2-40B4-BE49-F238E27FC236}">
                <a16:creationId xmlns:a16="http://schemas.microsoft.com/office/drawing/2014/main" id="{52AF9CC8-2034-C000-E286-BD7C67C9A5D3}"/>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10" name="Title Placeholder 1">
            <a:extLst>
              <a:ext uri="{FF2B5EF4-FFF2-40B4-BE49-F238E27FC236}">
                <a16:creationId xmlns:a16="http://schemas.microsoft.com/office/drawing/2014/main" id="{8BC063F8-763B-3669-8240-E69A0C1CF5D1}"/>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830650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pic>
        <p:nvPicPr>
          <p:cNvPr id="28" name="Picture 27">
            <a:extLst>
              <a:ext uri="{FF2B5EF4-FFF2-40B4-BE49-F238E27FC236}">
                <a16:creationId xmlns:a16="http://schemas.microsoft.com/office/drawing/2014/main" id="{0F801C0A-024B-F72C-A2EC-3BFCE4E78EF2}"/>
              </a:ext>
            </a:extLst>
          </p:cNvPr>
          <p:cNvPicPr>
            <a:picLocks noChangeAspect="1"/>
          </p:cNvPicPr>
          <p:nvPr userDrawn="1"/>
        </p:nvPicPr>
        <p:blipFill>
          <a:blip r:embed="rId2"/>
          <a:srcRect/>
          <a:stretch/>
        </p:blipFill>
        <p:spPr>
          <a:xfrm>
            <a:off x="547195" y="1511730"/>
            <a:ext cx="3944209" cy="4413102"/>
          </a:xfrm>
          <a:prstGeom prst="rect">
            <a:avLst/>
          </a:prstGeom>
        </p:spPr>
      </p:pic>
      <p:sp>
        <p:nvSpPr>
          <p:cNvPr id="7" name="Date Placeholder 6"/>
          <p:cNvSpPr>
            <a:spLocks noGrp="1"/>
          </p:cNvSpPr>
          <p:nvPr>
            <p:ph type="dt" sz="half" idx="10"/>
          </p:nvPr>
        </p:nvSpPr>
        <p:spPr>
          <a:xfrm>
            <a:off x="419100" y="6194307"/>
            <a:ext cx="1767635" cy="365125"/>
          </a:xfrm>
          <a:prstGeom prst="rect">
            <a:avLst/>
          </a:prstGeom>
        </p:spPr>
        <p:txBody>
          <a:bodyPr/>
          <a:lstStyle/>
          <a:p>
            <a:endParaRPr lang="en-US"/>
          </a:p>
        </p:txBody>
      </p:sp>
      <p:sp>
        <p:nvSpPr>
          <p:cNvPr id="9" name="Slide Number Placeholder 5">
            <a:extLst>
              <a:ext uri="{FF2B5EF4-FFF2-40B4-BE49-F238E27FC236}">
                <a16:creationId xmlns:a16="http://schemas.microsoft.com/office/drawing/2014/main" id="{7BA9D3D7-B1B2-D228-2983-C156E1EF18ED}"/>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12" name="Content Placeholder 2">
            <a:extLst>
              <a:ext uri="{FF2B5EF4-FFF2-40B4-BE49-F238E27FC236}">
                <a16:creationId xmlns:a16="http://schemas.microsoft.com/office/drawing/2014/main" id="{AFCE7EC8-3681-A3B9-F167-BB5CF5DF4D89}"/>
              </a:ext>
            </a:extLst>
          </p:cNvPr>
          <p:cNvSpPr>
            <a:spLocks noGrp="1"/>
          </p:cNvSpPr>
          <p:nvPr>
            <p:ph sz="half" idx="13" hasCustomPrompt="1"/>
          </p:nvPr>
        </p:nvSpPr>
        <p:spPr>
          <a:xfrm>
            <a:off x="664490" y="1618938"/>
            <a:ext cx="3721842" cy="4199444"/>
          </a:xfrm>
        </p:spPr>
        <p:txBody>
          <a:bodyPr/>
          <a:lstStyle>
            <a:lvl1pPr>
              <a:defRPr>
                <a:solidFill>
                  <a:srgbClr val="003E7F"/>
                </a:solidFill>
              </a:defRPr>
            </a:lvl1pPr>
            <a:lvl2pPr>
              <a:defRPr>
                <a:solidFill>
                  <a:srgbClr val="003E7F"/>
                </a:solidFill>
              </a:defRPr>
            </a:lvl2pPr>
            <a:lvl3pPr>
              <a:defRPr>
                <a:solidFill>
                  <a:srgbClr val="003E7F"/>
                </a:solidFill>
              </a:defRPr>
            </a:lvl3pPr>
            <a:lvl4pPr>
              <a:defRPr>
                <a:solidFill>
                  <a:srgbClr val="003E7F"/>
                </a:solidFill>
              </a:defRPr>
            </a:lvl4pPr>
            <a:lvl5pPr>
              <a:defRPr>
                <a:solidFill>
                  <a:srgbClr val="003E7F"/>
                </a:solidFill>
              </a:defRPr>
            </a:lvl5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pic>
        <p:nvPicPr>
          <p:cNvPr id="31" name="Picture 30">
            <a:extLst>
              <a:ext uri="{FF2B5EF4-FFF2-40B4-BE49-F238E27FC236}">
                <a16:creationId xmlns:a16="http://schemas.microsoft.com/office/drawing/2014/main" id="{8517B5C5-C8B8-E008-E51C-69FB4DBABAF0}"/>
              </a:ext>
            </a:extLst>
          </p:cNvPr>
          <p:cNvPicPr>
            <a:picLocks noChangeAspect="1"/>
          </p:cNvPicPr>
          <p:nvPr userDrawn="1"/>
        </p:nvPicPr>
        <p:blipFill>
          <a:blip r:embed="rId2"/>
          <a:srcRect/>
          <a:stretch/>
        </p:blipFill>
        <p:spPr>
          <a:xfrm>
            <a:off x="4639510" y="1511730"/>
            <a:ext cx="3944209" cy="4413102"/>
          </a:xfrm>
          <a:prstGeom prst="rect">
            <a:avLst/>
          </a:prstGeom>
        </p:spPr>
      </p:pic>
      <p:sp>
        <p:nvSpPr>
          <p:cNvPr id="32" name="Content Placeholder 2">
            <a:extLst>
              <a:ext uri="{FF2B5EF4-FFF2-40B4-BE49-F238E27FC236}">
                <a16:creationId xmlns:a16="http://schemas.microsoft.com/office/drawing/2014/main" id="{EEA0C7D2-31BB-764E-F573-2CDF5D25BCD3}"/>
              </a:ext>
            </a:extLst>
          </p:cNvPr>
          <p:cNvSpPr>
            <a:spLocks noGrp="1"/>
          </p:cNvSpPr>
          <p:nvPr>
            <p:ph sz="half" idx="16" hasCustomPrompt="1"/>
          </p:nvPr>
        </p:nvSpPr>
        <p:spPr>
          <a:xfrm>
            <a:off x="4756805" y="1618938"/>
            <a:ext cx="3721842" cy="4199444"/>
          </a:xfrm>
        </p:spPr>
        <p:txBody>
          <a:bodyPr/>
          <a:lstStyle>
            <a:lvl1pPr>
              <a:defRPr>
                <a:solidFill>
                  <a:srgbClr val="003E7F"/>
                </a:solidFill>
              </a:defRPr>
            </a:lvl1pPr>
            <a:lvl2pPr>
              <a:defRPr>
                <a:solidFill>
                  <a:srgbClr val="003E7F"/>
                </a:solidFill>
              </a:defRPr>
            </a:lvl2pPr>
            <a:lvl3pPr>
              <a:defRPr>
                <a:solidFill>
                  <a:srgbClr val="003E7F"/>
                </a:solidFill>
              </a:defRPr>
            </a:lvl3pPr>
            <a:lvl4pPr>
              <a:defRPr>
                <a:solidFill>
                  <a:srgbClr val="003E7F"/>
                </a:solidFill>
              </a:defRPr>
            </a:lvl4pPr>
            <a:lvl5pPr>
              <a:defRPr>
                <a:solidFill>
                  <a:srgbClr val="003E7F"/>
                </a:solidFill>
              </a:defRPr>
            </a:lvl5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33" name="Title Placeholder 1">
            <a:extLst>
              <a:ext uri="{FF2B5EF4-FFF2-40B4-BE49-F238E27FC236}">
                <a16:creationId xmlns:a16="http://schemas.microsoft.com/office/drawing/2014/main" id="{92F48594-0CB5-843F-7125-97BD991EB100}"/>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2116583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header">
    <p:spTree>
      <p:nvGrpSpPr>
        <p:cNvPr id="1" name=""/>
        <p:cNvGrpSpPr/>
        <p:nvPr/>
      </p:nvGrpSpPr>
      <p:grpSpPr>
        <a:xfrm>
          <a:off x="0" y="0"/>
          <a:ext cx="0" cy="0"/>
          <a:chOff x="0" y="0"/>
          <a:chExt cx="0" cy="0"/>
        </a:xfrm>
      </p:grpSpPr>
      <p:sp>
        <p:nvSpPr>
          <p:cNvPr id="7" name="Date Placeholder 6"/>
          <p:cNvSpPr>
            <a:spLocks noGrp="1"/>
          </p:cNvSpPr>
          <p:nvPr>
            <p:ph type="dt" sz="half" idx="10"/>
          </p:nvPr>
        </p:nvSpPr>
        <p:spPr>
          <a:xfrm>
            <a:off x="419100" y="6194307"/>
            <a:ext cx="1767635" cy="365125"/>
          </a:xfrm>
          <a:prstGeom prst="rect">
            <a:avLst/>
          </a:prstGeom>
        </p:spPr>
        <p:txBody>
          <a:bodyPr/>
          <a:lstStyle/>
          <a:p>
            <a:endParaRPr lang="en-US"/>
          </a:p>
        </p:txBody>
      </p:sp>
      <p:sp>
        <p:nvSpPr>
          <p:cNvPr id="9" name="Slide Number Placeholder 5">
            <a:extLst>
              <a:ext uri="{FF2B5EF4-FFF2-40B4-BE49-F238E27FC236}">
                <a16:creationId xmlns:a16="http://schemas.microsoft.com/office/drawing/2014/main" id="{7BA9D3D7-B1B2-D228-2983-C156E1EF18ED}"/>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pic>
        <p:nvPicPr>
          <p:cNvPr id="8" name="Picture 7">
            <a:extLst>
              <a:ext uri="{FF2B5EF4-FFF2-40B4-BE49-F238E27FC236}">
                <a16:creationId xmlns:a16="http://schemas.microsoft.com/office/drawing/2014/main" id="{442EFDD1-D228-7D91-4913-84EC99814EDE}"/>
              </a:ext>
            </a:extLst>
          </p:cNvPr>
          <p:cNvPicPr>
            <a:picLocks noChangeAspect="1"/>
          </p:cNvPicPr>
          <p:nvPr userDrawn="1"/>
        </p:nvPicPr>
        <p:blipFill>
          <a:blip r:embed="rId2"/>
          <a:srcRect/>
          <a:stretch/>
        </p:blipFill>
        <p:spPr>
          <a:xfrm>
            <a:off x="552785" y="1511729"/>
            <a:ext cx="3944210" cy="4413103"/>
          </a:xfrm>
          <a:prstGeom prst="rect">
            <a:avLst/>
          </a:prstGeom>
        </p:spPr>
      </p:pic>
      <p:sp>
        <p:nvSpPr>
          <p:cNvPr id="10" name="Text Placeholder 2">
            <a:extLst>
              <a:ext uri="{FF2B5EF4-FFF2-40B4-BE49-F238E27FC236}">
                <a16:creationId xmlns:a16="http://schemas.microsoft.com/office/drawing/2014/main" id="{17B22469-FD78-AD97-537E-2074D6A6E25A}"/>
              </a:ext>
            </a:extLst>
          </p:cNvPr>
          <p:cNvSpPr>
            <a:spLocks noGrp="1"/>
          </p:cNvSpPr>
          <p:nvPr>
            <p:ph type="body" idx="1" hasCustomPrompt="1"/>
          </p:nvPr>
        </p:nvSpPr>
        <p:spPr>
          <a:xfrm>
            <a:off x="583020" y="1538067"/>
            <a:ext cx="3868340"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12" name="Content Placeholder 2">
            <a:extLst>
              <a:ext uri="{FF2B5EF4-FFF2-40B4-BE49-F238E27FC236}">
                <a16:creationId xmlns:a16="http://schemas.microsoft.com/office/drawing/2014/main" id="{AFCE7EC8-3681-A3B9-F167-BB5CF5DF4D89}"/>
              </a:ext>
            </a:extLst>
          </p:cNvPr>
          <p:cNvSpPr>
            <a:spLocks noGrp="1"/>
          </p:cNvSpPr>
          <p:nvPr>
            <p:ph sz="half" idx="13" hasCustomPrompt="1"/>
          </p:nvPr>
        </p:nvSpPr>
        <p:spPr>
          <a:xfrm>
            <a:off x="664490" y="2298817"/>
            <a:ext cx="3721842" cy="3512070"/>
          </a:xfrm>
        </p:spPr>
        <p:txBody>
          <a:bodyPr/>
          <a:lstStyle>
            <a:lvl1pPr>
              <a:defRPr>
                <a:solidFill>
                  <a:srgbClr val="003E7F"/>
                </a:solidFill>
              </a:defRPr>
            </a:lvl1pPr>
            <a:lvl2pPr>
              <a:defRPr>
                <a:solidFill>
                  <a:srgbClr val="003E7F"/>
                </a:solidFill>
              </a:defRPr>
            </a:lvl2pPr>
            <a:lvl3pPr>
              <a:defRPr>
                <a:solidFill>
                  <a:srgbClr val="003E7F"/>
                </a:solidFill>
              </a:defRPr>
            </a:lvl3pPr>
            <a:lvl4pPr>
              <a:defRPr>
                <a:solidFill>
                  <a:srgbClr val="003E7F"/>
                </a:solidFill>
              </a:defRPr>
            </a:lvl4pPr>
            <a:lvl5pPr>
              <a:defRPr>
                <a:solidFill>
                  <a:srgbClr val="003E7F"/>
                </a:solidFill>
              </a:defRPr>
            </a:lvl5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pic>
        <p:nvPicPr>
          <p:cNvPr id="18" name="Picture 17">
            <a:extLst>
              <a:ext uri="{FF2B5EF4-FFF2-40B4-BE49-F238E27FC236}">
                <a16:creationId xmlns:a16="http://schemas.microsoft.com/office/drawing/2014/main" id="{2209E1D4-D095-1C33-3762-12C19780DDD3}"/>
              </a:ext>
            </a:extLst>
          </p:cNvPr>
          <p:cNvPicPr>
            <a:picLocks noChangeAspect="1"/>
          </p:cNvPicPr>
          <p:nvPr userDrawn="1"/>
        </p:nvPicPr>
        <p:blipFill>
          <a:blip r:embed="rId2"/>
          <a:srcRect/>
          <a:stretch/>
        </p:blipFill>
        <p:spPr>
          <a:xfrm>
            <a:off x="4652595" y="1511729"/>
            <a:ext cx="3944210" cy="4413103"/>
          </a:xfrm>
          <a:prstGeom prst="rect">
            <a:avLst/>
          </a:prstGeom>
        </p:spPr>
      </p:pic>
      <p:sp>
        <p:nvSpPr>
          <p:cNvPr id="21" name="Text Placeholder 2">
            <a:extLst>
              <a:ext uri="{FF2B5EF4-FFF2-40B4-BE49-F238E27FC236}">
                <a16:creationId xmlns:a16="http://schemas.microsoft.com/office/drawing/2014/main" id="{95393E23-C904-EEC6-D0BB-F61BCD037AE2}"/>
              </a:ext>
            </a:extLst>
          </p:cNvPr>
          <p:cNvSpPr>
            <a:spLocks noGrp="1"/>
          </p:cNvSpPr>
          <p:nvPr>
            <p:ph type="body" idx="14" hasCustomPrompt="1"/>
          </p:nvPr>
        </p:nvSpPr>
        <p:spPr>
          <a:xfrm>
            <a:off x="4682830" y="1538067"/>
            <a:ext cx="3868340"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24" name="Content Placeholder 2">
            <a:extLst>
              <a:ext uri="{FF2B5EF4-FFF2-40B4-BE49-F238E27FC236}">
                <a16:creationId xmlns:a16="http://schemas.microsoft.com/office/drawing/2014/main" id="{2CC043BA-CE5C-0E81-53F1-7318DC7A0F41}"/>
              </a:ext>
            </a:extLst>
          </p:cNvPr>
          <p:cNvSpPr>
            <a:spLocks noGrp="1"/>
          </p:cNvSpPr>
          <p:nvPr>
            <p:ph sz="half" idx="15" hasCustomPrompt="1"/>
          </p:nvPr>
        </p:nvSpPr>
        <p:spPr>
          <a:xfrm>
            <a:off x="4764300" y="2298817"/>
            <a:ext cx="3721842" cy="3512070"/>
          </a:xfrm>
        </p:spPr>
        <p:txBody>
          <a:bodyPr/>
          <a:lstStyle>
            <a:lvl1pPr>
              <a:defRPr>
                <a:solidFill>
                  <a:srgbClr val="003E7F"/>
                </a:solidFill>
              </a:defRPr>
            </a:lvl1pPr>
            <a:lvl2pPr>
              <a:defRPr>
                <a:solidFill>
                  <a:srgbClr val="003E7F"/>
                </a:solidFill>
              </a:defRPr>
            </a:lvl2pPr>
            <a:lvl3pPr>
              <a:defRPr>
                <a:solidFill>
                  <a:srgbClr val="003E7F"/>
                </a:solidFill>
              </a:defRPr>
            </a:lvl3pPr>
            <a:lvl4pPr>
              <a:defRPr>
                <a:solidFill>
                  <a:srgbClr val="003E7F"/>
                </a:solidFill>
              </a:defRPr>
            </a:lvl4pPr>
            <a:lvl5pPr>
              <a:defRPr>
                <a:solidFill>
                  <a:srgbClr val="003E7F"/>
                </a:solidFill>
              </a:defRPr>
            </a:lvl5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2" name="Title Placeholder 1">
            <a:extLst>
              <a:ext uri="{FF2B5EF4-FFF2-40B4-BE49-F238E27FC236}">
                <a16:creationId xmlns:a16="http://schemas.microsoft.com/office/drawing/2014/main" id="{1D1CDAFF-7873-7267-8FFB-3CBC0BC514AA}"/>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19206213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DD3CF75-680F-887A-DA7B-80C6828FAD6F}"/>
              </a:ext>
            </a:extLst>
          </p:cNvPr>
          <p:cNvSpPr/>
          <p:nvPr userDrawn="1"/>
        </p:nvSpPr>
        <p:spPr>
          <a:xfrm>
            <a:off x="0" y="0"/>
            <a:ext cx="9144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4" name="Picture Placeholder 7">
            <a:extLst>
              <a:ext uri="{FF2B5EF4-FFF2-40B4-BE49-F238E27FC236}">
                <a16:creationId xmlns:a16="http://schemas.microsoft.com/office/drawing/2014/main" id="{66D26E76-5670-92D7-68B7-D1D40882B4E5}"/>
              </a:ext>
            </a:extLst>
          </p:cNvPr>
          <p:cNvSpPr>
            <a:spLocks noGrp="1"/>
          </p:cNvSpPr>
          <p:nvPr>
            <p:ph type="pic" sz="quarter" idx="13"/>
          </p:nvPr>
        </p:nvSpPr>
        <p:spPr>
          <a:xfrm>
            <a:off x="0" y="0"/>
            <a:ext cx="9144000" cy="6858000"/>
          </a:xfrm>
        </p:spPr>
        <p:txBody>
          <a:bodyPr/>
          <a:lstStyle>
            <a:lvl1pPr marL="0" indent="0">
              <a:buNone/>
              <a:defRPr/>
            </a:lvl1pPr>
          </a:lstStyle>
          <a:p>
            <a:r>
              <a:rPr lang="en-US"/>
              <a:t>Click icon to add picture</a:t>
            </a:r>
          </a:p>
        </p:txBody>
      </p:sp>
      <p:sp>
        <p:nvSpPr>
          <p:cNvPr id="8" name="Slide Number Placeholder 5">
            <a:extLst>
              <a:ext uri="{FF2B5EF4-FFF2-40B4-BE49-F238E27FC236}">
                <a16:creationId xmlns:a16="http://schemas.microsoft.com/office/drawing/2014/main" id="{46AD9328-DBDB-C909-8E52-2BF6347AFE65}"/>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Tree>
    <p:extLst>
      <p:ext uri="{BB962C8B-B14F-4D97-AF65-F5344CB8AC3E}">
        <p14:creationId xmlns:p14="http://schemas.microsoft.com/office/powerpoint/2010/main" val="137248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wo Column, Header Bullet List, Paragraph">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030512" y="1208955"/>
            <a:ext cx="4629150" cy="4873625"/>
          </a:xfrm>
        </p:spPr>
        <p:txBody>
          <a:bodyPr/>
          <a:lstStyle>
            <a:lvl1pPr>
              <a:defRPr sz="2400">
                <a:solidFill>
                  <a:srgbClr val="003E7F"/>
                </a:solidFill>
              </a:defRPr>
            </a:lvl1pPr>
            <a:lvl2pPr>
              <a:defRPr sz="2100">
                <a:solidFill>
                  <a:srgbClr val="003E7F"/>
                </a:solidFill>
              </a:defRPr>
            </a:lvl2pPr>
            <a:lvl3pPr>
              <a:defRPr sz="1800">
                <a:solidFill>
                  <a:srgbClr val="003E7F"/>
                </a:solidFill>
              </a:defRPr>
            </a:lvl3pPr>
            <a:lvl4pPr>
              <a:defRPr sz="1500">
                <a:solidFill>
                  <a:srgbClr val="003E7F"/>
                </a:solidFill>
              </a:defRPr>
            </a:lvl4pPr>
            <a:lvl5pPr>
              <a:defRPr sz="1500">
                <a:solidFill>
                  <a:srgbClr val="003E7F"/>
                </a:solidFill>
              </a:defRPr>
            </a:lvl5pPr>
            <a:lvl6pPr>
              <a:defRPr sz="1500"/>
            </a:lvl6pPr>
            <a:lvl7pPr>
              <a:defRPr sz="1500"/>
            </a:lvl7pPr>
            <a:lvl8pPr>
              <a:defRPr sz="1500"/>
            </a:lvl8pPr>
            <a:lvl9pPr>
              <a:defRPr sz="1500"/>
            </a:lvl9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19100" y="6194307"/>
            <a:ext cx="1767635" cy="365125"/>
          </a:xfrm>
          <a:prstGeom prst="rect">
            <a:avLst/>
          </a:prstGeom>
        </p:spPr>
        <p:txBody>
          <a:bodyPr/>
          <a:lstStyle/>
          <a:p>
            <a:endParaRPr lang="en-US"/>
          </a:p>
        </p:txBody>
      </p:sp>
      <p:sp>
        <p:nvSpPr>
          <p:cNvPr id="4" name="Slide Number Placeholder 5">
            <a:extLst>
              <a:ext uri="{FF2B5EF4-FFF2-40B4-BE49-F238E27FC236}">
                <a16:creationId xmlns:a16="http://schemas.microsoft.com/office/drawing/2014/main" id="{6B59042E-05B7-0947-295E-72B8891595BB}"/>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6" name="Rectangle 5">
            <a:extLst>
              <a:ext uri="{FF2B5EF4-FFF2-40B4-BE49-F238E27FC236}">
                <a16:creationId xmlns:a16="http://schemas.microsoft.com/office/drawing/2014/main" id="{0552CD10-8002-8252-7B3B-6DBA2E87326F}"/>
              </a:ext>
            </a:extLst>
          </p:cNvPr>
          <p:cNvSpPr/>
          <p:nvPr userDrawn="1"/>
        </p:nvSpPr>
        <p:spPr>
          <a:xfrm>
            <a:off x="372912" y="1894755"/>
            <a:ext cx="3358372" cy="4197335"/>
          </a:xfrm>
          <a:prstGeom prst="rect">
            <a:avLst/>
          </a:prstGeom>
          <a:solidFill>
            <a:srgbClr val="F5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4B68F75-2406-2237-3870-8A529E4448D9}"/>
              </a:ext>
            </a:extLst>
          </p:cNvPr>
          <p:cNvSpPr/>
          <p:nvPr userDrawn="1"/>
        </p:nvSpPr>
        <p:spPr>
          <a:xfrm>
            <a:off x="372912" y="1208955"/>
            <a:ext cx="3358372" cy="81221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28A7E99-B7FD-99E3-142B-F622BF1F0B12}"/>
              </a:ext>
            </a:extLst>
          </p:cNvPr>
          <p:cNvPicPr>
            <a:picLocks noChangeAspect="1"/>
          </p:cNvPicPr>
          <p:nvPr userDrawn="1"/>
        </p:nvPicPr>
        <p:blipFill>
          <a:blip r:embed="rId2"/>
          <a:srcRect l="3890" r="3890"/>
          <a:stretch/>
        </p:blipFill>
        <p:spPr>
          <a:xfrm>
            <a:off x="372912" y="2007272"/>
            <a:ext cx="3358372" cy="4074609"/>
          </a:xfrm>
          <a:prstGeom prst="rect">
            <a:avLst/>
          </a:prstGeom>
        </p:spPr>
      </p:pic>
      <p:sp>
        <p:nvSpPr>
          <p:cNvPr id="10" name="Text Placeholder 3">
            <a:extLst>
              <a:ext uri="{FF2B5EF4-FFF2-40B4-BE49-F238E27FC236}">
                <a16:creationId xmlns:a16="http://schemas.microsoft.com/office/drawing/2014/main" id="{311F2EB5-99C1-DB19-6F50-37ED88DDCF1F}"/>
              </a:ext>
            </a:extLst>
          </p:cNvPr>
          <p:cNvSpPr>
            <a:spLocks noGrp="1"/>
          </p:cNvSpPr>
          <p:nvPr>
            <p:ph type="body" sz="half" idx="14" hasCustomPrompt="1"/>
          </p:nvPr>
        </p:nvSpPr>
        <p:spPr>
          <a:xfrm>
            <a:off x="577509" y="2101358"/>
            <a:ext cx="2949178" cy="3827252"/>
          </a:xfrm>
        </p:spPr>
        <p:txBody>
          <a:bodyPr>
            <a:normAutofit/>
          </a:bodyPr>
          <a:lstStyle>
            <a:lvl1pPr marL="285750" indent="-285750">
              <a:buFont typeface="Arial" panose="020B0604020202020204" pitchFamily="34" charset="0"/>
              <a:buChar char="•"/>
              <a:defRPr sz="1500" b="1">
                <a:solidFill>
                  <a:srgbClr val="003E7F"/>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11" name="Text Placeholder 2">
            <a:extLst>
              <a:ext uri="{FF2B5EF4-FFF2-40B4-BE49-F238E27FC236}">
                <a16:creationId xmlns:a16="http://schemas.microsoft.com/office/drawing/2014/main" id="{D07900FF-F4AC-7A31-3CD0-6232CC306FEE}"/>
              </a:ext>
            </a:extLst>
          </p:cNvPr>
          <p:cNvSpPr>
            <a:spLocks noGrp="1"/>
          </p:cNvSpPr>
          <p:nvPr>
            <p:ph type="body" idx="15" hasCustomPrompt="1"/>
          </p:nvPr>
        </p:nvSpPr>
        <p:spPr>
          <a:xfrm>
            <a:off x="484338" y="1321610"/>
            <a:ext cx="3124101"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12" name="Title Placeholder 1">
            <a:extLst>
              <a:ext uri="{FF2B5EF4-FFF2-40B4-BE49-F238E27FC236}">
                <a16:creationId xmlns:a16="http://schemas.microsoft.com/office/drawing/2014/main" id="{05C35AFD-A6E6-9FBD-7557-CBB1018489FA}"/>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567271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wo Column, Header Bullet List, 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E96910-28C2-E07B-7597-D6DEFFDEBA76}"/>
              </a:ext>
            </a:extLst>
          </p:cNvPr>
          <p:cNvSpPr/>
          <p:nvPr userDrawn="1"/>
        </p:nvSpPr>
        <p:spPr>
          <a:xfrm>
            <a:off x="372912" y="1894755"/>
            <a:ext cx="3358372" cy="4197335"/>
          </a:xfrm>
          <a:prstGeom prst="rect">
            <a:avLst/>
          </a:prstGeom>
          <a:solidFill>
            <a:srgbClr val="F5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96FA8679-26EF-AE4D-86F4-3BDD7946B322}"/>
              </a:ext>
            </a:extLst>
          </p:cNvPr>
          <p:cNvSpPr/>
          <p:nvPr userDrawn="1"/>
        </p:nvSpPr>
        <p:spPr>
          <a:xfrm>
            <a:off x="372912" y="1208955"/>
            <a:ext cx="3358372" cy="81221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Date Placeholder 4"/>
          <p:cNvSpPr>
            <a:spLocks noGrp="1"/>
          </p:cNvSpPr>
          <p:nvPr>
            <p:ph type="dt" sz="half" idx="10"/>
          </p:nvPr>
        </p:nvSpPr>
        <p:spPr>
          <a:xfrm>
            <a:off x="419100" y="6194307"/>
            <a:ext cx="1767635" cy="365125"/>
          </a:xfrm>
          <a:prstGeom prst="rect">
            <a:avLst/>
          </a:prstGeom>
        </p:spPr>
        <p:txBody>
          <a:bodyPr/>
          <a:lstStyle/>
          <a:p>
            <a:endParaRPr lang="en-US"/>
          </a:p>
        </p:txBody>
      </p:sp>
      <p:pic>
        <p:nvPicPr>
          <p:cNvPr id="18" name="Picture 17">
            <a:extLst>
              <a:ext uri="{FF2B5EF4-FFF2-40B4-BE49-F238E27FC236}">
                <a16:creationId xmlns:a16="http://schemas.microsoft.com/office/drawing/2014/main" id="{099730C5-5867-8187-968B-7DE09B78BD37}"/>
              </a:ext>
            </a:extLst>
          </p:cNvPr>
          <p:cNvPicPr>
            <a:picLocks noChangeAspect="1"/>
          </p:cNvPicPr>
          <p:nvPr userDrawn="1"/>
        </p:nvPicPr>
        <p:blipFill>
          <a:blip r:embed="rId2"/>
          <a:srcRect l="3890" r="3890"/>
          <a:stretch/>
        </p:blipFill>
        <p:spPr>
          <a:xfrm>
            <a:off x="372912" y="2007272"/>
            <a:ext cx="3358372" cy="4074609"/>
          </a:xfrm>
          <a:prstGeom prst="rect">
            <a:avLst/>
          </a:prstGeom>
        </p:spPr>
      </p:pic>
      <p:sp>
        <p:nvSpPr>
          <p:cNvPr id="14" name="Picture Placeholder 11">
            <a:extLst>
              <a:ext uri="{FF2B5EF4-FFF2-40B4-BE49-F238E27FC236}">
                <a16:creationId xmlns:a16="http://schemas.microsoft.com/office/drawing/2014/main" id="{4C3A210F-FB0D-7D69-F90B-6D240D6E4783}"/>
              </a:ext>
            </a:extLst>
          </p:cNvPr>
          <p:cNvSpPr>
            <a:spLocks noGrp="1"/>
          </p:cNvSpPr>
          <p:nvPr>
            <p:ph type="pic" sz="quarter" idx="13"/>
          </p:nvPr>
        </p:nvSpPr>
        <p:spPr>
          <a:xfrm>
            <a:off x="4030663" y="1208375"/>
            <a:ext cx="4629150" cy="4873506"/>
          </a:xfrm>
        </p:spPr>
        <p:txBody>
          <a:bodyPr/>
          <a:lstStyle>
            <a:lvl1pPr marL="0" indent="0">
              <a:buNone/>
              <a:defRPr/>
            </a:lvl1pPr>
          </a:lstStyle>
          <a:p>
            <a:r>
              <a:rPr lang="en-US"/>
              <a:t>Click icon to add picture</a:t>
            </a:r>
          </a:p>
        </p:txBody>
      </p:sp>
      <p:sp>
        <p:nvSpPr>
          <p:cNvPr id="20" name="Text Placeholder 3">
            <a:extLst>
              <a:ext uri="{FF2B5EF4-FFF2-40B4-BE49-F238E27FC236}">
                <a16:creationId xmlns:a16="http://schemas.microsoft.com/office/drawing/2014/main" id="{DE303ECB-1495-6D4A-6548-DA3D9073D320}"/>
              </a:ext>
            </a:extLst>
          </p:cNvPr>
          <p:cNvSpPr>
            <a:spLocks noGrp="1"/>
          </p:cNvSpPr>
          <p:nvPr>
            <p:ph type="body" sz="half" idx="14" hasCustomPrompt="1"/>
          </p:nvPr>
        </p:nvSpPr>
        <p:spPr>
          <a:xfrm>
            <a:off x="577509" y="2101358"/>
            <a:ext cx="2949178" cy="3827252"/>
          </a:xfrm>
        </p:spPr>
        <p:txBody>
          <a:bodyPr>
            <a:normAutofit/>
          </a:bodyPr>
          <a:lstStyle>
            <a:lvl1pPr marL="285750" indent="-285750">
              <a:buFont typeface="Arial" panose="020B0604020202020204" pitchFamily="34" charset="0"/>
              <a:buChar char="•"/>
              <a:defRPr sz="1500" b="1">
                <a:solidFill>
                  <a:srgbClr val="003E7F"/>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4" name="Slide Number Placeholder 5">
            <a:extLst>
              <a:ext uri="{FF2B5EF4-FFF2-40B4-BE49-F238E27FC236}">
                <a16:creationId xmlns:a16="http://schemas.microsoft.com/office/drawing/2014/main" id="{454B21AC-4CC7-DADD-41C5-4DE0C146DD6B}"/>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9" name="Text Placeholder 2">
            <a:extLst>
              <a:ext uri="{FF2B5EF4-FFF2-40B4-BE49-F238E27FC236}">
                <a16:creationId xmlns:a16="http://schemas.microsoft.com/office/drawing/2014/main" id="{ACA6932D-CA28-88E6-778E-AB5FE6542254}"/>
              </a:ext>
            </a:extLst>
          </p:cNvPr>
          <p:cNvSpPr>
            <a:spLocks noGrp="1"/>
          </p:cNvSpPr>
          <p:nvPr>
            <p:ph type="body" idx="15" hasCustomPrompt="1"/>
          </p:nvPr>
        </p:nvSpPr>
        <p:spPr>
          <a:xfrm>
            <a:off x="484338" y="1321610"/>
            <a:ext cx="3124101"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11" name="Title Placeholder 1">
            <a:extLst>
              <a:ext uri="{FF2B5EF4-FFF2-40B4-BE49-F238E27FC236}">
                <a16:creationId xmlns:a16="http://schemas.microsoft.com/office/drawing/2014/main" id="{2A0AB69B-2A6B-100F-3F6E-BA9A694987B2}"/>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6829123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 Header Bullet List, Paragraph">
    <p:spTree>
      <p:nvGrpSpPr>
        <p:cNvPr id="1" name=""/>
        <p:cNvGrpSpPr/>
        <p:nvPr/>
      </p:nvGrpSpPr>
      <p:grpSpPr>
        <a:xfrm>
          <a:off x="0" y="0"/>
          <a:ext cx="0" cy="0"/>
          <a:chOff x="0" y="0"/>
          <a:chExt cx="0" cy="0"/>
        </a:xfrm>
      </p:grpSpPr>
      <p:sp>
        <p:nvSpPr>
          <p:cNvPr id="6" name="Content Placeholder 2">
            <a:extLst>
              <a:ext uri="{FF2B5EF4-FFF2-40B4-BE49-F238E27FC236}">
                <a16:creationId xmlns:a16="http://schemas.microsoft.com/office/drawing/2014/main" id="{7844A4C4-D627-CB00-46FC-1F655C53E7CE}"/>
              </a:ext>
            </a:extLst>
          </p:cNvPr>
          <p:cNvSpPr>
            <a:spLocks noGrp="1"/>
          </p:cNvSpPr>
          <p:nvPr>
            <p:ph idx="1" hasCustomPrompt="1"/>
          </p:nvPr>
        </p:nvSpPr>
        <p:spPr>
          <a:xfrm>
            <a:off x="4030512" y="928091"/>
            <a:ext cx="4629150" cy="5000761"/>
          </a:xfrm>
        </p:spPr>
        <p:txBody>
          <a:bodyPr/>
          <a:lstStyle>
            <a:lvl1pPr>
              <a:defRPr sz="2400">
                <a:solidFill>
                  <a:srgbClr val="003E7F"/>
                </a:solidFill>
              </a:defRPr>
            </a:lvl1pPr>
            <a:lvl2pPr>
              <a:defRPr sz="2100">
                <a:solidFill>
                  <a:srgbClr val="003E7F"/>
                </a:solidFill>
              </a:defRPr>
            </a:lvl2pPr>
            <a:lvl3pPr>
              <a:defRPr sz="1800">
                <a:solidFill>
                  <a:srgbClr val="003E7F"/>
                </a:solidFill>
              </a:defRPr>
            </a:lvl3pPr>
            <a:lvl4pPr>
              <a:defRPr sz="1500">
                <a:solidFill>
                  <a:srgbClr val="003E7F"/>
                </a:solidFill>
              </a:defRPr>
            </a:lvl4pPr>
            <a:lvl5pPr>
              <a:defRPr sz="1500">
                <a:solidFill>
                  <a:srgbClr val="003E7F"/>
                </a:solidFill>
              </a:defRPr>
            </a:lvl5pPr>
            <a:lvl6pPr>
              <a:defRPr sz="1500"/>
            </a:lvl6pPr>
            <a:lvl7pPr>
              <a:defRPr sz="1500"/>
            </a:lvl7pPr>
            <a:lvl8pPr>
              <a:defRPr sz="1500"/>
            </a:lvl8pPr>
            <a:lvl9pPr>
              <a:defRPr sz="1500"/>
            </a:lvl9p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7" name="Date Placeholder 4">
            <a:extLst>
              <a:ext uri="{FF2B5EF4-FFF2-40B4-BE49-F238E27FC236}">
                <a16:creationId xmlns:a16="http://schemas.microsoft.com/office/drawing/2014/main" id="{9EBA5CE8-51CE-9A84-49CD-6F893EAD9F3E}"/>
              </a:ext>
            </a:extLst>
          </p:cNvPr>
          <p:cNvSpPr>
            <a:spLocks noGrp="1"/>
          </p:cNvSpPr>
          <p:nvPr>
            <p:ph type="dt" sz="half" idx="10"/>
          </p:nvPr>
        </p:nvSpPr>
        <p:spPr>
          <a:xfrm>
            <a:off x="419100" y="6194307"/>
            <a:ext cx="1767635" cy="365125"/>
          </a:xfrm>
          <a:prstGeom prst="rect">
            <a:avLst/>
          </a:prstGeom>
        </p:spPr>
        <p:txBody>
          <a:bodyPr/>
          <a:lstStyle/>
          <a:p>
            <a:endParaRPr lang="en-US"/>
          </a:p>
        </p:txBody>
      </p:sp>
      <p:sp>
        <p:nvSpPr>
          <p:cNvPr id="17" name="Rectangle 16">
            <a:extLst>
              <a:ext uri="{FF2B5EF4-FFF2-40B4-BE49-F238E27FC236}">
                <a16:creationId xmlns:a16="http://schemas.microsoft.com/office/drawing/2014/main" id="{BA8CE1EC-AC86-1F52-A79A-676D7E141865}"/>
              </a:ext>
            </a:extLst>
          </p:cNvPr>
          <p:cNvSpPr/>
          <p:nvPr userDrawn="1"/>
        </p:nvSpPr>
        <p:spPr>
          <a:xfrm>
            <a:off x="372912" y="1621386"/>
            <a:ext cx="3358372" cy="4294425"/>
          </a:xfrm>
          <a:prstGeom prst="rect">
            <a:avLst/>
          </a:prstGeom>
          <a:solidFill>
            <a:srgbClr val="F5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01D9F9F-89BD-EEF2-75C0-B99BBF272021}"/>
              </a:ext>
            </a:extLst>
          </p:cNvPr>
          <p:cNvSpPr/>
          <p:nvPr userDrawn="1"/>
        </p:nvSpPr>
        <p:spPr>
          <a:xfrm>
            <a:off x="372912" y="928091"/>
            <a:ext cx="3358372" cy="81221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AC93D984-5E60-1556-653E-7BF3B755571E}"/>
              </a:ext>
            </a:extLst>
          </p:cNvPr>
          <p:cNvPicPr>
            <a:picLocks noChangeAspect="1"/>
          </p:cNvPicPr>
          <p:nvPr userDrawn="1"/>
        </p:nvPicPr>
        <p:blipFill>
          <a:blip r:embed="rId2"/>
          <a:srcRect l="5073" r="5073"/>
          <a:stretch/>
        </p:blipFill>
        <p:spPr>
          <a:xfrm>
            <a:off x="372912" y="1726408"/>
            <a:ext cx="3358372" cy="4181908"/>
          </a:xfrm>
          <a:prstGeom prst="rect">
            <a:avLst/>
          </a:prstGeom>
        </p:spPr>
      </p:pic>
      <p:sp>
        <p:nvSpPr>
          <p:cNvPr id="24" name="Text Placeholder 2">
            <a:extLst>
              <a:ext uri="{FF2B5EF4-FFF2-40B4-BE49-F238E27FC236}">
                <a16:creationId xmlns:a16="http://schemas.microsoft.com/office/drawing/2014/main" id="{B720E25A-B41E-0DE3-CBEA-63B9C260C7C2}"/>
              </a:ext>
            </a:extLst>
          </p:cNvPr>
          <p:cNvSpPr>
            <a:spLocks noGrp="1"/>
          </p:cNvSpPr>
          <p:nvPr>
            <p:ph type="body" idx="14" hasCustomPrompt="1"/>
          </p:nvPr>
        </p:nvSpPr>
        <p:spPr>
          <a:xfrm>
            <a:off x="484338" y="1041290"/>
            <a:ext cx="3124101"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25" name="Text Placeholder 3">
            <a:extLst>
              <a:ext uri="{FF2B5EF4-FFF2-40B4-BE49-F238E27FC236}">
                <a16:creationId xmlns:a16="http://schemas.microsoft.com/office/drawing/2014/main" id="{F26B96FB-62DA-96E5-ED07-30896A537052}"/>
              </a:ext>
            </a:extLst>
          </p:cNvPr>
          <p:cNvSpPr>
            <a:spLocks noGrp="1"/>
          </p:cNvSpPr>
          <p:nvPr>
            <p:ph type="body" sz="half" idx="15" hasCustomPrompt="1"/>
          </p:nvPr>
        </p:nvSpPr>
        <p:spPr>
          <a:xfrm>
            <a:off x="577509" y="1900626"/>
            <a:ext cx="2949178" cy="3850674"/>
          </a:xfrm>
        </p:spPr>
        <p:txBody>
          <a:bodyPr>
            <a:normAutofit/>
          </a:bodyPr>
          <a:lstStyle>
            <a:lvl1pPr marL="285750" indent="-285750">
              <a:buFont typeface="Arial" panose="020B0604020202020204" pitchFamily="34" charset="0"/>
              <a:buChar char="•"/>
              <a:defRPr sz="1500" b="1">
                <a:solidFill>
                  <a:srgbClr val="003E7F"/>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 name="Slide Number Placeholder 5">
            <a:extLst>
              <a:ext uri="{FF2B5EF4-FFF2-40B4-BE49-F238E27FC236}">
                <a16:creationId xmlns:a16="http://schemas.microsoft.com/office/drawing/2014/main" id="{6C7F35E2-6560-4F36-09A2-2751D63731E3}"/>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Tree>
    <p:extLst>
      <p:ext uri="{BB962C8B-B14F-4D97-AF65-F5344CB8AC3E}">
        <p14:creationId xmlns:p14="http://schemas.microsoft.com/office/powerpoint/2010/main" val="2557407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wo Column, Header Bullet List, Photo">
    <p:spTree>
      <p:nvGrpSpPr>
        <p:cNvPr id="1" name=""/>
        <p:cNvGrpSpPr/>
        <p:nvPr/>
      </p:nvGrpSpPr>
      <p:grpSpPr>
        <a:xfrm>
          <a:off x="0" y="0"/>
          <a:ext cx="0" cy="0"/>
          <a:chOff x="0" y="0"/>
          <a:chExt cx="0" cy="0"/>
        </a:xfrm>
      </p:grpSpPr>
      <p:sp>
        <p:nvSpPr>
          <p:cNvPr id="7" name="Date Placeholder 4">
            <a:extLst>
              <a:ext uri="{FF2B5EF4-FFF2-40B4-BE49-F238E27FC236}">
                <a16:creationId xmlns:a16="http://schemas.microsoft.com/office/drawing/2014/main" id="{9EBA5CE8-51CE-9A84-49CD-6F893EAD9F3E}"/>
              </a:ext>
            </a:extLst>
          </p:cNvPr>
          <p:cNvSpPr>
            <a:spLocks noGrp="1"/>
          </p:cNvSpPr>
          <p:nvPr>
            <p:ph type="dt" sz="half" idx="10"/>
          </p:nvPr>
        </p:nvSpPr>
        <p:spPr>
          <a:xfrm>
            <a:off x="419100" y="6194307"/>
            <a:ext cx="1767635" cy="365125"/>
          </a:xfrm>
          <a:prstGeom prst="rect">
            <a:avLst/>
          </a:prstGeom>
        </p:spPr>
        <p:txBody>
          <a:bodyPr/>
          <a:lstStyle/>
          <a:p>
            <a:endParaRPr lang="en-US"/>
          </a:p>
        </p:txBody>
      </p:sp>
      <p:sp>
        <p:nvSpPr>
          <p:cNvPr id="9" name="Picture Placeholder 11">
            <a:extLst>
              <a:ext uri="{FF2B5EF4-FFF2-40B4-BE49-F238E27FC236}">
                <a16:creationId xmlns:a16="http://schemas.microsoft.com/office/drawing/2014/main" id="{FB9EA24D-5F27-8071-42B3-471CF83563E3}"/>
              </a:ext>
            </a:extLst>
          </p:cNvPr>
          <p:cNvSpPr>
            <a:spLocks noGrp="1"/>
          </p:cNvSpPr>
          <p:nvPr>
            <p:ph type="pic" sz="quarter" idx="13"/>
          </p:nvPr>
        </p:nvSpPr>
        <p:spPr>
          <a:xfrm>
            <a:off x="4030663" y="928090"/>
            <a:ext cx="4629150" cy="5002302"/>
          </a:xfrm>
        </p:spPr>
        <p:txBody>
          <a:bodyPr/>
          <a:lstStyle>
            <a:lvl1pPr marL="0" indent="0">
              <a:buNone/>
              <a:defRPr/>
            </a:lvl1pPr>
          </a:lstStyle>
          <a:p>
            <a:r>
              <a:rPr lang="en-US"/>
              <a:t>Click icon to add picture</a:t>
            </a:r>
          </a:p>
        </p:txBody>
      </p:sp>
      <p:sp>
        <p:nvSpPr>
          <p:cNvPr id="3" name="Slide Number Placeholder 5">
            <a:extLst>
              <a:ext uri="{FF2B5EF4-FFF2-40B4-BE49-F238E27FC236}">
                <a16:creationId xmlns:a16="http://schemas.microsoft.com/office/drawing/2014/main" id="{6A980C95-7F4D-2168-2A9A-833AD3F2CFBC}"/>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4" name="Rectangle 3">
            <a:extLst>
              <a:ext uri="{FF2B5EF4-FFF2-40B4-BE49-F238E27FC236}">
                <a16:creationId xmlns:a16="http://schemas.microsoft.com/office/drawing/2014/main" id="{3A178F22-FD91-85DB-A92F-C30A669B628D}"/>
              </a:ext>
            </a:extLst>
          </p:cNvPr>
          <p:cNvSpPr/>
          <p:nvPr userDrawn="1"/>
        </p:nvSpPr>
        <p:spPr>
          <a:xfrm>
            <a:off x="372912" y="1621386"/>
            <a:ext cx="3358372" cy="4294425"/>
          </a:xfrm>
          <a:prstGeom prst="rect">
            <a:avLst/>
          </a:prstGeom>
          <a:solidFill>
            <a:srgbClr val="F5F6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2EB7AEA-0835-54C6-2667-77A94A372711}"/>
              </a:ext>
            </a:extLst>
          </p:cNvPr>
          <p:cNvSpPr/>
          <p:nvPr userDrawn="1"/>
        </p:nvSpPr>
        <p:spPr>
          <a:xfrm>
            <a:off x="372912" y="928091"/>
            <a:ext cx="3358372" cy="81221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D1E119D8-5105-C70D-ED6D-38F076FFD619}"/>
              </a:ext>
            </a:extLst>
          </p:cNvPr>
          <p:cNvPicPr>
            <a:picLocks noChangeAspect="1"/>
          </p:cNvPicPr>
          <p:nvPr userDrawn="1"/>
        </p:nvPicPr>
        <p:blipFill>
          <a:blip r:embed="rId2"/>
          <a:srcRect l="5073" r="5073"/>
          <a:stretch/>
        </p:blipFill>
        <p:spPr>
          <a:xfrm>
            <a:off x="372912" y="1726408"/>
            <a:ext cx="3358372" cy="4181908"/>
          </a:xfrm>
          <a:prstGeom prst="rect">
            <a:avLst/>
          </a:prstGeom>
        </p:spPr>
      </p:pic>
      <p:sp>
        <p:nvSpPr>
          <p:cNvPr id="10" name="Text Placeholder 2">
            <a:extLst>
              <a:ext uri="{FF2B5EF4-FFF2-40B4-BE49-F238E27FC236}">
                <a16:creationId xmlns:a16="http://schemas.microsoft.com/office/drawing/2014/main" id="{47AF80A7-4E61-E364-30D7-217722A1F378}"/>
              </a:ext>
            </a:extLst>
          </p:cNvPr>
          <p:cNvSpPr>
            <a:spLocks noGrp="1"/>
          </p:cNvSpPr>
          <p:nvPr>
            <p:ph type="body" idx="14" hasCustomPrompt="1"/>
          </p:nvPr>
        </p:nvSpPr>
        <p:spPr>
          <a:xfrm>
            <a:off x="484338" y="1041290"/>
            <a:ext cx="3124101" cy="586908"/>
          </a:xfrm>
        </p:spPr>
        <p:txBody>
          <a:bodyPr anchor="ctr">
            <a:normAutofit/>
          </a:bodyPr>
          <a:lstStyle>
            <a:lvl1pPr marL="0" indent="0" algn="ctr">
              <a:buNone/>
              <a:defRPr sz="2100" b="1">
                <a:solidFill>
                  <a:schemeClr val="bg1"/>
                </a:solidFill>
              </a:defRPr>
            </a:lvl1pPr>
            <a:lvl2pPr marL="342875" indent="0">
              <a:buNone/>
              <a:defRPr sz="1500" b="1"/>
            </a:lvl2pPr>
            <a:lvl3pPr marL="685749" indent="0">
              <a:buNone/>
              <a:defRPr sz="1350" b="1"/>
            </a:lvl3pPr>
            <a:lvl4pPr marL="1028624" indent="0">
              <a:buNone/>
              <a:defRPr sz="1200" b="1"/>
            </a:lvl4pPr>
            <a:lvl5pPr marL="1371498" indent="0">
              <a:buNone/>
              <a:defRPr sz="1200" b="1"/>
            </a:lvl5pPr>
            <a:lvl6pPr marL="1714373" indent="0">
              <a:buNone/>
              <a:defRPr sz="1200" b="1"/>
            </a:lvl6pPr>
            <a:lvl7pPr marL="2057246" indent="0">
              <a:buNone/>
              <a:defRPr sz="1200" b="1"/>
            </a:lvl7pPr>
            <a:lvl8pPr marL="2400120" indent="0">
              <a:buNone/>
              <a:defRPr sz="1200" b="1"/>
            </a:lvl8pPr>
            <a:lvl9pPr marL="2742995" indent="0">
              <a:buNone/>
              <a:defRPr sz="1200" b="1"/>
            </a:lvl9pPr>
          </a:lstStyle>
          <a:p>
            <a:pPr lvl="0"/>
            <a:r>
              <a:rPr lang="en-US"/>
              <a:t>Edit text</a:t>
            </a:r>
          </a:p>
        </p:txBody>
      </p:sp>
      <p:sp>
        <p:nvSpPr>
          <p:cNvPr id="11" name="Text Placeholder 3">
            <a:extLst>
              <a:ext uri="{FF2B5EF4-FFF2-40B4-BE49-F238E27FC236}">
                <a16:creationId xmlns:a16="http://schemas.microsoft.com/office/drawing/2014/main" id="{65B412C0-1B0C-B05A-C16D-9113EF641280}"/>
              </a:ext>
            </a:extLst>
          </p:cNvPr>
          <p:cNvSpPr>
            <a:spLocks noGrp="1"/>
          </p:cNvSpPr>
          <p:nvPr>
            <p:ph type="body" sz="half" idx="15" hasCustomPrompt="1"/>
          </p:nvPr>
        </p:nvSpPr>
        <p:spPr>
          <a:xfrm>
            <a:off x="577509" y="1900626"/>
            <a:ext cx="2949178" cy="3850674"/>
          </a:xfrm>
        </p:spPr>
        <p:txBody>
          <a:bodyPr>
            <a:normAutofit/>
          </a:bodyPr>
          <a:lstStyle>
            <a:lvl1pPr marL="285750" indent="-285750">
              <a:buFont typeface="Arial" panose="020B0604020202020204" pitchFamily="34" charset="0"/>
              <a:buChar char="•"/>
              <a:defRPr sz="1500" b="1">
                <a:solidFill>
                  <a:srgbClr val="003E7F"/>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Tree>
    <p:extLst>
      <p:ext uri="{BB962C8B-B14F-4D97-AF65-F5344CB8AC3E}">
        <p14:creationId xmlns:p14="http://schemas.microsoft.com/office/powerpoint/2010/main" val="215431092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Horizontal Icon, Header, Paragraph">
    <p:spTree>
      <p:nvGrpSpPr>
        <p:cNvPr id="1" name=""/>
        <p:cNvGrpSpPr/>
        <p:nvPr/>
      </p:nvGrpSpPr>
      <p:grpSpPr>
        <a:xfrm>
          <a:off x="0" y="0"/>
          <a:ext cx="0" cy="0"/>
          <a:chOff x="0" y="0"/>
          <a:chExt cx="0" cy="0"/>
        </a:xfrm>
      </p:grpSpPr>
      <p:sp>
        <p:nvSpPr>
          <p:cNvPr id="5" name="Date Placeholder 4"/>
          <p:cNvSpPr>
            <a:spLocks noGrp="1"/>
          </p:cNvSpPr>
          <p:nvPr>
            <p:ph type="dt" sz="half" idx="10"/>
          </p:nvPr>
        </p:nvSpPr>
        <p:spPr>
          <a:xfrm>
            <a:off x="419100" y="6194307"/>
            <a:ext cx="1767635" cy="365125"/>
          </a:xfrm>
          <a:prstGeom prst="rect">
            <a:avLst/>
          </a:prstGeom>
        </p:spPr>
        <p:txBody>
          <a:bodyPr/>
          <a:lstStyle/>
          <a:p>
            <a:endParaRPr lang="en-US"/>
          </a:p>
        </p:txBody>
      </p:sp>
      <p:sp>
        <p:nvSpPr>
          <p:cNvPr id="26" name="Text Placeholder 3">
            <a:extLst>
              <a:ext uri="{FF2B5EF4-FFF2-40B4-BE49-F238E27FC236}">
                <a16:creationId xmlns:a16="http://schemas.microsoft.com/office/drawing/2014/main" id="{7424B591-4538-FFC3-C7E1-D71788BD47D9}"/>
              </a:ext>
            </a:extLst>
          </p:cNvPr>
          <p:cNvSpPr>
            <a:spLocks noGrp="1"/>
          </p:cNvSpPr>
          <p:nvPr>
            <p:ph type="body" sz="half" idx="16" hasCustomPrompt="1"/>
          </p:nvPr>
        </p:nvSpPr>
        <p:spPr>
          <a:xfrm>
            <a:off x="2396760" y="3226445"/>
            <a:ext cx="2044502"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4" name="Picture Placeholder 2">
            <a:extLst>
              <a:ext uri="{FF2B5EF4-FFF2-40B4-BE49-F238E27FC236}">
                <a16:creationId xmlns:a16="http://schemas.microsoft.com/office/drawing/2014/main" id="{0F2453BE-2588-27E3-3249-98E8577224AB}"/>
              </a:ext>
            </a:extLst>
          </p:cNvPr>
          <p:cNvSpPr>
            <a:spLocks noGrp="1"/>
          </p:cNvSpPr>
          <p:nvPr>
            <p:ph type="pic" idx="19"/>
          </p:nvPr>
        </p:nvSpPr>
        <p:spPr>
          <a:xfrm>
            <a:off x="3035846" y="173930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47" name="Text Placeholder 46">
            <a:extLst>
              <a:ext uri="{FF2B5EF4-FFF2-40B4-BE49-F238E27FC236}">
                <a16:creationId xmlns:a16="http://schemas.microsoft.com/office/drawing/2014/main" id="{4618D6B9-0518-7F09-9F5C-FED05726CEBA}"/>
              </a:ext>
            </a:extLst>
          </p:cNvPr>
          <p:cNvSpPr>
            <a:spLocks noGrp="1"/>
          </p:cNvSpPr>
          <p:nvPr>
            <p:ph type="body" sz="quarter" idx="22" hasCustomPrompt="1"/>
          </p:nvPr>
        </p:nvSpPr>
        <p:spPr>
          <a:xfrm>
            <a:off x="2396760" y="2719345"/>
            <a:ext cx="2044502"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0" name="Text Placeholder 3">
            <a:extLst>
              <a:ext uri="{FF2B5EF4-FFF2-40B4-BE49-F238E27FC236}">
                <a16:creationId xmlns:a16="http://schemas.microsoft.com/office/drawing/2014/main" id="{71D14930-D851-D891-E7D3-79548C39A4D3}"/>
              </a:ext>
            </a:extLst>
          </p:cNvPr>
          <p:cNvSpPr>
            <a:spLocks noGrp="1"/>
          </p:cNvSpPr>
          <p:nvPr>
            <p:ph type="body" sz="half" idx="25" hasCustomPrompt="1"/>
          </p:nvPr>
        </p:nvSpPr>
        <p:spPr>
          <a:xfrm>
            <a:off x="118380" y="3219201"/>
            <a:ext cx="2044502"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1" name="Picture Placeholder 2">
            <a:extLst>
              <a:ext uri="{FF2B5EF4-FFF2-40B4-BE49-F238E27FC236}">
                <a16:creationId xmlns:a16="http://schemas.microsoft.com/office/drawing/2014/main" id="{BECEF398-E952-E3AC-9196-98E02A90A124}"/>
              </a:ext>
            </a:extLst>
          </p:cNvPr>
          <p:cNvSpPr>
            <a:spLocks noGrp="1"/>
          </p:cNvSpPr>
          <p:nvPr>
            <p:ph type="pic" idx="26"/>
          </p:nvPr>
        </p:nvSpPr>
        <p:spPr>
          <a:xfrm>
            <a:off x="753400" y="173930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2" name="Text Placeholder 46">
            <a:extLst>
              <a:ext uri="{FF2B5EF4-FFF2-40B4-BE49-F238E27FC236}">
                <a16:creationId xmlns:a16="http://schemas.microsoft.com/office/drawing/2014/main" id="{2C11D761-D375-77DB-8DCF-3B9B17FDB572}"/>
              </a:ext>
            </a:extLst>
          </p:cNvPr>
          <p:cNvSpPr>
            <a:spLocks noGrp="1"/>
          </p:cNvSpPr>
          <p:nvPr>
            <p:ph type="body" sz="quarter" idx="27" hasCustomPrompt="1"/>
          </p:nvPr>
        </p:nvSpPr>
        <p:spPr>
          <a:xfrm>
            <a:off x="118380" y="2712101"/>
            <a:ext cx="2044502"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3" name="Text Placeholder 3">
            <a:extLst>
              <a:ext uri="{FF2B5EF4-FFF2-40B4-BE49-F238E27FC236}">
                <a16:creationId xmlns:a16="http://schemas.microsoft.com/office/drawing/2014/main" id="{0F0501FF-08C9-BF91-D713-39F652B51BFE}"/>
              </a:ext>
            </a:extLst>
          </p:cNvPr>
          <p:cNvSpPr>
            <a:spLocks noGrp="1"/>
          </p:cNvSpPr>
          <p:nvPr>
            <p:ph type="body" sz="half" idx="28" hasCustomPrompt="1"/>
          </p:nvPr>
        </p:nvSpPr>
        <p:spPr>
          <a:xfrm>
            <a:off x="6957812" y="3226445"/>
            <a:ext cx="2067808"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4" name="Picture Placeholder 2">
            <a:extLst>
              <a:ext uri="{FF2B5EF4-FFF2-40B4-BE49-F238E27FC236}">
                <a16:creationId xmlns:a16="http://schemas.microsoft.com/office/drawing/2014/main" id="{032B68AE-1613-425C-25A7-51F3AC475EC1}"/>
              </a:ext>
            </a:extLst>
          </p:cNvPr>
          <p:cNvSpPr>
            <a:spLocks noGrp="1"/>
          </p:cNvSpPr>
          <p:nvPr>
            <p:ph type="pic" idx="29"/>
          </p:nvPr>
        </p:nvSpPr>
        <p:spPr>
          <a:xfrm>
            <a:off x="7604485" y="173930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5" name="Text Placeholder 46">
            <a:extLst>
              <a:ext uri="{FF2B5EF4-FFF2-40B4-BE49-F238E27FC236}">
                <a16:creationId xmlns:a16="http://schemas.microsoft.com/office/drawing/2014/main" id="{DCE1E016-29C3-1A24-11CC-23EFF4D237DB}"/>
              </a:ext>
            </a:extLst>
          </p:cNvPr>
          <p:cNvSpPr>
            <a:spLocks noGrp="1"/>
          </p:cNvSpPr>
          <p:nvPr>
            <p:ph type="body" sz="quarter" idx="30" hasCustomPrompt="1"/>
          </p:nvPr>
        </p:nvSpPr>
        <p:spPr>
          <a:xfrm>
            <a:off x="6957812" y="2719345"/>
            <a:ext cx="2067808"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6" name="Text Placeholder 3">
            <a:extLst>
              <a:ext uri="{FF2B5EF4-FFF2-40B4-BE49-F238E27FC236}">
                <a16:creationId xmlns:a16="http://schemas.microsoft.com/office/drawing/2014/main" id="{229B0AFB-C6DF-9071-5802-4312EE667147}"/>
              </a:ext>
            </a:extLst>
          </p:cNvPr>
          <p:cNvSpPr>
            <a:spLocks noGrp="1"/>
          </p:cNvSpPr>
          <p:nvPr>
            <p:ph type="body" sz="half" idx="31" hasCustomPrompt="1"/>
          </p:nvPr>
        </p:nvSpPr>
        <p:spPr>
          <a:xfrm>
            <a:off x="4667008" y="3226445"/>
            <a:ext cx="2060991"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7" name="Picture Placeholder 2">
            <a:extLst>
              <a:ext uri="{FF2B5EF4-FFF2-40B4-BE49-F238E27FC236}">
                <a16:creationId xmlns:a16="http://schemas.microsoft.com/office/drawing/2014/main" id="{9C33848E-EDAC-21C4-B299-4E8DB20908A0}"/>
              </a:ext>
            </a:extLst>
          </p:cNvPr>
          <p:cNvSpPr>
            <a:spLocks noGrp="1"/>
          </p:cNvSpPr>
          <p:nvPr>
            <p:ph type="pic" idx="32"/>
          </p:nvPr>
        </p:nvSpPr>
        <p:spPr>
          <a:xfrm>
            <a:off x="5322039" y="173930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8" name="Text Placeholder 46">
            <a:extLst>
              <a:ext uri="{FF2B5EF4-FFF2-40B4-BE49-F238E27FC236}">
                <a16:creationId xmlns:a16="http://schemas.microsoft.com/office/drawing/2014/main" id="{39439A9D-D114-94FB-C283-C5EA49432754}"/>
              </a:ext>
            </a:extLst>
          </p:cNvPr>
          <p:cNvSpPr>
            <a:spLocks noGrp="1"/>
          </p:cNvSpPr>
          <p:nvPr>
            <p:ph type="body" sz="quarter" idx="33" hasCustomPrompt="1"/>
          </p:nvPr>
        </p:nvSpPr>
        <p:spPr>
          <a:xfrm>
            <a:off x="4678775" y="2719345"/>
            <a:ext cx="2060991"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3" name="Slide Number Placeholder 5">
            <a:extLst>
              <a:ext uri="{FF2B5EF4-FFF2-40B4-BE49-F238E27FC236}">
                <a16:creationId xmlns:a16="http://schemas.microsoft.com/office/drawing/2014/main" id="{6F599E75-A365-B90B-1306-88331C792CF2}"/>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6" name="Title Placeholder 1">
            <a:extLst>
              <a:ext uri="{FF2B5EF4-FFF2-40B4-BE49-F238E27FC236}">
                <a16:creationId xmlns:a16="http://schemas.microsoft.com/office/drawing/2014/main" id="{E328D1A0-A1E1-3D47-942A-E5B849DED093}"/>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26112489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orizontal Icon, Header, Paragraph">
    <p:spTree>
      <p:nvGrpSpPr>
        <p:cNvPr id="1" name=""/>
        <p:cNvGrpSpPr/>
        <p:nvPr/>
      </p:nvGrpSpPr>
      <p:grpSpPr>
        <a:xfrm>
          <a:off x="0" y="0"/>
          <a:ext cx="0" cy="0"/>
          <a:chOff x="0" y="0"/>
          <a:chExt cx="0" cy="0"/>
        </a:xfrm>
      </p:grpSpPr>
      <p:sp>
        <p:nvSpPr>
          <p:cNvPr id="5" name="Date Placeholder 4"/>
          <p:cNvSpPr>
            <a:spLocks noGrp="1"/>
          </p:cNvSpPr>
          <p:nvPr>
            <p:ph type="dt" sz="half" idx="10"/>
          </p:nvPr>
        </p:nvSpPr>
        <p:spPr>
          <a:xfrm>
            <a:off x="419100" y="6194307"/>
            <a:ext cx="1767635" cy="365125"/>
          </a:xfrm>
          <a:prstGeom prst="rect">
            <a:avLst/>
          </a:prstGeom>
        </p:spPr>
        <p:txBody>
          <a:bodyPr/>
          <a:lstStyle/>
          <a:p>
            <a:endParaRPr lang="en-US"/>
          </a:p>
        </p:txBody>
      </p:sp>
      <p:sp>
        <p:nvSpPr>
          <p:cNvPr id="26" name="Text Placeholder 3">
            <a:extLst>
              <a:ext uri="{FF2B5EF4-FFF2-40B4-BE49-F238E27FC236}">
                <a16:creationId xmlns:a16="http://schemas.microsoft.com/office/drawing/2014/main" id="{7424B591-4538-FFC3-C7E1-D71788BD47D9}"/>
              </a:ext>
            </a:extLst>
          </p:cNvPr>
          <p:cNvSpPr>
            <a:spLocks noGrp="1"/>
          </p:cNvSpPr>
          <p:nvPr>
            <p:ph type="body" sz="half" idx="16" hasCustomPrompt="1"/>
          </p:nvPr>
        </p:nvSpPr>
        <p:spPr>
          <a:xfrm>
            <a:off x="2396760" y="3049465"/>
            <a:ext cx="2044502"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4" name="Picture Placeholder 2">
            <a:extLst>
              <a:ext uri="{FF2B5EF4-FFF2-40B4-BE49-F238E27FC236}">
                <a16:creationId xmlns:a16="http://schemas.microsoft.com/office/drawing/2014/main" id="{0F2453BE-2588-27E3-3249-98E8577224AB}"/>
              </a:ext>
            </a:extLst>
          </p:cNvPr>
          <p:cNvSpPr>
            <a:spLocks noGrp="1"/>
          </p:cNvSpPr>
          <p:nvPr>
            <p:ph type="pic" idx="19"/>
          </p:nvPr>
        </p:nvSpPr>
        <p:spPr>
          <a:xfrm>
            <a:off x="3035846" y="156232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47" name="Text Placeholder 46">
            <a:extLst>
              <a:ext uri="{FF2B5EF4-FFF2-40B4-BE49-F238E27FC236}">
                <a16:creationId xmlns:a16="http://schemas.microsoft.com/office/drawing/2014/main" id="{4618D6B9-0518-7F09-9F5C-FED05726CEBA}"/>
              </a:ext>
            </a:extLst>
          </p:cNvPr>
          <p:cNvSpPr>
            <a:spLocks noGrp="1"/>
          </p:cNvSpPr>
          <p:nvPr>
            <p:ph type="body" sz="quarter" idx="22" hasCustomPrompt="1"/>
          </p:nvPr>
        </p:nvSpPr>
        <p:spPr>
          <a:xfrm>
            <a:off x="2396760" y="2542365"/>
            <a:ext cx="2044502"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0" name="Text Placeholder 3">
            <a:extLst>
              <a:ext uri="{FF2B5EF4-FFF2-40B4-BE49-F238E27FC236}">
                <a16:creationId xmlns:a16="http://schemas.microsoft.com/office/drawing/2014/main" id="{71D14930-D851-D891-E7D3-79548C39A4D3}"/>
              </a:ext>
            </a:extLst>
          </p:cNvPr>
          <p:cNvSpPr>
            <a:spLocks noGrp="1"/>
          </p:cNvSpPr>
          <p:nvPr>
            <p:ph type="body" sz="half" idx="25" hasCustomPrompt="1"/>
          </p:nvPr>
        </p:nvSpPr>
        <p:spPr>
          <a:xfrm>
            <a:off x="118380" y="3042221"/>
            <a:ext cx="2044502"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1" name="Picture Placeholder 2">
            <a:extLst>
              <a:ext uri="{FF2B5EF4-FFF2-40B4-BE49-F238E27FC236}">
                <a16:creationId xmlns:a16="http://schemas.microsoft.com/office/drawing/2014/main" id="{BECEF398-E952-E3AC-9196-98E02A90A124}"/>
              </a:ext>
            </a:extLst>
          </p:cNvPr>
          <p:cNvSpPr>
            <a:spLocks noGrp="1"/>
          </p:cNvSpPr>
          <p:nvPr>
            <p:ph type="pic" idx="26"/>
          </p:nvPr>
        </p:nvSpPr>
        <p:spPr>
          <a:xfrm>
            <a:off x="753400" y="156232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2" name="Text Placeholder 46">
            <a:extLst>
              <a:ext uri="{FF2B5EF4-FFF2-40B4-BE49-F238E27FC236}">
                <a16:creationId xmlns:a16="http://schemas.microsoft.com/office/drawing/2014/main" id="{2C11D761-D375-77DB-8DCF-3B9B17FDB572}"/>
              </a:ext>
            </a:extLst>
          </p:cNvPr>
          <p:cNvSpPr>
            <a:spLocks noGrp="1"/>
          </p:cNvSpPr>
          <p:nvPr>
            <p:ph type="body" sz="quarter" idx="27" hasCustomPrompt="1"/>
          </p:nvPr>
        </p:nvSpPr>
        <p:spPr>
          <a:xfrm>
            <a:off x="118380" y="2535121"/>
            <a:ext cx="2044502"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3" name="Text Placeholder 3">
            <a:extLst>
              <a:ext uri="{FF2B5EF4-FFF2-40B4-BE49-F238E27FC236}">
                <a16:creationId xmlns:a16="http://schemas.microsoft.com/office/drawing/2014/main" id="{0F0501FF-08C9-BF91-D713-39F652B51BFE}"/>
              </a:ext>
            </a:extLst>
          </p:cNvPr>
          <p:cNvSpPr>
            <a:spLocks noGrp="1"/>
          </p:cNvSpPr>
          <p:nvPr>
            <p:ph type="body" sz="half" idx="28" hasCustomPrompt="1"/>
          </p:nvPr>
        </p:nvSpPr>
        <p:spPr>
          <a:xfrm>
            <a:off x="6957812" y="3049465"/>
            <a:ext cx="2067808"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Master text</a:t>
            </a:r>
          </a:p>
        </p:txBody>
      </p:sp>
      <p:sp>
        <p:nvSpPr>
          <p:cNvPr id="54" name="Picture Placeholder 2">
            <a:extLst>
              <a:ext uri="{FF2B5EF4-FFF2-40B4-BE49-F238E27FC236}">
                <a16:creationId xmlns:a16="http://schemas.microsoft.com/office/drawing/2014/main" id="{032B68AE-1613-425C-25A7-51F3AC475EC1}"/>
              </a:ext>
            </a:extLst>
          </p:cNvPr>
          <p:cNvSpPr>
            <a:spLocks noGrp="1"/>
          </p:cNvSpPr>
          <p:nvPr>
            <p:ph type="pic" idx="29"/>
          </p:nvPr>
        </p:nvSpPr>
        <p:spPr>
          <a:xfrm>
            <a:off x="7604485" y="156232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5" name="Text Placeholder 46">
            <a:extLst>
              <a:ext uri="{FF2B5EF4-FFF2-40B4-BE49-F238E27FC236}">
                <a16:creationId xmlns:a16="http://schemas.microsoft.com/office/drawing/2014/main" id="{DCE1E016-29C3-1A24-11CC-23EFF4D237DB}"/>
              </a:ext>
            </a:extLst>
          </p:cNvPr>
          <p:cNvSpPr>
            <a:spLocks noGrp="1"/>
          </p:cNvSpPr>
          <p:nvPr>
            <p:ph type="body" sz="quarter" idx="30" hasCustomPrompt="1"/>
          </p:nvPr>
        </p:nvSpPr>
        <p:spPr>
          <a:xfrm>
            <a:off x="6957812" y="2542365"/>
            <a:ext cx="2067808"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56" name="Text Placeholder 3">
            <a:extLst>
              <a:ext uri="{FF2B5EF4-FFF2-40B4-BE49-F238E27FC236}">
                <a16:creationId xmlns:a16="http://schemas.microsoft.com/office/drawing/2014/main" id="{229B0AFB-C6DF-9071-5802-4312EE667147}"/>
              </a:ext>
            </a:extLst>
          </p:cNvPr>
          <p:cNvSpPr>
            <a:spLocks noGrp="1"/>
          </p:cNvSpPr>
          <p:nvPr>
            <p:ph type="body" sz="half" idx="31" hasCustomPrompt="1"/>
          </p:nvPr>
        </p:nvSpPr>
        <p:spPr>
          <a:xfrm>
            <a:off x="4667008" y="3049465"/>
            <a:ext cx="2060991" cy="1945037"/>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7" name="Picture Placeholder 2">
            <a:extLst>
              <a:ext uri="{FF2B5EF4-FFF2-40B4-BE49-F238E27FC236}">
                <a16:creationId xmlns:a16="http://schemas.microsoft.com/office/drawing/2014/main" id="{9C33848E-EDAC-21C4-B299-4E8DB20908A0}"/>
              </a:ext>
            </a:extLst>
          </p:cNvPr>
          <p:cNvSpPr>
            <a:spLocks noGrp="1"/>
          </p:cNvSpPr>
          <p:nvPr>
            <p:ph type="pic" idx="32"/>
          </p:nvPr>
        </p:nvSpPr>
        <p:spPr>
          <a:xfrm>
            <a:off x="5322039" y="156232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8" name="Text Placeholder 46">
            <a:extLst>
              <a:ext uri="{FF2B5EF4-FFF2-40B4-BE49-F238E27FC236}">
                <a16:creationId xmlns:a16="http://schemas.microsoft.com/office/drawing/2014/main" id="{39439A9D-D114-94FB-C283-C5EA49432754}"/>
              </a:ext>
            </a:extLst>
          </p:cNvPr>
          <p:cNvSpPr>
            <a:spLocks noGrp="1"/>
          </p:cNvSpPr>
          <p:nvPr>
            <p:ph type="body" sz="quarter" idx="33" hasCustomPrompt="1"/>
          </p:nvPr>
        </p:nvSpPr>
        <p:spPr>
          <a:xfrm>
            <a:off x="4678775" y="2542365"/>
            <a:ext cx="2060991" cy="401685"/>
          </a:xfrm>
        </p:spPr>
        <p:txBody>
          <a:bodyPr anchor="b">
            <a:noAutofit/>
          </a:bodyPr>
          <a:lstStyle>
            <a:lvl1pPr marL="0" indent="0" algn="ctr">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3" name="Slide Number Placeholder 5">
            <a:extLst>
              <a:ext uri="{FF2B5EF4-FFF2-40B4-BE49-F238E27FC236}">
                <a16:creationId xmlns:a16="http://schemas.microsoft.com/office/drawing/2014/main" id="{21EE47AB-6B82-FED1-0260-3728FC54B2CE}"/>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Tree>
    <p:extLst>
      <p:ext uri="{BB962C8B-B14F-4D97-AF65-F5344CB8AC3E}">
        <p14:creationId xmlns:p14="http://schemas.microsoft.com/office/powerpoint/2010/main" val="24970331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Vertical Icon, Header, Paragraph">
    <p:spTree>
      <p:nvGrpSpPr>
        <p:cNvPr id="1" name=""/>
        <p:cNvGrpSpPr/>
        <p:nvPr/>
      </p:nvGrpSpPr>
      <p:grpSpPr>
        <a:xfrm>
          <a:off x="0" y="0"/>
          <a:ext cx="0" cy="0"/>
          <a:chOff x="0" y="0"/>
          <a:chExt cx="0" cy="0"/>
        </a:xfrm>
      </p:grpSpPr>
      <p:sp>
        <p:nvSpPr>
          <p:cNvPr id="5" name="Date Placeholder 4"/>
          <p:cNvSpPr>
            <a:spLocks noGrp="1"/>
          </p:cNvSpPr>
          <p:nvPr>
            <p:ph type="dt" sz="half" idx="10"/>
          </p:nvPr>
        </p:nvSpPr>
        <p:spPr>
          <a:xfrm>
            <a:off x="430684" y="6194307"/>
            <a:ext cx="1767635" cy="365125"/>
          </a:xfrm>
          <a:prstGeom prst="rect">
            <a:avLst/>
          </a:prstGeom>
        </p:spPr>
        <p:txBody>
          <a:bodyPr/>
          <a:lstStyle/>
          <a:p>
            <a:endParaRPr lang="en-US"/>
          </a:p>
        </p:txBody>
      </p:sp>
      <p:sp>
        <p:nvSpPr>
          <p:cNvPr id="19" name="Text Placeholder 3">
            <a:extLst>
              <a:ext uri="{FF2B5EF4-FFF2-40B4-BE49-F238E27FC236}">
                <a16:creationId xmlns:a16="http://schemas.microsoft.com/office/drawing/2014/main" id="{CD776454-F822-27E5-495E-B1B439FB98B4}"/>
              </a:ext>
            </a:extLst>
          </p:cNvPr>
          <p:cNvSpPr>
            <a:spLocks noGrp="1"/>
          </p:cNvSpPr>
          <p:nvPr>
            <p:ph type="body" sz="half" idx="46" hasCustomPrompt="1"/>
          </p:nvPr>
        </p:nvSpPr>
        <p:spPr>
          <a:xfrm>
            <a:off x="2198324" y="1782650"/>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20" name="Picture Placeholder 2">
            <a:extLst>
              <a:ext uri="{FF2B5EF4-FFF2-40B4-BE49-F238E27FC236}">
                <a16:creationId xmlns:a16="http://schemas.microsoft.com/office/drawing/2014/main" id="{C70E8DBF-8CF9-AD55-6058-DDEA3F3DA977}"/>
              </a:ext>
            </a:extLst>
          </p:cNvPr>
          <p:cNvSpPr>
            <a:spLocks noGrp="1"/>
          </p:cNvSpPr>
          <p:nvPr>
            <p:ph type="pic" idx="47"/>
          </p:nvPr>
        </p:nvSpPr>
        <p:spPr>
          <a:xfrm>
            <a:off x="806168" y="1479116"/>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21" name="Text Placeholder 46">
            <a:extLst>
              <a:ext uri="{FF2B5EF4-FFF2-40B4-BE49-F238E27FC236}">
                <a16:creationId xmlns:a16="http://schemas.microsoft.com/office/drawing/2014/main" id="{3AF37FC5-E7EF-A937-9F8F-04EEEBDE8C70}"/>
              </a:ext>
            </a:extLst>
          </p:cNvPr>
          <p:cNvSpPr>
            <a:spLocks noGrp="1"/>
          </p:cNvSpPr>
          <p:nvPr>
            <p:ph type="body" sz="quarter" idx="48" hasCustomPrompt="1"/>
          </p:nvPr>
        </p:nvSpPr>
        <p:spPr>
          <a:xfrm>
            <a:off x="2198323" y="1476693"/>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25" name="Text Placeholder 3">
            <a:extLst>
              <a:ext uri="{FF2B5EF4-FFF2-40B4-BE49-F238E27FC236}">
                <a16:creationId xmlns:a16="http://schemas.microsoft.com/office/drawing/2014/main" id="{E854B770-8E26-7372-0BCA-3B8FD3B6F26E}"/>
              </a:ext>
            </a:extLst>
          </p:cNvPr>
          <p:cNvSpPr>
            <a:spLocks noGrp="1"/>
          </p:cNvSpPr>
          <p:nvPr>
            <p:ph type="body" sz="half" idx="49" hasCustomPrompt="1"/>
          </p:nvPr>
        </p:nvSpPr>
        <p:spPr>
          <a:xfrm>
            <a:off x="2198320" y="3071669"/>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26" name="Picture Placeholder 2">
            <a:extLst>
              <a:ext uri="{FF2B5EF4-FFF2-40B4-BE49-F238E27FC236}">
                <a16:creationId xmlns:a16="http://schemas.microsoft.com/office/drawing/2014/main" id="{7F62AA9A-8101-CDAB-FBB2-91F32CD1F007}"/>
              </a:ext>
            </a:extLst>
          </p:cNvPr>
          <p:cNvSpPr>
            <a:spLocks noGrp="1"/>
          </p:cNvSpPr>
          <p:nvPr>
            <p:ph type="pic" idx="50"/>
          </p:nvPr>
        </p:nvSpPr>
        <p:spPr>
          <a:xfrm>
            <a:off x="806164" y="2768135"/>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27" name="Text Placeholder 46">
            <a:extLst>
              <a:ext uri="{FF2B5EF4-FFF2-40B4-BE49-F238E27FC236}">
                <a16:creationId xmlns:a16="http://schemas.microsoft.com/office/drawing/2014/main" id="{BC623E66-66C5-7D73-F328-FD814996F935}"/>
              </a:ext>
            </a:extLst>
          </p:cNvPr>
          <p:cNvSpPr>
            <a:spLocks noGrp="1"/>
          </p:cNvSpPr>
          <p:nvPr>
            <p:ph type="body" sz="quarter" idx="51" hasCustomPrompt="1"/>
          </p:nvPr>
        </p:nvSpPr>
        <p:spPr>
          <a:xfrm>
            <a:off x="2198319" y="2765712"/>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28" name="Text Placeholder 3">
            <a:extLst>
              <a:ext uri="{FF2B5EF4-FFF2-40B4-BE49-F238E27FC236}">
                <a16:creationId xmlns:a16="http://schemas.microsoft.com/office/drawing/2014/main" id="{3D9FC10C-F672-4396-8B65-3FCE0397980D}"/>
              </a:ext>
            </a:extLst>
          </p:cNvPr>
          <p:cNvSpPr>
            <a:spLocks noGrp="1"/>
          </p:cNvSpPr>
          <p:nvPr>
            <p:ph type="body" sz="half" idx="52" hasCustomPrompt="1"/>
          </p:nvPr>
        </p:nvSpPr>
        <p:spPr>
          <a:xfrm>
            <a:off x="2198320" y="4303373"/>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2" name="Picture Placeholder 2">
            <a:extLst>
              <a:ext uri="{FF2B5EF4-FFF2-40B4-BE49-F238E27FC236}">
                <a16:creationId xmlns:a16="http://schemas.microsoft.com/office/drawing/2014/main" id="{6048C3C6-8B6D-D324-9B23-44ADB24D3EDB}"/>
              </a:ext>
            </a:extLst>
          </p:cNvPr>
          <p:cNvSpPr>
            <a:spLocks noGrp="1"/>
          </p:cNvSpPr>
          <p:nvPr>
            <p:ph type="pic" idx="53"/>
          </p:nvPr>
        </p:nvSpPr>
        <p:spPr>
          <a:xfrm>
            <a:off x="806164" y="399983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33" name="Text Placeholder 46">
            <a:extLst>
              <a:ext uri="{FF2B5EF4-FFF2-40B4-BE49-F238E27FC236}">
                <a16:creationId xmlns:a16="http://schemas.microsoft.com/office/drawing/2014/main" id="{1A423B92-3003-EB7B-8224-CDC6CC583E05}"/>
              </a:ext>
            </a:extLst>
          </p:cNvPr>
          <p:cNvSpPr>
            <a:spLocks noGrp="1"/>
          </p:cNvSpPr>
          <p:nvPr>
            <p:ph type="body" sz="quarter" idx="54" hasCustomPrompt="1"/>
          </p:nvPr>
        </p:nvSpPr>
        <p:spPr>
          <a:xfrm>
            <a:off x="2198319" y="3997416"/>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34" name="Text Placeholder 3">
            <a:extLst>
              <a:ext uri="{FF2B5EF4-FFF2-40B4-BE49-F238E27FC236}">
                <a16:creationId xmlns:a16="http://schemas.microsoft.com/office/drawing/2014/main" id="{5701D792-E166-C841-C179-799E4DE7D319}"/>
              </a:ext>
            </a:extLst>
          </p:cNvPr>
          <p:cNvSpPr>
            <a:spLocks noGrp="1"/>
          </p:cNvSpPr>
          <p:nvPr>
            <p:ph type="body" sz="half" idx="55" hasCustomPrompt="1"/>
          </p:nvPr>
        </p:nvSpPr>
        <p:spPr>
          <a:xfrm>
            <a:off x="2198319" y="5477528"/>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5" name="Picture Placeholder 2">
            <a:extLst>
              <a:ext uri="{FF2B5EF4-FFF2-40B4-BE49-F238E27FC236}">
                <a16:creationId xmlns:a16="http://schemas.microsoft.com/office/drawing/2014/main" id="{32DB5A55-84BE-7EBA-28DB-ECBCDA39C6BB}"/>
              </a:ext>
            </a:extLst>
          </p:cNvPr>
          <p:cNvSpPr>
            <a:spLocks noGrp="1"/>
          </p:cNvSpPr>
          <p:nvPr>
            <p:ph type="pic" idx="56"/>
          </p:nvPr>
        </p:nvSpPr>
        <p:spPr>
          <a:xfrm>
            <a:off x="806163" y="5173994"/>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36" name="Text Placeholder 46">
            <a:extLst>
              <a:ext uri="{FF2B5EF4-FFF2-40B4-BE49-F238E27FC236}">
                <a16:creationId xmlns:a16="http://schemas.microsoft.com/office/drawing/2014/main" id="{B807B365-A0AB-BDD4-2239-2A61889BA748}"/>
              </a:ext>
            </a:extLst>
          </p:cNvPr>
          <p:cNvSpPr>
            <a:spLocks noGrp="1"/>
          </p:cNvSpPr>
          <p:nvPr>
            <p:ph type="body" sz="quarter" idx="57" hasCustomPrompt="1"/>
          </p:nvPr>
        </p:nvSpPr>
        <p:spPr>
          <a:xfrm>
            <a:off x="2198318" y="5171571"/>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3" name="Slide Number Placeholder 5">
            <a:extLst>
              <a:ext uri="{FF2B5EF4-FFF2-40B4-BE49-F238E27FC236}">
                <a16:creationId xmlns:a16="http://schemas.microsoft.com/office/drawing/2014/main" id="{5FDD1BF8-4A79-C2CA-3873-DCBADD28D9F1}"/>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6" name="Title Placeholder 1">
            <a:extLst>
              <a:ext uri="{FF2B5EF4-FFF2-40B4-BE49-F238E27FC236}">
                <a16:creationId xmlns:a16="http://schemas.microsoft.com/office/drawing/2014/main" id="{B3F21E9F-C1BE-67DC-4A78-D0B7BF54FA1C}"/>
              </a:ext>
            </a:extLst>
          </p:cNvPr>
          <p:cNvSpPr>
            <a:spLocks noGrp="1"/>
          </p:cNvSpPr>
          <p:nvPr>
            <p:ph type="title" hasCustomPrompt="1"/>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21421040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ertical Icon, Header, Paragraph">
    <p:spTree>
      <p:nvGrpSpPr>
        <p:cNvPr id="1" name=""/>
        <p:cNvGrpSpPr/>
        <p:nvPr/>
      </p:nvGrpSpPr>
      <p:grpSpPr>
        <a:xfrm>
          <a:off x="0" y="0"/>
          <a:ext cx="0" cy="0"/>
          <a:chOff x="0" y="0"/>
          <a:chExt cx="0" cy="0"/>
        </a:xfrm>
      </p:grpSpPr>
      <p:sp>
        <p:nvSpPr>
          <p:cNvPr id="5" name="Date Placeholder 4"/>
          <p:cNvSpPr>
            <a:spLocks noGrp="1"/>
          </p:cNvSpPr>
          <p:nvPr>
            <p:ph type="dt" sz="half" idx="10"/>
          </p:nvPr>
        </p:nvSpPr>
        <p:spPr>
          <a:xfrm>
            <a:off x="430684" y="6194307"/>
            <a:ext cx="1767635" cy="365125"/>
          </a:xfrm>
          <a:prstGeom prst="rect">
            <a:avLst/>
          </a:prstGeom>
        </p:spPr>
        <p:txBody>
          <a:bodyPr/>
          <a:lstStyle/>
          <a:p>
            <a:endParaRPr lang="en-US"/>
          </a:p>
        </p:txBody>
      </p:sp>
      <p:sp>
        <p:nvSpPr>
          <p:cNvPr id="50" name="Text Placeholder 3">
            <a:extLst>
              <a:ext uri="{FF2B5EF4-FFF2-40B4-BE49-F238E27FC236}">
                <a16:creationId xmlns:a16="http://schemas.microsoft.com/office/drawing/2014/main" id="{71D14930-D851-D891-E7D3-79548C39A4D3}"/>
              </a:ext>
            </a:extLst>
          </p:cNvPr>
          <p:cNvSpPr>
            <a:spLocks noGrp="1"/>
          </p:cNvSpPr>
          <p:nvPr>
            <p:ph type="body" sz="half" idx="25" hasCustomPrompt="1"/>
          </p:nvPr>
        </p:nvSpPr>
        <p:spPr>
          <a:xfrm>
            <a:off x="2198324" y="1475230"/>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51" name="Picture Placeholder 2">
            <a:extLst>
              <a:ext uri="{FF2B5EF4-FFF2-40B4-BE49-F238E27FC236}">
                <a16:creationId xmlns:a16="http://schemas.microsoft.com/office/drawing/2014/main" id="{BECEF398-E952-E3AC-9196-98E02A90A124}"/>
              </a:ext>
            </a:extLst>
          </p:cNvPr>
          <p:cNvSpPr>
            <a:spLocks noGrp="1"/>
          </p:cNvSpPr>
          <p:nvPr>
            <p:ph type="pic" idx="26"/>
          </p:nvPr>
        </p:nvSpPr>
        <p:spPr>
          <a:xfrm>
            <a:off x="806168" y="1171696"/>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52" name="Text Placeholder 46">
            <a:extLst>
              <a:ext uri="{FF2B5EF4-FFF2-40B4-BE49-F238E27FC236}">
                <a16:creationId xmlns:a16="http://schemas.microsoft.com/office/drawing/2014/main" id="{2C11D761-D375-77DB-8DCF-3B9B17FDB572}"/>
              </a:ext>
            </a:extLst>
          </p:cNvPr>
          <p:cNvSpPr>
            <a:spLocks noGrp="1"/>
          </p:cNvSpPr>
          <p:nvPr>
            <p:ph type="body" sz="quarter" idx="27" hasCustomPrompt="1"/>
          </p:nvPr>
        </p:nvSpPr>
        <p:spPr>
          <a:xfrm>
            <a:off x="2198323" y="1169273"/>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16" name="Text Placeholder 3">
            <a:extLst>
              <a:ext uri="{FF2B5EF4-FFF2-40B4-BE49-F238E27FC236}">
                <a16:creationId xmlns:a16="http://schemas.microsoft.com/office/drawing/2014/main" id="{CCFDF1B0-BB19-1E8D-6377-A340AAE63361}"/>
              </a:ext>
            </a:extLst>
          </p:cNvPr>
          <p:cNvSpPr>
            <a:spLocks noGrp="1"/>
          </p:cNvSpPr>
          <p:nvPr>
            <p:ph type="body" sz="half" idx="37" hasCustomPrompt="1"/>
          </p:nvPr>
        </p:nvSpPr>
        <p:spPr>
          <a:xfrm>
            <a:off x="2198320" y="2764249"/>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17" name="Picture Placeholder 2">
            <a:extLst>
              <a:ext uri="{FF2B5EF4-FFF2-40B4-BE49-F238E27FC236}">
                <a16:creationId xmlns:a16="http://schemas.microsoft.com/office/drawing/2014/main" id="{D67CA144-FB95-18F9-6464-FD6EB6197D39}"/>
              </a:ext>
            </a:extLst>
          </p:cNvPr>
          <p:cNvSpPr>
            <a:spLocks noGrp="1"/>
          </p:cNvSpPr>
          <p:nvPr>
            <p:ph type="pic" idx="38"/>
          </p:nvPr>
        </p:nvSpPr>
        <p:spPr>
          <a:xfrm>
            <a:off x="806164" y="2460715"/>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18" name="Text Placeholder 46">
            <a:extLst>
              <a:ext uri="{FF2B5EF4-FFF2-40B4-BE49-F238E27FC236}">
                <a16:creationId xmlns:a16="http://schemas.microsoft.com/office/drawing/2014/main" id="{A572D5D1-F1AC-228D-A2F1-1497AB1F1E08}"/>
              </a:ext>
            </a:extLst>
          </p:cNvPr>
          <p:cNvSpPr>
            <a:spLocks noGrp="1"/>
          </p:cNvSpPr>
          <p:nvPr>
            <p:ph type="body" sz="quarter" idx="39" hasCustomPrompt="1"/>
          </p:nvPr>
        </p:nvSpPr>
        <p:spPr>
          <a:xfrm>
            <a:off x="2198319" y="2458292"/>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22" name="Text Placeholder 3">
            <a:extLst>
              <a:ext uri="{FF2B5EF4-FFF2-40B4-BE49-F238E27FC236}">
                <a16:creationId xmlns:a16="http://schemas.microsoft.com/office/drawing/2014/main" id="{DC69541D-9AEE-0DEC-F5BC-971E5BBB002F}"/>
              </a:ext>
            </a:extLst>
          </p:cNvPr>
          <p:cNvSpPr>
            <a:spLocks noGrp="1"/>
          </p:cNvSpPr>
          <p:nvPr>
            <p:ph type="body" sz="half" idx="40" hasCustomPrompt="1"/>
          </p:nvPr>
        </p:nvSpPr>
        <p:spPr>
          <a:xfrm>
            <a:off x="2198320" y="3995953"/>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23" name="Picture Placeholder 2">
            <a:extLst>
              <a:ext uri="{FF2B5EF4-FFF2-40B4-BE49-F238E27FC236}">
                <a16:creationId xmlns:a16="http://schemas.microsoft.com/office/drawing/2014/main" id="{41830E6C-BF78-7E92-6985-60790B2B8AF4}"/>
              </a:ext>
            </a:extLst>
          </p:cNvPr>
          <p:cNvSpPr>
            <a:spLocks noGrp="1"/>
          </p:cNvSpPr>
          <p:nvPr>
            <p:ph type="pic" idx="41"/>
          </p:nvPr>
        </p:nvSpPr>
        <p:spPr>
          <a:xfrm>
            <a:off x="806164" y="3692419"/>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24" name="Text Placeholder 46">
            <a:extLst>
              <a:ext uri="{FF2B5EF4-FFF2-40B4-BE49-F238E27FC236}">
                <a16:creationId xmlns:a16="http://schemas.microsoft.com/office/drawing/2014/main" id="{E9B08C83-DA0F-FF63-1FC1-BE2ED2C21389}"/>
              </a:ext>
            </a:extLst>
          </p:cNvPr>
          <p:cNvSpPr>
            <a:spLocks noGrp="1"/>
          </p:cNvSpPr>
          <p:nvPr>
            <p:ph type="body" sz="quarter" idx="42" hasCustomPrompt="1"/>
          </p:nvPr>
        </p:nvSpPr>
        <p:spPr>
          <a:xfrm>
            <a:off x="2198319" y="3689996"/>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29" name="Text Placeholder 3">
            <a:extLst>
              <a:ext uri="{FF2B5EF4-FFF2-40B4-BE49-F238E27FC236}">
                <a16:creationId xmlns:a16="http://schemas.microsoft.com/office/drawing/2014/main" id="{0EAD512F-47FE-9064-744B-C545D9F4C276}"/>
              </a:ext>
            </a:extLst>
          </p:cNvPr>
          <p:cNvSpPr>
            <a:spLocks noGrp="1"/>
          </p:cNvSpPr>
          <p:nvPr>
            <p:ph type="body" sz="half" idx="43" hasCustomPrompt="1"/>
          </p:nvPr>
        </p:nvSpPr>
        <p:spPr>
          <a:xfrm>
            <a:off x="2198319" y="5170108"/>
            <a:ext cx="6042865" cy="509043"/>
          </a:xfrm>
        </p:spPr>
        <p:txBody>
          <a:bodyPr>
            <a:normAutofit/>
          </a:bodyPr>
          <a:lstStyle>
            <a:lvl1pPr marL="0" indent="0" algn="l">
              <a:buNone/>
              <a:defRPr sz="1150" b="0">
                <a:solidFill>
                  <a:schemeClr val="tx2"/>
                </a:solidFill>
              </a:defRPr>
            </a:lvl1pPr>
            <a:lvl2pPr marL="342875" indent="0">
              <a:buNone/>
              <a:defRPr sz="1050"/>
            </a:lvl2pPr>
            <a:lvl3pPr marL="685749" indent="0">
              <a:buNone/>
              <a:defRPr sz="900"/>
            </a:lvl3pPr>
            <a:lvl4pPr marL="1028624" indent="0">
              <a:buNone/>
              <a:defRPr sz="750"/>
            </a:lvl4pPr>
            <a:lvl5pPr marL="1371498" indent="0">
              <a:buNone/>
              <a:defRPr sz="750"/>
            </a:lvl5pPr>
            <a:lvl6pPr marL="1714373" indent="0">
              <a:buNone/>
              <a:defRPr sz="750"/>
            </a:lvl6pPr>
            <a:lvl7pPr marL="2057246" indent="0">
              <a:buNone/>
              <a:defRPr sz="750"/>
            </a:lvl7pPr>
            <a:lvl8pPr marL="2400120" indent="0">
              <a:buNone/>
              <a:defRPr sz="750"/>
            </a:lvl8pPr>
            <a:lvl9pPr marL="2742995" indent="0">
              <a:buNone/>
              <a:defRPr sz="750"/>
            </a:lvl9pPr>
          </a:lstStyle>
          <a:p>
            <a:pPr lvl="0"/>
            <a:r>
              <a:rPr lang="en-US"/>
              <a:t>Edit text</a:t>
            </a:r>
          </a:p>
        </p:txBody>
      </p:sp>
      <p:sp>
        <p:nvSpPr>
          <p:cNvPr id="30" name="Picture Placeholder 2">
            <a:extLst>
              <a:ext uri="{FF2B5EF4-FFF2-40B4-BE49-F238E27FC236}">
                <a16:creationId xmlns:a16="http://schemas.microsoft.com/office/drawing/2014/main" id="{4050FC99-A2B8-EE0A-DB93-7495EB450551}"/>
              </a:ext>
            </a:extLst>
          </p:cNvPr>
          <p:cNvSpPr>
            <a:spLocks noGrp="1"/>
          </p:cNvSpPr>
          <p:nvPr>
            <p:ph type="pic" idx="44"/>
          </p:nvPr>
        </p:nvSpPr>
        <p:spPr>
          <a:xfrm>
            <a:off x="806163" y="4866574"/>
            <a:ext cx="774462" cy="815363"/>
          </a:xfrm>
        </p:spPr>
        <p:txBody>
          <a:bodyPr>
            <a:normAutofit/>
          </a:bodyPr>
          <a:lstStyle>
            <a:lvl1pPr marL="0" indent="0">
              <a:buNone/>
              <a:defRPr sz="1200"/>
            </a:lvl1pPr>
            <a:lvl2pPr marL="342875" indent="0">
              <a:buNone/>
              <a:defRPr sz="2100"/>
            </a:lvl2pPr>
            <a:lvl3pPr marL="685749" indent="0">
              <a:buNone/>
              <a:defRPr sz="1800"/>
            </a:lvl3pPr>
            <a:lvl4pPr marL="1028624" indent="0">
              <a:buNone/>
              <a:defRPr sz="1500"/>
            </a:lvl4pPr>
            <a:lvl5pPr marL="1371498" indent="0">
              <a:buNone/>
              <a:defRPr sz="1500"/>
            </a:lvl5pPr>
            <a:lvl6pPr marL="1714373" indent="0">
              <a:buNone/>
              <a:defRPr sz="1500"/>
            </a:lvl6pPr>
            <a:lvl7pPr marL="2057246" indent="0">
              <a:buNone/>
              <a:defRPr sz="1500"/>
            </a:lvl7pPr>
            <a:lvl8pPr marL="2400120" indent="0">
              <a:buNone/>
              <a:defRPr sz="1500"/>
            </a:lvl8pPr>
            <a:lvl9pPr marL="2742995" indent="0">
              <a:buNone/>
              <a:defRPr sz="1500"/>
            </a:lvl9pPr>
          </a:lstStyle>
          <a:p>
            <a:r>
              <a:rPr lang="en-US"/>
              <a:t>Click icon to add picture</a:t>
            </a:r>
          </a:p>
        </p:txBody>
      </p:sp>
      <p:sp>
        <p:nvSpPr>
          <p:cNvPr id="31" name="Text Placeholder 46">
            <a:extLst>
              <a:ext uri="{FF2B5EF4-FFF2-40B4-BE49-F238E27FC236}">
                <a16:creationId xmlns:a16="http://schemas.microsoft.com/office/drawing/2014/main" id="{AC8CDFF0-63C0-1681-F2BA-96C3A736CC51}"/>
              </a:ext>
            </a:extLst>
          </p:cNvPr>
          <p:cNvSpPr>
            <a:spLocks noGrp="1"/>
          </p:cNvSpPr>
          <p:nvPr>
            <p:ph type="body" sz="quarter" idx="45" hasCustomPrompt="1"/>
          </p:nvPr>
        </p:nvSpPr>
        <p:spPr>
          <a:xfrm>
            <a:off x="2198318" y="4864151"/>
            <a:ext cx="6042866" cy="295344"/>
          </a:xfrm>
        </p:spPr>
        <p:txBody>
          <a:bodyPr anchor="b">
            <a:noAutofit/>
          </a:bodyPr>
          <a:lstStyle>
            <a:lvl1pPr marL="0" indent="0" algn="l">
              <a:buNone/>
              <a:defRPr sz="1600" b="1" u="sng">
                <a:solidFill>
                  <a:srgbClr val="C00000"/>
                </a:solidFill>
              </a:defRPr>
            </a:lvl1pPr>
            <a:lvl2pPr>
              <a:defRPr sz="1500" b="1"/>
            </a:lvl2pPr>
            <a:lvl3pPr>
              <a:defRPr sz="1500" b="1"/>
            </a:lvl3pPr>
            <a:lvl4pPr>
              <a:defRPr sz="1500" b="1"/>
            </a:lvl4pPr>
            <a:lvl5pPr>
              <a:defRPr sz="1500" b="1"/>
            </a:lvl5pPr>
          </a:lstStyle>
          <a:p>
            <a:pPr lvl="0"/>
            <a:r>
              <a:rPr lang="en-US"/>
              <a:t>Click to edit title</a:t>
            </a:r>
          </a:p>
        </p:txBody>
      </p:sp>
      <p:sp>
        <p:nvSpPr>
          <p:cNvPr id="3" name="Slide Number Placeholder 5">
            <a:extLst>
              <a:ext uri="{FF2B5EF4-FFF2-40B4-BE49-F238E27FC236}">
                <a16:creationId xmlns:a16="http://schemas.microsoft.com/office/drawing/2014/main" id="{916CC5E4-A9D4-E359-9980-E38077562256}"/>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Tree>
    <p:extLst>
      <p:ext uri="{BB962C8B-B14F-4D97-AF65-F5344CB8AC3E}">
        <p14:creationId xmlns:p14="http://schemas.microsoft.com/office/powerpoint/2010/main" val="2007255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585748"/>
            <a:ext cx="7886700" cy="4446510"/>
          </a:xfrm>
          <a:prstGeom prst="rect">
            <a:avLst/>
          </a:prstGeom>
        </p:spPr>
        <p:txBody>
          <a:bodyPr vert="horz" lIns="91440" tIns="45720" rIns="91440" bIns="45720" rtlCol="0">
            <a:normAutofit/>
          </a:bodyPr>
          <a:lstStyle/>
          <a:p>
            <a:pPr lvl="0"/>
            <a:r>
              <a:rPr lang="en-US"/>
              <a:t>Edit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19100" y="6194307"/>
            <a:ext cx="1767635" cy="365125"/>
          </a:xfrm>
          <a:prstGeom prst="rect">
            <a:avLst/>
          </a:prstGeom>
        </p:spPr>
        <p:txBody>
          <a:bodyPr vert="horz" lIns="91440" tIns="45720" rIns="91440" bIns="45720" rtlCol="0" anchor="ctr"/>
          <a:lstStyle>
            <a:lvl1pPr algn="l">
              <a:defRPr sz="900">
                <a:solidFill>
                  <a:schemeClr val="tx1">
                    <a:tint val="75000"/>
                  </a:schemeClr>
                </a:solidFill>
                <a:latin typeface="Source Sans Pro" charset="0"/>
                <a:ea typeface="Source Sans Pro" charset="0"/>
                <a:cs typeface="Source Sans Pro" charset="0"/>
              </a:defRPr>
            </a:lvl1pPr>
          </a:lstStyle>
          <a:p>
            <a:endParaRPr lang="en-US"/>
          </a:p>
        </p:txBody>
      </p:sp>
      <p:pic>
        <p:nvPicPr>
          <p:cNvPr id="32" name="Picture 31"/>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109997" y="6512421"/>
            <a:ext cx="332145" cy="253885"/>
          </a:xfrm>
          <a:prstGeom prst="rect">
            <a:avLst/>
          </a:prstGeom>
        </p:spPr>
      </p:pic>
      <p:grpSp>
        <p:nvGrpSpPr>
          <p:cNvPr id="14" name="Group 13">
            <a:extLst>
              <a:ext uri="{FF2B5EF4-FFF2-40B4-BE49-F238E27FC236}">
                <a16:creationId xmlns:a16="http://schemas.microsoft.com/office/drawing/2014/main" id="{C91B8C4C-C45F-4FE0-B059-B75F1119F37E}"/>
              </a:ext>
            </a:extLst>
          </p:cNvPr>
          <p:cNvGrpSpPr/>
          <p:nvPr userDrawn="1"/>
        </p:nvGrpSpPr>
        <p:grpSpPr>
          <a:xfrm>
            <a:off x="96552" y="84029"/>
            <a:ext cx="8950896" cy="329742"/>
            <a:chOff x="157803" y="-1075245"/>
            <a:chExt cx="8950896" cy="329742"/>
          </a:xfrm>
        </p:grpSpPr>
        <p:sp>
          <p:nvSpPr>
            <p:cNvPr id="15" name="Rectangle 14">
              <a:extLst>
                <a:ext uri="{FF2B5EF4-FFF2-40B4-BE49-F238E27FC236}">
                  <a16:creationId xmlns:a16="http://schemas.microsoft.com/office/drawing/2014/main" id="{CF2E5174-F321-4ED7-971F-BD816C91EF90}"/>
                </a:ext>
              </a:extLst>
            </p:cNvPr>
            <p:cNvSpPr/>
            <p:nvPr userDrawn="1"/>
          </p:nvSpPr>
          <p:spPr>
            <a:xfrm rot="5400000">
              <a:off x="4506856" y="-5424296"/>
              <a:ext cx="126396" cy="8824500"/>
            </a:xfrm>
            <a:prstGeom prst="rect">
              <a:avLst/>
            </a:prstGeom>
            <a:solidFill>
              <a:srgbClr val="003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noFill/>
                </a:ln>
              </a:endParaRPr>
            </a:p>
          </p:txBody>
        </p:sp>
        <p:sp>
          <p:nvSpPr>
            <p:cNvPr id="16" name="Rectangle 15">
              <a:extLst>
                <a:ext uri="{FF2B5EF4-FFF2-40B4-BE49-F238E27FC236}">
                  <a16:creationId xmlns:a16="http://schemas.microsoft.com/office/drawing/2014/main" id="{BA51180D-101C-43CD-B9C5-6A912EDB4DF9}"/>
                </a:ext>
              </a:extLst>
            </p:cNvPr>
            <p:cNvSpPr/>
            <p:nvPr userDrawn="1"/>
          </p:nvSpPr>
          <p:spPr>
            <a:xfrm>
              <a:off x="8982303" y="-1075245"/>
              <a:ext cx="126396" cy="329742"/>
            </a:xfrm>
            <a:prstGeom prst="rect">
              <a:avLst/>
            </a:prstGeom>
            <a:solidFill>
              <a:srgbClr val="003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ndParaRPr>
            </a:p>
          </p:txBody>
        </p:sp>
        <p:sp>
          <p:nvSpPr>
            <p:cNvPr id="18" name="Rectangle 17">
              <a:extLst>
                <a:ext uri="{FF2B5EF4-FFF2-40B4-BE49-F238E27FC236}">
                  <a16:creationId xmlns:a16="http://schemas.microsoft.com/office/drawing/2014/main" id="{B753F74E-0A31-428C-86F1-15F22093C762}"/>
                </a:ext>
              </a:extLst>
            </p:cNvPr>
            <p:cNvSpPr/>
            <p:nvPr userDrawn="1"/>
          </p:nvSpPr>
          <p:spPr>
            <a:xfrm>
              <a:off x="157803" y="-1075245"/>
              <a:ext cx="126396" cy="329742"/>
            </a:xfrm>
            <a:prstGeom prst="rect">
              <a:avLst/>
            </a:prstGeom>
            <a:solidFill>
              <a:srgbClr val="003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ndParaRPr>
            </a:p>
          </p:txBody>
        </p:sp>
      </p:grpSp>
      <p:sp>
        <p:nvSpPr>
          <p:cNvPr id="7" name="Rectangle 6">
            <a:extLst>
              <a:ext uri="{FF2B5EF4-FFF2-40B4-BE49-F238E27FC236}">
                <a16:creationId xmlns:a16="http://schemas.microsoft.com/office/drawing/2014/main" id="{A5527684-ED51-4D9E-8D68-CB08E0A7EB8E}"/>
              </a:ext>
            </a:extLst>
          </p:cNvPr>
          <p:cNvSpPr/>
          <p:nvPr userDrawn="1"/>
        </p:nvSpPr>
        <p:spPr>
          <a:xfrm rot="5400000">
            <a:off x="4651327" y="2502552"/>
            <a:ext cx="126396" cy="8413052"/>
          </a:xfrm>
          <a:prstGeom prst="rect">
            <a:avLst/>
          </a:prstGeom>
          <a:solidFill>
            <a:srgbClr val="CC35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noFill/>
              </a:ln>
            </a:endParaRPr>
          </a:p>
        </p:txBody>
      </p:sp>
      <p:sp>
        <p:nvSpPr>
          <p:cNvPr id="10" name="Rectangle 30">
            <a:extLst>
              <a:ext uri="{FF2B5EF4-FFF2-40B4-BE49-F238E27FC236}">
                <a16:creationId xmlns:a16="http://schemas.microsoft.com/office/drawing/2014/main" id="{04A2463E-B36B-4DCD-A491-95778B6D1BC9}"/>
              </a:ext>
            </a:extLst>
          </p:cNvPr>
          <p:cNvSpPr/>
          <p:nvPr userDrawn="1"/>
        </p:nvSpPr>
        <p:spPr>
          <a:xfrm>
            <a:off x="8921052" y="6328188"/>
            <a:ext cx="126396" cy="445733"/>
          </a:xfrm>
          <a:custGeom>
            <a:avLst/>
            <a:gdLst>
              <a:gd name="connsiteX0" fmla="*/ 0 w 126396"/>
              <a:gd name="connsiteY0" fmla="*/ 0 h 445733"/>
              <a:gd name="connsiteX1" fmla="*/ 126396 w 126396"/>
              <a:gd name="connsiteY1" fmla="*/ 0 h 445733"/>
              <a:gd name="connsiteX2" fmla="*/ 126396 w 126396"/>
              <a:gd name="connsiteY2" fmla="*/ 445733 h 445733"/>
              <a:gd name="connsiteX3" fmla="*/ 0 w 126396"/>
              <a:gd name="connsiteY3" fmla="*/ 445733 h 445733"/>
              <a:gd name="connsiteX4" fmla="*/ 0 w 126396"/>
              <a:gd name="connsiteY4" fmla="*/ 0 h 445733"/>
              <a:gd name="connsiteX0" fmla="*/ 0 w 126396"/>
              <a:gd name="connsiteY0" fmla="*/ 0 h 445733"/>
              <a:gd name="connsiteX1" fmla="*/ 126396 w 126396"/>
              <a:gd name="connsiteY1" fmla="*/ 0 h 445733"/>
              <a:gd name="connsiteX2" fmla="*/ 123221 w 126396"/>
              <a:gd name="connsiteY2" fmla="*/ 325083 h 445733"/>
              <a:gd name="connsiteX3" fmla="*/ 0 w 126396"/>
              <a:gd name="connsiteY3" fmla="*/ 445733 h 445733"/>
              <a:gd name="connsiteX4" fmla="*/ 0 w 126396"/>
              <a:gd name="connsiteY4" fmla="*/ 0 h 4457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396" h="445733">
                <a:moveTo>
                  <a:pt x="0" y="0"/>
                </a:moveTo>
                <a:lnTo>
                  <a:pt x="126396" y="0"/>
                </a:lnTo>
                <a:cubicBezTo>
                  <a:pt x="125338" y="108361"/>
                  <a:pt x="124279" y="216722"/>
                  <a:pt x="123221" y="325083"/>
                </a:cubicBezTo>
                <a:lnTo>
                  <a:pt x="0" y="445733"/>
                </a:lnTo>
                <a:lnTo>
                  <a:pt x="0" y="0"/>
                </a:lnTo>
                <a:close/>
              </a:path>
            </a:pathLst>
          </a:custGeom>
          <a:solidFill>
            <a:srgbClr val="003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ln>
                <a:noFill/>
              </a:ln>
            </a:endParaRPr>
          </a:p>
        </p:txBody>
      </p:sp>
      <p:pic>
        <p:nvPicPr>
          <p:cNvPr id="12" name="Picture 11" descr="Text&#10;&#10;Description automatically generated">
            <a:extLst>
              <a:ext uri="{FF2B5EF4-FFF2-40B4-BE49-F238E27FC236}">
                <a16:creationId xmlns:a16="http://schemas.microsoft.com/office/drawing/2014/main" id="{AB75ABB4-74E7-4A5E-BAEC-431A7FEC364F}"/>
              </a:ext>
            </a:extLst>
          </p:cNvPr>
          <p:cNvPicPr>
            <a:picLocks noChangeAspect="1"/>
          </p:cNvPicPr>
          <p:nvPr userDrawn="1"/>
        </p:nvPicPr>
        <p:blipFill>
          <a:blip r:embed="rId23"/>
          <a:stretch>
            <a:fillRect/>
          </a:stretch>
        </p:blipFill>
        <p:spPr>
          <a:xfrm>
            <a:off x="7730178" y="6265984"/>
            <a:ext cx="1124282" cy="302901"/>
          </a:xfrm>
          <a:prstGeom prst="rect">
            <a:avLst/>
          </a:prstGeom>
        </p:spPr>
      </p:pic>
      <p:pic>
        <p:nvPicPr>
          <p:cNvPr id="13" name="Picture 12">
            <a:extLst>
              <a:ext uri="{FF2B5EF4-FFF2-40B4-BE49-F238E27FC236}">
                <a16:creationId xmlns:a16="http://schemas.microsoft.com/office/drawing/2014/main" id="{E7AC5484-207D-4F8A-97E8-735626402B05}"/>
              </a:ext>
            </a:extLst>
          </p:cNvPr>
          <p:cNvPicPr>
            <a:picLocks noChangeAspect="1"/>
          </p:cNvPicPr>
          <p:nvPr userDrawn="1"/>
        </p:nvPicPr>
        <p:blipFill>
          <a:blip r:embed="rId24"/>
          <a:srcRect/>
          <a:stretch/>
        </p:blipFill>
        <p:spPr>
          <a:xfrm>
            <a:off x="7707923" y="150443"/>
            <a:ext cx="1267824" cy="613788"/>
          </a:xfrm>
          <a:prstGeom prst="rect">
            <a:avLst/>
          </a:prstGeom>
        </p:spPr>
      </p:pic>
      <p:sp>
        <p:nvSpPr>
          <p:cNvPr id="17" name="Slide Number Placeholder 5">
            <a:extLst>
              <a:ext uri="{FF2B5EF4-FFF2-40B4-BE49-F238E27FC236}">
                <a16:creationId xmlns:a16="http://schemas.microsoft.com/office/drawing/2014/main" id="{2C191F12-8E38-477B-810E-C1D1644BDFE8}"/>
              </a:ext>
            </a:extLst>
          </p:cNvPr>
          <p:cNvSpPr>
            <a:spLocks noGrp="1"/>
          </p:cNvSpPr>
          <p:nvPr>
            <p:ph type="sldNum" sz="quarter" idx="4"/>
          </p:nvPr>
        </p:nvSpPr>
        <p:spPr>
          <a:xfrm>
            <a:off x="4479355" y="6194307"/>
            <a:ext cx="470339" cy="365126"/>
          </a:xfrm>
          <a:prstGeom prst="rect">
            <a:avLst/>
          </a:prstGeom>
        </p:spPr>
        <p:txBody>
          <a:bodyPr anchor="ctr"/>
          <a:lstStyle>
            <a:lvl1pPr>
              <a:defRPr sz="900">
                <a:latin typeface="Source Sans Pro" panose="020B0503030403020204" pitchFamily="34" charset="0"/>
                <a:ea typeface="Source Sans Pro" panose="020B0503030403020204" pitchFamily="34" charset="0"/>
              </a:defRPr>
            </a:lvl1pPr>
          </a:lstStyle>
          <a:p>
            <a:fld id="{EF13FA6D-C8B2-4F7A-9B51-E7C42DF59B48}" type="slidenum">
              <a:rPr lang="en-US" smtClean="0"/>
              <a:pPr/>
              <a:t>‹#›</a:t>
            </a:fld>
            <a:endParaRPr lang="en-US" sz="900"/>
          </a:p>
        </p:txBody>
      </p:sp>
      <p:sp>
        <p:nvSpPr>
          <p:cNvPr id="11" name="Title Placeholder 1">
            <a:extLst>
              <a:ext uri="{FF2B5EF4-FFF2-40B4-BE49-F238E27FC236}">
                <a16:creationId xmlns:a16="http://schemas.microsoft.com/office/drawing/2014/main" id="{C22CF751-32DD-43B2-839D-9CE38DA3AEC0}"/>
              </a:ext>
            </a:extLst>
          </p:cNvPr>
          <p:cNvSpPr>
            <a:spLocks noGrp="1"/>
          </p:cNvSpPr>
          <p:nvPr>
            <p:ph type="title"/>
          </p:nvPr>
        </p:nvSpPr>
        <p:spPr>
          <a:xfrm>
            <a:off x="1191490" y="367026"/>
            <a:ext cx="6585322" cy="730202"/>
          </a:xfrm>
          <a:prstGeom prst="rect">
            <a:avLst/>
          </a:prstGeom>
        </p:spPr>
        <p:txBody>
          <a:bodyPr vert="horz" lIns="91440" tIns="45720" rIns="91440" bIns="45720" rtlCol="0" anchor="t">
            <a:normAutofit/>
          </a:bodyPr>
          <a:lstStyle/>
          <a:p>
            <a:r>
              <a:rPr lang="en-US"/>
              <a:t>Click to edit title</a:t>
            </a:r>
          </a:p>
        </p:txBody>
      </p:sp>
    </p:spTree>
    <p:extLst>
      <p:ext uri="{BB962C8B-B14F-4D97-AF65-F5344CB8AC3E}">
        <p14:creationId xmlns:p14="http://schemas.microsoft.com/office/powerpoint/2010/main" val="145296608"/>
      </p:ext>
    </p:extLst>
  </p:cSld>
  <p:clrMap bg1="lt1" tx1="dk1" bg2="lt2" tx2="dk2" accent1="accent1" accent2="accent2" accent3="accent3" accent4="accent4" accent5="accent5" accent6="accent6" hlink="hlink" folHlink="folHlink"/>
  <p:sldLayoutIdLst>
    <p:sldLayoutId id="2147483686" r:id="rId1"/>
    <p:sldLayoutId id="2147483717" r:id="rId2"/>
    <p:sldLayoutId id="2147483689" r:id="rId3"/>
    <p:sldLayoutId id="2147483690" r:id="rId4"/>
    <p:sldLayoutId id="2147483691" r:id="rId5"/>
    <p:sldLayoutId id="2147483692" r:id="rId6"/>
    <p:sldLayoutId id="2147483693" r:id="rId7"/>
    <p:sldLayoutId id="2147483694" r:id="rId8"/>
    <p:sldLayoutId id="2147483701" r:id="rId9"/>
    <p:sldLayoutId id="2147483715" r:id="rId10"/>
    <p:sldLayoutId id="2147483716" r:id="rId11"/>
    <p:sldLayoutId id="2147483697" r:id="rId12"/>
    <p:sldLayoutId id="2147483707" r:id="rId13"/>
    <p:sldLayoutId id="2147483711" r:id="rId14"/>
    <p:sldLayoutId id="2147483709" r:id="rId15"/>
    <p:sldLayoutId id="2147483712" r:id="rId16"/>
    <p:sldLayoutId id="2147483708" r:id="rId17"/>
    <p:sldLayoutId id="2147483713" r:id="rId18"/>
    <p:sldLayoutId id="2147483710" r:id="rId19"/>
    <p:sldLayoutId id="2147483714" r:id="rId20"/>
  </p:sldLayoutIdLst>
  <p:hf hdr="0" ftr="0" dt="0"/>
  <p:txStyles>
    <p:titleStyle>
      <a:lvl1pPr algn="ctr" defTabSz="685749" rtl="0" eaLnBrk="1" latinLnBrk="0" hangingPunct="1">
        <a:lnSpc>
          <a:spcPct val="90000"/>
        </a:lnSpc>
        <a:spcBef>
          <a:spcPct val="0"/>
        </a:spcBef>
        <a:buNone/>
        <a:defRPr sz="2700" b="1" i="0" kern="1200" spc="-75" baseline="0">
          <a:solidFill>
            <a:srgbClr val="003F80"/>
          </a:solidFill>
          <a:latin typeface="Source Sans Pro" charset="0"/>
          <a:ea typeface="Source Sans Pro" charset="0"/>
          <a:cs typeface="Source Sans Pro" charset="0"/>
        </a:defRPr>
      </a:lvl1pPr>
    </p:titleStyle>
    <p:bodyStyle>
      <a:lvl1pPr marL="171438" indent="-171438" algn="l" defTabSz="685749" rtl="0" eaLnBrk="1" latinLnBrk="0" hangingPunct="1">
        <a:lnSpc>
          <a:spcPct val="90000"/>
        </a:lnSpc>
        <a:spcBef>
          <a:spcPts val="750"/>
        </a:spcBef>
        <a:buFont typeface="Arial"/>
        <a:buChar char="•"/>
        <a:defRPr sz="2100" kern="1200">
          <a:solidFill>
            <a:schemeClr val="tx1"/>
          </a:solidFill>
          <a:latin typeface="Source Sans Pro" charset="0"/>
          <a:ea typeface="Source Sans Pro" charset="0"/>
          <a:cs typeface="Source Sans Pro" charset="0"/>
        </a:defRPr>
      </a:lvl1pPr>
      <a:lvl2pPr marL="514313" indent="-171438" algn="l" defTabSz="685749" rtl="0" eaLnBrk="1" latinLnBrk="0" hangingPunct="1">
        <a:lnSpc>
          <a:spcPct val="90000"/>
        </a:lnSpc>
        <a:spcBef>
          <a:spcPts val="375"/>
        </a:spcBef>
        <a:buFont typeface="Arial"/>
        <a:buChar char="•"/>
        <a:defRPr sz="1800" kern="1200">
          <a:solidFill>
            <a:schemeClr val="tx1"/>
          </a:solidFill>
          <a:latin typeface="Source Sans Pro" charset="0"/>
          <a:ea typeface="Source Sans Pro" charset="0"/>
          <a:cs typeface="Source Sans Pro" charset="0"/>
        </a:defRPr>
      </a:lvl2pPr>
      <a:lvl3pPr marL="857186" indent="-171438" algn="l" defTabSz="685749" rtl="0" eaLnBrk="1" latinLnBrk="0" hangingPunct="1">
        <a:lnSpc>
          <a:spcPct val="90000"/>
        </a:lnSpc>
        <a:spcBef>
          <a:spcPts val="375"/>
        </a:spcBef>
        <a:buFont typeface="Arial"/>
        <a:buChar char="•"/>
        <a:defRPr sz="1500" kern="1200">
          <a:solidFill>
            <a:schemeClr val="tx1"/>
          </a:solidFill>
          <a:latin typeface="Source Sans Pro" charset="0"/>
          <a:ea typeface="Source Sans Pro" charset="0"/>
          <a:cs typeface="Source Sans Pro" charset="0"/>
        </a:defRPr>
      </a:lvl3pPr>
      <a:lvl4pPr marL="1200060"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4pPr>
      <a:lvl5pPr marL="1542935"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5pPr>
      <a:lvl6pPr marL="1885809"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684"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558"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433"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9pPr>
    </p:bodyStyle>
    <p:otherStyle>
      <a:defPPr>
        <a:defRPr lang="en-US"/>
      </a:defPPr>
      <a:lvl1pPr marL="0" algn="l" defTabSz="685749" rtl="0" eaLnBrk="1" latinLnBrk="0" hangingPunct="1">
        <a:defRPr sz="1350" kern="1200">
          <a:solidFill>
            <a:schemeClr val="tx1"/>
          </a:solidFill>
          <a:latin typeface="+mn-lt"/>
          <a:ea typeface="+mn-ea"/>
          <a:cs typeface="+mn-cs"/>
        </a:defRPr>
      </a:lvl1pPr>
      <a:lvl2pPr marL="342875" algn="l" defTabSz="685749" rtl="0" eaLnBrk="1" latinLnBrk="0" hangingPunct="1">
        <a:defRPr sz="1350" kern="1200">
          <a:solidFill>
            <a:schemeClr val="tx1"/>
          </a:solidFill>
          <a:latin typeface="+mn-lt"/>
          <a:ea typeface="+mn-ea"/>
          <a:cs typeface="+mn-cs"/>
        </a:defRPr>
      </a:lvl2pPr>
      <a:lvl3pPr marL="685749" algn="l" defTabSz="685749" rtl="0" eaLnBrk="1" latinLnBrk="0" hangingPunct="1">
        <a:defRPr sz="1350" kern="1200">
          <a:solidFill>
            <a:schemeClr val="tx1"/>
          </a:solidFill>
          <a:latin typeface="+mn-lt"/>
          <a:ea typeface="+mn-ea"/>
          <a:cs typeface="+mn-cs"/>
        </a:defRPr>
      </a:lvl3pPr>
      <a:lvl4pPr marL="1028624" algn="l" defTabSz="685749" rtl="0" eaLnBrk="1" latinLnBrk="0" hangingPunct="1">
        <a:defRPr sz="1350" kern="1200">
          <a:solidFill>
            <a:schemeClr val="tx1"/>
          </a:solidFill>
          <a:latin typeface="+mn-lt"/>
          <a:ea typeface="+mn-ea"/>
          <a:cs typeface="+mn-cs"/>
        </a:defRPr>
      </a:lvl4pPr>
      <a:lvl5pPr marL="1371498" algn="l" defTabSz="685749" rtl="0" eaLnBrk="1" latinLnBrk="0" hangingPunct="1">
        <a:defRPr sz="1350" kern="1200">
          <a:solidFill>
            <a:schemeClr val="tx1"/>
          </a:solidFill>
          <a:latin typeface="+mn-lt"/>
          <a:ea typeface="+mn-ea"/>
          <a:cs typeface="+mn-cs"/>
        </a:defRPr>
      </a:lvl5pPr>
      <a:lvl6pPr marL="1714373" algn="l" defTabSz="685749" rtl="0" eaLnBrk="1" latinLnBrk="0" hangingPunct="1">
        <a:defRPr sz="1350" kern="1200">
          <a:solidFill>
            <a:schemeClr val="tx1"/>
          </a:solidFill>
          <a:latin typeface="+mn-lt"/>
          <a:ea typeface="+mn-ea"/>
          <a:cs typeface="+mn-cs"/>
        </a:defRPr>
      </a:lvl6pPr>
      <a:lvl7pPr marL="2057246" algn="l" defTabSz="685749" rtl="0" eaLnBrk="1" latinLnBrk="0" hangingPunct="1">
        <a:defRPr sz="1350" kern="1200">
          <a:solidFill>
            <a:schemeClr val="tx1"/>
          </a:solidFill>
          <a:latin typeface="+mn-lt"/>
          <a:ea typeface="+mn-ea"/>
          <a:cs typeface="+mn-cs"/>
        </a:defRPr>
      </a:lvl7pPr>
      <a:lvl8pPr marL="2400120" algn="l" defTabSz="685749" rtl="0" eaLnBrk="1" latinLnBrk="0" hangingPunct="1">
        <a:defRPr sz="1350" kern="1200">
          <a:solidFill>
            <a:schemeClr val="tx1"/>
          </a:solidFill>
          <a:latin typeface="+mn-lt"/>
          <a:ea typeface="+mn-ea"/>
          <a:cs typeface="+mn-cs"/>
        </a:defRPr>
      </a:lvl8pPr>
      <a:lvl9pPr marL="2742995" algn="l" defTabSz="685749"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15.jpe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7.jpe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20.jpeg"/></Relationships>
</file>

<file path=ppt/slides/_rels/slide1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20.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9.xml"/><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D3584-46D3-54BF-7C16-C9A7F49A74BF}"/>
              </a:ext>
            </a:extLst>
          </p:cNvPr>
          <p:cNvSpPr>
            <a:spLocks noGrp="1"/>
          </p:cNvSpPr>
          <p:nvPr>
            <p:ph type="ctrTitle"/>
          </p:nvPr>
        </p:nvSpPr>
        <p:spPr/>
        <p:txBody>
          <a:bodyPr/>
          <a:lstStyle/>
          <a:p>
            <a:r>
              <a:rPr lang="en-US"/>
              <a:t>Boots to Business Module 4</a:t>
            </a:r>
          </a:p>
        </p:txBody>
      </p:sp>
      <p:sp>
        <p:nvSpPr>
          <p:cNvPr id="3" name="Text Placeholder 2">
            <a:extLst>
              <a:ext uri="{FF2B5EF4-FFF2-40B4-BE49-F238E27FC236}">
                <a16:creationId xmlns:a16="http://schemas.microsoft.com/office/drawing/2014/main" id="{E7C3900C-2F5D-BD73-1427-18A8B10E40A7}"/>
              </a:ext>
            </a:extLst>
          </p:cNvPr>
          <p:cNvSpPr>
            <a:spLocks noGrp="1"/>
          </p:cNvSpPr>
          <p:nvPr>
            <p:ph type="body" sz="quarter" idx="10"/>
          </p:nvPr>
        </p:nvSpPr>
        <p:spPr>
          <a:xfrm>
            <a:off x="906203" y="3684087"/>
            <a:ext cx="7396964" cy="1646237"/>
          </a:xfrm>
        </p:spPr>
        <p:txBody>
          <a:bodyPr/>
          <a:lstStyle/>
          <a:p>
            <a:r>
              <a:rPr lang="en-US" sz="3200"/>
              <a:t>The Economics of Small Business Start-up</a:t>
            </a:r>
          </a:p>
        </p:txBody>
      </p:sp>
      <p:pic>
        <p:nvPicPr>
          <p:cNvPr id="4" name="Picture 3">
            <a:extLst>
              <a:ext uri="{FF2B5EF4-FFF2-40B4-BE49-F238E27FC236}">
                <a16:creationId xmlns:a16="http://schemas.microsoft.com/office/drawing/2014/main" id="{B2423B26-472E-4B36-8912-4714351493A0}"/>
              </a:ext>
            </a:extLst>
          </p:cNvPr>
          <p:cNvPicPr>
            <a:picLocks noChangeAspect="1"/>
          </p:cNvPicPr>
          <p:nvPr/>
        </p:nvPicPr>
        <p:blipFill>
          <a:blip r:embed="rId3"/>
          <a:stretch>
            <a:fillRect/>
          </a:stretch>
        </p:blipFill>
        <p:spPr>
          <a:xfrm>
            <a:off x="0" y="5720745"/>
            <a:ext cx="9144000" cy="1137255"/>
          </a:xfrm>
          <a:prstGeom prst="rect">
            <a:avLst/>
          </a:prstGeom>
        </p:spPr>
      </p:pic>
      <p:sp>
        <p:nvSpPr>
          <p:cNvPr id="5" name="TextBox 2">
            <a:extLst>
              <a:ext uri="{FF2B5EF4-FFF2-40B4-BE49-F238E27FC236}">
                <a16:creationId xmlns:a16="http://schemas.microsoft.com/office/drawing/2014/main" id="{65946D34-CA33-6943-509D-F14CD6B6C780}"/>
              </a:ext>
            </a:extLst>
          </p:cNvPr>
          <p:cNvSpPr txBox="1"/>
          <p:nvPr/>
        </p:nvSpPr>
        <p:spPr>
          <a:xfrm>
            <a:off x="7654879" y="5175306"/>
            <a:ext cx="1480185" cy="350865"/>
          </a:xfrm>
          <a:prstGeom prst="rect">
            <a:avLst/>
          </a:prstGeom>
          <a:noFill/>
        </p:spPr>
        <p:txBody>
          <a:bodyPr wrap="square" rtlCol="0">
            <a:spAutoFit/>
          </a:bodyPr>
          <a:lstStyle>
            <a:defPPr>
              <a:defRPr lang="en-US"/>
            </a:defPPr>
            <a:lvl1pPr algn="l" defTabSz="965200" rtl="0" fontAlgn="base">
              <a:spcBef>
                <a:spcPct val="0"/>
              </a:spcBef>
              <a:spcAft>
                <a:spcPct val="0"/>
              </a:spcAft>
              <a:defRPr sz="1900" kern="1200">
                <a:solidFill>
                  <a:schemeClr val="tx1"/>
                </a:solidFill>
                <a:latin typeface="Calibri" pitchFamily="34" charset="0"/>
                <a:ea typeface="+mn-ea"/>
                <a:cs typeface="Arial" pitchFamily="34" charset="0"/>
              </a:defRPr>
            </a:lvl1pPr>
            <a:lvl2pPr marL="482600" indent="-25400" algn="l" defTabSz="965200" rtl="0" fontAlgn="base">
              <a:spcBef>
                <a:spcPct val="0"/>
              </a:spcBef>
              <a:spcAft>
                <a:spcPct val="0"/>
              </a:spcAft>
              <a:defRPr sz="1900" kern="1200">
                <a:solidFill>
                  <a:schemeClr val="tx1"/>
                </a:solidFill>
                <a:latin typeface="Calibri" pitchFamily="34" charset="0"/>
                <a:ea typeface="+mn-ea"/>
                <a:cs typeface="Arial" pitchFamily="34" charset="0"/>
              </a:defRPr>
            </a:lvl2pPr>
            <a:lvl3pPr marL="965200" indent="-50800" algn="l" defTabSz="965200" rtl="0" fontAlgn="base">
              <a:spcBef>
                <a:spcPct val="0"/>
              </a:spcBef>
              <a:spcAft>
                <a:spcPct val="0"/>
              </a:spcAft>
              <a:defRPr sz="1900" kern="1200">
                <a:solidFill>
                  <a:schemeClr val="tx1"/>
                </a:solidFill>
                <a:latin typeface="Calibri" pitchFamily="34" charset="0"/>
                <a:ea typeface="+mn-ea"/>
                <a:cs typeface="Arial" pitchFamily="34" charset="0"/>
              </a:defRPr>
            </a:lvl3pPr>
            <a:lvl4pPr marL="1449388" indent="-77788" algn="l" defTabSz="965200" rtl="0" fontAlgn="base">
              <a:spcBef>
                <a:spcPct val="0"/>
              </a:spcBef>
              <a:spcAft>
                <a:spcPct val="0"/>
              </a:spcAft>
              <a:defRPr sz="1900" kern="1200">
                <a:solidFill>
                  <a:schemeClr val="tx1"/>
                </a:solidFill>
                <a:latin typeface="Calibri" pitchFamily="34" charset="0"/>
                <a:ea typeface="+mn-ea"/>
                <a:cs typeface="Arial" pitchFamily="34" charset="0"/>
              </a:defRPr>
            </a:lvl4pPr>
            <a:lvl5pPr marL="1931988" indent="-103188" algn="l" defTabSz="965200" rtl="0" fontAlgn="base">
              <a:spcBef>
                <a:spcPct val="0"/>
              </a:spcBef>
              <a:spcAft>
                <a:spcPct val="0"/>
              </a:spcAft>
              <a:defRPr sz="1900" kern="1200">
                <a:solidFill>
                  <a:schemeClr val="tx1"/>
                </a:solidFill>
                <a:latin typeface="Calibri" pitchFamily="34" charset="0"/>
                <a:ea typeface="+mn-ea"/>
                <a:cs typeface="Arial" pitchFamily="34" charset="0"/>
              </a:defRPr>
            </a:lvl5pPr>
            <a:lvl6pPr marL="2286000" algn="l" defTabSz="914400" rtl="0" eaLnBrk="1" latinLnBrk="0" hangingPunct="1">
              <a:defRPr sz="1900" kern="1200">
                <a:solidFill>
                  <a:schemeClr val="tx1"/>
                </a:solidFill>
                <a:latin typeface="Calibri" pitchFamily="34" charset="0"/>
                <a:ea typeface="+mn-ea"/>
                <a:cs typeface="Arial" pitchFamily="34" charset="0"/>
              </a:defRPr>
            </a:lvl6pPr>
            <a:lvl7pPr marL="2743200" algn="l" defTabSz="914400" rtl="0" eaLnBrk="1" latinLnBrk="0" hangingPunct="1">
              <a:defRPr sz="1900" kern="1200">
                <a:solidFill>
                  <a:schemeClr val="tx1"/>
                </a:solidFill>
                <a:latin typeface="Calibri" pitchFamily="34" charset="0"/>
                <a:ea typeface="+mn-ea"/>
                <a:cs typeface="Arial" pitchFamily="34" charset="0"/>
              </a:defRPr>
            </a:lvl7pPr>
            <a:lvl8pPr marL="3200400" algn="l" defTabSz="914400" rtl="0" eaLnBrk="1" latinLnBrk="0" hangingPunct="1">
              <a:defRPr sz="1900" kern="1200">
                <a:solidFill>
                  <a:schemeClr val="tx1"/>
                </a:solidFill>
                <a:latin typeface="Calibri" pitchFamily="34" charset="0"/>
                <a:ea typeface="+mn-ea"/>
                <a:cs typeface="Arial" pitchFamily="34" charset="0"/>
              </a:defRPr>
            </a:lvl8pPr>
            <a:lvl9pPr marL="3657600" algn="l" defTabSz="914400" rtl="0" eaLnBrk="1" latinLnBrk="0" hangingPunct="1">
              <a:defRPr sz="1900" kern="1200">
                <a:solidFill>
                  <a:schemeClr val="tx1"/>
                </a:solidFill>
                <a:latin typeface="Calibri" pitchFamily="34" charset="0"/>
                <a:ea typeface="+mn-ea"/>
                <a:cs typeface="Arial" pitchFamily="34" charset="0"/>
              </a:defRPr>
            </a:lvl9pPr>
          </a:lstStyle>
          <a:p>
            <a:r>
              <a:rPr lang="en-US" sz="1680" b="1" i="1"/>
              <a:t>Version 5.0</a:t>
            </a:r>
          </a:p>
        </p:txBody>
      </p:sp>
    </p:spTree>
    <p:extLst>
      <p:ext uri="{BB962C8B-B14F-4D97-AF65-F5344CB8AC3E}">
        <p14:creationId xmlns:p14="http://schemas.microsoft.com/office/powerpoint/2010/main" val="854019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1952E0-8EB1-38EB-C69F-B34BBBA1EE60}"/>
              </a:ext>
            </a:extLst>
          </p:cNvPr>
          <p:cNvSpPr>
            <a:spLocks noGrp="1"/>
          </p:cNvSpPr>
          <p:nvPr>
            <p:ph type="title"/>
          </p:nvPr>
        </p:nvSpPr>
        <p:spPr/>
        <p:txBody>
          <a:bodyPr>
            <a:normAutofit/>
          </a:bodyPr>
          <a:lstStyle/>
          <a:p>
            <a:r>
              <a:rPr lang="en-US" sz="2800"/>
              <a:t>Objective</a:t>
            </a:r>
          </a:p>
        </p:txBody>
      </p:sp>
      <p:sp>
        <p:nvSpPr>
          <p:cNvPr id="5" name="Content Placeholder 3">
            <a:extLst>
              <a:ext uri="{FF2B5EF4-FFF2-40B4-BE49-F238E27FC236}">
                <a16:creationId xmlns:a16="http://schemas.microsoft.com/office/drawing/2014/main" id="{43D6D9F5-8833-C7A0-E96F-DC6BEC9B5CDC}"/>
              </a:ext>
            </a:extLst>
          </p:cNvPr>
          <p:cNvSpPr txBox="1">
            <a:spLocks/>
          </p:cNvSpPr>
          <p:nvPr/>
        </p:nvSpPr>
        <p:spPr>
          <a:xfrm>
            <a:off x="314325" y="1340297"/>
            <a:ext cx="8515350" cy="4910594"/>
          </a:xfrm>
          <a:prstGeom prst="rect">
            <a:avLst/>
          </a:prstGeom>
        </p:spPr>
        <p:txBody>
          <a:bodyPr vert="horz" lIns="91440" tIns="45720" rIns="91440" bIns="45720" rtlCol="0" anchor="t">
            <a:normAutofit/>
          </a:bodyPr>
          <a:lstStyle>
            <a:lvl1pPr marL="180010" indent="-180010" algn="l" defTabSz="720036" rtl="0" eaLnBrk="1" latinLnBrk="0" hangingPunct="1">
              <a:lnSpc>
                <a:spcPct val="90000"/>
              </a:lnSpc>
              <a:spcBef>
                <a:spcPts val="788"/>
              </a:spcBef>
              <a:buFont typeface="Arial"/>
              <a:buChar char="•"/>
              <a:defRPr sz="2205" kern="1200">
                <a:solidFill>
                  <a:srgbClr val="001970"/>
                </a:solidFill>
                <a:latin typeface="Source Sans Pro" charset="0"/>
                <a:ea typeface="Source Sans Pro" charset="0"/>
                <a:cs typeface="Source Sans Pro" charset="0"/>
              </a:defRPr>
            </a:lvl1pPr>
            <a:lvl2pPr marL="540029" indent="-180010" algn="l" defTabSz="720036" rtl="0" eaLnBrk="1" latinLnBrk="0" hangingPunct="1">
              <a:lnSpc>
                <a:spcPct val="90000"/>
              </a:lnSpc>
              <a:spcBef>
                <a:spcPts val="394"/>
              </a:spcBef>
              <a:buFont typeface="Arial"/>
              <a:buChar char="•"/>
              <a:defRPr sz="1890" kern="1200">
                <a:solidFill>
                  <a:srgbClr val="001970"/>
                </a:solidFill>
                <a:latin typeface="Source Sans Pro" charset="0"/>
                <a:ea typeface="Source Sans Pro" charset="0"/>
                <a:cs typeface="Source Sans Pro" charset="0"/>
              </a:defRPr>
            </a:lvl2pPr>
            <a:lvl3pPr marL="900045" indent="-180010" algn="l" defTabSz="720036" rtl="0" eaLnBrk="1" latinLnBrk="0" hangingPunct="1">
              <a:lnSpc>
                <a:spcPct val="90000"/>
              </a:lnSpc>
              <a:spcBef>
                <a:spcPts val="394"/>
              </a:spcBef>
              <a:buFont typeface="Arial"/>
              <a:buChar char="•"/>
              <a:defRPr sz="1575" kern="1200">
                <a:solidFill>
                  <a:srgbClr val="001970"/>
                </a:solidFill>
                <a:latin typeface="Source Sans Pro" charset="0"/>
                <a:ea typeface="Source Sans Pro" charset="0"/>
                <a:cs typeface="Source Sans Pro" charset="0"/>
              </a:defRPr>
            </a:lvl3pPr>
            <a:lvl4pPr marL="1260063" indent="-180010" algn="l" defTabSz="720036" rtl="0" eaLnBrk="1" latinLnBrk="0" hangingPunct="1">
              <a:lnSpc>
                <a:spcPct val="90000"/>
              </a:lnSpc>
              <a:spcBef>
                <a:spcPts val="394"/>
              </a:spcBef>
              <a:buFont typeface="Arial"/>
              <a:buChar char="•"/>
              <a:defRPr sz="1418" kern="1200">
                <a:solidFill>
                  <a:srgbClr val="001970"/>
                </a:solidFill>
                <a:latin typeface="Source Sans Pro" charset="0"/>
                <a:ea typeface="Source Sans Pro" charset="0"/>
                <a:cs typeface="Source Sans Pro" charset="0"/>
              </a:defRPr>
            </a:lvl4pPr>
            <a:lvl5pPr marL="1620082" indent="-180010" algn="l" defTabSz="720036" rtl="0" eaLnBrk="1" latinLnBrk="0" hangingPunct="1">
              <a:lnSpc>
                <a:spcPct val="90000"/>
              </a:lnSpc>
              <a:spcBef>
                <a:spcPts val="394"/>
              </a:spcBef>
              <a:buFont typeface="Arial"/>
              <a:buChar char="•"/>
              <a:defRPr sz="1418" kern="1200">
                <a:solidFill>
                  <a:srgbClr val="001970"/>
                </a:solidFill>
                <a:latin typeface="Source Sans Pro" charset="0"/>
                <a:ea typeface="Source Sans Pro" charset="0"/>
                <a:cs typeface="Source Sans Pro" charset="0"/>
              </a:defRPr>
            </a:lvl5pPr>
            <a:lvl6pPr marL="1980099"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6pPr>
            <a:lvl7pPr marL="2340118"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7pPr>
            <a:lvl8pPr marL="2700136"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8pPr>
            <a:lvl9pPr marL="3060155"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9pPr>
          </a:lstStyle>
          <a:p>
            <a:pPr marL="0" indent="0" eaLnBrk="1" hangingPunct="1">
              <a:buFont typeface="Arial" charset="0"/>
              <a:buNone/>
            </a:pPr>
            <a:r>
              <a:rPr lang="en-US" altLang="en-US" sz="2400">
                <a:solidFill>
                  <a:schemeClr val="tx2"/>
                </a:solidFill>
              </a:rPr>
              <a:t>Understand the foundation for the cost, price, volume relationship, as it informs profit potential and sustainability for the planned venture.</a:t>
            </a:r>
          </a:p>
          <a:p>
            <a:pPr marL="0" indent="0" fontAlgn="auto">
              <a:spcAft>
                <a:spcPts val="0"/>
              </a:spcAft>
              <a:buFont typeface="Arial"/>
              <a:buNone/>
            </a:pPr>
            <a:endParaRPr lang="en-US" altLang="ko-KR" sz="2400" b="1">
              <a:solidFill>
                <a:srgbClr val="002E6D"/>
              </a:solidFill>
              <a:latin typeface="Source Sans Pro" panose="020B0503030403020204" pitchFamily="34" charset="0"/>
              <a:ea typeface="Source Sans Pro" panose="020B0503030403020204" pitchFamily="34" charset="0"/>
              <a:cs typeface="Arial" pitchFamily="34" charset="0"/>
            </a:endParaRPr>
          </a:p>
        </p:txBody>
      </p:sp>
    </p:spTree>
    <p:extLst>
      <p:ext uri="{BB962C8B-B14F-4D97-AF65-F5344CB8AC3E}">
        <p14:creationId xmlns:p14="http://schemas.microsoft.com/office/powerpoint/2010/main" val="442964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1952E0-8EB1-38EB-C69F-B34BBBA1EE60}"/>
              </a:ext>
            </a:extLst>
          </p:cNvPr>
          <p:cNvSpPr>
            <a:spLocks noGrp="1"/>
          </p:cNvSpPr>
          <p:nvPr>
            <p:ph type="title"/>
          </p:nvPr>
        </p:nvSpPr>
        <p:spPr/>
        <p:txBody>
          <a:bodyPr>
            <a:normAutofit/>
          </a:bodyPr>
          <a:lstStyle/>
          <a:p>
            <a:r>
              <a:rPr lang="en-US" sz="2800"/>
              <a:t>Agenda</a:t>
            </a:r>
          </a:p>
        </p:txBody>
      </p:sp>
      <p:sp>
        <p:nvSpPr>
          <p:cNvPr id="5" name="Content Placeholder 3">
            <a:extLst>
              <a:ext uri="{FF2B5EF4-FFF2-40B4-BE49-F238E27FC236}">
                <a16:creationId xmlns:a16="http://schemas.microsoft.com/office/drawing/2014/main" id="{43D6D9F5-8833-C7A0-E96F-DC6BEC9B5CDC}"/>
              </a:ext>
            </a:extLst>
          </p:cNvPr>
          <p:cNvSpPr txBox="1">
            <a:spLocks/>
          </p:cNvSpPr>
          <p:nvPr/>
        </p:nvSpPr>
        <p:spPr>
          <a:xfrm>
            <a:off x="314325" y="1340297"/>
            <a:ext cx="8515350" cy="4910594"/>
          </a:xfrm>
          <a:prstGeom prst="rect">
            <a:avLst/>
          </a:prstGeom>
        </p:spPr>
        <p:txBody>
          <a:bodyPr vert="horz" lIns="91440" tIns="45720" rIns="91440" bIns="45720" rtlCol="0" anchor="t">
            <a:normAutofit/>
          </a:bodyPr>
          <a:lstStyle>
            <a:lvl1pPr marL="180010" indent="-180010" algn="l" defTabSz="720036" rtl="0" eaLnBrk="1" latinLnBrk="0" hangingPunct="1">
              <a:lnSpc>
                <a:spcPct val="90000"/>
              </a:lnSpc>
              <a:spcBef>
                <a:spcPts val="788"/>
              </a:spcBef>
              <a:buFont typeface="Arial"/>
              <a:buChar char="•"/>
              <a:defRPr sz="2205" kern="1200">
                <a:solidFill>
                  <a:srgbClr val="001970"/>
                </a:solidFill>
                <a:latin typeface="Source Sans Pro" charset="0"/>
                <a:ea typeface="Source Sans Pro" charset="0"/>
                <a:cs typeface="Source Sans Pro" charset="0"/>
              </a:defRPr>
            </a:lvl1pPr>
            <a:lvl2pPr marL="540029" indent="-180010" algn="l" defTabSz="720036" rtl="0" eaLnBrk="1" latinLnBrk="0" hangingPunct="1">
              <a:lnSpc>
                <a:spcPct val="90000"/>
              </a:lnSpc>
              <a:spcBef>
                <a:spcPts val="394"/>
              </a:spcBef>
              <a:buFont typeface="Arial"/>
              <a:buChar char="•"/>
              <a:defRPr sz="1890" kern="1200">
                <a:solidFill>
                  <a:srgbClr val="001970"/>
                </a:solidFill>
                <a:latin typeface="Source Sans Pro" charset="0"/>
                <a:ea typeface="Source Sans Pro" charset="0"/>
                <a:cs typeface="Source Sans Pro" charset="0"/>
              </a:defRPr>
            </a:lvl2pPr>
            <a:lvl3pPr marL="900045" indent="-180010" algn="l" defTabSz="720036" rtl="0" eaLnBrk="1" latinLnBrk="0" hangingPunct="1">
              <a:lnSpc>
                <a:spcPct val="90000"/>
              </a:lnSpc>
              <a:spcBef>
                <a:spcPts val="394"/>
              </a:spcBef>
              <a:buFont typeface="Arial"/>
              <a:buChar char="•"/>
              <a:defRPr sz="1575" kern="1200">
                <a:solidFill>
                  <a:srgbClr val="001970"/>
                </a:solidFill>
                <a:latin typeface="Source Sans Pro" charset="0"/>
                <a:ea typeface="Source Sans Pro" charset="0"/>
                <a:cs typeface="Source Sans Pro" charset="0"/>
              </a:defRPr>
            </a:lvl3pPr>
            <a:lvl4pPr marL="1260063" indent="-180010" algn="l" defTabSz="720036" rtl="0" eaLnBrk="1" latinLnBrk="0" hangingPunct="1">
              <a:lnSpc>
                <a:spcPct val="90000"/>
              </a:lnSpc>
              <a:spcBef>
                <a:spcPts val="394"/>
              </a:spcBef>
              <a:buFont typeface="Arial"/>
              <a:buChar char="•"/>
              <a:defRPr sz="1418" kern="1200">
                <a:solidFill>
                  <a:srgbClr val="001970"/>
                </a:solidFill>
                <a:latin typeface="Source Sans Pro" charset="0"/>
                <a:ea typeface="Source Sans Pro" charset="0"/>
                <a:cs typeface="Source Sans Pro" charset="0"/>
              </a:defRPr>
            </a:lvl4pPr>
            <a:lvl5pPr marL="1620082" indent="-180010" algn="l" defTabSz="720036" rtl="0" eaLnBrk="1" latinLnBrk="0" hangingPunct="1">
              <a:lnSpc>
                <a:spcPct val="90000"/>
              </a:lnSpc>
              <a:spcBef>
                <a:spcPts val="394"/>
              </a:spcBef>
              <a:buFont typeface="Arial"/>
              <a:buChar char="•"/>
              <a:defRPr sz="1418" kern="1200">
                <a:solidFill>
                  <a:srgbClr val="001970"/>
                </a:solidFill>
                <a:latin typeface="Source Sans Pro" charset="0"/>
                <a:ea typeface="Source Sans Pro" charset="0"/>
                <a:cs typeface="Source Sans Pro" charset="0"/>
              </a:defRPr>
            </a:lvl5pPr>
            <a:lvl6pPr marL="1980099"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6pPr>
            <a:lvl7pPr marL="2340118"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7pPr>
            <a:lvl8pPr marL="2700136"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8pPr>
            <a:lvl9pPr marL="3060155" indent="-180010" algn="l" defTabSz="720036" rtl="0" eaLnBrk="1" latinLnBrk="0" hangingPunct="1">
              <a:lnSpc>
                <a:spcPct val="90000"/>
              </a:lnSpc>
              <a:spcBef>
                <a:spcPts val="394"/>
              </a:spcBef>
              <a:buFont typeface="Arial"/>
              <a:buChar char="•"/>
              <a:defRPr sz="1418" kern="1200">
                <a:solidFill>
                  <a:schemeClr val="tx1"/>
                </a:solidFill>
                <a:latin typeface="+mn-lt"/>
                <a:ea typeface="+mn-ea"/>
                <a:cs typeface="+mn-cs"/>
              </a:defRPr>
            </a:lvl9pPr>
          </a:lstStyle>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Economic Model of a Business</a:t>
            </a:r>
          </a:p>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Revenues</a:t>
            </a:r>
          </a:p>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Volumes</a:t>
            </a:r>
          </a:p>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Margins</a:t>
            </a:r>
          </a:p>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Operating Leverage</a:t>
            </a:r>
          </a:p>
          <a:p>
            <a:pPr lvl="1" defTabSz="914400" eaLnBrk="1" hangingPunct="1">
              <a:lnSpc>
                <a:spcPct val="70000"/>
              </a:lnSpc>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Implications for Risk</a:t>
            </a:r>
          </a:p>
          <a:p>
            <a:pPr marL="0" indent="0" fontAlgn="auto">
              <a:spcAft>
                <a:spcPts val="0"/>
              </a:spcAft>
              <a:buFont typeface="Arial"/>
              <a:buNone/>
            </a:pPr>
            <a:endParaRPr lang="en-US" altLang="ko-KR" sz="2400" b="1">
              <a:solidFill>
                <a:srgbClr val="002E6D"/>
              </a:solidFill>
              <a:latin typeface="Source Sans Pro" panose="020B0503030403020204" pitchFamily="34" charset="0"/>
              <a:ea typeface="Source Sans Pro" panose="020B0503030403020204" pitchFamily="34" charset="0"/>
              <a:cs typeface="Arial" pitchFamily="34" charset="0"/>
            </a:endParaRPr>
          </a:p>
        </p:txBody>
      </p:sp>
    </p:spTree>
    <p:extLst>
      <p:ext uri="{BB962C8B-B14F-4D97-AF65-F5344CB8AC3E}">
        <p14:creationId xmlns:p14="http://schemas.microsoft.com/office/powerpoint/2010/main" val="4003456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2EA977FF-22EF-165C-EC90-9E244C7834F5}"/>
              </a:ext>
            </a:extLst>
          </p:cNvPr>
          <p:cNvSpPr/>
          <p:nvPr/>
        </p:nvSpPr>
        <p:spPr>
          <a:xfrm>
            <a:off x="1904363" y="1092590"/>
            <a:ext cx="5284708" cy="5284654"/>
          </a:xfrm>
          <a:prstGeom prst="ellipse">
            <a:avLst/>
          </a:prstGeom>
          <a:solidFill>
            <a:srgbClr val="D9D9D9"/>
          </a:solidFill>
          <a:ln>
            <a:solidFill>
              <a:srgbClr val="001970"/>
            </a:solidFill>
          </a:ln>
        </p:spPr>
        <p:style>
          <a:lnRef idx="2">
            <a:schemeClr val="accent1">
              <a:shade val="50000"/>
            </a:schemeClr>
          </a:lnRef>
          <a:fillRef idx="1">
            <a:schemeClr val="accent1"/>
          </a:fillRef>
          <a:effectRef idx="0">
            <a:schemeClr val="accent1"/>
          </a:effectRef>
          <a:fontRef idx="minor">
            <a:schemeClr val="lt1"/>
          </a:fontRef>
        </p:style>
        <p:txBody>
          <a:bodyPr lIns="96661" tIns="48331" rIns="96661" bIns="48331" anchor="ctr"/>
          <a:lstStyle/>
          <a:p>
            <a:pPr algn="ctr" defTabSz="966407" fontAlgn="auto">
              <a:spcBef>
                <a:spcPts val="0"/>
              </a:spcBef>
              <a:spcAft>
                <a:spcPts val="0"/>
              </a:spcAft>
              <a:defRPr/>
            </a:pPr>
            <a:endParaRPr lang="en-US"/>
          </a:p>
        </p:txBody>
      </p:sp>
      <p:sp>
        <p:nvSpPr>
          <p:cNvPr id="5" name="TextBox 7">
            <a:extLst>
              <a:ext uri="{FF2B5EF4-FFF2-40B4-BE49-F238E27FC236}">
                <a16:creationId xmlns:a16="http://schemas.microsoft.com/office/drawing/2014/main" id="{0B52D209-B5AF-808D-FD80-97AB0ED9CCBF}"/>
              </a:ext>
            </a:extLst>
          </p:cNvPr>
          <p:cNvSpPr txBox="1">
            <a:spLocks noChangeArrowheads="1"/>
          </p:cNvSpPr>
          <p:nvPr/>
        </p:nvSpPr>
        <p:spPr bwMode="auto">
          <a:xfrm>
            <a:off x="3331368" y="1347233"/>
            <a:ext cx="2481263" cy="114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spcBef>
                <a:spcPct val="0"/>
              </a:spcBef>
              <a:buFontTx/>
              <a:buNone/>
            </a:pPr>
            <a:r>
              <a:rPr lang="en-US" altLang="en-US" b="1">
                <a:solidFill>
                  <a:srgbClr val="002E6D"/>
                </a:solidFill>
                <a:latin typeface="Source Sans Pro" panose="020B0503030403020204" pitchFamily="34" charset="0"/>
                <a:ea typeface="Source Sans Pro" panose="020B0503030403020204" pitchFamily="34" charset="0"/>
              </a:rPr>
              <a:t>Business</a:t>
            </a:r>
          </a:p>
          <a:p>
            <a:pPr algn="ctr" eaLnBrk="1" hangingPunct="1">
              <a:spcBef>
                <a:spcPct val="0"/>
              </a:spcBef>
              <a:buFontTx/>
              <a:buNone/>
            </a:pPr>
            <a:r>
              <a:rPr lang="en-US" altLang="en-US" b="1">
                <a:solidFill>
                  <a:srgbClr val="002E6D"/>
                </a:solidFill>
                <a:latin typeface="Source Sans Pro" panose="020B0503030403020204" pitchFamily="34" charset="0"/>
                <a:ea typeface="Source Sans Pro" panose="020B0503030403020204" pitchFamily="34" charset="0"/>
              </a:rPr>
              <a:t>Model</a:t>
            </a:r>
          </a:p>
        </p:txBody>
      </p:sp>
      <p:sp>
        <p:nvSpPr>
          <p:cNvPr id="6" name="Content Placeholder 2">
            <a:extLst>
              <a:ext uri="{FF2B5EF4-FFF2-40B4-BE49-F238E27FC236}">
                <a16:creationId xmlns:a16="http://schemas.microsoft.com/office/drawing/2014/main" id="{F090C86F-61CB-E051-96EC-4C3EFD6260B9}"/>
              </a:ext>
            </a:extLst>
          </p:cNvPr>
          <p:cNvSpPr txBox="1">
            <a:spLocks/>
          </p:cNvSpPr>
          <p:nvPr/>
        </p:nvSpPr>
        <p:spPr>
          <a:xfrm>
            <a:off x="2819399" y="2412769"/>
            <a:ext cx="3505200" cy="1059584"/>
          </a:xfrm>
          <a:prstGeom prst="rect">
            <a:avLst/>
          </a:prstGeom>
        </p:spPr>
        <p:txBody>
          <a:bodyPr lIns="96661" tIns="48331" rIns="96661" bIns="48331"/>
          <a:lstStyle/>
          <a:p>
            <a:pPr marL="288641" indent="-288641" algn="ctr" defTabSz="966407" fontAlgn="auto">
              <a:spcBef>
                <a:spcPct val="20000"/>
              </a:spcBef>
              <a:spcAft>
                <a:spcPts val="0"/>
              </a:spcAft>
              <a:buClr>
                <a:schemeClr val="accent1"/>
              </a:buClr>
              <a:buSzPct val="85000"/>
              <a:defRPr/>
            </a:pPr>
            <a:r>
              <a:rPr lang="en-US" sz="2100">
                <a:solidFill>
                  <a:srgbClr val="003E7F"/>
                </a:solidFill>
                <a:latin typeface="Source Sans Pro" panose="020B0503030403020204" pitchFamily="34" charset="0"/>
                <a:ea typeface="Source Sans Pro" panose="020B0503030403020204" pitchFamily="34" charset="0"/>
                <a:cs typeface="Franklin Gothic Book"/>
              </a:rPr>
              <a:t>How the business </a:t>
            </a:r>
            <a:r>
              <a:rPr lang="en-US" sz="2100" i="1">
                <a:solidFill>
                  <a:srgbClr val="CC0000"/>
                </a:solidFill>
                <a:latin typeface="Source Sans Pro" panose="020B0503030403020204" pitchFamily="34" charset="0"/>
                <a:ea typeface="Source Sans Pro" panose="020B0503030403020204" pitchFamily="34" charset="0"/>
                <a:cs typeface="Franklin Gothic Book"/>
              </a:rPr>
              <a:t>creates and delivers </a:t>
            </a:r>
            <a:r>
              <a:rPr lang="en-US" sz="2100" i="1">
                <a:solidFill>
                  <a:srgbClr val="CC0000"/>
                </a:solidFill>
                <a:latin typeface="Source Sans Pro" panose="020B0503030403020204" pitchFamily="34" charset="0"/>
                <a:ea typeface="Source Sans Pro" panose="020B0503030403020204" pitchFamily="34" charset="0"/>
              </a:rPr>
              <a:t>value</a:t>
            </a:r>
            <a:r>
              <a:rPr lang="en-US" sz="2100">
                <a:solidFill>
                  <a:srgbClr val="CC0000"/>
                </a:solidFill>
                <a:latin typeface="Source Sans Pro" panose="020B0503030403020204" pitchFamily="34" charset="0"/>
                <a:ea typeface="Source Sans Pro" panose="020B0503030403020204" pitchFamily="34" charset="0"/>
              </a:rPr>
              <a:t> </a:t>
            </a:r>
            <a:r>
              <a:rPr lang="en-US" sz="2100">
                <a:solidFill>
                  <a:srgbClr val="003E7F"/>
                </a:solidFill>
                <a:latin typeface="Source Sans Pro" panose="020B0503030403020204" pitchFamily="34" charset="0"/>
                <a:ea typeface="Source Sans Pro" panose="020B0503030403020204" pitchFamily="34" charset="0"/>
                <a:cs typeface="Franklin Gothic Book"/>
              </a:rPr>
              <a:t>to the customer</a:t>
            </a:r>
          </a:p>
          <a:p>
            <a:pPr marL="288641" indent="16781" algn="ctr" defTabSz="966407" fontAlgn="auto">
              <a:spcBef>
                <a:spcPct val="20000"/>
              </a:spcBef>
              <a:spcAft>
                <a:spcPts val="0"/>
              </a:spcAft>
              <a:buClr>
                <a:schemeClr val="accent1"/>
              </a:buClr>
              <a:buSzPct val="85000"/>
              <a:defRPr/>
            </a:pPr>
            <a:endParaRPr lang="en-US" sz="3400">
              <a:solidFill>
                <a:srgbClr val="001970"/>
              </a:solidFill>
              <a:latin typeface="Franklin Gothic Book"/>
              <a:cs typeface="Franklin Gothic Book"/>
            </a:endParaRPr>
          </a:p>
        </p:txBody>
      </p:sp>
      <p:sp>
        <p:nvSpPr>
          <p:cNvPr id="7" name="TextBox 19">
            <a:extLst>
              <a:ext uri="{FF2B5EF4-FFF2-40B4-BE49-F238E27FC236}">
                <a16:creationId xmlns:a16="http://schemas.microsoft.com/office/drawing/2014/main" id="{73D5ACF3-4C3B-1873-C313-5FF538491CC1}"/>
              </a:ext>
            </a:extLst>
          </p:cNvPr>
          <p:cNvSpPr txBox="1">
            <a:spLocks noChangeArrowheads="1"/>
          </p:cNvSpPr>
          <p:nvPr/>
        </p:nvSpPr>
        <p:spPr bwMode="auto">
          <a:xfrm>
            <a:off x="3331369" y="3782495"/>
            <a:ext cx="2481262" cy="114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spcBef>
                <a:spcPct val="0"/>
              </a:spcBef>
              <a:buNone/>
            </a:pPr>
            <a:r>
              <a:rPr lang="en-US" altLang="en-US" b="1">
                <a:solidFill>
                  <a:srgbClr val="002E6D"/>
                </a:solidFill>
                <a:latin typeface="Source Sans Pro" panose="020B0503030403020204" pitchFamily="34" charset="0"/>
                <a:ea typeface="Source Sans Pro" panose="020B0503030403020204" pitchFamily="34" charset="0"/>
              </a:rPr>
              <a:t>Economic</a:t>
            </a:r>
          </a:p>
          <a:p>
            <a:pPr algn="ctr" eaLnBrk="1" hangingPunct="1">
              <a:spcBef>
                <a:spcPct val="0"/>
              </a:spcBef>
              <a:buNone/>
            </a:pPr>
            <a:r>
              <a:rPr lang="en-US" altLang="en-US" b="1">
                <a:solidFill>
                  <a:srgbClr val="002E6D"/>
                </a:solidFill>
                <a:latin typeface="Source Sans Pro" panose="020B0503030403020204" pitchFamily="34" charset="0"/>
                <a:ea typeface="Source Sans Pro" panose="020B0503030403020204" pitchFamily="34" charset="0"/>
              </a:rPr>
              <a:t>Model</a:t>
            </a:r>
          </a:p>
        </p:txBody>
      </p:sp>
      <p:sp>
        <p:nvSpPr>
          <p:cNvPr id="8" name="Content Placeholder 2">
            <a:extLst>
              <a:ext uri="{FF2B5EF4-FFF2-40B4-BE49-F238E27FC236}">
                <a16:creationId xmlns:a16="http://schemas.microsoft.com/office/drawing/2014/main" id="{80F3F189-9AE4-2DF9-A62B-6A691F9AE0AA}"/>
              </a:ext>
            </a:extLst>
          </p:cNvPr>
          <p:cNvSpPr txBox="1">
            <a:spLocks/>
          </p:cNvSpPr>
          <p:nvPr/>
        </p:nvSpPr>
        <p:spPr bwMode="auto">
          <a:xfrm>
            <a:off x="2476499" y="4792532"/>
            <a:ext cx="4191000" cy="1149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marL="287338" indent="-287338"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buClr>
                <a:schemeClr val="accent1"/>
              </a:buClr>
              <a:buSzPct val="85000"/>
              <a:buFontTx/>
              <a:buNone/>
            </a:pPr>
            <a:r>
              <a:rPr lang="en-US" altLang="en-US" sz="2100">
                <a:solidFill>
                  <a:srgbClr val="003E7F"/>
                </a:solidFill>
                <a:latin typeface="Source Sans Pro" panose="020B0503030403020204" pitchFamily="34" charset="0"/>
                <a:ea typeface="Source Sans Pro" panose="020B0503030403020204" pitchFamily="34" charset="0"/>
              </a:rPr>
              <a:t>How the business</a:t>
            </a:r>
          </a:p>
          <a:p>
            <a:pPr algn="ctr" eaLnBrk="1" hangingPunct="1">
              <a:buClr>
                <a:schemeClr val="accent1"/>
              </a:buClr>
              <a:buSzPct val="85000"/>
              <a:buFontTx/>
              <a:buNone/>
            </a:pPr>
            <a:r>
              <a:rPr lang="en-US" altLang="en-US" sz="2100" i="1">
                <a:solidFill>
                  <a:srgbClr val="CC0000"/>
                </a:solidFill>
                <a:latin typeface="Source Sans Pro" panose="020B0503030403020204" pitchFamily="34" charset="0"/>
                <a:ea typeface="Source Sans Pro" panose="020B0503030403020204" pitchFamily="34" charset="0"/>
              </a:rPr>
              <a:t>captures that value</a:t>
            </a:r>
            <a:r>
              <a:rPr lang="en-US" altLang="en-US" sz="2100" i="1">
                <a:solidFill>
                  <a:srgbClr val="002E6D"/>
                </a:solidFill>
                <a:latin typeface="Source Sans Pro" panose="020B0503030403020204" pitchFamily="34" charset="0"/>
                <a:ea typeface="Source Sans Pro" panose="020B0503030403020204" pitchFamily="34" charset="0"/>
              </a:rPr>
              <a:t> </a:t>
            </a:r>
            <a:r>
              <a:rPr lang="en-US" altLang="en-US" sz="2100">
                <a:solidFill>
                  <a:srgbClr val="003E7F"/>
                </a:solidFill>
                <a:latin typeface="Source Sans Pro" panose="020B0503030403020204" pitchFamily="34" charset="0"/>
                <a:ea typeface="Source Sans Pro" panose="020B0503030403020204" pitchFamily="34" charset="0"/>
              </a:rPr>
              <a:t>in the form of</a:t>
            </a:r>
          </a:p>
          <a:p>
            <a:pPr algn="ctr" eaLnBrk="1" hangingPunct="1">
              <a:lnSpc>
                <a:spcPct val="90000"/>
              </a:lnSpc>
              <a:buClr>
                <a:schemeClr val="accent1"/>
              </a:buClr>
              <a:buSzPct val="85000"/>
              <a:buFontTx/>
              <a:buNone/>
            </a:pPr>
            <a:r>
              <a:rPr lang="en-US" altLang="en-US" sz="2100">
                <a:solidFill>
                  <a:srgbClr val="003E7F"/>
                </a:solidFill>
                <a:latin typeface="Source Sans Pro" panose="020B0503030403020204" pitchFamily="34" charset="0"/>
                <a:ea typeface="Source Sans Pro" panose="020B0503030403020204" pitchFamily="34" charset="0"/>
              </a:rPr>
              <a:t>an economic return</a:t>
            </a:r>
          </a:p>
        </p:txBody>
      </p:sp>
      <p:cxnSp>
        <p:nvCxnSpPr>
          <p:cNvPr id="9" name="Straight Connector 8">
            <a:extLst>
              <a:ext uri="{FF2B5EF4-FFF2-40B4-BE49-F238E27FC236}">
                <a16:creationId xmlns:a16="http://schemas.microsoft.com/office/drawing/2014/main" id="{E5315689-0FAE-D34B-02DF-3396F439324A}"/>
              </a:ext>
            </a:extLst>
          </p:cNvPr>
          <p:cNvCxnSpPr>
            <a:cxnSpLocks/>
            <a:stCxn id="4" idx="2"/>
            <a:endCxn id="4" idx="6"/>
          </p:cNvCxnSpPr>
          <p:nvPr/>
        </p:nvCxnSpPr>
        <p:spPr>
          <a:xfrm>
            <a:off x="1904363" y="3734917"/>
            <a:ext cx="5284708" cy="0"/>
          </a:xfrm>
          <a:prstGeom prst="line">
            <a:avLst/>
          </a:prstGeom>
          <a:ln w="12700">
            <a:solidFill>
              <a:srgbClr val="001970"/>
            </a:solidFill>
          </a:ln>
        </p:spPr>
        <p:style>
          <a:lnRef idx="1">
            <a:schemeClr val="accent1"/>
          </a:lnRef>
          <a:fillRef idx="0">
            <a:schemeClr val="accent1"/>
          </a:fillRef>
          <a:effectRef idx="0">
            <a:schemeClr val="accent1"/>
          </a:effectRef>
          <a:fontRef idx="minor">
            <a:schemeClr val="tx1"/>
          </a:fontRef>
        </p:style>
      </p:cxnSp>
      <p:sp>
        <p:nvSpPr>
          <p:cNvPr id="2" name="Title 3">
            <a:extLst>
              <a:ext uri="{FF2B5EF4-FFF2-40B4-BE49-F238E27FC236}">
                <a16:creationId xmlns:a16="http://schemas.microsoft.com/office/drawing/2014/main" id="{115F6DD7-80CE-3D08-FB31-A41DEB65230F}"/>
              </a:ext>
            </a:extLst>
          </p:cNvPr>
          <p:cNvSpPr>
            <a:spLocks noGrp="1"/>
          </p:cNvSpPr>
          <p:nvPr>
            <p:ph type="title"/>
          </p:nvPr>
        </p:nvSpPr>
        <p:spPr>
          <a:xfrm>
            <a:off x="1191490" y="367026"/>
            <a:ext cx="6585322" cy="730202"/>
          </a:xfrm>
        </p:spPr>
        <p:txBody>
          <a:bodyPr>
            <a:normAutofit/>
          </a:bodyPr>
          <a:lstStyle/>
          <a:p>
            <a:r>
              <a:rPr lang="en-US" sz="2800"/>
              <a:t>Why This is Important</a:t>
            </a:r>
          </a:p>
        </p:txBody>
      </p:sp>
    </p:spTree>
    <p:extLst>
      <p:ext uri="{BB962C8B-B14F-4D97-AF65-F5344CB8AC3E}">
        <p14:creationId xmlns:p14="http://schemas.microsoft.com/office/powerpoint/2010/main" val="587153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500"/>
                                  </p:stCondLst>
                                  <p:childTnLst>
                                    <p:set>
                                      <p:cBhvr>
                                        <p:cTn id="6" dur="1" fill="hold">
                                          <p:stCondLst>
                                            <p:cond delay="0"/>
                                          </p:stCondLst>
                                        </p:cTn>
                                        <p:tgtEl>
                                          <p:spTgt spid="5"/>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grpId="0" nodeType="afterEffect">
                                  <p:stCondLst>
                                    <p:cond delay="1000"/>
                                  </p:stCondLst>
                                  <p:childTnLst>
                                    <p:set>
                                      <p:cBhvr>
                                        <p:cTn id="9" dur="1" fill="hold">
                                          <p:stCondLst>
                                            <p:cond delay="0"/>
                                          </p:stCondLst>
                                        </p:cTn>
                                        <p:tgtEl>
                                          <p:spTgt spid="6"/>
                                        </p:tgtEl>
                                        <p:attrNameLst>
                                          <p:attrName>style.visibility</p:attrName>
                                        </p:attrNameLst>
                                      </p:cBhvr>
                                      <p:to>
                                        <p:strVal val="visible"/>
                                      </p:to>
                                    </p:set>
                                  </p:childTnLst>
                                </p:cTn>
                              </p:par>
                            </p:childTnLst>
                          </p:cTn>
                        </p:par>
                        <p:par>
                          <p:cTn id="10" fill="hold">
                            <p:stCondLst>
                              <p:cond delay="1500"/>
                            </p:stCondLst>
                            <p:childTnLst>
                              <p:par>
                                <p:cTn id="11" presetID="1" presetClass="entr" presetSubtype="0" fill="hold" nodeType="afterEffect">
                                  <p:stCondLst>
                                    <p:cond delay="1000"/>
                                  </p:stCondLst>
                                  <p:childTnLst>
                                    <p:set>
                                      <p:cBhvr>
                                        <p:cTn id="12" dur="1" fill="hold">
                                          <p:stCondLst>
                                            <p:cond delay="0"/>
                                          </p:stCondLst>
                                        </p:cTn>
                                        <p:tgtEl>
                                          <p:spTgt spid="9"/>
                                        </p:tgtEl>
                                        <p:attrNameLst>
                                          <p:attrName>style.visibility</p:attrName>
                                        </p:attrNameLst>
                                      </p:cBhvr>
                                      <p:to>
                                        <p:strVal val="visible"/>
                                      </p:to>
                                    </p:set>
                                  </p:childTnLst>
                                </p:cTn>
                              </p:par>
                            </p:childTnLst>
                          </p:cTn>
                        </p:par>
                        <p:par>
                          <p:cTn id="13" fill="hold">
                            <p:stCondLst>
                              <p:cond delay="2500"/>
                            </p:stCondLst>
                            <p:childTnLst>
                              <p:par>
                                <p:cTn id="14" presetID="1" presetClass="entr" presetSubtype="0" fill="hold" grpId="0" nodeType="afterEffect">
                                  <p:stCondLst>
                                    <p:cond delay="1500"/>
                                  </p:stCondLst>
                                  <p:childTnLst>
                                    <p:set>
                                      <p:cBhvr>
                                        <p:cTn id="15" dur="1" fill="hold">
                                          <p:stCondLst>
                                            <p:cond delay="0"/>
                                          </p:stCondLst>
                                        </p:cTn>
                                        <p:tgtEl>
                                          <p:spTgt spid="7"/>
                                        </p:tgtEl>
                                        <p:attrNameLst>
                                          <p:attrName>style.visibility</p:attrName>
                                        </p:attrNameLst>
                                      </p:cBhvr>
                                      <p:to>
                                        <p:strVal val="visible"/>
                                      </p:to>
                                    </p:set>
                                  </p:childTnLst>
                                </p:cTn>
                              </p:par>
                            </p:childTnLst>
                          </p:cTn>
                        </p:par>
                        <p:par>
                          <p:cTn id="16" fill="hold">
                            <p:stCondLst>
                              <p:cond delay="4000"/>
                            </p:stCondLst>
                            <p:childTnLst>
                              <p:par>
                                <p:cTn id="17" presetID="1" presetClass="entr" presetSubtype="0" fill="hold" grpId="0" nodeType="afterEffect">
                                  <p:stCondLst>
                                    <p:cond delay="100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7" descr="http://scholfieldap.files.wordpress.com/2009/05/upward_trend_chart.jpg">
            <a:extLst>
              <a:ext uri="{FF2B5EF4-FFF2-40B4-BE49-F238E27FC236}">
                <a16:creationId xmlns:a16="http://schemas.microsoft.com/office/drawing/2014/main" id="{8F4DFE46-37BF-977E-96E1-C58064B3F1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2711" y="2869170"/>
            <a:ext cx="2552639" cy="1358959"/>
          </a:xfrm>
          <a:prstGeom prst="rect">
            <a:avLst/>
          </a:prstGeom>
          <a:noFill/>
          <a:ln w="9525">
            <a:solidFill>
              <a:srgbClr val="D9D9D9"/>
            </a:solidFill>
            <a:miter lim="800000"/>
            <a:headEnd/>
            <a:tailEnd/>
          </a:ln>
          <a:extLst>
            <a:ext uri="{909E8E84-426E-40DD-AFC4-6F175D3DCCD1}">
              <a14:hiddenFill xmlns:a14="http://schemas.microsoft.com/office/drawing/2010/main">
                <a:solidFill>
                  <a:srgbClr val="FFFFFF"/>
                </a:solidFill>
              </a14:hiddenFill>
            </a:ext>
          </a:extLst>
        </p:spPr>
      </p:pic>
      <p:sp>
        <p:nvSpPr>
          <p:cNvPr id="5" name="Content Placeholder 4">
            <a:extLst>
              <a:ext uri="{FF2B5EF4-FFF2-40B4-BE49-F238E27FC236}">
                <a16:creationId xmlns:a16="http://schemas.microsoft.com/office/drawing/2014/main" id="{0E070E30-DDBD-D4D5-6278-22D584480E2C}"/>
              </a:ext>
            </a:extLst>
          </p:cNvPr>
          <p:cNvSpPr>
            <a:spLocks noGrp="1"/>
          </p:cNvSpPr>
          <p:nvPr>
            <p:ph idx="1"/>
          </p:nvPr>
        </p:nvSpPr>
        <p:spPr/>
        <p:txBody>
          <a:bodyPr/>
          <a:lstStyle/>
          <a:p>
            <a:pPr marL="362416" indent="-362416" defTabSz="966440" eaLnBrk="1" fontAlgn="auto" hangingPunct="1">
              <a:spcBef>
                <a:spcPts val="1269"/>
              </a:spcBef>
              <a:spcAft>
                <a:spcPts val="1269"/>
              </a:spcAft>
              <a:buFont typeface="Arial" pitchFamily="34" charset="0"/>
              <a:buChar char="•"/>
              <a:defRPr/>
            </a:pPr>
            <a:r>
              <a:rPr lang="en-US" sz="2400" dirty="0">
                <a:solidFill>
                  <a:schemeClr val="tx2"/>
                </a:solidFill>
                <a:latin typeface="Source Sans Pro" panose="020B0503030403020204" pitchFamily="34" charset="0"/>
                <a:ea typeface="Source Sans Pro" panose="020B0503030403020204" pitchFamily="34" charset="0"/>
              </a:rPr>
              <a:t>Helps build a sustainable competitive  advantage</a:t>
            </a:r>
          </a:p>
          <a:p>
            <a:pPr marL="362416" indent="-362416" defTabSz="966440" eaLnBrk="1" fontAlgn="auto" hangingPunct="1">
              <a:spcBef>
                <a:spcPts val="1269"/>
              </a:spcBef>
              <a:spcAft>
                <a:spcPts val="1269"/>
              </a:spcAft>
              <a:buFont typeface="Arial" pitchFamily="34" charset="0"/>
              <a:buChar char="•"/>
              <a:defRPr/>
            </a:pPr>
            <a:r>
              <a:rPr lang="en-US" sz="2400" dirty="0">
                <a:solidFill>
                  <a:schemeClr val="tx2"/>
                </a:solidFill>
                <a:latin typeface="Source Sans Pro" panose="020B0503030403020204" pitchFamily="34" charset="0"/>
                <a:ea typeface="Source Sans Pro" panose="020B0503030403020204" pitchFamily="34" charset="0"/>
              </a:rPr>
              <a:t>Informs your management decisions</a:t>
            </a:r>
          </a:p>
          <a:p>
            <a:pPr marL="362416" indent="-362416" defTabSz="966440" eaLnBrk="1" fontAlgn="auto" hangingPunct="1">
              <a:spcBef>
                <a:spcPts val="1269"/>
              </a:spcBef>
              <a:spcAft>
                <a:spcPts val="1269"/>
              </a:spcAft>
              <a:buFont typeface="Arial" pitchFamily="34" charset="0"/>
              <a:buChar char="•"/>
              <a:defRPr/>
            </a:pPr>
            <a:r>
              <a:rPr lang="en-US" sz="2400" dirty="0">
                <a:solidFill>
                  <a:schemeClr val="tx2"/>
                </a:solidFill>
                <a:latin typeface="Source Sans Pro" panose="020B0503030403020204" pitchFamily="34" charset="0"/>
                <a:ea typeface="Source Sans Pro" panose="020B0503030403020204" pitchFamily="34" charset="0"/>
              </a:rPr>
              <a:t>Provides stability and consistency</a:t>
            </a:r>
            <a:endParaRPr lang="en-US" sz="2700" dirty="0">
              <a:solidFill>
                <a:schemeClr val="tx2"/>
              </a:solidFill>
              <a:latin typeface="Source Sans Pro" panose="020B0503030403020204" pitchFamily="34" charset="0"/>
              <a:ea typeface="Source Sans Pro" panose="020B0503030403020204" pitchFamily="34" charset="0"/>
            </a:endParaRPr>
          </a:p>
          <a:p>
            <a:pPr marL="362416" indent="-362416" defTabSz="966440" eaLnBrk="1" fontAlgn="auto" hangingPunct="1">
              <a:spcBef>
                <a:spcPts val="1269"/>
              </a:spcBef>
              <a:spcAft>
                <a:spcPts val="1269"/>
              </a:spcAft>
              <a:buFont typeface="Arial" pitchFamily="34" charset="0"/>
              <a:buChar char="•"/>
              <a:defRPr/>
            </a:pPr>
            <a:endParaRPr lang="en-US" sz="2700" dirty="0">
              <a:solidFill>
                <a:srgbClr val="000000"/>
              </a:solidFill>
              <a:latin typeface="Source Sans Pro" panose="020B0503030403020204" pitchFamily="34" charset="0"/>
              <a:ea typeface="Source Sans Pro" panose="020B0503030403020204" pitchFamily="34" charset="0"/>
            </a:endParaRPr>
          </a:p>
          <a:p>
            <a:pPr marL="0" indent="0" algn="ctr" defTabSz="966440" eaLnBrk="1" fontAlgn="auto" hangingPunct="1">
              <a:spcBef>
                <a:spcPts val="1269"/>
              </a:spcBef>
              <a:spcAft>
                <a:spcPts val="0"/>
              </a:spcAft>
              <a:buFont typeface="Arial" pitchFamily="34" charset="0"/>
              <a:buNone/>
              <a:defRPr/>
            </a:pPr>
            <a:r>
              <a:rPr lang="en-US" sz="2800" dirty="0">
                <a:solidFill>
                  <a:srgbClr val="CC0000"/>
                </a:solidFill>
                <a:latin typeface="Source Sans Pro" panose="020B0503030403020204" pitchFamily="34" charset="0"/>
                <a:ea typeface="Source Sans Pro" panose="020B0503030403020204" pitchFamily="34" charset="0"/>
              </a:rPr>
              <a:t>Are we </a:t>
            </a:r>
            <a:r>
              <a:rPr lang="en-US" sz="2800" i="1" dirty="0">
                <a:solidFill>
                  <a:srgbClr val="CC0000"/>
                </a:solidFill>
                <a:latin typeface="Source Sans Pro" panose="020B0503030403020204" pitchFamily="34" charset="0"/>
                <a:ea typeface="Source Sans Pro" panose="020B0503030403020204" pitchFamily="34" charset="0"/>
              </a:rPr>
              <a:t>making</a:t>
            </a:r>
            <a:r>
              <a:rPr lang="en-US" sz="2800" dirty="0">
                <a:solidFill>
                  <a:srgbClr val="CC0000"/>
                </a:solidFill>
                <a:latin typeface="Source Sans Pro" panose="020B0503030403020204" pitchFamily="34" charset="0"/>
                <a:ea typeface="Source Sans Pro" panose="020B0503030403020204" pitchFamily="34" charset="0"/>
              </a:rPr>
              <a:t> money or </a:t>
            </a:r>
            <a:r>
              <a:rPr lang="en-US" sz="2800" i="1" dirty="0">
                <a:solidFill>
                  <a:srgbClr val="CC0000"/>
                </a:solidFill>
                <a:latin typeface="Source Sans Pro" panose="020B0503030403020204" pitchFamily="34" charset="0"/>
                <a:ea typeface="Source Sans Pro" panose="020B0503030403020204" pitchFamily="34" charset="0"/>
              </a:rPr>
              <a:t>moving </a:t>
            </a:r>
            <a:r>
              <a:rPr lang="en-US" sz="2800" dirty="0">
                <a:solidFill>
                  <a:srgbClr val="CC0000"/>
                </a:solidFill>
                <a:latin typeface="Source Sans Pro" panose="020B0503030403020204" pitchFamily="34" charset="0"/>
                <a:ea typeface="Source Sans Pro" panose="020B0503030403020204" pitchFamily="34" charset="0"/>
              </a:rPr>
              <a:t>money?</a:t>
            </a:r>
          </a:p>
          <a:p>
            <a:pPr marL="362416" indent="-362416" defTabSz="966440" eaLnBrk="1" fontAlgn="auto" hangingPunct="1">
              <a:spcAft>
                <a:spcPts val="0"/>
              </a:spcAft>
              <a:buFont typeface="Arial" pitchFamily="34" charset="0"/>
              <a:buNone/>
              <a:defRPr/>
            </a:pPr>
            <a:endParaRPr lang="en-US" sz="2300" b="1" i="1" dirty="0">
              <a:solidFill>
                <a:srgbClr val="000000"/>
              </a:solidFill>
              <a:latin typeface="Source Sans Pro" panose="020B0503030403020204" pitchFamily="34" charset="0"/>
              <a:ea typeface="Source Sans Pro" panose="020B0503030403020204" pitchFamily="34" charset="0"/>
            </a:endParaRPr>
          </a:p>
          <a:p>
            <a:pPr marL="362416" indent="-362416" defTabSz="966440" eaLnBrk="1" fontAlgn="auto" hangingPunct="1">
              <a:spcAft>
                <a:spcPts val="0"/>
              </a:spcAft>
              <a:buFont typeface="Arial" pitchFamily="34" charset="0"/>
              <a:buChar char="•"/>
              <a:defRPr/>
            </a:pPr>
            <a:endParaRPr lang="en-US" dirty="0">
              <a:latin typeface="Source Sans Pro" panose="020B0503030403020204" pitchFamily="34" charset="0"/>
              <a:ea typeface="Source Sans Pro" panose="020B0503030403020204" pitchFamily="34" charset="0"/>
            </a:endParaRPr>
          </a:p>
          <a:p>
            <a:endParaRPr lang="en-US" dirty="0"/>
          </a:p>
        </p:txBody>
      </p:sp>
      <p:sp>
        <p:nvSpPr>
          <p:cNvPr id="6" name="Subtitle 5">
            <a:extLst>
              <a:ext uri="{FF2B5EF4-FFF2-40B4-BE49-F238E27FC236}">
                <a16:creationId xmlns:a16="http://schemas.microsoft.com/office/drawing/2014/main" id="{B99FFDAD-E9F8-EAEC-9838-DDCD73FFCB9A}"/>
              </a:ext>
            </a:extLst>
          </p:cNvPr>
          <p:cNvSpPr>
            <a:spLocks noGrp="1"/>
          </p:cNvSpPr>
          <p:nvPr>
            <p:ph type="subTitle" idx="13"/>
          </p:nvPr>
        </p:nvSpPr>
        <p:spPr/>
        <p:txBody>
          <a:bodyPr/>
          <a:lstStyle/>
          <a:p>
            <a:pPr algn="l"/>
            <a:r>
              <a:rPr lang="en-US" sz="2800" b="0">
                <a:solidFill>
                  <a:srgbClr val="CC0000"/>
                </a:solidFill>
                <a:latin typeface="Source Sans Pro" panose="020B0503030403020204" pitchFamily="34" charset="0"/>
                <a:ea typeface="Source Sans Pro" panose="020B0503030403020204" pitchFamily="34" charset="0"/>
                <a:cs typeface="Franklin Gothic Medium"/>
              </a:rPr>
              <a:t>Benefits of understanding your economic model</a:t>
            </a:r>
          </a:p>
          <a:p>
            <a:endParaRPr lang="en-US"/>
          </a:p>
        </p:txBody>
      </p:sp>
      <p:sp>
        <p:nvSpPr>
          <p:cNvPr id="4" name="Title 3">
            <a:extLst>
              <a:ext uri="{FF2B5EF4-FFF2-40B4-BE49-F238E27FC236}">
                <a16:creationId xmlns:a16="http://schemas.microsoft.com/office/drawing/2014/main" id="{BDED0849-1DDF-760D-99C5-20C9BB22E2DD}"/>
              </a:ext>
            </a:extLst>
          </p:cNvPr>
          <p:cNvSpPr>
            <a:spLocks noGrp="1"/>
          </p:cNvSpPr>
          <p:nvPr>
            <p:ph type="title"/>
          </p:nvPr>
        </p:nvSpPr>
        <p:spPr/>
        <p:txBody>
          <a:bodyPr>
            <a:normAutofit/>
          </a:bodyPr>
          <a:lstStyle/>
          <a:p>
            <a:r>
              <a:rPr lang="en-US" sz="2800"/>
              <a:t>Why This is Important</a:t>
            </a:r>
          </a:p>
        </p:txBody>
      </p:sp>
    </p:spTree>
    <p:extLst>
      <p:ext uri="{BB962C8B-B14F-4D97-AF65-F5344CB8AC3E}">
        <p14:creationId xmlns:p14="http://schemas.microsoft.com/office/powerpoint/2010/main" val="28825319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6FCA230-529B-10F5-9FBC-5178E80098F1}"/>
              </a:ext>
            </a:extLst>
          </p:cNvPr>
          <p:cNvSpPr>
            <a:spLocks noGrp="1"/>
          </p:cNvSpPr>
          <p:nvPr>
            <p:ph type="sldNum" sz="quarter" idx="4294967295"/>
          </p:nvPr>
        </p:nvSpPr>
        <p:spPr>
          <a:xfrm>
            <a:off x="8674100" y="6194425"/>
            <a:ext cx="469900" cy="365125"/>
          </a:xfrm>
        </p:spPr>
        <p:txBody>
          <a:bodyPr/>
          <a:lstStyle/>
          <a:p>
            <a:fld id="{EF13FA6D-C8B2-4F7A-9B51-E7C42DF59B48}" type="slidenum">
              <a:rPr lang="en-US" smtClean="0"/>
              <a:pPr/>
              <a:t>6</a:t>
            </a:fld>
            <a:endParaRPr lang="en-US" sz="900"/>
          </a:p>
        </p:txBody>
      </p:sp>
      <p:graphicFrame>
        <p:nvGraphicFramePr>
          <p:cNvPr id="7" name="Diagram 6">
            <a:extLst>
              <a:ext uri="{FF2B5EF4-FFF2-40B4-BE49-F238E27FC236}">
                <a16:creationId xmlns:a16="http://schemas.microsoft.com/office/drawing/2014/main" id="{7466961D-9E96-F464-6CF5-0D7E34BE4B16}"/>
              </a:ext>
            </a:extLst>
          </p:cNvPr>
          <p:cNvGraphicFramePr/>
          <p:nvPr>
            <p:extLst>
              <p:ext uri="{D42A27DB-BD31-4B8C-83A1-F6EECF244321}">
                <p14:modId xmlns:p14="http://schemas.microsoft.com/office/powerpoint/2010/main" val="4214099684"/>
              </p:ext>
            </p:extLst>
          </p:nvPr>
        </p:nvGraphicFramePr>
        <p:xfrm>
          <a:off x="1091565" y="1480185"/>
          <a:ext cx="6960870" cy="4714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DC829131-BD99-BD76-51AF-79C0771DD03F}"/>
              </a:ext>
            </a:extLst>
          </p:cNvPr>
          <p:cNvSpPr txBox="1">
            <a:spLocks/>
          </p:cNvSpPr>
          <p:nvPr/>
        </p:nvSpPr>
        <p:spPr>
          <a:xfrm>
            <a:off x="660083" y="391494"/>
            <a:ext cx="8281035" cy="762558"/>
          </a:xfrm>
          <a:prstGeom prst="rect">
            <a:avLst/>
          </a:prstGeom>
        </p:spPr>
        <p:txBody>
          <a:bodyPr vert="horz" lIns="91440" tIns="45720" rIns="91440" bIns="45720" rtlCol="0" anchor="b">
            <a:normAutofit/>
          </a:bodyPr>
          <a:lstStyle>
            <a:lvl1pPr algn="ctr" defTabSz="685749" rtl="0" eaLnBrk="1" latinLnBrk="0" hangingPunct="1">
              <a:lnSpc>
                <a:spcPts val="4500"/>
              </a:lnSpc>
              <a:spcBef>
                <a:spcPct val="0"/>
              </a:spcBef>
              <a:buNone/>
              <a:defRPr sz="4500" b="1" i="0" kern="1200" spc="-75" baseline="0">
                <a:solidFill>
                  <a:schemeClr val="bg1"/>
                </a:solidFill>
                <a:latin typeface="Source Sans Pro" charset="0"/>
                <a:ea typeface="Source Sans Pro" charset="0"/>
                <a:cs typeface="Source Sans Pro" charset="0"/>
              </a:defRPr>
            </a:lvl1pPr>
          </a:lstStyle>
          <a:p>
            <a:pPr defTabSz="965200" fontAlgn="base">
              <a:spcAft>
                <a:spcPct val="0"/>
              </a:spcAft>
            </a:pPr>
            <a:r>
              <a:rPr lang="en-US" altLang="en-US" sz="3200">
                <a:latin typeface="Source Sans Pro" panose="020B0503030403020204" pitchFamily="34" charset="0"/>
                <a:ea typeface="Source Sans Pro" panose="020B0503030403020204" pitchFamily="34" charset="0"/>
                <a:cs typeface="Franklin Gothic Demi" pitchFamily="34" charset="0"/>
              </a:rPr>
              <a:t>Economic Model of a Business</a:t>
            </a:r>
          </a:p>
        </p:txBody>
      </p:sp>
    </p:spTree>
    <p:extLst>
      <p:ext uri="{BB962C8B-B14F-4D97-AF65-F5344CB8AC3E}">
        <p14:creationId xmlns:p14="http://schemas.microsoft.com/office/powerpoint/2010/main" val="35694562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322650F-4CB9-31E8-0F6C-6DD21E49D111}"/>
              </a:ext>
            </a:extLst>
          </p:cNvPr>
          <p:cNvSpPr>
            <a:spLocks noGrp="1"/>
          </p:cNvSpPr>
          <p:nvPr>
            <p:ph idx="1"/>
          </p:nvPr>
        </p:nvSpPr>
        <p:spPr>
          <a:xfrm>
            <a:off x="771174" y="1271058"/>
            <a:ext cx="7886700" cy="4315883"/>
          </a:xfrm>
        </p:spPr>
        <p:txBody>
          <a:bodyPr/>
          <a:lstStyle/>
          <a:p>
            <a:pPr eaLnBrk="1" hangingPunct="1">
              <a:spcBef>
                <a:spcPts val="1275"/>
              </a:spcBef>
              <a:spcAft>
                <a:spcPts val="638"/>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How many ways does your company have to earn money? </a:t>
            </a:r>
          </a:p>
          <a:p>
            <a:pPr eaLnBrk="1" hangingPunct="1">
              <a:spcAft>
                <a:spcPts val="638"/>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One source or several?</a:t>
            </a:r>
          </a:p>
          <a:p>
            <a:pPr eaLnBrk="1" hangingPunct="1">
              <a:spcAft>
                <a:spcPts val="638"/>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Implications for risk?</a:t>
            </a:r>
          </a:p>
          <a:p>
            <a:pPr eaLnBrk="1" hangingPunct="1">
              <a:spcAft>
                <a:spcPts val="638"/>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Is this a competitive advantage?</a:t>
            </a:r>
          </a:p>
          <a:p>
            <a:pPr eaLnBrk="1" hangingPunct="1">
              <a:spcAft>
                <a:spcPts val="638"/>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Or a disadvantage? </a:t>
            </a:r>
          </a:p>
          <a:p>
            <a:endParaRPr lang="en-US"/>
          </a:p>
        </p:txBody>
      </p:sp>
      <p:sp>
        <p:nvSpPr>
          <p:cNvPr id="4" name="Slide Number Placeholder 3">
            <a:extLst>
              <a:ext uri="{FF2B5EF4-FFF2-40B4-BE49-F238E27FC236}">
                <a16:creationId xmlns:a16="http://schemas.microsoft.com/office/drawing/2014/main" id="{4D02AC5F-897D-FA47-4852-010B55E89F1D}"/>
              </a:ext>
            </a:extLst>
          </p:cNvPr>
          <p:cNvSpPr>
            <a:spLocks noGrp="1"/>
          </p:cNvSpPr>
          <p:nvPr>
            <p:ph type="sldNum" sz="quarter" idx="4"/>
          </p:nvPr>
        </p:nvSpPr>
        <p:spPr/>
        <p:txBody>
          <a:bodyPr/>
          <a:lstStyle/>
          <a:p>
            <a:fld id="{EF13FA6D-C8B2-4F7A-9B51-E7C42DF59B48}" type="slidenum">
              <a:rPr lang="en-US" smtClean="0"/>
              <a:pPr/>
              <a:t>7</a:t>
            </a:fld>
            <a:endParaRPr lang="en-US" sz="900"/>
          </a:p>
        </p:txBody>
      </p:sp>
      <p:sp>
        <p:nvSpPr>
          <p:cNvPr id="5" name="Title 4">
            <a:extLst>
              <a:ext uri="{FF2B5EF4-FFF2-40B4-BE49-F238E27FC236}">
                <a16:creationId xmlns:a16="http://schemas.microsoft.com/office/drawing/2014/main" id="{72364614-5810-5B7C-A496-EB67E36E4CF8}"/>
              </a:ext>
            </a:extLst>
          </p:cNvPr>
          <p:cNvSpPr>
            <a:spLocks noGrp="1"/>
          </p:cNvSpPr>
          <p:nvPr>
            <p:ph type="title"/>
          </p:nvPr>
        </p:nvSpPr>
        <p:spPr/>
        <p:txBody>
          <a:bodyPr>
            <a:normAutofit/>
          </a:bodyPr>
          <a:lstStyle/>
          <a:p>
            <a:r>
              <a:rPr lang="en-US" altLang="en-US" sz="2800">
                <a:solidFill>
                  <a:srgbClr val="002E6D"/>
                </a:solidFill>
                <a:latin typeface="Source Sans Pro" panose="020B0503030403020204" pitchFamily="34" charset="0"/>
                <a:ea typeface="Source Sans Pro" panose="020B0503030403020204" pitchFamily="34" charset="0"/>
                <a:cs typeface="Franklin Gothic Demi" pitchFamily="34" charset="0"/>
              </a:rPr>
              <a:t>Revenue Drivers</a:t>
            </a:r>
            <a:endParaRPr lang="en-US" sz="2800"/>
          </a:p>
        </p:txBody>
      </p:sp>
    </p:spTree>
    <p:extLst>
      <p:ext uri="{BB962C8B-B14F-4D97-AF65-F5344CB8AC3E}">
        <p14:creationId xmlns:p14="http://schemas.microsoft.com/office/powerpoint/2010/main" val="10359580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B5DBF2D-B200-BC61-1243-D804155362C7}"/>
              </a:ext>
            </a:extLst>
          </p:cNvPr>
          <p:cNvSpPr>
            <a:spLocks noGrp="1"/>
          </p:cNvSpPr>
          <p:nvPr>
            <p:ph type="sldNum" sz="quarter" idx="4"/>
          </p:nvPr>
        </p:nvSpPr>
        <p:spPr/>
        <p:txBody>
          <a:bodyPr/>
          <a:lstStyle/>
          <a:p>
            <a:fld id="{EF13FA6D-C8B2-4F7A-9B51-E7C42DF59B48}" type="slidenum">
              <a:rPr lang="en-US" smtClean="0"/>
              <a:pPr/>
              <a:t>8</a:t>
            </a:fld>
            <a:endParaRPr lang="en-US" sz="900"/>
          </a:p>
        </p:txBody>
      </p:sp>
      <p:sp>
        <p:nvSpPr>
          <p:cNvPr id="3" name="Title 2">
            <a:extLst>
              <a:ext uri="{FF2B5EF4-FFF2-40B4-BE49-F238E27FC236}">
                <a16:creationId xmlns:a16="http://schemas.microsoft.com/office/drawing/2014/main" id="{9D183DAA-8CF6-C648-7760-C7DB08BFD34A}"/>
              </a:ext>
            </a:extLst>
          </p:cNvPr>
          <p:cNvSpPr>
            <a:spLocks noGrp="1"/>
          </p:cNvSpPr>
          <p:nvPr>
            <p:ph type="title"/>
          </p:nvPr>
        </p:nvSpPr>
        <p:spPr/>
        <p:txBody>
          <a:bodyPr>
            <a:normAutofit/>
          </a:bodyPr>
          <a:lstStyle/>
          <a:p>
            <a:r>
              <a:rPr lang="en-US" altLang="en-US" sz="2800"/>
              <a:t>Example in Practice</a:t>
            </a:r>
            <a:endParaRPr lang="en-US" sz="2800"/>
          </a:p>
        </p:txBody>
      </p:sp>
      <p:grpSp>
        <p:nvGrpSpPr>
          <p:cNvPr id="6" name="Group 10">
            <a:extLst>
              <a:ext uri="{FF2B5EF4-FFF2-40B4-BE49-F238E27FC236}">
                <a16:creationId xmlns:a16="http://schemas.microsoft.com/office/drawing/2014/main" id="{846C6D8F-063B-E805-9613-651DA77C9EA5}"/>
              </a:ext>
            </a:extLst>
          </p:cNvPr>
          <p:cNvGrpSpPr>
            <a:grpSpLocks/>
          </p:cNvGrpSpPr>
          <p:nvPr/>
        </p:nvGrpSpPr>
        <p:grpSpPr bwMode="auto">
          <a:xfrm>
            <a:off x="138112" y="2419496"/>
            <a:ext cx="8867775" cy="1443038"/>
            <a:chOff x="28709" y="2054133"/>
            <a:chExt cx="8444179" cy="1352569"/>
          </a:xfrm>
        </p:grpSpPr>
        <p:sp>
          <p:nvSpPr>
            <p:cNvPr id="7" name="Content Placeholder 2">
              <a:extLst>
                <a:ext uri="{FF2B5EF4-FFF2-40B4-BE49-F238E27FC236}">
                  <a16:creationId xmlns:a16="http://schemas.microsoft.com/office/drawing/2014/main" id="{497EA3A1-A219-B948-D9B9-A601D5E24CFA}"/>
                </a:ext>
              </a:extLst>
            </p:cNvPr>
            <p:cNvSpPr txBox="1">
              <a:spLocks/>
            </p:cNvSpPr>
            <p:nvPr/>
          </p:nvSpPr>
          <p:spPr>
            <a:xfrm>
              <a:off x="28709" y="2054133"/>
              <a:ext cx="2974963" cy="1325785"/>
            </a:xfrm>
            <a:prstGeom prst="rect">
              <a:avLst/>
            </a:prstGeom>
          </p:spPr>
          <p:txBody>
            <a:bodyPr/>
            <a:lstStyle/>
            <a:p>
              <a:pPr marL="288641" indent="-288641" algn="ctr" defTabSz="966407" fontAlgn="auto">
                <a:spcBef>
                  <a:spcPct val="20000"/>
                </a:spcBef>
                <a:spcAft>
                  <a:spcPts val="0"/>
                </a:spcAft>
                <a:buClr>
                  <a:schemeClr val="accent1"/>
                </a:buClr>
                <a:buSzPct val="85000"/>
                <a:defRPr/>
              </a:pPr>
              <a:r>
                <a:rPr lang="en-US" sz="2800">
                  <a:solidFill>
                    <a:srgbClr val="CC0000"/>
                  </a:solidFill>
                  <a:latin typeface="Franklin Gothic Demi"/>
                  <a:cs typeface="Franklin Gothic Demi"/>
                </a:rPr>
                <a:t>Business</a:t>
              </a:r>
            </a:p>
            <a:p>
              <a:pPr marL="288641" indent="-288641" algn="ctr" defTabSz="966407" fontAlgn="auto">
                <a:spcBef>
                  <a:spcPct val="20000"/>
                </a:spcBef>
                <a:spcAft>
                  <a:spcPts val="0"/>
                </a:spcAft>
                <a:buClr>
                  <a:schemeClr val="accent1"/>
                </a:buClr>
                <a:buSzPct val="85000"/>
                <a:defRPr/>
              </a:pPr>
              <a:r>
                <a:rPr lang="en-US" sz="2800">
                  <a:solidFill>
                    <a:srgbClr val="CC0000"/>
                  </a:solidFill>
                  <a:latin typeface="Franklin Gothic Demi"/>
                  <a:cs typeface="Franklin Gothic Demi"/>
                </a:rPr>
                <a:t>Model</a:t>
              </a:r>
            </a:p>
            <a:p>
              <a:pPr marL="288641" indent="16781" algn="ctr" defTabSz="966407" fontAlgn="auto">
                <a:spcBef>
                  <a:spcPct val="20000"/>
                </a:spcBef>
                <a:spcAft>
                  <a:spcPts val="0"/>
                </a:spcAft>
                <a:buClr>
                  <a:schemeClr val="accent1"/>
                </a:buClr>
                <a:buSzPct val="85000"/>
                <a:defRPr/>
              </a:pPr>
              <a:endParaRPr lang="en-US" sz="3400">
                <a:solidFill>
                  <a:srgbClr val="AB162C"/>
                </a:solidFill>
                <a:latin typeface="Franklin Gothic Demi"/>
                <a:cs typeface="Franklin Gothic Demi"/>
              </a:endParaRPr>
            </a:p>
          </p:txBody>
        </p:sp>
        <p:sp>
          <p:nvSpPr>
            <p:cNvPr id="8" name="Content Placeholder 2">
              <a:extLst>
                <a:ext uri="{FF2B5EF4-FFF2-40B4-BE49-F238E27FC236}">
                  <a16:creationId xmlns:a16="http://schemas.microsoft.com/office/drawing/2014/main" id="{1546C0F9-5104-867A-A82F-4F72836418D7}"/>
                </a:ext>
              </a:extLst>
            </p:cNvPr>
            <p:cNvSpPr txBox="1">
              <a:spLocks/>
            </p:cNvSpPr>
            <p:nvPr/>
          </p:nvSpPr>
          <p:spPr>
            <a:xfrm>
              <a:off x="5497925" y="2080917"/>
              <a:ext cx="2974963" cy="1325785"/>
            </a:xfrm>
            <a:prstGeom prst="rect">
              <a:avLst/>
            </a:prstGeom>
          </p:spPr>
          <p:txBody>
            <a:bodyPr/>
            <a:lstStyle/>
            <a:p>
              <a:pPr marL="288641" indent="-288641" algn="ctr" defTabSz="966407" fontAlgn="auto">
                <a:spcBef>
                  <a:spcPct val="20000"/>
                </a:spcBef>
                <a:spcAft>
                  <a:spcPts val="0"/>
                </a:spcAft>
                <a:buClr>
                  <a:schemeClr val="accent1"/>
                </a:buClr>
                <a:buSzPct val="85000"/>
                <a:defRPr/>
              </a:pPr>
              <a:r>
                <a:rPr lang="en-US" sz="2800" b="1">
                  <a:solidFill>
                    <a:srgbClr val="CC0000"/>
                  </a:solidFill>
                  <a:latin typeface="Source Sans Pro" panose="020B0503030403020204" pitchFamily="34" charset="0"/>
                  <a:ea typeface="Source Sans Pro" panose="020B0503030403020204" pitchFamily="34" charset="0"/>
                  <a:cs typeface="Franklin Gothic Demi"/>
                </a:rPr>
                <a:t>Economic</a:t>
              </a:r>
            </a:p>
            <a:p>
              <a:pPr marL="288641" indent="-288641" algn="ctr" defTabSz="966407" fontAlgn="auto">
                <a:spcBef>
                  <a:spcPct val="20000"/>
                </a:spcBef>
                <a:spcAft>
                  <a:spcPts val="0"/>
                </a:spcAft>
                <a:buClr>
                  <a:schemeClr val="accent1"/>
                </a:buClr>
                <a:buSzPct val="85000"/>
                <a:defRPr/>
              </a:pPr>
              <a:r>
                <a:rPr lang="en-US" sz="2800" b="1">
                  <a:solidFill>
                    <a:srgbClr val="CC0000"/>
                  </a:solidFill>
                  <a:latin typeface="Source Sans Pro" panose="020B0503030403020204" pitchFamily="34" charset="0"/>
                  <a:ea typeface="Source Sans Pro" panose="020B0503030403020204" pitchFamily="34" charset="0"/>
                  <a:cs typeface="Franklin Gothic Demi"/>
                </a:rPr>
                <a:t>Model</a:t>
              </a:r>
            </a:p>
            <a:p>
              <a:pPr marL="288641" indent="16781" algn="ctr" defTabSz="966407" fontAlgn="auto">
                <a:spcBef>
                  <a:spcPct val="20000"/>
                </a:spcBef>
                <a:spcAft>
                  <a:spcPts val="0"/>
                </a:spcAft>
                <a:buClr>
                  <a:schemeClr val="accent1"/>
                </a:buClr>
                <a:buSzPct val="85000"/>
                <a:defRPr/>
              </a:pPr>
              <a:endParaRPr lang="en-US" sz="3400">
                <a:solidFill>
                  <a:srgbClr val="AB162C"/>
                </a:solidFill>
                <a:latin typeface="Franklin Gothic Demi"/>
                <a:cs typeface="Franklin Gothic Demi"/>
              </a:endParaRPr>
            </a:p>
          </p:txBody>
        </p:sp>
      </p:grpSp>
      <p:cxnSp>
        <p:nvCxnSpPr>
          <p:cNvPr id="9" name="Elbow Connector 16">
            <a:extLst>
              <a:ext uri="{FF2B5EF4-FFF2-40B4-BE49-F238E27FC236}">
                <a16:creationId xmlns:a16="http://schemas.microsoft.com/office/drawing/2014/main" id="{3FC18A04-2C7D-2895-8858-613CEA6C0024}"/>
              </a:ext>
            </a:extLst>
          </p:cNvPr>
          <p:cNvCxnSpPr/>
          <p:nvPr/>
        </p:nvCxnSpPr>
        <p:spPr>
          <a:xfrm>
            <a:off x="4572000" y="2245457"/>
            <a:ext cx="1760538" cy="649287"/>
          </a:xfrm>
          <a:prstGeom prst="bentConnector3">
            <a:avLst/>
          </a:prstGeom>
          <a:ln>
            <a:solidFill>
              <a:srgbClr val="001970"/>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10" name="Elbow Connector 18">
            <a:extLst>
              <a:ext uri="{FF2B5EF4-FFF2-40B4-BE49-F238E27FC236}">
                <a16:creationId xmlns:a16="http://schemas.microsoft.com/office/drawing/2014/main" id="{28BEFBB4-FE05-72D5-1A14-1235EF931C85}"/>
              </a:ext>
            </a:extLst>
          </p:cNvPr>
          <p:cNvCxnSpPr/>
          <p:nvPr/>
        </p:nvCxnSpPr>
        <p:spPr>
          <a:xfrm rot="10800000" flipV="1">
            <a:off x="2732088" y="2245457"/>
            <a:ext cx="1839912" cy="649287"/>
          </a:xfrm>
          <a:prstGeom prst="bentConnector3">
            <a:avLst/>
          </a:prstGeom>
          <a:ln>
            <a:solidFill>
              <a:srgbClr val="001970"/>
            </a:solidFill>
            <a:tailEnd type="arrow"/>
          </a:ln>
          <a:effectLst/>
        </p:spPr>
        <p:style>
          <a:lnRef idx="2">
            <a:schemeClr val="accent1"/>
          </a:lnRef>
          <a:fillRef idx="0">
            <a:schemeClr val="accent1"/>
          </a:fillRef>
          <a:effectRef idx="1">
            <a:schemeClr val="accent1"/>
          </a:effectRef>
          <a:fontRef idx="minor">
            <a:schemeClr val="tx1"/>
          </a:fontRef>
        </p:style>
      </p:cxnSp>
      <p:pic>
        <p:nvPicPr>
          <p:cNvPr id="11" name="Picture 2">
            <a:extLst>
              <a:ext uri="{FF2B5EF4-FFF2-40B4-BE49-F238E27FC236}">
                <a16:creationId xmlns:a16="http://schemas.microsoft.com/office/drawing/2014/main" id="{B7583C99-5ADB-CBA2-43CA-7E385EB637B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930564" y="3068783"/>
            <a:ext cx="3298863" cy="3298863"/>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612689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876923-AB4F-490E-2C77-EAF1E6F56169}"/>
              </a:ext>
            </a:extLst>
          </p:cNvPr>
          <p:cNvSpPr>
            <a:spLocks noGrp="1"/>
          </p:cNvSpPr>
          <p:nvPr>
            <p:ph type="sldNum" sz="quarter" idx="4"/>
          </p:nvPr>
        </p:nvSpPr>
        <p:spPr/>
        <p:txBody>
          <a:bodyPr/>
          <a:lstStyle/>
          <a:p>
            <a:fld id="{EF13FA6D-C8B2-4F7A-9B51-E7C42DF59B48}" type="slidenum">
              <a:rPr lang="en-US" smtClean="0"/>
              <a:pPr/>
              <a:t>9</a:t>
            </a:fld>
            <a:endParaRPr lang="en-US" sz="900"/>
          </a:p>
        </p:txBody>
      </p:sp>
      <p:sp>
        <p:nvSpPr>
          <p:cNvPr id="6" name="Title 5">
            <a:extLst>
              <a:ext uri="{FF2B5EF4-FFF2-40B4-BE49-F238E27FC236}">
                <a16:creationId xmlns:a16="http://schemas.microsoft.com/office/drawing/2014/main" id="{1F40585C-F95F-6184-55D0-5D2EE23605AC}"/>
              </a:ext>
            </a:extLst>
          </p:cNvPr>
          <p:cNvSpPr>
            <a:spLocks noGrp="1"/>
          </p:cNvSpPr>
          <p:nvPr>
            <p:ph type="title"/>
          </p:nvPr>
        </p:nvSpPr>
        <p:spPr/>
        <p:txBody>
          <a:bodyPr>
            <a:normAutofit/>
          </a:bodyPr>
          <a:lstStyle/>
          <a:p>
            <a:r>
              <a:rPr lang="en-US" sz="2800"/>
              <a:t>Example</a:t>
            </a:r>
          </a:p>
        </p:txBody>
      </p:sp>
      <p:sp>
        <p:nvSpPr>
          <p:cNvPr id="7" name="Rectangle 5">
            <a:extLst>
              <a:ext uri="{FF2B5EF4-FFF2-40B4-BE49-F238E27FC236}">
                <a16:creationId xmlns:a16="http://schemas.microsoft.com/office/drawing/2014/main" id="{1CF4BA8E-E293-F539-0D7E-FEADA65349F0}"/>
              </a:ext>
            </a:extLst>
          </p:cNvPr>
          <p:cNvSpPr>
            <a:spLocks noChangeArrowheads="1"/>
          </p:cNvSpPr>
          <p:nvPr/>
        </p:nvSpPr>
        <p:spPr bwMode="auto">
          <a:xfrm>
            <a:off x="2050979" y="5037852"/>
            <a:ext cx="4800600" cy="959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spcBef>
                <a:spcPct val="0"/>
              </a:spcBef>
              <a:buFontTx/>
              <a:buNone/>
            </a:pPr>
            <a:r>
              <a:rPr lang="en-US" altLang="en-US" sz="2800">
                <a:solidFill>
                  <a:srgbClr val="CC0000"/>
                </a:solidFill>
                <a:latin typeface="Source Sans Pro" panose="020B0503030403020204" pitchFamily="34" charset="0"/>
                <a:ea typeface="Source Sans Pro" panose="020B0503030403020204" pitchFamily="34" charset="0"/>
              </a:rPr>
              <a:t>What does this mean for the economic model?</a:t>
            </a:r>
          </a:p>
        </p:txBody>
      </p:sp>
      <p:sp>
        <p:nvSpPr>
          <p:cNvPr id="10" name="TextBox 9">
            <a:extLst>
              <a:ext uri="{FF2B5EF4-FFF2-40B4-BE49-F238E27FC236}">
                <a16:creationId xmlns:a16="http://schemas.microsoft.com/office/drawing/2014/main" id="{1E226790-B333-CA92-9D95-80C6BA8744F8}"/>
              </a:ext>
            </a:extLst>
          </p:cNvPr>
          <p:cNvSpPr txBox="1">
            <a:spLocks noChangeArrowheads="1"/>
          </p:cNvSpPr>
          <p:nvPr/>
        </p:nvSpPr>
        <p:spPr bwMode="auto">
          <a:xfrm>
            <a:off x="799720" y="1942311"/>
            <a:ext cx="3772280" cy="466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eaLnBrk="1" hangingPunct="1">
              <a:spcBef>
                <a:spcPct val="0"/>
              </a:spcBef>
              <a:buFontTx/>
              <a:buNone/>
            </a:pPr>
            <a:r>
              <a:rPr lang="en-US" altLang="en-US" sz="2400" b="1">
                <a:solidFill>
                  <a:schemeClr val="tx2"/>
                </a:solidFill>
                <a:latin typeface="Source Sans Pro" panose="020B0503030403020204" pitchFamily="34" charset="0"/>
                <a:ea typeface="Source Sans Pro" panose="020B0503030403020204" pitchFamily="34" charset="0"/>
              </a:rPr>
              <a:t>Porsche </a:t>
            </a:r>
            <a:r>
              <a:rPr lang="en-US" altLang="en-US" sz="2400" b="1" err="1">
                <a:solidFill>
                  <a:schemeClr val="tx2"/>
                </a:solidFill>
                <a:latin typeface="Source Sans Pro" panose="020B0503030403020204" pitchFamily="34" charset="0"/>
                <a:ea typeface="Source Sans Pro" panose="020B0503030403020204" pitchFamily="34" charset="0"/>
              </a:rPr>
              <a:t>Taycan</a:t>
            </a:r>
            <a:r>
              <a:rPr lang="en-US" altLang="en-US" sz="2400" b="1">
                <a:solidFill>
                  <a:schemeClr val="tx2"/>
                </a:solidFill>
                <a:latin typeface="Source Sans Pro" panose="020B0503030403020204" pitchFamily="34" charset="0"/>
                <a:ea typeface="Source Sans Pro" panose="020B0503030403020204" pitchFamily="34" charset="0"/>
              </a:rPr>
              <a:t> -- $91K</a:t>
            </a:r>
          </a:p>
        </p:txBody>
      </p:sp>
      <p:sp>
        <p:nvSpPr>
          <p:cNvPr id="11" name="TextBox 12">
            <a:extLst>
              <a:ext uri="{FF2B5EF4-FFF2-40B4-BE49-F238E27FC236}">
                <a16:creationId xmlns:a16="http://schemas.microsoft.com/office/drawing/2014/main" id="{7D36C01D-EC38-6C02-6070-AEB6F76A1218}"/>
              </a:ext>
            </a:extLst>
          </p:cNvPr>
          <p:cNvSpPr txBox="1">
            <a:spLocks noChangeArrowheads="1"/>
          </p:cNvSpPr>
          <p:nvPr/>
        </p:nvSpPr>
        <p:spPr bwMode="auto">
          <a:xfrm>
            <a:off x="5152954" y="1942311"/>
            <a:ext cx="3546843" cy="466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eaLnBrk="1" hangingPunct="1">
              <a:spcBef>
                <a:spcPct val="0"/>
              </a:spcBef>
              <a:buFontTx/>
              <a:buNone/>
            </a:pPr>
            <a:r>
              <a:rPr lang="en-US" altLang="en-US" sz="2400" b="1" dirty="0">
                <a:solidFill>
                  <a:schemeClr val="tx2"/>
                </a:solidFill>
                <a:latin typeface="Source Sans Pro" panose="020B0503030403020204" pitchFamily="34" charset="0"/>
                <a:ea typeface="Source Sans Pro" panose="020B0503030403020204" pitchFamily="34" charset="0"/>
              </a:rPr>
              <a:t>Nissan Versa -- $16K</a:t>
            </a:r>
          </a:p>
        </p:txBody>
      </p:sp>
      <p:pic>
        <p:nvPicPr>
          <p:cNvPr id="1026" name="Picture 2">
            <a:extLst>
              <a:ext uri="{FF2B5EF4-FFF2-40B4-BE49-F238E27FC236}">
                <a16:creationId xmlns:a16="http://schemas.microsoft.com/office/drawing/2014/main" id="{BCE5DF0B-E6D0-5070-6C13-A42649F82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840" y="2472309"/>
            <a:ext cx="3546844" cy="266013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Porsche Taycan Turbo S Cross Turismo 2022 - 3D Model by Creator 3D">
            <a:extLst>
              <a:ext uri="{FF2B5EF4-FFF2-40B4-BE49-F238E27FC236}">
                <a16:creationId xmlns:a16="http://schemas.microsoft.com/office/drawing/2014/main" id="{E72F4B3B-168D-8551-40FD-2ABEC4D6286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897" y="2701687"/>
            <a:ext cx="3493167" cy="19649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5865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848616-2F24-01ED-9A6C-86E6986948D2}"/>
              </a:ext>
            </a:extLst>
          </p:cNvPr>
          <p:cNvSpPr>
            <a:spLocks noGrp="1"/>
          </p:cNvSpPr>
          <p:nvPr>
            <p:ph type="sldNum" sz="quarter" idx="4"/>
          </p:nvPr>
        </p:nvSpPr>
        <p:spPr/>
        <p:txBody>
          <a:bodyPr/>
          <a:lstStyle/>
          <a:p>
            <a:fld id="{EF13FA6D-C8B2-4F7A-9B51-E7C42DF59B48}" type="slidenum">
              <a:rPr lang="en-US" smtClean="0"/>
              <a:pPr/>
              <a:t>10</a:t>
            </a:fld>
            <a:endParaRPr lang="en-US" sz="900"/>
          </a:p>
        </p:txBody>
      </p:sp>
      <p:sp>
        <p:nvSpPr>
          <p:cNvPr id="8" name="Title 7">
            <a:extLst>
              <a:ext uri="{FF2B5EF4-FFF2-40B4-BE49-F238E27FC236}">
                <a16:creationId xmlns:a16="http://schemas.microsoft.com/office/drawing/2014/main" id="{C06A2FFF-F5D2-AE74-80B8-88981E8F4EB4}"/>
              </a:ext>
            </a:extLst>
          </p:cNvPr>
          <p:cNvSpPr>
            <a:spLocks noGrp="1"/>
          </p:cNvSpPr>
          <p:nvPr>
            <p:ph type="title"/>
          </p:nvPr>
        </p:nvSpPr>
        <p:spPr/>
        <p:txBody>
          <a:bodyPr>
            <a:normAutofit/>
          </a:bodyPr>
          <a:lstStyle/>
          <a:p>
            <a:r>
              <a:rPr lang="en-US" sz="2800"/>
              <a:t>Margins</a:t>
            </a:r>
          </a:p>
        </p:txBody>
      </p:sp>
      <p:sp>
        <p:nvSpPr>
          <p:cNvPr id="9" name="Rectangle 3">
            <a:extLst>
              <a:ext uri="{FF2B5EF4-FFF2-40B4-BE49-F238E27FC236}">
                <a16:creationId xmlns:a16="http://schemas.microsoft.com/office/drawing/2014/main" id="{FDCDA21E-23B5-B2E7-728A-2200072EFBC6}"/>
              </a:ext>
            </a:extLst>
          </p:cNvPr>
          <p:cNvSpPr txBox="1">
            <a:spLocks noChangeArrowheads="1"/>
          </p:cNvSpPr>
          <p:nvPr/>
        </p:nvSpPr>
        <p:spPr>
          <a:xfrm>
            <a:off x="524690" y="1163352"/>
            <a:ext cx="8094619" cy="5213518"/>
          </a:xfrm>
          <a:prstGeom prst="rect">
            <a:avLst/>
          </a:prstGeom>
        </p:spPr>
        <p:txBody>
          <a:bodyPr vert="horz" lIns="91440" tIns="45720" rIns="91440" bIns="45720" rtlCol="0">
            <a:normAutofit/>
          </a:bodyPr>
          <a:lstStyle>
            <a:lvl1pPr marL="171438" indent="-171438" algn="l" defTabSz="685749" rtl="0" eaLnBrk="1" latinLnBrk="0" hangingPunct="1">
              <a:lnSpc>
                <a:spcPct val="90000"/>
              </a:lnSpc>
              <a:spcBef>
                <a:spcPts val="750"/>
              </a:spcBef>
              <a:buFont typeface="Arial"/>
              <a:buChar char="•"/>
              <a:defRPr sz="2100" kern="1200">
                <a:solidFill>
                  <a:schemeClr val="tx1"/>
                </a:solidFill>
                <a:latin typeface="Source Sans Pro" charset="0"/>
                <a:ea typeface="Source Sans Pro" charset="0"/>
                <a:cs typeface="Source Sans Pro" charset="0"/>
              </a:defRPr>
            </a:lvl1pPr>
            <a:lvl2pPr marL="514313" indent="-171438" algn="l" defTabSz="685749" rtl="0" eaLnBrk="1" latinLnBrk="0" hangingPunct="1">
              <a:lnSpc>
                <a:spcPct val="90000"/>
              </a:lnSpc>
              <a:spcBef>
                <a:spcPts val="375"/>
              </a:spcBef>
              <a:buFont typeface="Arial"/>
              <a:buChar char="•"/>
              <a:defRPr sz="1800" kern="1200">
                <a:solidFill>
                  <a:schemeClr val="tx1"/>
                </a:solidFill>
                <a:latin typeface="Source Sans Pro" charset="0"/>
                <a:ea typeface="Source Sans Pro" charset="0"/>
                <a:cs typeface="Source Sans Pro" charset="0"/>
              </a:defRPr>
            </a:lvl2pPr>
            <a:lvl3pPr marL="857186" indent="-171438" algn="l" defTabSz="685749" rtl="0" eaLnBrk="1" latinLnBrk="0" hangingPunct="1">
              <a:lnSpc>
                <a:spcPct val="90000"/>
              </a:lnSpc>
              <a:spcBef>
                <a:spcPts val="375"/>
              </a:spcBef>
              <a:buFont typeface="Arial"/>
              <a:buChar char="•"/>
              <a:defRPr sz="1500" kern="1200">
                <a:solidFill>
                  <a:schemeClr val="tx1"/>
                </a:solidFill>
                <a:latin typeface="Source Sans Pro" charset="0"/>
                <a:ea typeface="Source Sans Pro" charset="0"/>
                <a:cs typeface="Source Sans Pro" charset="0"/>
              </a:defRPr>
            </a:lvl3pPr>
            <a:lvl4pPr marL="1200060"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4pPr>
            <a:lvl5pPr marL="1542935"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5pPr>
            <a:lvl6pPr marL="1885809"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684"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558"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433"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defTabSz="966440">
              <a:spcBef>
                <a:spcPts val="1269"/>
              </a:spcBef>
              <a:spcAft>
                <a:spcPts val="1269"/>
              </a:spcAft>
              <a:buFont typeface="Arial" pitchFamily="34" charset="0"/>
              <a:buNone/>
              <a:defRPr/>
            </a:pPr>
            <a:r>
              <a:rPr lang="en-US" sz="2400">
                <a:solidFill>
                  <a:schemeClr val="tx2"/>
                </a:solidFill>
                <a:latin typeface="Source Sans Pro" panose="020B0503030403020204" pitchFamily="34" charset="0"/>
                <a:ea typeface="Source Sans Pro" panose="020B0503030403020204" pitchFamily="34" charset="0"/>
                <a:cs typeface="Franklin Gothic Medium"/>
              </a:rPr>
              <a:t>Difference between </a:t>
            </a:r>
            <a:r>
              <a:rPr lang="en-US" sz="2400" i="1">
                <a:solidFill>
                  <a:schemeClr val="tx2"/>
                </a:solidFill>
                <a:latin typeface="Source Sans Pro" panose="020B0503030403020204" pitchFamily="34" charset="0"/>
                <a:ea typeface="Source Sans Pro" panose="020B0503030403020204" pitchFamily="34" charset="0"/>
                <a:cs typeface="Franklin Gothic Medium"/>
              </a:rPr>
              <a:t>Price and Cost</a:t>
            </a:r>
            <a:endParaRPr lang="en-US" sz="2400" i="1">
              <a:solidFill>
                <a:schemeClr val="tx2"/>
              </a:solidFill>
              <a:effectLst>
                <a:outerShdw blurRad="38100" dist="38100" dir="2700000" algn="tl">
                  <a:srgbClr val="000000">
                    <a:alpha val="43137"/>
                  </a:srgbClr>
                </a:outerShdw>
              </a:effectLst>
              <a:latin typeface="Source Sans Pro" panose="020B0503030403020204" pitchFamily="34" charset="0"/>
              <a:ea typeface="Source Sans Pro" panose="020B0503030403020204" pitchFamily="34" charset="0"/>
              <a:cs typeface="Franklin Gothic Medium"/>
            </a:endParaRPr>
          </a:p>
          <a:p>
            <a:pPr marL="785232" lvl="1" indent="-302012" defTabSz="966440">
              <a:spcBef>
                <a:spcPts val="1269"/>
              </a:spcBef>
              <a:spcAft>
                <a:spcPts val="1269"/>
              </a:spcAft>
              <a:defRPr/>
            </a:pPr>
            <a:r>
              <a:rPr lang="en-US" sz="2400">
                <a:solidFill>
                  <a:schemeClr val="tx2"/>
                </a:solidFill>
                <a:latin typeface="Source Sans Pro" panose="020B0503030403020204" pitchFamily="34" charset="0"/>
                <a:ea typeface="Source Sans Pro" panose="020B0503030403020204" pitchFamily="34" charset="0"/>
                <a:cs typeface="Franklin Gothic Book"/>
              </a:rPr>
              <a:t>What </a:t>
            </a:r>
            <a:r>
              <a:rPr lang="en-US" sz="2400" i="1">
                <a:solidFill>
                  <a:schemeClr val="tx2"/>
                </a:solidFill>
                <a:latin typeface="Source Sans Pro" panose="020B0503030403020204" pitchFamily="34" charset="0"/>
                <a:ea typeface="Source Sans Pro" panose="020B0503030403020204" pitchFamily="34" charset="0"/>
                <a:cs typeface="Franklin Gothic Book"/>
              </a:rPr>
              <a:t>price</a:t>
            </a:r>
            <a:r>
              <a:rPr lang="en-US" sz="2400">
                <a:solidFill>
                  <a:schemeClr val="tx2"/>
                </a:solidFill>
                <a:latin typeface="Source Sans Pro" panose="020B0503030403020204" pitchFamily="34" charset="0"/>
                <a:ea typeface="Source Sans Pro" panose="020B0503030403020204" pitchFamily="34" charset="0"/>
                <a:cs typeface="Franklin Gothic Book"/>
              </a:rPr>
              <a:t> do you charge for your product or service? </a:t>
            </a:r>
          </a:p>
          <a:p>
            <a:pPr marL="785232" lvl="1" indent="-302012" defTabSz="966440">
              <a:spcBef>
                <a:spcPts val="1269"/>
              </a:spcBef>
              <a:spcAft>
                <a:spcPts val="1269"/>
              </a:spcAft>
              <a:defRPr/>
            </a:pPr>
            <a:r>
              <a:rPr lang="en-US" sz="2400">
                <a:solidFill>
                  <a:schemeClr val="tx2"/>
                </a:solidFill>
                <a:latin typeface="Source Sans Pro" panose="020B0503030403020204" pitchFamily="34" charset="0"/>
                <a:ea typeface="Source Sans Pro" panose="020B0503030403020204" pitchFamily="34" charset="0"/>
                <a:cs typeface="Franklin Gothic Book"/>
              </a:rPr>
              <a:t>How much does it </a:t>
            </a:r>
            <a:r>
              <a:rPr lang="en-US" sz="2400" i="1">
                <a:solidFill>
                  <a:schemeClr val="tx2"/>
                </a:solidFill>
                <a:latin typeface="Source Sans Pro" panose="020B0503030403020204" pitchFamily="34" charset="0"/>
                <a:ea typeface="Source Sans Pro" panose="020B0503030403020204" pitchFamily="34" charset="0"/>
                <a:cs typeface="Franklin Gothic Book"/>
              </a:rPr>
              <a:t>cost</a:t>
            </a:r>
            <a:r>
              <a:rPr lang="en-US" sz="2400">
                <a:solidFill>
                  <a:schemeClr val="tx2"/>
                </a:solidFill>
                <a:latin typeface="Source Sans Pro" panose="020B0503030403020204" pitchFamily="34" charset="0"/>
                <a:ea typeface="Source Sans Pro" panose="020B0503030403020204" pitchFamily="34" charset="0"/>
                <a:cs typeface="Franklin Gothic Book"/>
              </a:rPr>
              <a:t> you to deliver that single unit of product or service? </a:t>
            </a:r>
          </a:p>
          <a:p>
            <a:pPr marL="785232" lvl="1" indent="-302012" defTabSz="966440">
              <a:spcBef>
                <a:spcPts val="1269"/>
              </a:spcBef>
              <a:spcAft>
                <a:spcPts val="1269"/>
              </a:spcAft>
              <a:defRPr/>
            </a:pPr>
            <a:r>
              <a:rPr lang="en-US" sz="2400">
                <a:solidFill>
                  <a:schemeClr val="tx2"/>
                </a:solidFill>
                <a:latin typeface="Source Sans Pro" panose="020B0503030403020204" pitchFamily="34" charset="0"/>
                <a:ea typeface="Source Sans Pro" panose="020B0503030403020204" pitchFamily="34" charset="0"/>
                <a:cs typeface="Franklin Gothic Book"/>
              </a:rPr>
              <a:t>Does the difference between the price you charge and the cost of production provide adequate cash to cover fixed operating expenses and generate a profit?</a:t>
            </a:r>
          </a:p>
          <a:p>
            <a:pPr marL="966612" lvl="2" indent="0" defTabSz="966440">
              <a:spcBef>
                <a:spcPts val="1269"/>
              </a:spcBef>
              <a:spcAft>
                <a:spcPts val="1269"/>
              </a:spcAft>
              <a:buFont typeface="Arial"/>
              <a:buNone/>
              <a:defRPr/>
            </a:pPr>
            <a:endParaRPr lang="en-US">
              <a:solidFill>
                <a:srgbClr val="000000"/>
              </a:solidFill>
              <a:latin typeface="Franklin Gothic Book"/>
              <a:cs typeface="Franklin Gothic Book"/>
            </a:endParaRPr>
          </a:p>
          <a:p>
            <a:pPr marL="2174491" lvl="4" indent="-241611" defTabSz="966440">
              <a:spcBef>
                <a:spcPts val="1269"/>
              </a:spcBef>
              <a:spcAft>
                <a:spcPts val="1269"/>
              </a:spcAft>
              <a:buFont typeface="Arial"/>
              <a:buNone/>
              <a:defRPr/>
            </a:pPr>
            <a:endParaRPr lang="en-US">
              <a:solidFill>
                <a:srgbClr val="000000"/>
              </a:solidFill>
              <a:latin typeface="Franklin Gothic Book"/>
              <a:cs typeface="Franklin Gothic Book"/>
            </a:endParaRPr>
          </a:p>
        </p:txBody>
      </p:sp>
    </p:spTree>
    <p:extLst>
      <p:ext uri="{BB962C8B-B14F-4D97-AF65-F5344CB8AC3E}">
        <p14:creationId xmlns:p14="http://schemas.microsoft.com/office/powerpoint/2010/main" val="33001231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9AA8E4-9DBD-7E11-D371-840459F10513}"/>
              </a:ext>
            </a:extLst>
          </p:cNvPr>
          <p:cNvSpPr>
            <a:spLocks noGrp="1"/>
          </p:cNvSpPr>
          <p:nvPr>
            <p:ph type="ctrTitle"/>
          </p:nvPr>
        </p:nvSpPr>
        <p:spPr>
          <a:xfrm>
            <a:off x="1143000" y="226034"/>
            <a:ext cx="6858000" cy="811658"/>
          </a:xfrm>
        </p:spPr>
        <p:txBody>
          <a:bodyPr>
            <a:normAutofit/>
          </a:bodyPr>
          <a:lstStyle/>
          <a:p>
            <a:r>
              <a:rPr lang="en-US" sz="2800">
                <a:solidFill>
                  <a:schemeClr val="tx2"/>
                </a:solidFill>
              </a:rPr>
              <a:t>Example</a:t>
            </a:r>
          </a:p>
        </p:txBody>
      </p:sp>
      <p:sp>
        <p:nvSpPr>
          <p:cNvPr id="3" name="Slide Number Placeholder 2">
            <a:extLst>
              <a:ext uri="{FF2B5EF4-FFF2-40B4-BE49-F238E27FC236}">
                <a16:creationId xmlns:a16="http://schemas.microsoft.com/office/drawing/2014/main" id="{81AE94AA-1684-1FA3-ECCC-3B34F0EAA88F}"/>
              </a:ext>
            </a:extLst>
          </p:cNvPr>
          <p:cNvSpPr>
            <a:spLocks noGrp="1"/>
          </p:cNvSpPr>
          <p:nvPr>
            <p:ph type="sldNum" sz="quarter" idx="4294967295"/>
          </p:nvPr>
        </p:nvSpPr>
        <p:spPr>
          <a:xfrm>
            <a:off x="8674100" y="6194425"/>
            <a:ext cx="469900" cy="365125"/>
          </a:xfrm>
        </p:spPr>
        <p:txBody>
          <a:bodyPr/>
          <a:lstStyle/>
          <a:p>
            <a:fld id="{EF13FA6D-C8B2-4F7A-9B51-E7C42DF59B48}" type="slidenum">
              <a:rPr lang="en-US" smtClean="0"/>
              <a:pPr/>
              <a:t>11</a:t>
            </a:fld>
            <a:endParaRPr lang="en-US" sz="900"/>
          </a:p>
        </p:txBody>
      </p:sp>
      <p:pic>
        <p:nvPicPr>
          <p:cNvPr id="5" name="Picture 5">
            <a:extLst>
              <a:ext uri="{FF2B5EF4-FFF2-40B4-BE49-F238E27FC236}">
                <a16:creationId xmlns:a16="http://schemas.microsoft.com/office/drawing/2014/main" id="{C5F8219C-90CD-DC63-9109-0E89CD8271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6464" y="2208565"/>
            <a:ext cx="3783013" cy="201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755844C3-38A6-67FF-3CB0-386B78CEDC3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p:blipFill>
        <p:spPr bwMode="auto">
          <a:xfrm>
            <a:off x="4572000" y="2208565"/>
            <a:ext cx="4038600" cy="2019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5">
            <a:extLst>
              <a:ext uri="{FF2B5EF4-FFF2-40B4-BE49-F238E27FC236}">
                <a16:creationId xmlns:a16="http://schemas.microsoft.com/office/drawing/2014/main" id="{CDD806F1-2029-BC3D-7563-872EBBB0E2DB}"/>
              </a:ext>
            </a:extLst>
          </p:cNvPr>
          <p:cNvSpPr>
            <a:spLocks noChangeArrowheads="1"/>
          </p:cNvSpPr>
          <p:nvPr/>
        </p:nvSpPr>
        <p:spPr bwMode="auto">
          <a:xfrm>
            <a:off x="2293676" y="4688757"/>
            <a:ext cx="4800600" cy="959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spcBef>
                <a:spcPct val="0"/>
              </a:spcBef>
              <a:buFontTx/>
              <a:buNone/>
            </a:pPr>
            <a:r>
              <a:rPr lang="en-US" altLang="en-US" sz="2800">
                <a:solidFill>
                  <a:srgbClr val="CC0000"/>
                </a:solidFill>
                <a:latin typeface="Source Sans Pro" panose="020B0503030403020204" pitchFamily="34" charset="0"/>
                <a:ea typeface="Source Sans Pro" panose="020B0503030403020204" pitchFamily="34" charset="0"/>
              </a:rPr>
              <a:t>What does this mean for the economic model?</a:t>
            </a:r>
          </a:p>
        </p:txBody>
      </p:sp>
    </p:spTree>
    <p:extLst>
      <p:ext uri="{BB962C8B-B14F-4D97-AF65-F5344CB8AC3E}">
        <p14:creationId xmlns:p14="http://schemas.microsoft.com/office/powerpoint/2010/main" val="2397546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E2CEEE76-C142-0A93-567D-5CEE755A12E6}"/>
              </a:ext>
            </a:extLst>
          </p:cNvPr>
          <p:cNvSpPr>
            <a:spLocks noGrp="1"/>
          </p:cNvSpPr>
          <p:nvPr>
            <p:ph idx="1"/>
          </p:nvPr>
        </p:nvSpPr>
        <p:spPr>
          <a:xfrm>
            <a:off x="750012" y="1271058"/>
            <a:ext cx="7448765" cy="4174245"/>
          </a:xfrm>
        </p:spPr>
        <p:txBody>
          <a:bodyPr>
            <a:normAutofit/>
          </a:bodyPr>
          <a:lstStyle/>
          <a:p>
            <a:pPr marL="173038" indent="0" eaLnBrk="1" hangingPunct="1">
              <a:spcBef>
                <a:spcPts val="1275"/>
              </a:spcBef>
              <a:spcAft>
                <a:spcPts val="1275"/>
              </a:spcAft>
              <a:buFont typeface="Arial" charset="0"/>
              <a:buNone/>
            </a:pPr>
            <a:r>
              <a:rPr lang="en-US" altLang="en-US" sz="2400">
                <a:solidFill>
                  <a:srgbClr val="CC0000"/>
                </a:solidFill>
                <a:latin typeface="Source Sans Pro" panose="020B0503030403020204" pitchFamily="34" charset="0"/>
                <a:ea typeface="Source Sans Pro" panose="020B0503030403020204" pitchFamily="34" charset="0"/>
                <a:cs typeface="Franklin Gothic Medium" pitchFamily="34" charset="0"/>
              </a:rPr>
              <a:t>The number of units of product or service you are selling or providing.</a:t>
            </a:r>
          </a:p>
          <a:p>
            <a:pPr lvl="2" eaLnBrk="1" hangingPunct="1">
              <a:spcBef>
                <a:spcPts val="1275"/>
              </a:spcBef>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Is generally meaningless unless you discuss it along with margin</a:t>
            </a:r>
          </a:p>
          <a:p>
            <a:pPr lvl="2" eaLnBrk="1" hangingPunct="1">
              <a:spcBef>
                <a:spcPts val="1275"/>
              </a:spcBef>
              <a:spcAft>
                <a:spcPts val="1275"/>
              </a:spcAft>
            </a:pPr>
            <a:r>
              <a:rPr lang="en-US" altLang="en-US" sz="2400">
                <a:solidFill>
                  <a:schemeClr val="tx2"/>
                </a:solidFill>
                <a:latin typeface="Source Sans Pro" panose="020B0503030403020204" pitchFamily="34" charset="0"/>
                <a:ea typeface="Source Sans Pro" panose="020B0503030403020204" pitchFamily="34" charset="0"/>
              </a:rPr>
              <a:t>High volume alone is meaningless unless you keep something from each sale (margin)</a:t>
            </a:r>
          </a:p>
        </p:txBody>
      </p:sp>
      <p:sp>
        <p:nvSpPr>
          <p:cNvPr id="3" name="Slide Number Placeholder 2">
            <a:extLst>
              <a:ext uri="{FF2B5EF4-FFF2-40B4-BE49-F238E27FC236}">
                <a16:creationId xmlns:a16="http://schemas.microsoft.com/office/drawing/2014/main" id="{F30048F2-E2AF-7E56-3025-0F78E10E53D2}"/>
              </a:ext>
            </a:extLst>
          </p:cNvPr>
          <p:cNvSpPr>
            <a:spLocks noGrp="1"/>
          </p:cNvSpPr>
          <p:nvPr>
            <p:ph type="sldNum" sz="quarter" idx="4"/>
          </p:nvPr>
        </p:nvSpPr>
        <p:spPr/>
        <p:txBody>
          <a:bodyPr/>
          <a:lstStyle/>
          <a:p>
            <a:fld id="{EF13FA6D-C8B2-4F7A-9B51-E7C42DF59B48}" type="slidenum">
              <a:rPr lang="en-US" smtClean="0"/>
              <a:pPr/>
              <a:t>12</a:t>
            </a:fld>
            <a:endParaRPr lang="en-US" sz="900"/>
          </a:p>
        </p:txBody>
      </p:sp>
      <p:sp>
        <p:nvSpPr>
          <p:cNvPr id="7" name="Title 6">
            <a:extLst>
              <a:ext uri="{FF2B5EF4-FFF2-40B4-BE49-F238E27FC236}">
                <a16:creationId xmlns:a16="http://schemas.microsoft.com/office/drawing/2014/main" id="{30919FDE-CCC2-E6BF-FA1D-3CEDCFDA909B}"/>
              </a:ext>
            </a:extLst>
          </p:cNvPr>
          <p:cNvSpPr>
            <a:spLocks noGrp="1"/>
          </p:cNvSpPr>
          <p:nvPr>
            <p:ph type="title"/>
          </p:nvPr>
        </p:nvSpPr>
        <p:spPr>
          <a:xfrm>
            <a:off x="1186694" y="382632"/>
            <a:ext cx="6585322" cy="730202"/>
          </a:xfrm>
        </p:spPr>
        <p:txBody>
          <a:bodyPr>
            <a:normAutofit/>
          </a:bodyPr>
          <a:lstStyle/>
          <a:p>
            <a:r>
              <a:rPr lang="en-US" altLang="en-US" sz="2800">
                <a:solidFill>
                  <a:srgbClr val="002E6D"/>
                </a:solidFill>
                <a:latin typeface="Source Sans Pro" panose="020B0503030403020204" pitchFamily="34" charset="0"/>
                <a:ea typeface="Source Sans Pro" panose="020B0503030403020204" pitchFamily="34" charset="0"/>
                <a:cs typeface="Franklin Gothic Demi" pitchFamily="34" charset="0"/>
              </a:rPr>
              <a:t>Volume</a:t>
            </a:r>
            <a:endParaRPr lang="en-US" sz="2800"/>
          </a:p>
        </p:txBody>
      </p:sp>
    </p:spTree>
    <p:extLst>
      <p:ext uri="{BB962C8B-B14F-4D97-AF65-F5344CB8AC3E}">
        <p14:creationId xmlns:p14="http://schemas.microsoft.com/office/powerpoint/2010/main" val="15090450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1A4C35-DFB4-E61F-4F30-9C18B5F670CE}"/>
              </a:ext>
            </a:extLst>
          </p:cNvPr>
          <p:cNvSpPr>
            <a:spLocks noGrp="1"/>
          </p:cNvSpPr>
          <p:nvPr>
            <p:ph type="sldNum" sz="quarter" idx="4"/>
          </p:nvPr>
        </p:nvSpPr>
        <p:spPr/>
        <p:txBody>
          <a:bodyPr/>
          <a:lstStyle/>
          <a:p>
            <a:fld id="{EF13FA6D-C8B2-4F7A-9B51-E7C42DF59B48}" type="slidenum">
              <a:rPr lang="en-US" smtClean="0"/>
              <a:pPr/>
              <a:t>13</a:t>
            </a:fld>
            <a:endParaRPr lang="en-US" sz="900"/>
          </a:p>
        </p:txBody>
      </p:sp>
      <p:sp>
        <p:nvSpPr>
          <p:cNvPr id="6" name="Title 5">
            <a:extLst>
              <a:ext uri="{FF2B5EF4-FFF2-40B4-BE49-F238E27FC236}">
                <a16:creationId xmlns:a16="http://schemas.microsoft.com/office/drawing/2014/main" id="{63658E0B-556D-16EC-23CE-051FD078AA2A}"/>
              </a:ext>
            </a:extLst>
          </p:cNvPr>
          <p:cNvSpPr>
            <a:spLocks noGrp="1"/>
          </p:cNvSpPr>
          <p:nvPr>
            <p:ph type="title"/>
          </p:nvPr>
        </p:nvSpPr>
        <p:spPr/>
        <p:txBody>
          <a:bodyPr>
            <a:normAutofit/>
          </a:bodyPr>
          <a:lstStyle/>
          <a:p>
            <a:r>
              <a:rPr lang="en-US" sz="2800"/>
              <a:t>Variable Costs</a:t>
            </a:r>
          </a:p>
        </p:txBody>
      </p:sp>
      <p:sp>
        <p:nvSpPr>
          <p:cNvPr id="7" name="Rectangle 3">
            <a:extLst>
              <a:ext uri="{FF2B5EF4-FFF2-40B4-BE49-F238E27FC236}">
                <a16:creationId xmlns:a16="http://schemas.microsoft.com/office/drawing/2014/main" id="{C02BE092-BE92-C6E6-04BC-0B328AFFD325}"/>
              </a:ext>
            </a:extLst>
          </p:cNvPr>
          <p:cNvSpPr txBox="1">
            <a:spLocks noRot="1" noChangeArrowheads="1"/>
          </p:cNvSpPr>
          <p:nvPr/>
        </p:nvSpPr>
        <p:spPr>
          <a:xfrm>
            <a:off x="347498" y="1331119"/>
            <a:ext cx="8263714" cy="4195762"/>
          </a:xfrm>
          <a:prstGeom prst="rect">
            <a:avLst/>
          </a:prstGeom>
        </p:spPr>
        <p:txBody>
          <a:bodyPr vert="horz" lIns="91440" tIns="45720" rIns="91440" bIns="45720" rtlCol="0">
            <a:normAutofit/>
          </a:bodyPr>
          <a:lstStyle>
            <a:lvl1pPr marL="171438" indent="-171438" algn="l" defTabSz="685749" rtl="0" eaLnBrk="1" latinLnBrk="0" hangingPunct="1">
              <a:lnSpc>
                <a:spcPct val="90000"/>
              </a:lnSpc>
              <a:spcBef>
                <a:spcPts val="750"/>
              </a:spcBef>
              <a:buFont typeface="Arial"/>
              <a:buChar char="•"/>
              <a:defRPr sz="2100" kern="1200">
                <a:solidFill>
                  <a:schemeClr val="tx1"/>
                </a:solidFill>
                <a:latin typeface="Source Sans Pro" charset="0"/>
                <a:ea typeface="Source Sans Pro" charset="0"/>
                <a:cs typeface="Source Sans Pro" charset="0"/>
              </a:defRPr>
            </a:lvl1pPr>
            <a:lvl2pPr marL="514313" indent="-171438" algn="l" defTabSz="685749" rtl="0" eaLnBrk="1" latinLnBrk="0" hangingPunct="1">
              <a:lnSpc>
                <a:spcPct val="90000"/>
              </a:lnSpc>
              <a:spcBef>
                <a:spcPts val="375"/>
              </a:spcBef>
              <a:buFont typeface="Arial"/>
              <a:buChar char="•"/>
              <a:defRPr sz="1800" kern="1200">
                <a:solidFill>
                  <a:schemeClr val="tx1"/>
                </a:solidFill>
                <a:latin typeface="Source Sans Pro" charset="0"/>
                <a:ea typeface="Source Sans Pro" charset="0"/>
                <a:cs typeface="Source Sans Pro" charset="0"/>
              </a:defRPr>
            </a:lvl2pPr>
            <a:lvl3pPr marL="857186" indent="-171438" algn="l" defTabSz="685749" rtl="0" eaLnBrk="1" latinLnBrk="0" hangingPunct="1">
              <a:lnSpc>
                <a:spcPct val="90000"/>
              </a:lnSpc>
              <a:spcBef>
                <a:spcPts val="375"/>
              </a:spcBef>
              <a:buFont typeface="Arial"/>
              <a:buChar char="•"/>
              <a:defRPr sz="1500" kern="1200">
                <a:solidFill>
                  <a:schemeClr val="tx1"/>
                </a:solidFill>
                <a:latin typeface="Source Sans Pro" charset="0"/>
                <a:ea typeface="Source Sans Pro" charset="0"/>
                <a:cs typeface="Source Sans Pro" charset="0"/>
              </a:defRPr>
            </a:lvl3pPr>
            <a:lvl4pPr marL="1200060"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4pPr>
            <a:lvl5pPr marL="1542935"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5pPr>
            <a:lvl6pPr marL="1885809"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684"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558"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433"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nSpc>
                <a:spcPct val="140000"/>
              </a:lnSpc>
              <a:spcAft>
                <a:spcPts val="1200"/>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Change in direct relation to your revenue</a:t>
            </a:r>
          </a:p>
          <a:p>
            <a:pPr lvl="1">
              <a:spcBef>
                <a:spcPct val="0"/>
              </a:spcBef>
              <a:spcAft>
                <a:spcPts val="1200"/>
              </a:spcAft>
            </a:pPr>
            <a:r>
              <a:rPr lang="en-US" altLang="en-US" sz="2100">
                <a:solidFill>
                  <a:schemeClr val="tx2"/>
                </a:solidFill>
                <a:latin typeface="Source Sans Pro" panose="020B0503030403020204" pitchFamily="34" charset="0"/>
                <a:ea typeface="Source Sans Pro" panose="020B0503030403020204" pitchFamily="34" charset="0"/>
                <a:cs typeface="Franklin Gothic Book" pitchFamily="34" charset="0"/>
              </a:rPr>
              <a:t>What does it actually cost to deliver one unit of whatever you do?</a:t>
            </a:r>
          </a:p>
          <a:p>
            <a:pPr>
              <a:spcBef>
                <a:spcPct val="0"/>
              </a:spcBef>
              <a:spcAft>
                <a:spcPts val="1200"/>
              </a:spcAft>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Direct labor, payroll taxes and costs per employee (CPEs), mileage, packaging, unit transport or delivery, raw materials</a:t>
            </a:r>
          </a:p>
          <a:p>
            <a:pPr>
              <a:spcBef>
                <a:spcPct val="0"/>
              </a:spcBef>
              <a:spcAft>
                <a:spcPts val="1200"/>
              </a:spcAft>
            </a:pPr>
            <a:r>
              <a:rPr lang="en-US" altLang="en-US" sz="2400" i="1">
                <a:solidFill>
                  <a:schemeClr val="tx2"/>
                </a:solidFill>
                <a:latin typeface="Source Sans Pro" panose="020B0503030403020204" pitchFamily="34" charset="0"/>
                <a:ea typeface="Source Sans Pro" panose="020B0503030403020204" pitchFamily="34" charset="0"/>
                <a:cs typeface="Franklin Gothic Book" pitchFamily="34" charset="0"/>
              </a:rPr>
              <a:t>Variable</a:t>
            </a: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 does not = </a:t>
            </a:r>
            <a:r>
              <a:rPr lang="en-US" altLang="en-US" sz="2400" i="1">
                <a:solidFill>
                  <a:schemeClr val="tx2"/>
                </a:solidFill>
                <a:latin typeface="Source Sans Pro" panose="020B0503030403020204" pitchFamily="34" charset="0"/>
                <a:ea typeface="Source Sans Pro" panose="020B0503030403020204" pitchFamily="34" charset="0"/>
                <a:cs typeface="Franklin Gothic Book" pitchFamily="34" charset="0"/>
              </a:rPr>
              <a:t>optional</a:t>
            </a:r>
          </a:p>
        </p:txBody>
      </p:sp>
    </p:spTree>
    <p:extLst>
      <p:ext uri="{BB962C8B-B14F-4D97-AF65-F5344CB8AC3E}">
        <p14:creationId xmlns:p14="http://schemas.microsoft.com/office/powerpoint/2010/main" val="38140076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1A4C35-DFB4-E61F-4F30-9C18B5F670CE}"/>
              </a:ext>
            </a:extLst>
          </p:cNvPr>
          <p:cNvSpPr>
            <a:spLocks noGrp="1"/>
          </p:cNvSpPr>
          <p:nvPr>
            <p:ph type="sldNum" sz="quarter" idx="4"/>
          </p:nvPr>
        </p:nvSpPr>
        <p:spPr/>
        <p:txBody>
          <a:bodyPr/>
          <a:lstStyle/>
          <a:p>
            <a:fld id="{EF13FA6D-C8B2-4F7A-9B51-E7C42DF59B48}" type="slidenum">
              <a:rPr lang="en-US" smtClean="0"/>
              <a:pPr/>
              <a:t>14</a:t>
            </a:fld>
            <a:endParaRPr lang="en-US" sz="900"/>
          </a:p>
        </p:txBody>
      </p:sp>
      <p:sp>
        <p:nvSpPr>
          <p:cNvPr id="6" name="Title 5">
            <a:extLst>
              <a:ext uri="{FF2B5EF4-FFF2-40B4-BE49-F238E27FC236}">
                <a16:creationId xmlns:a16="http://schemas.microsoft.com/office/drawing/2014/main" id="{63658E0B-556D-16EC-23CE-051FD078AA2A}"/>
              </a:ext>
            </a:extLst>
          </p:cNvPr>
          <p:cNvSpPr>
            <a:spLocks noGrp="1"/>
          </p:cNvSpPr>
          <p:nvPr>
            <p:ph type="title"/>
          </p:nvPr>
        </p:nvSpPr>
        <p:spPr/>
        <p:txBody>
          <a:bodyPr>
            <a:normAutofit/>
          </a:bodyPr>
          <a:lstStyle/>
          <a:p>
            <a:r>
              <a:rPr lang="en-US" sz="2800"/>
              <a:t>Fixed Costs</a:t>
            </a:r>
          </a:p>
        </p:txBody>
      </p:sp>
      <p:sp>
        <p:nvSpPr>
          <p:cNvPr id="7" name="Rectangle 3">
            <a:extLst>
              <a:ext uri="{FF2B5EF4-FFF2-40B4-BE49-F238E27FC236}">
                <a16:creationId xmlns:a16="http://schemas.microsoft.com/office/drawing/2014/main" id="{C02BE092-BE92-C6E6-04BC-0B328AFFD325}"/>
              </a:ext>
            </a:extLst>
          </p:cNvPr>
          <p:cNvSpPr txBox="1">
            <a:spLocks noRot="1" noChangeArrowheads="1"/>
          </p:cNvSpPr>
          <p:nvPr/>
        </p:nvSpPr>
        <p:spPr>
          <a:xfrm>
            <a:off x="437587" y="1331119"/>
            <a:ext cx="8263714" cy="4195762"/>
          </a:xfrm>
          <a:prstGeom prst="rect">
            <a:avLst/>
          </a:prstGeom>
        </p:spPr>
        <p:txBody>
          <a:bodyPr vert="horz" lIns="91440" tIns="45720" rIns="91440" bIns="45720" rtlCol="0">
            <a:normAutofit/>
          </a:bodyPr>
          <a:lstStyle>
            <a:lvl1pPr marL="171438" indent="-171438" algn="l" defTabSz="685749" rtl="0" eaLnBrk="1" latinLnBrk="0" hangingPunct="1">
              <a:lnSpc>
                <a:spcPct val="90000"/>
              </a:lnSpc>
              <a:spcBef>
                <a:spcPts val="750"/>
              </a:spcBef>
              <a:buFont typeface="Arial"/>
              <a:buChar char="•"/>
              <a:defRPr sz="2100" kern="1200">
                <a:solidFill>
                  <a:schemeClr val="tx1"/>
                </a:solidFill>
                <a:latin typeface="Source Sans Pro" charset="0"/>
                <a:ea typeface="Source Sans Pro" charset="0"/>
                <a:cs typeface="Source Sans Pro" charset="0"/>
              </a:defRPr>
            </a:lvl1pPr>
            <a:lvl2pPr marL="514313" indent="-171438" algn="l" defTabSz="685749" rtl="0" eaLnBrk="1" latinLnBrk="0" hangingPunct="1">
              <a:lnSpc>
                <a:spcPct val="90000"/>
              </a:lnSpc>
              <a:spcBef>
                <a:spcPts val="375"/>
              </a:spcBef>
              <a:buFont typeface="Arial"/>
              <a:buChar char="•"/>
              <a:defRPr sz="1800" kern="1200">
                <a:solidFill>
                  <a:schemeClr val="tx1"/>
                </a:solidFill>
                <a:latin typeface="Source Sans Pro" charset="0"/>
                <a:ea typeface="Source Sans Pro" charset="0"/>
                <a:cs typeface="Source Sans Pro" charset="0"/>
              </a:defRPr>
            </a:lvl2pPr>
            <a:lvl3pPr marL="857186" indent="-171438" algn="l" defTabSz="685749" rtl="0" eaLnBrk="1" latinLnBrk="0" hangingPunct="1">
              <a:lnSpc>
                <a:spcPct val="90000"/>
              </a:lnSpc>
              <a:spcBef>
                <a:spcPts val="375"/>
              </a:spcBef>
              <a:buFont typeface="Arial"/>
              <a:buChar char="•"/>
              <a:defRPr sz="1500" kern="1200">
                <a:solidFill>
                  <a:schemeClr val="tx1"/>
                </a:solidFill>
                <a:latin typeface="Source Sans Pro" charset="0"/>
                <a:ea typeface="Source Sans Pro" charset="0"/>
                <a:cs typeface="Source Sans Pro" charset="0"/>
              </a:defRPr>
            </a:lvl3pPr>
            <a:lvl4pPr marL="1200060"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4pPr>
            <a:lvl5pPr marL="1542935"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5pPr>
            <a:lvl6pPr marL="1885809"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684"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558"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433"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eaLnBrk="1" hangingPunct="1">
              <a:spcBef>
                <a:spcPts val="300"/>
              </a:spcBef>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Expenses you have to pay no matter what sales you generate</a:t>
            </a:r>
          </a:p>
          <a:p>
            <a:pPr eaLnBrk="1" hangingPunct="1">
              <a:spcBef>
                <a:spcPts val="300"/>
              </a:spcBef>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Remain the same over a given period of time</a:t>
            </a:r>
          </a:p>
          <a:p>
            <a:pPr eaLnBrk="1" hangingPunct="1">
              <a:spcBef>
                <a:spcPts val="300"/>
              </a:spcBef>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Include rent, brick and mortar location, salaries (not hourly pay), advertising, insurance, write-off of equipment</a:t>
            </a:r>
          </a:p>
          <a:p>
            <a:pPr eaLnBrk="1" hangingPunct="1">
              <a:spcBef>
                <a:spcPts val="300"/>
              </a:spcBef>
            </a:pPr>
            <a:r>
              <a:rPr lang="en-US" altLang="en-US" sz="2400">
                <a:solidFill>
                  <a:schemeClr val="tx2"/>
                </a:solidFill>
                <a:latin typeface="Source Sans Pro" panose="020B0503030403020204" pitchFamily="34" charset="0"/>
                <a:ea typeface="Source Sans Pro" panose="020B0503030403020204" pitchFamily="34" charset="0"/>
                <a:cs typeface="Franklin Gothic Book" pitchFamily="34" charset="0"/>
              </a:rPr>
              <a:t>What do you think about utility bills? </a:t>
            </a:r>
          </a:p>
          <a:p>
            <a:pPr lvl="1">
              <a:spcBef>
                <a:spcPts val="300"/>
              </a:spcBef>
            </a:pPr>
            <a:r>
              <a:rPr lang="en-US" altLang="en-US" sz="2100">
                <a:solidFill>
                  <a:schemeClr val="tx2"/>
                </a:solidFill>
                <a:latin typeface="Source Sans Pro" panose="020B0503030403020204" pitchFamily="34" charset="0"/>
                <a:ea typeface="Source Sans Pro" panose="020B0503030403020204" pitchFamily="34" charset="0"/>
                <a:cs typeface="Franklin Gothic Book" pitchFamily="34" charset="0"/>
              </a:rPr>
              <a:t>Are they variable or fixed?</a:t>
            </a:r>
          </a:p>
        </p:txBody>
      </p:sp>
    </p:spTree>
    <p:extLst>
      <p:ext uri="{BB962C8B-B14F-4D97-AF65-F5344CB8AC3E}">
        <p14:creationId xmlns:p14="http://schemas.microsoft.com/office/powerpoint/2010/main" val="178707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488B62F8-22FF-F65D-648B-4420C841822A}"/>
              </a:ext>
            </a:extLst>
          </p:cNvPr>
          <p:cNvSpPr>
            <a:spLocks noGrp="1"/>
          </p:cNvSpPr>
          <p:nvPr>
            <p:ph type="sldNum" sz="quarter" idx="4"/>
          </p:nvPr>
        </p:nvSpPr>
        <p:spPr/>
        <p:txBody>
          <a:bodyPr/>
          <a:lstStyle/>
          <a:p>
            <a:fld id="{EF13FA6D-C8B2-4F7A-9B51-E7C42DF59B48}" type="slidenum">
              <a:rPr lang="en-US" smtClean="0"/>
              <a:pPr/>
              <a:t>15</a:t>
            </a:fld>
            <a:endParaRPr lang="en-US" sz="900"/>
          </a:p>
        </p:txBody>
      </p:sp>
      <p:sp>
        <p:nvSpPr>
          <p:cNvPr id="16" name="Title 15">
            <a:extLst>
              <a:ext uri="{FF2B5EF4-FFF2-40B4-BE49-F238E27FC236}">
                <a16:creationId xmlns:a16="http://schemas.microsoft.com/office/drawing/2014/main" id="{530CA062-F59C-F687-F12A-EE69631A2827}"/>
              </a:ext>
            </a:extLst>
          </p:cNvPr>
          <p:cNvSpPr>
            <a:spLocks noGrp="1"/>
          </p:cNvSpPr>
          <p:nvPr>
            <p:ph type="title"/>
          </p:nvPr>
        </p:nvSpPr>
        <p:spPr/>
        <p:txBody>
          <a:bodyPr>
            <a:normAutofit/>
          </a:bodyPr>
          <a:lstStyle/>
          <a:p>
            <a:r>
              <a:rPr lang="en-US" sz="2800"/>
              <a:t>Breakeven</a:t>
            </a:r>
          </a:p>
        </p:txBody>
      </p:sp>
      <p:pic>
        <p:nvPicPr>
          <p:cNvPr id="17" name="Content Placeholder 5">
            <a:extLst>
              <a:ext uri="{FF2B5EF4-FFF2-40B4-BE49-F238E27FC236}">
                <a16:creationId xmlns:a16="http://schemas.microsoft.com/office/drawing/2014/main" id="{D2255990-BFCE-1AEA-6727-59DB945CB4DB}"/>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337047" y="1085967"/>
            <a:ext cx="6307138" cy="4267200"/>
          </a:xfrm>
          <a:prstGeom prst="rect">
            <a:avLst/>
          </a:prstGeom>
        </p:spPr>
      </p:pic>
      <p:sp>
        <p:nvSpPr>
          <p:cNvPr id="18" name="Rectangle 3">
            <a:extLst>
              <a:ext uri="{FF2B5EF4-FFF2-40B4-BE49-F238E27FC236}">
                <a16:creationId xmlns:a16="http://schemas.microsoft.com/office/drawing/2014/main" id="{447AEA59-1D38-666D-1926-C4324EFB153B}"/>
              </a:ext>
            </a:extLst>
          </p:cNvPr>
          <p:cNvSpPr txBox="1">
            <a:spLocks noRot="1" noChangeArrowheads="1"/>
          </p:cNvSpPr>
          <p:nvPr/>
        </p:nvSpPr>
        <p:spPr bwMode="auto">
          <a:xfrm>
            <a:off x="179611" y="5464259"/>
            <a:ext cx="859948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6644" tIns="48322" rIns="96644" bIns="48322" numCol="1" rtlCol="0" anchor="t" anchorCtr="0" compatLnSpc="1">
            <a:prstTxWarp prst="textNoShape">
              <a:avLst/>
            </a:prstTxWarp>
            <a:normAutofit lnSpcReduction="10000"/>
          </a:bodyPr>
          <a:lstStyle>
            <a:lvl1pPr marL="361950" indent="-361950" algn="l" defTabSz="965200" rtl="0" eaLnBrk="0" fontAlgn="base" hangingPunct="0">
              <a:spcBef>
                <a:spcPct val="20000"/>
              </a:spcBef>
              <a:spcAft>
                <a:spcPct val="0"/>
              </a:spcAft>
              <a:buFont typeface="Arial" charset="0"/>
              <a:buChar char="•"/>
              <a:defRPr sz="3400" kern="1200">
                <a:solidFill>
                  <a:srgbClr val="AB162B"/>
                </a:solidFill>
                <a:latin typeface="Franklin Gothic Medium" panose="020B0603020102020204" pitchFamily="34" charset="0"/>
                <a:ea typeface="+mn-ea"/>
                <a:cs typeface="+mn-cs"/>
              </a:defRPr>
            </a:lvl1pPr>
            <a:lvl2pPr marL="784225" indent="-301625" algn="l" defTabSz="965200" rtl="0" eaLnBrk="0" fontAlgn="base" hangingPunct="0">
              <a:spcBef>
                <a:spcPct val="20000"/>
              </a:spcBef>
              <a:spcAft>
                <a:spcPct val="0"/>
              </a:spcAft>
              <a:buFont typeface="Arial" charset="0"/>
              <a:buChar char="•"/>
              <a:defRPr sz="3000" kern="1200">
                <a:solidFill>
                  <a:schemeClr val="tx1"/>
                </a:solidFill>
                <a:latin typeface="Franklin Gothic Book" panose="020B0503020102020204" pitchFamily="34" charset="0"/>
                <a:ea typeface="+mn-ea"/>
                <a:cs typeface="+mn-cs"/>
              </a:defRPr>
            </a:lvl2pPr>
            <a:lvl3pPr marL="1206500" indent="-241300" algn="l" defTabSz="965200" rtl="0" eaLnBrk="0" fontAlgn="base" hangingPunct="0">
              <a:spcBef>
                <a:spcPct val="20000"/>
              </a:spcBef>
              <a:spcAft>
                <a:spcPct val="0"/>
              </a:spcAft>
              <a:buFont typeface="Arial" charset="0"/>
              <a:buChar char="•"/>
              <a:defRPr sz="2500" kern="1200">
                <a:solidFill>
                  <a:schemeClr val="tx1"/>
                </a:solidFill>
                <a:latin typeface="Franklin Gothic Book" panose="020B0503020102020204" pitchFamily="34" charset="0"/>
                <a:ea typeface="+mn-ea"/>
                <a:cs typeface="+mn-cs"/>
              </a:defRPr>
            </a:lvl3pPr>
            <a:lvl4pPr marL="1690688" indent="-241300" algn="l" defTabSz="965200" rtl="0" eaLnBrk="0" fontAlgn="base" hangingPunct="0">
              <a:spcBef>
                <a:spcPct val="20000"/>
              </a:spcBef>
              <a:spcAft>
                <a:spcPct val="0"/>
              </a:spcAft>
              <a:buFont typeface="Arial" charset="0"/>
              <a:buChar char="•"/>
              <a:defRPr sz="2100" kern="1200">
                <a:solidFill>
                  <a:schemeClr val="tx1"/>
                </a:solidFill>
                <a:latin typeface="Franklin Gothic Book" panose="020B0503020102020204" pitchFamily="34" charset="0"/>
                <a:ea typeface="+mn-ea"/>
                <a:cs typeface="+mn-cs"/>
              </a:defRPr>
            </a:lvl4pPr>
            <a:lvl5pPr marL="2173288" indent="-241300" algn="l" defTabSz="965200" rtl="0" eaLnBrk="0" fontAlgn="base" hangingPunct="0">
              <a:spcBef>
                <a:spcPct val="20000"/>
              </a:spcBef>
              <a:spcAft>
                <a:spcPct val="0"/>
              </a:spcAft>
              <a:buFont typeface="Arial" charset="0"/>
              <a:buChar char="•"/>
              <a:defRPr sz="2100" kern="1200">
                <a:solidFill>
                  <a:schemeClr val="tx1"/>
                </a:solidFill>
                <a:latin typeface="Franklin Gothic Book" panose="020B0503020102020204" pitchFamily="34" charset="0"/>
                <a:ea typeface="+mn-ea"/>
                <a:cs typeface="+mn-cs"/>
              </a:defRPr>
            </a:lvl5pPr>
            <a:lvl6pPr marL="2657710" indent="-241611" algn="l" defTabSz="966440" rtl="0" eaLnBrk="1" latinLnBrk="0" hangingPunct="1">
              <a:spcBef>
                <a:spcPct val="20000"/>
              </a:spcBef>
              <a:buFont typeface="Arial" pitchFamily="34" charset="0"/>
              <a:buChar char="•"/>
              <a:defRPr sz="2100" kern="1200">
                <a:solidFill>
                  <a:schemeClr val="tx1"/>
                </a:solidFill>
                <a:latin typeface="+mn-lt"/>
                <a:ea typeface="+mn-ea"/>
                <a:cs typeface="+mn-cs"/>
              </a:defRPr>
            </a:lvl6pPr>
            <a:lvl7pPr marL="3140931" indent="-241611" algn="l" defTabSz="966440" rtl="0" eaLnBrk="1" latinLnBrk="0" hangingPunct="1">
              <a:spcBef>
                <a:spcPct val="20000"/>
              </a:spcBef>
              <a:buFont typeface="Arial" pitchFamily="34" charset="0"/>
              <a:buChar char="•"/>
              <a:defRPr sz="2100" kern="1200">
                <a:solidFill>
                  <a:schemeClr val="tx1"/>
                </a:solidFill>
                <a:latin typeface="+mn-lt"/>
                <a:ea typeface="+mn-ea"/>
                <a:cs typeface="+mn-cs"/>
              </a:defRPr>
            </a:lvl7pPr>
            <a:lvl8pPr marL="3624150" indent="-241611" algn="l" defTabSz="966440" rtl="0" eaLnBrk="1" latinLnBrk="0" hangingPunct="1">
              <a:spcBef>
                <a:spcPct val="20000"/>
              </a:spcBef>
              <a:buFont typeface="Arial" pitchFamily="34" charset="0"/>
              <a:buChar char="•"/>
              <a:defRPr sz="2100" kern="1200">
                <a:solidFill>
                  <a:schemeClr val="tx1"/>
                </a:solidFill>
                <a:latin typeface="+mn-lt"/>
                <a:ea typeface="+mn-ea"/>
                <a:cs typeface="+mn-cs"/>
              </a:defRPr>
            </a:lvl8pPr>
            <a:lvl9pPr marL="4107369" indent="-241611" algn="l" defTabSz="966440" rtl="0" eaLnBrk="1" latinLnBrk="0" hangingPunct="1">
              <a:spcBef>
                <a:spcPct val="20000"/>
              </a:spcBef>
              <a:buFont typeface="Arial" pitchFamily="34" charset="0"/>
              <a:buChar char="•"/>
              <a:defRPr sz="2100" kern="1200">
                <a:solidFill>
                  <a:schemeClr val="tx1"/>
                </a:solidFill>
                <a:latin typeface="+mn-lt"/>
                <a:ea typeface="+mn-ea"/>
                <a:cs typeface="+mn-cs"/>
              </a:defRPr>
            </a:lvl9pPr>
          </a:lstStyle>
          <a:p>
            <a:pPr marL="0" indent="0" defTabSz="966440" eaLnBrk="1" fontAlgn="auto" hangingPunct="1">
              <a:lnSpc>
                <a:spcPct val="90000"/>
              </a:lnSpc>
              <a:spcAft>
                <a:spcPts val="0"/>
              </a:spcAft>
              <a:buFont typeface="Arial" pitchFamily="34" charset="0"/>
              <a:buNone/>
              <a:defRPr/>
            </a:pPr>
            <a:r>
              <a:rPr lang="en-US" sz="2400">
                <a:solidFill>
                  <a:srgbClr val="AB162C"/>
                </a:solidFill>
                <a:latin typeface="Source Sans Pro" panose="020B0503030403020204" pitchFamily="34" charset="0"/>
                <a:ea typeface="Source Sans Pro" panose="020B0503030403020204" pitchFamily="34" charset="0"/>
                <a:cs typeface="Franklin Gothic Medium"/>
              </a:rPr>
              <a:t>Definition: </a:t>
            </a:r>
            <a:r>
              <a:rPr lang="en-US" sz="2400">
                <a:solidFill>
                  <a:srgbClr val="002E6D"/>
                </a:solidFill>
                <a:latin typeface="Source Sans Pro" panose="020B0503030403020204" pitchFamily="34" charset="0"/>
                <a:ea typeface="Source Sans Pro" panose="020B0503030403020204" pitchFamily="34" charset="0"/>
                <a:cs typeface="Franklin Gothic Medium"/>
              </a:rPr>
              <a:t>The volume of sales revenue needed to cover all of your costs over a given period of time. </a:t>
            </a:r>
          </a:p>
          <a:p>
            <a:pPr marL="362416" indent="-362416" defTabSz="966440" eaLnBrk="1" fontAlgn="auto" hangingPunct="1">
              <a:lnSpc>
                <a:spcPct val="90000"/>
              </a:lnSpc>
              <a:spcAft>
                <a:spcPts val="0"/>
              </a:spcAft>
              <a:buFont typeface="Arial" pitchFamily="34" charset="0"/>
              <a:buNone/>
              <a:defRPr/>
            </a:pPr>
            <a:endParaRPr lang="en-US" sz="1900">
              <a:solidFill>
                <a:srgbClr val="000000"/>
              </a:solidFill>
              <a:latin typeface="Franklin Gothic Book"/>
              <a:cs typeface="Franklin Gothic Book"/>
            </a:endParaRPr>
          </a:p>
        </p:txBody>
      </p:sp>
    </p:spTree>
    <p:extLst>
      <p:ext uri="{BB962C8B-B14F-4D97-AF65-F5344CB8AC3E}">
        <p14:creationId xmlns:p14="http://schemas.microsoft.com/office/powerpoint/2010/main" val="34995806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AF89542-F7B2-90F8-B139-A3D7F19BDCDF}"/>
              </a:ext>
            </a:extLst>
          </p:cNvPr>
          <p:cNvSpPr>
            <a:spLocks noGrp="1"/>
          </p:cNvSpPr>
          <p:nvPr>
            <p:ph type="sldNum" sz="quarter" idx="4294967295"/>
          </p:nvPr>
        </p:nvSpPr>
        <p:spPr>
          <a:xfrm>
            <a:off x="8674100" y="6194425"/>
            <a:ext cx="469900" cy="365125"/>
          </a:xfrm>
        </p:spPr>
        <p:txBody>
          <a:bodyPr/>
          <a:lstStyle/>
          <a:p>
            <a:fld id="{EF13FA6D-C8B2-4F7A-9B51-E7C42DF59B48}" type="slidenum">
              <a:rPr lang="en-US" smtClean="0"/>
              <a:pPr/>
              <a:t>16</a:t>
            </a:fld>
            <a:endParaRPr lang="en-US" sz="900"/>
          </a:p>
        </p:txBody>
      </p:sp>
      <p:pic>
        <p:nvPicPr>
          <p:cNvPr id="9" name="Picture 5">
            <a:extLst>
              <a:ext uri="{FF2B5EF4-FFF2-40B4-BE49-F238E27FC236}">
                <a16:creationId xmlns:a16="http://schemas.microsoft.com/office/drawing/2014/main" id="{47793317-34B0-E8D5-27BE-14A7C385FB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20775" y="2173288"/>
            <a:ext cx="3279775" cy="221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Picture 5">
            <a:extLst>
              <a:ext uri="{FF2B5EF4-FFF2-40B4-BE49-F238E27FC236}">
                <a16:creationId xmlns:a16="http://schemas.microsoft.com/office/drawing/2014/main" id="{2FC8B952-FD06-F171-B8E0-055B374D4E3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24606" y="2174875"/>
            <a:ext cx="2906712" cy="2214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5">
            <a:extLst>
              <a:ext uri="{FF2B5EF4-FFF2-40B4-BE49-F238E27FC236}">
                <a16:creationId xmlns:a16="http://schemas.microsoft.com/office/drawing/2014/main" id="{858E2A5E-2DDD-19C8-5863-3D8D7798FA61}"/>
              </a:ext>
            </a:extLst>
          </p:cNvPr>
          <p:cNvSpPr>
            <a:spLocks noChangeArrowheads="1"/>
          </p:cNvSpPr>
          <p:nvPr/>
        </p:nvSpPr>
        <p:spPr bwMode="auto">
          <a:xfrm>
            <a:off x="2171700" y="5017303"/>
            <a:ext cx="4800600" cy="959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spAutoFit/>
          </a:bodyPr>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defTabSz="9652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algn="ctr" eaLnBrk="1" hangingPunct="1">
              <a:spcBef>
                <a:spcPct val="0"/>
              </a:spcBef>
              <a:buFontTx/>
              <a:buNone/>
            </a:pPr>
            <a:r>
              <a:rPr lang="en-US" altLang="en-US" sz="2800">
                <a:solidFill>
                  <a:srgbClr val="AB162C"/>
                </a:solidFill>
                <a:latin typeface="Source Sans Pro" panose="020B0503030403020204" pitchFamily="34" charset="0"/>
                <a:ea typeface="Source Sans Pro" panose="020B0503030403020204" pitchFamily="34" charset="0"/>
              </a:rPr>
              <a:t>What does this mean for the economic model?</a:t>
            </a:r>
          </a:p>
        </p:txBody>
      </p:sp>
      <p:sp>
        <p:nvSpPr>
          <p:cNvPr id="13" name="Title 1">
            <a:extLst>
              <a:ext uri="{FF2B5EF4-FFF2-40B4-BE49-F238E27FC236}">
                <a16:creationId xmlns:a16="http://schemas.microsoft.com/office/drawing/2014/main" id="{B2A60AF9-35B0-E0A7-388D-E554EA400301}"/>
              </a:ext>
            </a:extLst>
          </p:cNvPr>
          <p:cNvSpPr txBox="1">
            <a:spLocks/>
          </p:cNvSpPr>
          <p:nvPr/>
        </p:nvSpPr>
        <p:spPr>
          <a:xfrm>
            <a:off x="628015" y="441831"/>
            <a:ext cx="8281035" cy="762558"/>
          </a:xfrm>
          <a:prstGeom prst="rect">
            <a:avLst/>
          </a:prstGeom>
        </p:spPr>
        <p:txBody>
          <a:bodyPr vert="horz" lIns="91440" tIns="45720" rIns="91440" bIns="45720" rtlCol="0" anchor="b">
            <a:normAutofit/>
          </a:bodyPr>
          <a:lstStyle>
            <a:lvl1pPr algn="ctr" defTabSz="685749" rtl="0" eaLnBrk="1" latinLnBrk="0" hangingPunct="1">
              <a:lnSpc>
                <a:spcPts val="4500"/>
              </a:lnSpc>
              <a:spcBef>
                <a:spcPct val="0"/>
              </a:spcBef>
              <a:buNone/>
              <a:defRPr sz="4500" b="1" i="0" kern="1200" spc="-75" baseline="0">
                <a:solidFill>
                  <a:srgbClr val="007EB4"/>
                </a:solidFill>
                <a:latin typeface="Source Sans Pro" charset="0"/>
                <a:ea typeface="Source Sans Pro" charset="0"/>
                <a:cs typeface="Source Sans Pro" charset="0"/>
              </a:defRPr>
            </a:lvl1pPr>
          </a:lstStyle>
          <a:p>
            <a:pPr defTabSz="965200" fontAlgn="base">
              <a:spcAft>
                <a:spcPct val="0"/>
              </a:spcAft>
            </a:pPr>
            <a:r>
              <a:rPr lang="en-US" altLang="en-US" sz="2800">
                <a:solidFill>
                  <a:srgbClr val="002E6D"/>
                </a:solidFill>
                <a:latin typeface="Source Sans Pro" panose="020B0503030403020204" pitchFamily="34" charset="0"/>
                <a:ea typeface="Source Sans Pro" panose="020B0503030403020204" pitchFamily="34" charset="0"/>
                <a:cs typeface="Franklin Gothic Demi" pitchFamily="34" charset="0"/>
              </a:rPr>
              <a:t>Example</a:t>
            </a:r>
          </a:p>
        </p:txBody>
      </p:sp>
    </p:spTree>
    <p:extLst>
      <p:ext uri="{BB962C8B-B14F-4D97-AF65-F5344CB8AC3E}">
        <p14:creationId xmlns:p14="http://schemas.microsoft.com/office/powerpoint/2010/main" val="261145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B496E-E93E-56D4-9D27-3FDAC494EB23}"/>
              </a:ext>
            </a:extLst>
          </p:cNvPr>
          <p:cNvSpPr>
            <a:spLocks noGrp="1"/>
          </p:cNvSpPr>
          <p:nvPr>
            <p:ph type="title"/>
          </p:nvPr>
        </p:nvSpPr>
        <p:spPr>
          <a:xfrm>
            <a:off x="5771626" y="1008531"/>
            <a:ext cx="3149132" cy="786336"/>
          </a:xfrm>
        </p:spPr>
        <p:txBody>
          <a:bodyPr>
            <a:noAutofit/>
          </a:bodyPr>
          <a:lstStyle/>
          <a:p>
            <a:r>
              <a:rPr lang="en-US" sz="3000"/>
              <a:t>Economic Model for Giddy Up Coffee</a:t>
            </a:r>
          </a:p>
        </p:txBody>
      </p:sp>
      <p:sp>
        <p:nvSpPr>
          <p:cNvPr id="3" name="Slide Number Placeholder 2">
            <a:extLst>
              <a:ext uri="{FF2B5EF4-FFF2-40B4-BE49-F238E27FC236}">
                <a16:creationId xmlns:a16="http://schemas.microsoft.com/office/drawing/2014/main" id="{6A4A8B40-CDE9-1BFD-C011-551569FD49EE}"/>
              </a:ext>
            </a:extLst>
          </p:cNvPr>
          <p:cNvSpPr>
            <a:spLocks noGrp="1"/>
          </p:cNvSpPr>
          <p:nvPr>
            <p:ph type="sldNum" sz="quarter" idx="4"/>
          </p:nvPr>
        </p:nvSpPr>
        <p:spPr/>
        <p:txBody>
          <a:bodyPr/>
          <a:lstStyle/>
          <a:p>
            <a:pPr defTabSz="904875" fontAlgn="base">
              <a:spcBef>
                <a:spcPct val="0"/>
              </a:spcBef>
              <a:spcAft>
                <a:spcPct val="0"/>
              </a:spcAft>
            </a:pPr>
            <a:fld id="{EF13FA6D-C8B2-4F7A-9B51-E7C42DF59B48}" type="slidenum">
              <a:rPr lang="en-US">
                <a:solidFill>
                  <a:srgbClr val="1B1E29"/>
                </a:solidFill>
                <a:cs typeface="Arial" charset="0"/>
              </a:rPr>
              <a:pPr defTabSz="904875" fontAlgn="base">
                <a:spcBef>
                  <a:spcPct val="0"/>
                </a:spcBef>
                <a:spcAft>
                  <a:spcPct val="0"/>
                </a:spcAft>
              </a:pPr>
              <a:t>17</a:t>
            </a:fld>
            <a:endParaRPr lang="en-US">
              <a:solidFill>
                <a:srgbClr val="1B1E29"/>
              </a:solidFill>
              <a:cs typeface="Arial" charset="0"/>
            </a:endParaRPr>
          </a:p>
        </p:txBody>
      </p:sp>
      <p:sp>
        <p:nvSpPr>
          <p:cNvPr id="19" name="Rectangle 18">
            <a:extLst>
              <a:ext uri="{FF2B5EF4-FFF2-40B4-BE49-F238E27FC236}">
                <a16:creationId xmlns:a16="http://schemas.microsoft.com/office/drawing/2014/main" id="{1C8B487B-E944-9306-59F7-3E411F744AF7}"/>
              </a:ext>
            </a:extLst>
          </p:cNvPr>
          <p:cNvSpPr/>
          <p:nvPr/>
        </p:nvSpPr>
        <p:spPr>
          <a:xfrm>
            <a:off x="6542520" y="2729224"/>
            <a:ext cx="2165252" cy="1089422"/>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Breakeven</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Profit is Zero</a:t>
            </a:r>
          </a:p>
        </p:txBody>
      </p:sp>
      <p:pic>
        <p:nvPicPr>
          <p:cNvPr id="4" name="Picture 3">
            <a:extLst>
              <a:ext uri="{FF2B5EF4-FFF2-40B4-BE49-F238E27FC236}">
                <a16:creationId xmlns:a16="http://schemas.microsoft.com/office/drawing/2014/main" id="{DA2442FC-5A23-A155-FF01-258DCE30A979}"/>
              </a:ext>
            </a:extLst>
          </p:cNvPr>
          <p:cNvPicPr>
            <a:picLocks noChangeAspect="1"/>
          </p:cNvPicPr>
          <p:nvPr/>
        </p:nvPicPr>
        <p:blipFill>
          <a:blip r:embed="rId3"/>
          <a:stretch>
            <a:fillRect/>
          </a:stretch>
        </p:blipFill>
        <p:spPr>
          <a:xfrm>
            <a:off x="371343" y="463911"/>
            <a:ext cx="4747320" cy="5715000"/>
          </a:xfrm>
          <a:prstGeom prst="rect">
            <a:avLst/>
          </a:prstGeom>
        </p:spPr>
      </p:pic>
    </p:spTree>
    <p:extLst>
      <p:ext uri="{BB962C8B-B14F-4D97-AF65-F5344CB8AC3E}">
        <p14:creationId xmlns:p14="http://schemas.microsoft.com/office/powerpoint/2010/main" val="2115124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B496E-E93E-56D4-9D27-3FDAC494EB23}"/>
              </a:ext>
            </a:extLst>
          </p:cNvPr>
          <p:cNvSpPr>
            <a:spLocks noGrp="1"/>
          </p:cNvSpPr>
          <p:nvPr>
            <p:ph type="title"/>
          </p:nvPr>
        </p:nvSpPr>
        <p:spPr>
          <a:xfrm>
            <a:off x="5771626" y="1008531"/>
            <a:ext cx="3149132" cy="786336"/>
          </a:xfrm>
        </p:spPr>
        <p:txBody>
          <a:bodyPr>
            <a:noAutofit/>
          </a:bodyPr>
          <a:lstStyle/>
          <a:p>
            <a:r>
              <a:rPr lang="en-US" sz="3000"/>
              <a:t>Increased Sales</a:t>
            </a:r>
          </a:p>
        </p:txBody>
      </p:sp>
      <p:sp>
        <p:nvSpPr>
          <p:cNvPr id="3" name="Slide Number Placeholder 2">
            <a:extLst>
              <a:ext uri="{FF2B5EF4-FFF2-40B4-BE49-F238E27FC236}">
                <a16:creationId xmlns:a16="http://schemas.microsoft.com/office/drawing/2014/main" id="{6A4A8B40-CDE9-1BFD-C011-551569FD49EE}"/>
              </a:ext>
            </a:extLst>
          </p:cNvPr>
          <p:cNvSpPr>
            <a:spLocks noGrp="1"/>
          </p:cNvSpPr>
          <p:nvPr>
            <p:ph type="sldNum" sz="quarter" idx="4"/>
          </p:nvPr>
        </p:nvSpPr>
        <p:spPr/>
        <p:txBody>
          <a:bodyPr/>
          <a:lstStyle/>
          <a:p>
            <a:pPr defTabSz="904875" fontAlgn="base">
              <a:spcBef>
                <a:spcPct val="0"/>
              </a:spcBef>
              <a:spcAft>
                <a:spcPct val="0"/>
              </a:spcAft>
            </a:pPr>
            <a:fld id="{EF13FA6D-C8B2-4F7A-9B51-E7C42DF59B48}" type="slidenum">
              <a:rPr lang="en-US">
                <a:solidFill>
                  <a:srgbClr val="1B1E29"/>
                </a:solidFill>
                <a:cs typeface="Arial" charset="0"/>
              </a:rPr>
              <a:pPr defTabSz="904875" fontAlgn="base">
                <a:spcBef>
                  <a:spcPct val="0"/>
                </a:spcBef>
                <a:spcAft>
                  <a:spcPct val="0"/>
                </a:spcAft>
              </a:pPr>
              <a:t>18</a:t>
            </a:fld>
            <a:endParaRPr lang="en-US">
              <a:solidFill>
                <a:srgbClr val="1B1E29"/>
              </a:solidFill>
              <a:cs typeface="Arial" charset="0"/>
            </a:endParaRPr>
          </a:p>
        </p:txBody>
      </p:sp>
      <p:sp>
        <p:nvSpPr>
          <p:cNvPr id="19" name="Rectangle 18">
            <a:extLst>
              <a:ext uri="{FF2B5EF4-FFF2-40B4-BE49-F238E27FC236}">
                <a16:creationId xmlns:a16="http://schemas.microsoft.com/office/drawing/2014/main" id="{1C8B487B-E944-9306-59F7-3E411F744AF7}"/>
              </a:ext>
            </a:extLst>
          </p:cNvPr>
          <p:cNvSpPr/>
          <p:nvPr/>
        </p:nvSpPr>
        <p:spPr>
          <a:xfrm>
            <a:off x="6232127" y="2138242"/>
            <a:ext cx="2240754" cy="2677039"/>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Increase Volume (Sales)</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800 cups over Breakeven</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Get to keep $1.35 Margin for additional 800 cups sold</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Making a Profit!</a:t>
            </a:r>
          </a:p>
        </p:txBody>
      </p:sp>
      <p:pic>
        <p:nvPicPr>
          <p:cNvPr id="6" name="Picture 5">
            <a:extLst>
              <a:ext uri="{FF2B5EF4-FFF2-40B4-BE49-F238E27FC236}">
                <a16:creationId xmlns:a16="http://schemas.microsoft.com/office/drawing/2014/main" id="{49B581AF-A682-35C3-1B00-933BB603CFBA}"/>
              </a:ext>
            </a:extLst>
          </p:cNvPr>
          <p:cNvPicPr>
            <a:picLocks noChangeAspect="1"/>
          </p:cNvPicPr>
          <p:nvPr/>
        </p:nvPicPr>
        <p:blipFill>
          <a:blip r:embed="rId3"/>
          <a:stretch>
            <a:fillRect/>
          </a:stretch>
        </p:blipFill>
        <p:spPr>
          <a:xfrm>
            <a:off x="374904" y="464569"/>
            <a:ext cx="4747321" cy="5715000"/>
          </a:xfrm>
          <a:prstGeom prst="rect">
            <a:avLst/>
          </a:prstGeom>
        </p:spPr>
      </p:pic>
    </p:spTree>
    <p:extLst>
      <p:ext uri="{BB962C8B-B14F-4D97-AF65-F5344CB8AC3E}">
        <p14:creationId xmlns:p14="http://schemas.microsoft.com/office/powerpoint/2010/main" val="3290683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B496E-E93E-56D4-9D27-3FDAC494EB23}"/>
              </a:ext>
            </a:extLst>
          </p:cNvPr>
          <p:cNvSpPr>
            <a:spLocks noGrp="1"/>
          </p:cNvSpPr>
          <p:nvPr>
            <p:ph type="title"/>
          </p:nvPr>
        </p:nvSpPr>
        <p:spPr>
          <a:xfrm>
            <a:off x="5771626" y="1008531"/>
            <a:ext cx="3149132" cy="786336"/>
          </a:xfrm>
        </p:spPr>
        <p:txBody>
          <a:bodyPr>
            <a:noAutofit/>
          </a:bodyPr>
          <a:lstStyle/>
          <a:p>
            <a:r>
              <a:rPr lang="en-US" sz="3000"/>
              <a:t>Improve Margin</a:t>
            </a:r>
          </a:p>
        </p:txBody>
      </p:sp>
      <p:sp>
        <p:nvSpPr>
          <p:cNvPr id="3" name="Slide Number Placeholder 2">
            <a:extLst>
              <a:ext uri="{FF2B5EF4-FFF2-40B4-BE49-F238E27FC236}">
                <a16:creationId xmlns:a16="http://schemas.microsoft.com/office/drawing/2014/main" id="{6A4A8B40-CDE9-1BFD-C011-551569FD49EE}"/>
              </a:ext>
            </a:extLst>
          </p:cNvPr>
          <p:cNvSpPr>
            <a:spLocks noGrp="1"/>
          </p:cNvSpPr>
          <p:nvPr>
            <p:ph type="sldNum" sz="quarter" idx="4"/>
          </p:nvPr>
        </p:nvSpPr>
        <p:spPr/>
        <p:txBody>
          <a:bodyPr/>
          <a:lstStyle/>
          <a:p>
            <a:pPr defTabSz="904875" fontAlgn="base">
              <a:spcBef>
                <a:spcPct val="0"/>
              </a:spcBef>
              <a:spcAft>
                <a:spcPct val="0"/>
              </a:spcAft>
            </a:pPr>
            <a:fld id="{EF13FA6D-C8B2-4F7A-9B51-E7C42DF59B48}" type="slidenum">
              <a:rPr lang="en-US">
                <a:solidFill>
                  <a:srgbClr val="1B1E29"/>
                </a:solidFill>
                <a:cs typeface="Arial" charset="0"/>
              </a:rPr>
              <a:pPr defTabSz="904875" fontAlgn="base">
                <a:spcBef>
                  <a:spcPct val="0"/>
                </a:spcBef>
                <a:spcAft>
                  <a:spcPct val="0"/>
                </a:spcAft>
              </a:pPr>
              <a:t>19</a:t>
            </a:fld>
            <a:endParaRPr lang="en-US">
              <a:solidFill>
                <a:srgbClr val="1B1E29"/>
              </a:solidFill>
              <a:cs typeface="Arial" charset="0"/>
            </a:endParaRPr>
          </a:p>
        </p:txBody>
      </p:sp>
      <p:sp>
        <p:nvSpPr>
          <p:cNvPr id="19" name="Rectangle 18">
            <a:extLst>
              <a:ext uri="{FF2B5EF4-FFF2-40B4-BE49-F238E27FC236}">
                <a16:creationId xmlns:a16="http://schemas.microsoft.com/office/drawing/2014/main" id="{1C8B487B-E944-9306-59F7-3E411F744AF7}"/>
              </a:ext>
            </a:extLst>
          </p:cNvPr>
          <p:cNvSpPr/>
          <p:nvPr/>
        </p:nvSpPr>
        <p:spPr>
          <a:xfrm>
            <a:off x="6158373" y="2403447"/>
            <a:ext cx="2600587" cy="265968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Increase Price</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Decrease Variable Cost by Negotiating with Vendors or getting new ones</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Margin increases per cup</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Increases profit by $1200 without selling more cups!</a:t>
            </a:r>
          </a:p>
        </p:txBody>
      </p:sp>
      <p:pic>
        <p:nvPicPr>
          <p:cNvPr id="7" name="Picture 6">
            <a:extLst>
              <a:ext uri="{FF2B5EF4-FFF2-40B4-BE49-F238E27FC236}">
                <a16:creationId xmlns:a16="http://schemas.microsoft.com/office/drawing/2014/main" id="{19DD7AED-78FD-4EF3-C5A0-E9D98760458E}"/>
              </a:ext>
            </a:extLst>
          </p:cNvPr>
          <p:cNvPicPr>
            <a:picLocks noChangeAspect="1"/>
          </p:cNvPicPr>
          <p:nvPr/>
        </p:nvPicPr>
        <p:blipFill>
          <a:blip r:embed="rId3"/>
          <a:stretch>
            <a:fillRect/>
          </a:stretch>
        </p:blipFill>
        <p:spPr>
          <a:xfrm>
            <a:off x="374904" y="462280"/>
            <a:ext cx="4747320" cy="5715000"/>
          </a:xfrm>
          <a:prstGeom prst="rect">
            <a:avLst/>
          </a:prstGeom>
        </p:spPr>
      </p:pic>
    </p:spTree>
    <p:extLst>
      <p:ext uri="{BB962C8B-B14F-4D97-AF65-F5344CB8AC3E}">
        <p14:creationId xmlns:p14="http://schemas.microsoft.com/office/powerpoint/2010/main" val="3582294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0B496E-E93E-56D4-9D27-3FDAC494EB23}"/>
              </a:ext>
            </a:extLst>
          </p:cNvPr>
          <p:cNvSpPr>
            <a:spLocks noGrp="1"/>
          </p:cNvSpPr>
          <p:nvPr>
            <p:ph type="title"/>
          </p:nvPr>
        </p:nvSpPr>
        <p:spPr>
          <a:xfrm>
            <a:off x="5771626" y="1008531"/>
            <a:ext cx="3149132" cy="786336"/>
          </a:xfrm>
        </p:spPr>
        <p:txBody>
          <a:bodyPr>
            <a:noAutofit/>
          </a:bodyPr>
          <a:lstStyle/>
          <a:p>
            <a:r>
              <a:rPr lang="en-US" sz="3000"/>
              <a:t>Decrease Fixed Costs</a:t>
            </a:r>
          </a:p>
        </p:txBody>
      </p:sp>
      <p:sp>
        <p:nvSpPr>
          <p:cNvPr id="3" name="Slide Number Placeholder 2">
            <a:extLst>
              <a:ext uri="{FF2B5EF4-FFF2-40B4-BE49-F238E27FC236}">
                <a16:creationId xmlns:a16="http://schemas.microsoft.com/office/drawing/2014/main" id="{6A4A8B40-CDE9-1BFD-C011-551569FD49EE}"/>
              </a:ext>
            </a:extLst>
          </p:cNvPr>
          <p:cNvSpPr>
            <a:spLocks noGrp="1"/>
          </p:cNvSpPr>
          <p:nvPr>
            <p:ph type="sldNum" sz="quarter" idx="4"/>
          </p:nvPr>
        </p:nvSpPr>
        <p:spPr/>
        <p:txBody>
          <a:bodyPr/>
          <a:lstStyle/>
          <a:p>
            <a:pPr defTabSz="904875" fontAlgn="base">
              <a:spcBef>
                <a:spcPct val="0"/>
              </a:spcBef>
              <a:spcAft>
                <a:spcPct val="0"/>
              </a:spcAft>
            </a:pPr>
            <a:fld id="{EF13FA6D-C8B2-4F7A-9B51-E7C42DF59B48}" type="slidenum">
              <a:rPr lang="en-US">
                <a:solidFill>
                  <a:srgbClr val="1B1E29"/>
                </a:solidFill>
                <a:cs typeface="Arial" charset="0"/>
              </a:rPr>
              <a:pPr defTabSz="904875" fontAlgn="base">
                <a:spcBef>
                  <a:spcPct val="0"/>
                </a:spcBef>
                <a:spcAft>
                  <a:spcPct val="0"/>
                </a:spcAft>
              </a:pPr>
              <a:t>20</a:t>
            </a:fld>
            <a:endParaRPr lang="en-US">
              <a:solidFill>
                <a:srgbClr val="1B1E29"/>
              </a:solidFill>
              <a:cs typeface="Arial" charset="0"/>
            </a:endParaRPr>
          </a:p>
        </p:txBody>
      </p:sp>
      <p:sp>
        <p:nvSpPr>
          <p:cNvPr id="19" name="Rectangle 18">
            <a:extLst>
              <a:ext uri="{FF2B5EF4-FFF2-40B4-BE49-F238E27FC236}">
                <a16:creationId xmlns:a16="http://schemas.microsoft.com/office/drawing/2014/main" id="{1C8B487B-E944-9306-59F7-3E411F744AF7}"/>
              </a:ext>
            </a:extLst>
          </p:cNvPr>
          <p:cNvSpPr/>
          <p:nvPr/>
        </p:nvSpPr>
        <p:spPr>
          <a:xfrm>
            <a:off x="6158373" y="2403447"/>
            <a:ext cx="2600587" cy="265968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Bought Used Cart</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No more Cart Lease Payments @ $750/mo.</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Increases Profits</a:t>
            </a:r>
          </a:p>
          <a:p>
            <a:pPr marL="285750" indent="-285750" defTabSz="904875" fontAlgn="base">
              <a:spcBef>
                <a:spcPct val="0"/>
              </a:spcBef>
              <a:spcAft>
                <a:spcPct val="0"/>
              </a:spcAft>
              <a:buFont typeface="Arial" panose="020B0604020202020204" pitchFamily="34" charset="0"/>
              <a:buChar char="•"/>
            </a:pPr>
            <a:r>
              <a:rPr lang="en-US" sz="1781">
                <a:solidFill>
                  <a:srgbClr val="1B1E29"/>
                </a:solidFill>
                <a:latin typeface="Calibri" panose="020F0502020204030204"/>
              </a:rPr>
              <a:t>Breakeven is now 2164 cups – almost 1000 cups less!</a:t>
            </a:r>
          </a:p>
        </p:txBody>
      </p:sp>
      <p:pic>
        <p:nvPicPr>
          <p:cNvPr id="4" name="Picture 3">
            <a:extLst>
              <a:ext uri="{FF2B5EF4-FFF2-40B4-BE49-F238E27FC236}">
                <a16:creationId xmlns:a16="http://schemas.microsoft.com/office/drawing/2014/main" id="{04BB8B70-00D9-38C0-FD04-759DDCF7EDB5}"/>
              </a:ext>
            </a:extLst>
          </p:cNvPr>
          <p:cNvPicPr>
            <a:picLocks noChangeAspect="1"/>
          </p:cNvPicPr>
          <p:nvPr/>
        </p:nvPicPr>
        <p:blipFill>
          <a:blip r:embed="rId3"/>
          <a:stretch>
            <a:fillRect/>
          </a:stretch>
        </p:blipFill>
        <p:spPr>
          <a:xfrm>
            <a:off x="374904" y="462563"/>
            <a:ext cx="4747321" cy="5715000"/>
          </a:xfrm>
          <a:prstGeom prst="rect">
            <a:avLst/>
          </a:prstGeom>
        </p:spPr>
      </p:pic>
    </p:spTree>
    <p:extLst>
      <p:ext uri="{BB962C8B-B14F-4D97-AF65-F5344CB8AC3E}">
        <p14:creationId xmlns:p14="http://schemas.microsoft.com/office/powerpoint/2010/main" val="36172422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A4A8B40-CDE9-1BFD-C011-551569FD49EE}"/>
              </a:ext>
            </a:extLst>
          </p:cNvPr>
          <p:cNvSpPr>
            <a:spLocks noGrp="1"/>
          </p:cNvSpPr>
          <p:nvPr>
            <p:ph type="sldNum" sz="quarter" idx="4"/>
          </p:nvPr>
        </p:nvSpPr>
        <p:spPr/>
        <p:txBody>
          <a:bodyPr/>
          <a:lstStyle/>
          <a:p>
            <a:pPr defTabSz="904875" fontAlgn="base">
              <a:spcBef>
                <a:spcPct val="0"/>
              </a:spcBef>
              <a:spcAft>
                <a:spcPct val="0"/>
              </a:spcAft>
            </a:pPr>
            <a:fld id="{EF13FA6D-C8B2-4F7A-9B51-E7C42DF59B48}" type="slidenum">
              <a:rPr lang="en-US">
                <a:solidFill>
                  <a:srgbClr val="1B1E29"/>
                </a:solidFill>
                <a:cs typeface="Arial" charset="0"/>
              </a:rPr>
              <a:pPr defTabSz="904875" fontAlgn="base">
                <a:spcBef>
                  <a:spcPct val="0"/>
                </a:spcBef>
                <a:spcAft>
                  <a:spcPct val="0"/>
                </a:spcAft>
              </a:pPr>
              <a:t>21</a:t>
            </a:fld>
            <a:endParaRPr lang="en-US">
              <a:solidFill>
                <a:srgbClr val="1B1E29"/>
              </a:solidFill>
              <a:cs typeface="Arial" charset="0"/>
            </a:endParaRPr>
          </a:p>
        </p:txBody>
      </p:sp>
      <p:sp>
        <p:nvSpPr>
          <p:cNvPr id="4" name="Arrow: Left 3">
            <a:extLst>
              <a:ext uri="{FF2B5EF4-FFF2-40B4-BE49-F238E27FC236}">
                <a16:creationId xmlns:a16="http://schemas.microsoft.com/office/drawing/2014/main" id="{62B57470-54F1-013F-1C4F-474F2BED47CC}"/>
              </a:ext>
            </a:extLst>
          </p:cNvPr>
          <p:cNvSpPr/>
          <p:nvPr/>
        </p:nvSpPr>
        <p:spPr>
          <a:xfrm>
            <a:off x="4790466" y="1473841"/>
            <a:ext cx="3590132" cy="1687147"/>
          </a:xfrm>
          <a:prstGeom prst="leftArrow">
            <a:avLst>
              <a:gd name="adj1" fmla="val 50000"/>
              <a:gd name="adj2" fmla="val 66773"/>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t>Breakeven when we started was 3200 cups and occurred Last Day of the month</a:t>
            </a:r>
          </a:p>
        </p:txBody>
      </p:sp>
      <p:sp>
        <p:nvSpPr>
          <p:cNvPr id="5" name="Arrow: Right 4">
            <a:extLst>
              <a:ext uri="{FF2B5EF4-FFF2-40B4-BE49-F238E27FC236}">
                <a16:creationId xmlns:a16="http://schemas.microsoft.com/office/drawing/2014/main" id="{1448950C-DD16-21F6-95F2-065DD0EB4CFF}"/>
              </a:ext>
            </a:extLst>
          </p:cNvPr>
          <p:cNvSpPr/>
          <p:nvPr/>
        </p:nvSpPr>
        <p:spPr>
          <a:xfrm>
            <a:off x="293615" y="4175333"/>
            <a:ext cx="3901849" cy="2012031"/>
          </a:xfrm>
          <a:prstGeom prst="rightArrow">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Increase Volume, Price</a:t>
            </a:r>
          </a:p>
          <a:p>
            <a:pPr algn="ctr"/>
            <a:r>
              <a:rPr lang="en-US"/>
              <a:t>Decrease Variable and Fixed Cost</a:t>
            </a:r>
          </a:p>
          <a:p>
            <a:pPr algn="ctr"/>
            <a:r>
              <a:rPr lang="en-US"/>
              <a:t>Breakeven is end of Week 2</a:t>
            </a:r>
          </a:p>
        </p:txBody>
      </p:sp>
      <p:pic>
        <p:nvPicPr>
          <p:cNvPr id="8" name="Picture 7">
            <a:extLst>
              <a:ext uri="{FF2B5EF4-FFF2-40B4-BE49-F238E27FC236}">
                <a16:creationId xmlns:a16="http://schemas.microsoft.com/office/drawing/2014/main" id="{E50F1E23-46A5-9DD4-22E3-607F2A20AE4E}"/>
              </a:ext>
            </a:extLst>
          </p:cNvPr>
          <p:cNvPicPr>
            <a:picLocks noChangeAspect="1"/>
          </p:cNvPicPr>
          <p:nvPr/>
        </p:nvPicPr>
        <p:blipFill>
          <a:blip r:embed="rId3"/>
          <a:stretch>
            <a:fillRect/>
          </a:stretch>
        </p:blipFill>
        <p:spPr>
          <a:xfrm>
            <a:off x="293615" y="1409257"/>
            <a:ext cx="4496851" cy="2494097"/>
          </a:xfrm>
          <a:prstGeom prst="rect">
            <a:avLst/>
          </a:prstGeom>
        </p:spPr>
      </p:pic>
      <p:sp>
        <p:nvSpPr>
          <p:cNvPr id="12" name="Callout: Down Arrow 11">
            <a:extLst>
              <a:ext uri="{FF2B5EF4-FFF2-40B4-BE49-F238E27FC236}">
                <a16:creationId xmlns:a16="http://schemas.microsoft.com/office/drawing/2014/main" id="{0AC2A376-E3F3-CC4B-D952-B9C198089A5F}"/>
              </a:ext>
            </a:extLst>
          </p:cNvPr>
          <p:cNvSpPr/>
          <p:nvPr/>
        </p:nvSpPr>
        <p:spPr>
          <a:xfrm>
            <a:off x="3843835" y="982212"/>
            <a:ext cx="1456329" cy="869658"/>
          </a:xfrm>
          <a:prstGeom prst="downArrowCallou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Last Day of Month</a:t>
            </a:r>
          </a:p>
        </p:txBody>
      </p:sp>
      <p:pic>
        <p:nvPicPr>
          <p:cNvPr id="11" name="Picture 10">
            <a:extLst>
              <a:ext uri="{FF2B5EF4-FFF2-40B4-BE49-F238E27FC236}">
                <a16:creationId xmlns:a16="http://schemas.microsoft.com/office/drawing/2014/main" id="{135500AF-0606-A059-06B9-7A2DA1A1B900}"/>
              </a:ext>
            </a:extLst>
          </p:cNvPr>
          <p:cNvPicPr>
            <a:picLocks noChangeAspect="1"/>
          </p:cNvPicPr>
          <p:nvPr/>
        </p:nvPicPr>
        <p:blipFill>
          <a:blip r:embed="rId4"/>
          <a:stretch>
            <a:fillRect/>
          </a:stretch>
        </p:blipFill>
        <p:spPr>
          <a:xfrm>
            <a:off x="4287345" y="3497550"/>
            <a:ext cx="4578493" cy="2755631"/>
          </a:xfrm>
          <a:prstGeom prst="rect">
            <a:avLst/>
          </a:prstGeom>
        </p:spPr>
      </p:pic>
      <p:sp>
        <p:nvSpPr>
          <p:cNvPr id="13" name="Callout: Down Arrow 12">
            <a:extLst>
              <a:ext uri="{FF2B5EF4-FFF2-40B4-BE49-F238E27FC236}">
                <a16:creationId xmlns:a16="http://schemas.microsoft.com/office/drawing/2014/main" id="{9CC32F3F-0CA0-2B1B-6ED2-C3D5FFA8B51B}"/>
              </a:ext>
            </a:extLst>
          </p:cNvPr>
          <p:cNvSpPr/>
          <p:nvPr/>
        </p:nvSpPr>
        <p:spPr>
          <a:xfrm>
            <a:off x="6493920" y="3906885"/>
            <a:ext cx="956345" cy="536896"/>
          </a:xfrm>
          <a:prstGeom prst="downArrowCallou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Week 2</a:t>
            </a:r>
          </a:p>
        </p:txBody>
      </p:sp>
      <p:sp>
        <p:nvSpPr>
          <p:cNvPr id="7" name="Title 6">
            <a:extLst>
              <a:ext uri="{FF2B5EF4-FFF2-40B4-BE49-F238E27FC236}">
                <a16:creationId xmlns:a16="http://schemas.microsoft.com/office/drawing/2014/main" id="{74F73BF3-FAF5-5838-9A1B-270D72BBF57E}"/>
              </a:ext>
            </a:extLst>
          </p:cNvPr>
          <p:cNvSpPr>
            <a:spLocks noGrp="1"/>
          </p:cNvSpPr>
          <p:nvPr>
            <p:ph type="title"/>
          </p:nvPr>
        </p:nvSpPr>
        <p:spPr/>
        <p:txBody>
          <a:bodyPr>
            <a:normAutofit/>
          </a:bodyPr>
          <a:lstStyle/>
          <a:p>
            <a:r>
              <a:rPr lang="en-US" sz="2400" dirty="0"/>
              <a:t>Understanding Your Numbers is Important!</a:t>
            </a:r>
          </a:p>
        </p:txBody>
      </p:sp>
    </p:spTree>
    <p:extLst>
      <p:ext uri="{BB962C8B-B14F-4D97-AF65-F5344CB8AC3E}">
        <p14:creationId xmlns:p14="http://schemas.microsoft.com/office/powerpoint/2010/main" val="14692050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A83DA42B-5FD7-FA71-B2CE-D23E4DCC3EF3}"/>
              </a:ext>
            </a:extLst>
          </p:cNvPr>
          <p:cNvSpPr>
            <a:spLocks noGrp="1"/>
          </p:cNvSpPr>
          <p:nvPr>
            <p:ph type="sldNum" sz="quarter" idx="4"/>
          </p:nvPr>
        </p:nvSpPr>
        <p:spPr/>
        <p:txBody>
          <a:bodyPr/>
          <a:lstStyle/>
          <a:p>
            <a:fld id="{EF13FA6D-C8B2-4F7A-9B51-E7C42DF59B48}" type="slidenum">
              <a:rPr lang="en-US" smtClean="0"/>
              <a:pPr/>
              <a:t>22</a:t>
            </a:fld>
            <a:endParaRPr lang="en-US" sz="900"/>
          </a:p>
        </p:txBody>
      </p:sp>
      <p:sp>
        <p:nvSpPr>
          <p:cNvPr id="15" name="Title 14">
            <a:extLst>
              <a:ext uri="{FF2B5EF4-FFF2-40B4-BE49-F238E27FC236}">
                <a16:creationId xmlns:a16="http://schemas.microsoft.com/office/drawing/2014/main" id="{B01D094D-2961-C0ED-D4CB-A78DCA2B6E22}"/>
              </a:ext>
            </a:extLst>
          </p:cNvPr>
          <p:cNvSpPr>
            <a:spLocks noGrp="1"/>
          </p:cNvSpPr>
          <p:nvPr>
            <p:ph type="title"/>
          </p:nvPr>
        </p:nvSpPr>
        <p:spPr/>
        <p:txBody>
          <a:bodyPr>
            <a:normAutofit/>
          </a:bodyPr>
          <a:lstStyle/>
          <a:p>
            <a:r>
              <a:rPr lang="en-US" sz="2800"/>
              <a:t>Operating Leverage</a:t>
            </a:r>
          </a:p>
        </p:txBody>
      </p:sp>
      <p:sp>
        <p:nvSpPr>
          <p:cNvPr id="16" name="Rectangle 3">
            <a:extLst>
              <a:ext uri="{FF2B5EF4-FFF2-40B4-BE49-F238E27FC236}">
                <a16:creationId xmlns:a16="http://schemas.microsoft.com/office/drawing/2014/main" id="{01377C5F-5838-5E60-1540-CA95AD8B7D4C}"/>
              </a:ext>
            </a:extLst>
          </p:cNvPr>
          <p:cNvSpPr txBox="1">
            <a:spLocks noRot="1" noChangeArrowheads="1"/>
          </p:cNvSpPr>
          <p:nvPr/>
        </p:nvSpPr>
        <p:spPr>
          <a:xfrm>
            <a:off x="335756" y="1503362"/>
            <a:ext cx="8448648" cy="4308475"/>
          </a:xfrm>
          <a:prstGeom prst="rect">
            <a:avLst/>
          </a:prstGeom>
        </p:spPr>
        <p:txBody>
          <a:bodyPr vert="horz" lIns="91440" tIns="45720" rIns="91440" bIns="45720" rtlCol="0">
            <a:noAutofit/>
          </a:bodyPr>
          <a:lstStyle>
            <a:lvl1pPr marL="171438" indent="-171438" algn="l" defTabSz="685749" rtl="0" eaLnBrk="1" latinLnBrk="0" hangingPunct="1">
              <a:lnSpc>
                <a:spcPct val="90000"/>
              </a:lnSpc>
              <a:spcBef>
                <a:spcPts val="750"/>
              </a:spcBef>
              <a:buFont typeface="Arial"/>
              <a:buChar char="•"/>
              <a:defRPr sz="2100" kern="1200">
                <a:solidFill>
                  <a:schemeClr val="tx1"/>
                </a:solidFill>
                <a:latin typeface="Source Sans Pro" charset="0"/>
                <a:ea typeface="Source Sans Pro" charset="0"/>
                <a:cs typeface="Source Sans Pro" charset="0"/>
              </a:defRPr>
            </a:lvl1pPr>
            <a:lvl2pPr marL="514313" indent="-171438" algn="l" defTabSz="685749" rtl="0" eaLnBrk="1" latinLnBrk="0" hangingPunct="1">
              <a:lnSpc>
                <a:spcPct val="90000"/>
              </a:lnSpc>
              <a:spcBef>
                <a:spcPts val="375"/>
              </a:spcBef>
              <a:buFont typeface="Arial"/>
              <a:buChar char="•"/>
              <a:defRPr sz="1800" kern="1200">
                <a:solidFill>
                  <a:schemeClr val="tx1"/>
                </a:solidFill>
                <a:latin typeface="Source Sans Pro" charset="0"/>
                <a:ea typeface="Source Sans Pro" charset="0"/>
                <a:cs typeface="Source Sans Pro" charset="0"/>
              </a:defRPr>
            </a:lvl2pPr>
            <a:lvl3pPr marL="857186" indent="-171438" algn="l" defTabSz="685749" rtl="0" eaLnBrk="1" latinLnBrk="0" hangingPunct="1">
              <a:lnSpc>
                <a:spcPct val="90000"/>
              </a:lnSpc>
              <a:spcBef>
                <a:spcPts val="375"/>
              </a:spcBef>
              <a:buFont typeface="Arial"/>
              <a:buChar char="•"/>
              <a:defRPr sz="1500" kern="1200">
                <a:solidFill>
                  <a:schemeClr val="tx1"/>
                </a:solidFill>
                <a:latin typeface="Source Sans Pro" charset="0"/>
                <a:ea typeface="Source Sans Pro" charset="0"/>
                <a:cs typeface="Source Sans Pro" charset="0"/>
              </a:defRPr>
            </a:lvl3pPr>
            <a:lvl4pPr marL="1200060"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4pPr>
            <a:lvl5pPr marL="1542935" indent="-171438" algn="l" defTabSz="685749" rtl="0" eaLnBrk="1" latinLnBrk="0" hangingPunct="1">
              <a:lnSpc>
                <a:spcPct val="90000"/>
              </a:lnSpc>
              <a:spcBef>
                <a:spcPts val="375"/>
              </a:spcBef>
              <a:buFont typeface="Arial"/>
              <a:buChar char="•"/>
              <a:defRPr sz="1350" kern="1200">
                <a:solidFill>
                  <a:schemeClr val="tx1"/>
                </a:solidFill>
                <a:latin typeface="Source Sans Pro" charset="0"/>
                <a:ea typeface="Source Sans Pro" charset="0"/>
                <a:cs typeface="Source Sans Pro" charset="0"/>
              </a:defRPr>
            </a:lvl5pPr>
            <a:lvl6pPr marL="1885809"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684"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558"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433" indent="-171438" algn="l" defTabSz="685749"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defTabSz="966440">
              <a:buFont typeface="Arial" pitchFamily="34" charset="0"/>
              <a:buNone/>
              <a:defRPr/>
            </a:pPr>
            <a:r>
              <a:rPr lang="en-US" sz="2400">
                <a:solidFill>
                  <a:srgbClr val="CC0000"/>
                </a:solidFill>
                <a:latin typeface="Source Sans Pro" panose="020B0503030403020204" pitchFamily="34" charset="0"/>
                <a:ea typeface="Source Sans Pro" panose="020B0503030403020204" pitchFamily="34" charset="0"/>
                <a:cs typeface="Franklin Gothic Medium"/>
              </a:rPr>
              <a:t>Operating Leverage </a:t>
            </a:r>
            <a:r>
              <a:rPr lang="en-US" sz="2400">
                <a:solidFill>
                  <a:schemeClr val="tx2"/>
                </a:solidFill>
                <a:latin typeface="Source Sans Pro" panose="020B0503030403020204" pitchFamily="34" charset="0"/>
                <a:ea typeface="Source Sans Pro" panose="020B0503030403020204" pitchFamily="34" charset="0"/>
                <a:cs typeface="Franklin Gothic Medium"/>
              </a:rPr>
              <a:t>is the relationship between </a:t>
            </a:r>
            <a:r>
              <a:rPr lang="en-US" sz="2400">
                <a:solidFill>
                  <a:srgbClr val="CC0000"/>
                </a:solidFill>
                <a:latin typeface="Source Sans Pro" panose="020B0503030403020204" pitchFamily="34" charset="0"/>
                <a:ea typeface="Source Sans Pro" panose="020B0503030403020204" pitchFamily="34" charset="0"/>
                <a:cs typeface="Franklin Gothic Medium"/>
              </a:rPr>
              <a:t>variable costs </a:t>
            </a:r>
            <a:r>
              <a:rPr lang="en-US" sz="2400">
                <a:solidFill>
                  <a:schemeClr val="tx2"/>
                </a:solidFill>
                <a:latin typeface="Source Sans Pro" panose="020B0503030403020204" pitchFamily="34" charset="0"/>
                <a:ea typeface="Source Sans Pro" panose="020B0503030403020204" pitchFamily="34" charset="0"/>
                <a:cs typeface="Franklin Gothic Medium"/>
              </a:rPr>
              <a:t>and</a:t>
            </a:r>
            <a:r>
              <a:rPr lang="en-US" sz="2400">
                <a:solidFill>
                  <a:srgbClr val="000000"/>
                </a:solidFill>
                <a:latin typeface="Source Sans Pro" panose="020B0503030403020204" pitchFamily="34" charset="0"/>
                <a:ea typeface="Source Sans Pro" panose="020B0503030403020204" pitchFamily="34" charset="0"/>
                <a:cs typeface="Franklin Gothic Medium"/>
              </a:rPr>
              <a:t> </a:t>
            </a:r>
            <a:r>
              <a:rPr lang="en-US" sz="2400">
                <a:solidFill>
                  <a:srgbClr val="CC0000"/>
                </a:solidFill>
                <a:latin typeface="Source Sans Pro" panose="020B0503030403020204" pitchFamily="34" charset="0"/>
                <a:ea typeface="Source Sans Pro" panose="020B0503030403020204" pitchFamily="34" charset="0"/>
                <a:cs typeface="Franklin Gothic Medium"/>
              </a:rPr>
              <a:t>fixed costs.</a:t>
            </a:r>
          </a:p>
          <a:p>
            <a:pPr marL="966612" lvl="1" indent="-483306" defTabSz="966440">
              <a:lnSpc>
                <a:spcPct val="140000"/>
              </a:lnSpc>
              <a:defRPr/>
            </a:pPr>
            <a:r>
              <a:rPr lang="en-US" sz="2200">
                <a:solidFill>
                  <a:schemeClr val="tx2"/>
                </a:solidFill>
                <a:latin typeface="Source Sans Pro" panose="020B0503030403020204" pitchFamily="34" charset="0"/>
                <a:ea typeface="Source Sans Pro" panose="020B0503030403020204" pitchFamily="34" charset="0"/>
                <a:cs typeface="Franklin Gothic Book"/>
              </a:rPr>
              <a:t>Higher fixed cost model = high operating leverage</a:t>
            </a:r>
          </a:p>
          <a:p>
            <a:pPr marL="966612" lvl="1" indent="-483306" defTabSz="966440">
              <a:lnSpc>
                <a:spcPct val="140000"/>
              </a:lnSpc>
              <a:defRPr/>
            </a:pPr>
            <a:r>
              <a:rPr lang="en-US" sz="2200">
                <a:solidFill>
                  <a:schemeClr val="tx2"/>
                </a:solidFill>
                <a:latin typeface="Source Sans Pro" panose="020B0503030403020204" pitchFamily="34" charset="0"/>
                <a:ea typeface="Source Sans Pro" panose="020B0503030403020204" pitchFamily="34" charset="0"/>
                <a:cs typeface="Franklin Gothic Book"/>
              </a:rPr>
              <a:t>Higher variable cost model = low operating leverage</a:t>
            </a:r>
          </a:p>
          <a:p>
            <a:pPr marL="0" indent="0" defTabSz="966440">
              <a:buFont typeface="Arial" pitchFamily="34" charset="0"/>
              <a:buNone/>
              <a:defRPr/>
            </a:pPr>
            <a:r>
              <a:rPr lang="en-US" sz="2400">
                <a:solidFill>
                  <a:schemeClr val="tx2"/>
                </a:solidFill>
                <a:latin typeface="Source Sans Pro" panose="020B0503030403020204" pitchFamily="34" charset="0"/>
                <a:ea typeface="Source Sans Pro" panose="020B0503030403020204" pitchFamily="34" charset="0"/>
              </a:rPr>
              <a:t>What is the difference between </a:t>
            </a:r>
            <a:r>
              <a:rPr lang="en-US" sz="2400">
                <a:solidFill>
                  <a:srgbClr val="CC0000"/>
                </a:solidFill>
                <a:latin typeface="Source Sans Pro" panose="020B0503030403020204" pitchFamily="34" charset="0"/>
                <a:ea typeface="Source Sans Pro" panose="020B0503030403020204" pitchFamily="34" charset="0"/>
              </a:rPr>
              <a:t>variable</a:t>
            </a:r>
            <a:r>
              <a:rPr lang="en-US" sz="2400">
                <a:solidFill>
                  <a:schemeClr val="tx2"/>
                </a:solidFill>
                <a:latin typeface="Source Sans Pro" panose="020B0503030403020204" pitchFamily="34" charset="0"/>
                <a:ea typeface="Source Sans Pro" panose="020B0503030403020204" pitchFamily="34" charset="0"/>
              </a:rPr>
              <a:t> and </a:t>
            </a:r>
            <a:r>
              <a:rPr lang="en-US" sz="2400">
                <a:solidFill>
                  <a:srgbClr val="CC0000"/>
                </a:solidFill>
                <a:latin typeface="Source Sans Pro" panose="020B0503030403020204" pitchFamily="34" charset="0"/>
                <a:ea typeface="Source Sans Pro" panose="020B0503030403020204" pitchFamily="34" charset="0"/>
              </a:rPr>
              <a:t>fixed </a:t>
            </a:r>
            <a:r>
              <a:rPr lang="en-US" sz="2400">
                <a:solidFill>
                  <a:schemeClr val="tx2"/>
                </a:solidFill>
                <a:latin typeface="Source Sans Pro" panose="020B0503030403020204" pitchFamily="34" charset="0"/>
                <a:ea typeface="Source Sans Pro" panose="020B0503030403020204" pitchFamily="34" charset="0"/>
              </a:rPr>
              <a:t>costs?</a:t>
            </a:r>
          </a:p>
        </p:txBody>
      </p:sp>
    </p:spTree>
    <p:extLst>
      <p:ext uri="{BB962C8B-B14F-4D97-AF65-F5344CB8AC3E}">
        <p14:creationId xmlns:p14="http://schemas.microsoft.com/office/powerpoint/2010/main" val="35626211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AF50B7EB-AFCC-F2E8-512E-CFA62CF1E192}"/>
              </a:ext>
            </a:extLst>
          </p:cNvPr>
          <p:cNvSpPr>
            <a:spLocks noGrp="1"/>
          </p:cNvSpPr>
          <p:nvPr>
            <p:ph type="sldNum" sz="quarter" idx="4"/>
          </p:nvPr>
        </p:nvSpPr>
        <p:spPr/>
        <p:txBody>
          <a:bodyPr/>
          <a:lstStyle/>
          <a:p>
            <a:fld id="{EF13FA6D-C8B2-4F7A-9B51-E7C42DF59B48}" type="slidenum">
              <a:rPr lang="en-US" smtClean="0"/>
              <a:pPr/>
              <a:t>23</a:t>
            </a:fld>
            <a:endParaRPr lang="en-US" sz="900"/>
          </a:p>
        </p:txBody>
      </p:sp>
      <p:sp>
        <p:nvSpPr>
          <p:cNvPr id="18" name="Text Placeholder 17">
            <a:extLst>
              <a:ext uri="{FF2B5EF4-FFF2-40B4-BE49-F238E27FC236}">
                <a16:creationId xmlns:a16="http://schemas.microsoft.com/office/drawing/2014/main" id="{CF00E23C-059D-FFBE-AA92-57B360ECD6C1}"/>
              </a:ext>
            </a:extLst>
          </p:cNvPr>
          <p:cNvSpPr>
            <a:spLocks noGrp="1"/>
          </p:cNvSpPr>
          <p:nvPr>
            <p:ph type="body" idx="1"/>
          </p:nvPr>
        </p:nvSpPr>
        <p:spPr>
          <a:xfrm>
            <a:off x="591241" y="1742457"/>
            <a:ext cx="3868340" cy="556360"/>
          </a:xfrm>
        </p:spPr>
        <p:txBody>
          <a:bodyPr vert="horz" lIns="91440" tIns="45720" rIns="91440" bIns="45720" rtlCol="0" anchor="ctr">
            <a:noAutofit/>
          </a:bodyPr>
          <a:lstStyle/>
          <a:p>
            <a:r>
              <a:rPr lang="en-US" sz="2000">
                <a:latin typeface="Source Sans Pro"/>
                <a:ea typeface="Source Sans Pro"/>
                <a:cs typeface="Franklin Gothic Medium"/>
              </a:rPr>
              <a:t>Higher fixed costs </a:t>
            </a:r>
            <a:endParaRPr lang="en-US" sz="2000"/>
          </a:p>
          <a:p>
            <a:r>
              <a:rPr lang="en-US" sz="2000">
                <a:latin typeface="Source Sans Pro"/>
                <a:ea typeface="Source Sans Pro"/>
                <a:cs typeface="Franklin Gothic Medium"/>
              </a:rPr>
              <a:t>(higher operating leverage)</a:t>
            </a:r>
            <a:endParaRPr lang="en-US" sz="2000"/>
          </a:p>
          <a:p>
            <a:endParaRPr lang="en-US"/>
          </a:p>
        </p:txBody>
      </p:sp>
      <p:sp>
        <p:nvSpPr>
          <p:cNvPr id="19" name="Content Placeholder 18">
            <a:extLst>
              <a:ext uri="{FF2B5EF4-FFF2-40B4-BE49-F238E27FC236}">
                <a16:creationId xmlns:a16="http://schemas.microsoft.com/office/drawing/2014/main" id="{561660CD-A306-0B78-5CC5-41EB7B453DB5}"/>
              </a:ext>
            </a:extLst>
          </p:cNvPr>
          <p:cNvSpPr>
            <a:spLocks noGrp="1"/>
          </p:cNvSpPr>
          <p:nvPr>
            <p:ph sz="half" idx="13"/>
          </p:nvPr>
        </p:nvSpPr>
        <p:spPr/>
        <p:txBody>
          <a:bodyPr/>
          <a:lstStyle/>
          <a:p>
            <a:pPr marL="362416" indent="-362416" defTabSz="966440" eaLnBrk="1" fontAlgn="auto" hangingPunct="1">
              <a:lnSpc>
                <a:spcPct val="90000"/>
              </a:lnSpc>
              <a:spcAft>
                <a:spcPts val="634"/>
              </a:spcAft>
              <a:buFont typeface="Arial" pitchFamily="34" charset="0"/>
              <a:buChar char="•"/>
              <a:defRPr/>
            </a:pPr>
            <a:r>
              <a:rPr lang="en-US" sz="2400">
                <a:solidFill>
                  <a:schemeClr val="tx2"/>
                </a:solidFill>
                <a:latin typeface="Source Sans Pro" panose="020B0503030403020204" pitchFamily="34" charset="0"/>
                <a:ea typeface="Source Sans Pro" panose="020B0503030403020204" pitchFamily="34" charset="0"/>
                <a:cs typeface="Franklin Gothic Book"/>
              </a:rPr>
              <a:t>Greater risk</a:t>
            </a:r>
          </a:p>
          <a:p>
            <a:pPr marL="362416" indent="-362416" defTabSz="966440" eaLnBrk="1" fontAlgn="auto" hangingPunct="1">
              <a:lnSpc>
                <a:spcPct val="90000"/>
              </a:lnSpc>
              <a:spcAft>
                <a:spcPts val="634"/>
              </a:spcAft>
              <a:buFont typeface="Arial" pitchFamily="34" charset="0"/>
              <a:buChar char="•"/>
              <a:defRPr/>
            </a:pPr>
            <a:r>
              <a:rPr lang="en-US" sz="2400">
                <a:solidFill>
                  <a:schemeClr val="tx2"/>
                </a:solidFill>
                <a:latin typeface="Source Sans Pro" panose="020B0503030403020204" pitchFamily="34" charset="0"/>
                <a:ea typeface="Source Sans Pro" panose="020B0503030403020204" pitchFamily="34" charset="0"/>
                <a:cs typeface="Franklin Gothic Book"/>
              </a:rPr>
              <a:t>It takes more units of service each month to breakeven</a:t>
            </a:r>
          </a:p>
          <a:p>
            <a:pPr marL="362416" indent="-362416" defTabSz="966440" eaLnBrk="1" fontAlgn="auto" hangingPunct="1">
              <a:lnSpc>
                <a:spcPct val="90000"/>
              </a:lnSpc>
              <a:spcAft>
                <a:spcPts val="0"/>
              </a:spcAft>
              <a:buFont typeface="Arial" pitchFamily="34" charset="0"/>
              <a:buChar char="•"/>
              <a:defRPr/>
            </a:pPr>
            <a:r>
              <a:rPr lang="en-US" sz="2400">
                <a:solidFill>
                  <a:schemeClr val="tx2"/>
                </a:solidFill>
                <a:latin typeface="Source Sans Pro" panose="020B0503030403020204" pitchFamily="34" charset="0"/>
                <a:ea typeface="Source Sans Pro" panose="020B0503030403020204" pitchFamily="34" charset="0"/>
                <a:cs typeface="Franklin Gothic Book"/>
              </a:rPr>
              <a:t>But, once you get to breakeven, you make a lot more money</a:t>
            </a:r>
          </a:p>
          <a:p>
            <a:endParaRPr lang="en-US"/>
          </a:p>
        </p:txBody>
      </p:sp>
      <p:sp>
        <p:nvSpPr>
          <p:cNvPr id="20" name="Text Placeholder 19">
            <a:extLst>
              <a:ext uri="{FF2B5EF4-FFF2-40B4-BE49-F238E27FC236}">
                <a16:creationId xmlns:a16="http://schemas.microsoft.com/office/drawing/2014/main" id="{C479CABB-9E70-22BA-EEF6-8CDF3AEFF593}"/>
              </a:ext>
            </a:extLst>
          </p:cNvPr>
          <p:cNvSpPr>
            <a:spLocks noGrp="1"/>
          </p:cNvSpPr>
          <p:nvPr>
            <p:ph type="body" idx="14"/>
          </p:nvPr>
        </p:nvSpPr>
        <p:spPr/>
        <p:txBody>
          <a:bodyPr>
            <a:noAutofit/>
          </a:bodyPr>
          <a:lstStyle/>
          <a:p>
            <a:pPr defTabSz="966440">
              <a:defRPr/>
            </a:pPr>
            <a:r>
              <a:rPr lang="en-US" sz="2000">
                <a:latin typeface="Source Sans Pro"/>
                <a:ea typeface="Source Sans Pro"/>
                <a:cs typeface="Franklin Gothic Medium"/>
              </a:rPr>
              <a:t>Lower fixed costs </a:t>
            </a:r>
            <a:endParaRPr lang="en-US"/>
          </a:p>
          <a:p>
            <a:pPr defTabSz="966440">
              <a:defRPr/>
            </a:pPr>
            <a:r>
              <a:rPr lang="en-US" sz="2000">
                <a:latin typeface="Source Sans Pro"/>
                <a:ea typeface="Source Sans Pro"/>
                <a:cs typeface="Franklin Gothic Medium"/>
              </a:rPr>
              <a:t>(low operating leverage)</a:t>
            </a:r>
            <a:endParaRPr lang="en-US"/>
          </a:p>
        </p:txBody>
      </p:sp>
      <p:sp>
        <p:nvSpPr>
          <p:cNvPr id="21" name="Content Placeholder 20">
            <a:extLst>
              <a:ext uri="{FF2B5EF4-FFF2-40B4-BE49-F238E27FC236}">
                <a16:creationId xmlns:a16="http://schemas.microsoft.com/office/drawing/2014/main" id="{F4F34DEF-8A6D-7D66-D563-00E9813B2B67}"/>
              </a:ext>
            </a:extLst>
          </p:cNvPr>
          <p:cNvSpPr>
            <a:spLocks noGrp="1"/>
          </p:cNvSpPr>
          <p:nvPr>
            <p:ph sz="half" idx="15"/>
          </p:nvPr>
        </p:nvSpPr>
        <p:spPr/>
        <p:txBody>
          <a:bodyPr/>
          <a:lstStyle/>
          <a:p>
            <a:pPr marL="362416" indent="-362416" defTabSz="966440" eaLnBrk="1" fontAlgn="auto" hangingPunct="1">
              <a:lnSpc>
                <a:spcPct val="90000"/>
              </a:lnSpc>
              <a:spcAft>
                <a:spcPts val="634"/>
              </a:spcAft>
              <a:buFont typeface="Arial" pitchFamily="34" charset="0"/>
              <a:buChar char="•"/>
              <a:defRPr/>
            </a:pPr>
            <a:r>
              <a:rPr lang="en-US" sz="2400">
                <a:solidFill>
                  <a:schemeClr val="tx2"/>
                </a:solidFill>
                <a:latin typeface="Source Sans Pro" panose="020B0503030403020204" pitchFamily="34" charset="0"/>
                <a:ea typeface="Source Sans Pro" panose="020B0503030403020204" pitchFamily="34" charset="0"/>
                <a:cs typeface="Franklin Gothic Book"/>
              </a:rPr>
              <a:t>Less risk</a:t>
            </a:r>
          </a:p>
          <a:p>
            <a:pPr marL="362416" indent="-362416" defTabSz="966440" eaLnBrk="1" fontAlgn="auto" hangingPunct="1">
              <a:lnSpc>
                <a:spcPct val="90000"/>
              </a:lnSpc>
              <a:spcAft>
                <a:spcPts val="634"/>
              </a:spcAft>
              <a:buFont typeface="Arial" pitchFamily="34" charset="0"/>
              <a:buChar char="•"/>
              <a:defRPr/>
            </a:pPr>
            <a:r>
              <a:rPr lang="en-US" sz="2400">
                <a:solidFill>
                  <a:schemeClr val="tx2"/>
                </a:solidFill>
                <a:latin typeface="Source Sans Pro" panose="020B0503030403020204" pitchFamily="34" charset="0"/>
                <a:ea typeface="Source Sans Pro" panose="020B0503030403020204" pitchFamily="34" charset="0"/>
                <a:cs typeface="Franklin Gothic Book"/>
              </a:rPr>
              <a:t>It takes less units of a service or product each month to breakeven</a:t>
            </a:r>
          </a:p>
          <a:p>
            <a:endParaRPr lang="en-US"/>
          </a:p>
        </p:txBody>
      </p:sp>
      <p:sp>
        <p:nvSpPr>
          <p:cNvPr id="17" name="Title 16">
            <a:extLst>
              <a:ext uri="{FF2B5EF4-FFF2-40B4-BE49-F238E27FC236}">
                <a16:creationId xmlns:a16="http://schemas.microsoft.com/office/drawing/2014/main" id="{DC187A74-1541-CD9D-95C7-11985B32844C}"/>
              </a:ext>
            </a:extLst>
          </p:cNvPr>
          <p:cNvSpPr>
            <a:spLocks noGrp="1"/>
          </p:cNvSpPr>
          <p:nvPr>
            <p:ph type="title"/>
          </p:nvPr>
        </p:nvSpPr>
        <p:spPr/>
        <p:txBody>
          <a:bodyPr>
            <a:normAutofit/>
          </a:bodyPr>
          <a:lstStyle/>
          <a:p>
            <a:r>
              <a:rPr lang="en-US" altLang="en-US" sz="2800">
                <a:solidFill>
                  <a:srgbClr val="002E6D"/>
                </a:solidFill>
                <a:latin typeface="Source Sans Pro" panose="020B0503030403020204" pitchFamily="34" charset="0"/>
                <a:ea typeface="Source Sans Pro" panose="020B0503030403020204" pitchFamily="34" charset="0"/>
                <a:cs typeface="Franklin Gothic Demi" pitchFamily="34" charset="0"/>
              </a:rPr>
              <a:t>Implications of Operating Leverage</a:t>
            </a:r>
            <a:endParaRPr lang="en-US" sz="2800"/>
          </a:p>
        </p:txBody>
      </p:sp>
    </p:spTree>
    <p:extLst>
      <p:ext uri="{BB962C8B-B14F-4D97-AF65-F5344CB8AC3E}">
        <p14:creationId xmlns:p14="http://schemas.microsoft.com/office/powerpoint/2010/main" val="31746894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lide Number Placeholder 13">
            <a:extLst>
              <a:ext uri="{FF2B5EF4-FFF2-40B4-BE49-F238E27FC236}">
                <a16:creationId xmlns:a16="http://schemas.microsoft.com/office/drawing/2014/main" id="{36CC0433-DF1F-DBFE-AF35-F3CEA949AB26}"/>
              </a:ext>
            </a:extLst>
          </p:cNvPr>
          <p:cNvSpPr>
            <a:spLocks noGrp="1"/>
          </p:cNvSpPr>
          <p:nvPr>
            <p:ph type="sldNum" sz="quarter" idx="4"/>
          </p:nvPr>
        </p:nvSpPr>
        <p:spPr/>
        <p:txBody>
          <a:bodyPr/>
          <a:lstStyle/>
          <a:p>
            <a:fld id="{EF13FA6D-C8B2-4F7A-9B51-E7C42DF59B48}" type="slidenum">
              <a:rPr lang="en-US" smtClean="0"/>
              <a:pPr/>
              <a:t>24</a:t>
            </a:fld>
            <a:endParaRPr lang="en-US" sz="900"/>
          </a:p>
        </p:txBody>
      </p:sp>
      <p:sp>
        <p:nvSpPr>
          <p:cNvPr id="15" name="Title 14">
            <a:extLst>
              <a:ext uri="{FF2B5EF4-FFF2-40B4-BE49-F238E27FC236}">
                <a16:creationId xmlns:a16="http://schemas.microsoft.com/office/drawing/2014/main" id="{395907B2-2DF9-F9FD-84AB-2A9D3ADB8159}"/>
              </a:ext>
            </a:extLst>
          </p:cNvPr>
          <p:cNvSpPr>
            <a:spLocks noGrp="1"/>
          </p:cNvSpPr>
          <p:nvPr>
            <p:ph type="title"/>
          </p:nvPr>
        </p:nvSpPr>
        <p:spPr/>
        <p:txBody>
          <a:bodyPr>
            <a:noAutofit/>
          </a:bodyPr>
          <a:lstStyle/>
          <a:p>
            <a:r>
              <a:rPr lang="en-US" sz="2800"/>
              <a:t>Before you open your doors, ask yourself</a:t>
            </a:r>
          </a:p>
        </p:txBody>
      </p:sp>
      <p:sp>
        <p:nvSpPr>
          <p:cNvPr id="16" name="Rectangle 3">
            <a:extLst>
              <a:ext uri="{FF2B5EF4-FFF2-40B4-BE49-F238E27FC236}">
                <a16:creationId xmlns:a16="http://schemas.microsoft.com/office/drawing/2014/main" id="{7B7852BD-1AC5-DB06-E1D6-E658A85D1406}"/>
              </a:ext>
            </a:extLst>
          </p:cNvPr>
          <p:cNvSpPr txBox="1">
            <a:spLocks noRot="1" noChangeArrowheads="1"/>
          </p:cNvSpPr>
          <p:nvPr/>
        </p:nvSpPr>
        <p:spPr>
          <a:xfrm>
            <a:off x="599090" y="1362182"/>
            <a:ext cx="7861738" cy="4925602"/>
          </a:xfrm>
          <a:prstGeom prst="rect">
            <a:avLst/>
          </a:prstGeom>
        </p:spPr>
        <p:txBody>
          <a:bodyPr lIns="96661" tIns="48331" rIns="96661" bIns="48331"/>
          <a:lstStyle>
            <a:lvl1pPr marL="342900" indent="-342900" algn="l" defTabSz="914400" rtl="0" eaLnBrk="1" latinLnBrk="0" hangingPunct="1">
              <a:spcBef>
                <a:spcPct val="20000"/>
              </a:spcBef>
              <a:buFont typeface="Arial" pitchFamily="34" charset="0"/>
              <a:buChar char="•"/>
              <a:defRPr sz="3200" kern="1200">
                <a:solidFill>
                  <a:srgbClr val="AB162B"/>
                </a:solidFill>
                <a:latin typeface="Franklin Gothic Medium" panose="020B0603020102020204" pitchFamily="34" charset="0"/>
                <a:ea typeface="+mn-ea"/>
                <a:cs typeface="+mn-cs"/>
              </a:defRPr>
            </a:lvl1pPr>
            <a:lvl2pPr marL="742950" indent="-285750" algn="l" defTabSz="914400" rtl="0" eaLnBrk="1" latinLnBrk="0" hangingPunct="1">
              <a:spcBef>
                <a:spcPct val="20000"/>
              </a:spcBef>
              <a:buFont typeface="Arial"/>
              <a:buChar char="•"/>
              <a:defRPr sz="28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spcBef>
                <a:spcPct val="20000"/>
              </a:spcBef>
              <a:buFont typeface="Arial"/>
              <a:buChar char="•"/>
              <a:defRPr sz="24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spcBef>
                <a:spcPct val="20000"/>
              </a:spcBef>
              <a:buFont typeface="Arial"/>
              <a:buChar char="•"/>
              <a:defRPr sz="20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spcBef>
                <a:spcPct val="20000"/>
              </a:spcBef>
              <a:buFont typeface="Arial"/>
              <a:buChar char="•"/>
              <a:defRPr sz="20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43719" indent="-543719" fontAlgn="auto">
              <a:spcAft>
                <a:spcPts val="300"/>
              </a:spcAft>
              <a:buFont typeface="+mj-lt"/>
              <a:buAutoNum type="arabicPeriod"/>
              <a:defRPr/>
            </a:pPr>
            <a:r>
              <a:rPr lang="en-US" sz="2400">
                <a:solidFill>
                  <a:schemeClr val="tx2"/>
                </a:solidFill>
                <a:latin typeface="Source Sans Pro" panose="020B0503030403020204" pitchFamily="34" charset="0"/>
                <a:ea typeface="Source Sans Pro" panose="020B0503030403020204" pitchFamily="34" charset="0"/>
              </a:rPr>
              <a:t>How will I generate sales dollars/revenue?</a:t>
            </a:r>
          </a:p>
          <a:p>
            <a:pPr marL="543719" indent="-543719" fontAlgn="auto">
              <a:spcAft>
                <a:spcPts val="300"/>
              </a:spcAft>
              <a:buFont typeface="+mj-lt"/>
              <a:buAutoNum type="arabicPeriod"/>
              <a:defRPr/>
            </a:pPr>
            <a:r>
              <a:rPr lang="en-US" sz="2400">
                <a:solidFill>
                  <a:schemeClr val="tx2"/>
                </a:solidFill>
                <a:latin typeface="Source Sans Pro" panose="020B0503030403020204" pitchFamily="34" charset="0"/>
                <a:ea typeface="Source Sans Pro" panose="020B0503030403020204" pitchFamily="34" charset="0"/>
              </a:rPr>
              <a:t>What are my total sales-related costs to do that?</a:t>
            </a:r>
          </a:p>
          <a:p>
            <a:pPr marL="543719" indent="-543719" fontAlgn="auto">
              <a:spcAft>
                <a:spcPts val="300"/>
              </a:spcAft>
              <a:buFont typeface="+mj-lt"/>
              <a:buAutoNum type="arabicPeriod"/>
              <a:defRPr/>
            </a:pPr>
            <a:r>
              <a:rPr lang="en-US" sz="2400">
                <a:solidFill>
                  <a:schemeClr val="tx2"/>
                </a:solidFill>
                <a:latin typeface="Source Sans Pro" panose="020B0503030403020204" pitchFamily="34" charset="0"/>
                <a:ea typeface="Source Sans Pro" panose="020B0503030403020204" pitchFamily="34" charset="0"/>
              </a:rPr>
              <a:t>What are my fixed/operating costs to run my business for a given period of time?</a:t>
            </a:r>
          </a:p>
          <a:p>
            <a:pPr marL="543719" indent="-543719" fontAlgn="auto">
              <a:spcAft>
                <a:spcPts val="300"/>
              </a:spcAft>
              <a:buFont typeface="+mj-lt"/>
              <a:buAutoNum type="arabicPeriod"/>
              <a:defRPr/>
            </a:pPr>
            <a:r>
              <a:rPr lang="en-US" sz="2400">
                <a:solidFill>
                  <a:schemeClr val="tx2"/>
                </a:solidFill>
                <a:latin typeface="Source Sans Pro" panose="020B0503030403020204" pitchFamily="34" charset="0"/>
                <a:ea typeface="Source Sans Pro" panose="020B0503030403020204" pitchFamily="34" charset="0"/>
              </a:rPr>
              <a:t>How much sales revenue must I generate to cover ALL my costs, so I begin to show a net profit?</a:t>
            </a:r>
          </a:p>
          <a:p>
            <a:pPr marL="543719" indent="-543719" fontAlgn="auto">
              <a:spcAft>
                <a:spcPts val="300"/>
              </a:spcAft>
              <a:buFont typeface="+mj-lt"/>
              <a:buAutoNum type="arabicPeriod"/>
              <a:defRPr/>
            </a:pPr>
            <a:r>
              <a:rPr lang="en-US" sz="2400">
                <a:solidFill>
                  <a:schemeClr val="tx2"/>
                </a:solidFill>
                <a:latin typeface="Source Sans Pro" panose="020B0503030403020204" pitchFamily="34" charset="0"/>
                <a:ea typeface="Source Sans Pro" panose="020B0503030403020204" pitchFamily="34" charset="0"/>
              </a:rPr>
              <a:t>Based on my research and analysis, can I generate the needed sales dollars and manage to these expenses in my proposed business venture to actually have a sustainable and profitable business?</a:t>
            </a:r>
          </a:p>
          <a:p>
            <a:pPr marL="0" indent="0" fontAlgn="auto">
              <a:lnSpc>
                <a:spcPct val="90000"/>
              </a:lnSpc>
              <a:spcAft>
                <a:spcPts val="0"/>
              </a:spcAft>
              <a:buFont typeface="Arial" pitchFamily="34" charset="0"/>
              <a:buNone/>
              <a:defRPr/>
            </a:pPr>
            <a:br>
              <a:rPr lang="en-US" sz="2300">
                <a:solidFill>
                  <a:srgbClr val="000000"/>
                </a:solidFill>
                <a:latin typeface="Franklin Gothic Book"/>
                <a:cs typeface="Franklin Gothic Book"/>
              </a:rPr>
            </a:br>
            <a:endParaRPr lang="en-US" sz="2300">
              <a:solidFill>
                <a:srgbClr val="000000"/>
              </a:solidFill>
              <a:latin typeface="Franklin Gothic Book"/>
              <a:cs typeface="Franklin Gothic Book"/>
            </a:endParaRPr>
          </a:p>
        </p:txBody>
      </p:sp>
    </p:spTree>
    <p:extLst>
      <p:ext uri="{BB962C8B-B14F-4D97-AF65-F5344CB8AC3E}">
        <p14:creationId xmlns:p14="http://schemas.microsoft.com/office/powerpoint/2010/main" val="31223508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5612AE-37E6-B599-A049-F21D783B9D29}"/>
              </a:ext>
            </a:extLst>
          </p:cNvPr>
          <p:cNvSpPr>
            <a:spLocks noGrp="1"/>
          </p:cNvSpPr>
          <p:nvPr>
            <p:ph type="sldNum" sz="quarter" idx="4"/>
          </p:nvPr>
        </p:nvSpPr>
        <p:spPr/>
        <p:txBody>
          <a:bodyPr/>
          <a:lstStyle/>
          <a:p>
            <a:fld id="{EF13FA6D-C8B2-4F7A-9B51-E7C42DF59B48}" type="slidenum">
              <a:rPr lang="en-US" smtClean="0"/>
              <a:pPr/>
              <a:t>25</a:t>
            </a:fld>
            <a:endParaRPr lang="en-US" sz="900"/>
          </a:p>
        </p:txBody>
      </p:sp>
      <p:sp>
        <p:nvSpPr>
          <p:cNvPr id="4" name="Rectangle 3">
            <a:extLst>
              <a:ext uri="{FF2B5EF4-FFF2-40B4-BE49-F238E27FC236}">
                <a16:creationId xmlns:a16="http://schemas.microsoft.com/office/drawing/2014/main" id="{1FAF7A62-B0EF-9191-DD54-ADC519A8E6DE}"/>
              </a:ext>
            </a:extLst>
          </p:cNvPr>
          <p:cNvSpPr txBox="1">
            <a:spLocks noRot="1" noChangeArrowheads="1"/>
          </p:cNvSpPr>
          <p:nvPr/>
        </p:nvSpPr>
        <p:spPr bwMode="auto">
          <a:xfrm>
            <a:off x="383627" y="1091217"/>
            <a:ext cx="8187559" cy="4970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20000"/>
              </a:spcBef>
              <a:buFont typeface="Arial" charset="0"/>
              <a:buChar char="•"/>
              <a:defRPr sz="3400">
                <a:solidFill>
                  <a:srgbClr val="AB162B"/>
                </a:solidFill>
                <a:latin typeface="Franklin Gothic Medium" pitchFamily="34" charset="0"/>
              </a:defRPr>
            </a:lvl1pPr>
            <a:lvl2pPr marL="742950" indent="-285750" eaLnBrk="0" hangingPunct="0">
              <a:spcBef>
                <a:spcPct val="20000"/>
              </a:spcBef>
              <a:buFont typeface="Arial" charset="0"/>
              <a:buChar char="•"/>
              <a:defRPr sz="3000">
                <a:solidFill>
                  <a:schemeClr val="tx1"/>
                </a:solidFill>
                <a:latin typeface="Franklin Gothic Book" pitchFamily="34" charset="0"/>
              </a:defRPr>
            </a:lvl2pPr>
            <a:lvl3pPr marL="1143000" indent="-228600" eaLnBrk="0" hangingPunct="0">
              <a:spcBef>
                <a:spcPct val="20000"/>
              </a:spcBef>
              <a:buFont typeface="Arial" charset="0"/>
              <a:buChar char="•"/>
              <a:defRPr sz="2500">
                <a:solidFill>
                  <a:schemeClr val="tx1"/>
                </a:solidFill>
                <a:latin typeface="Franklin Gothic Book" pitchFamily="34" charset="0"/>
              </a:defRPr>
            </a:lvl3pPr>
            <a:lvl4pPr marL="1600200" indent="-228600" eaLnBrk="0" hangingPunct="0">
              <a:spcBef>
                <a:spcPct val="20000"/>
              </a:spcBef>
              <a:buFont typeface="Arial" charset="0"/>
              <a:buChar char="•"/>
              <a:defRPr sz="2100">
                <a:solidFill>
                  <a:schemeClr val="tx1"/>
                </a:solidFill>
                <a:latin typeface="Franklin Gothic Book" pitchFamily="34" charset="0"/>
              </a:defRPr>
            </a:lvl4pPr>
            <a:lvl5pPr marL="2057400" indent="-228600" eaLnBrk="0" hangingPunct="0">
              <a:spcBef>
                <a:spcPct val="20000"/>
              </a:spcBef>
              <a:buFont typeface="Arial" charset="0"/>
              <a:buChar char="•"/>
              <a:defRPr sz="2100">
                <a:solidFill>
                  <a:schemeClr val="tx1"/>
                </a:solidFill>
                <a:latin typeface="Franklin Gothic Book" pitchFamily="34" charset="0"/>
              </a:defRPr>
            </a:lvl5pPr>
            <a:lvl6pPr marL="2514600" indent="-228600" eaLnBrk="0" fontAlgn="base" hangingPunct="0">
              <a:spcBef>
                <a:spcPct val="20000"/>
              </a:spcBef>
              <a:spcAft>
                <a:spcPct val="0"/>
              </a:spcAft>
              <a:buFont typeface="Arial" charset="0"/>
              <a:buChar char="•"/>
              <a:defRPr sz="2100">
                <a:solidFill>
                  <a:schemeClr val="tx1"/>
                </a:solidFill>
                <a:latin typeface="Franklin Gothic Book" pitchFamily="34" charset="0"/>
              </a:defRPr>
            </a:lvl6pPr>
            <a:lvl7pPr marL="2971800" indent="-228600" eaLnBrk="0" fontAlgn="base" hangingPunct="0">
              <a:spcBef>
                <a:spcPct val="20000"/>
              </a:spcBef>
              <a:spcAft>
                <a:spcPct val="0"/>
              </a:spcAft>
              <a:buFont typeface="Arial" charset="0"/>
              <a:buChar char="•"/>
              <a:defRPr sz="2100">
                <a:solidFill>
                  <a:schemeClr val="tx1"/>
                </a:solidFill>
                <a:latin typeface="Franklin Gothic Book" pitchFamily="34" charset="0"/>
              </a:defRPr>
            </a:lvl7pPr>
            <a:lvl8pPr marL="3429000" indent="-228600" eaLnBrk="0" fontAlgn="base" hangingPunct="0">
              <a:spcBef>
                <a:spcPct val="20000"/>
              </a:spcBef>
              <a:spcAft>
                <a:spcPct val="0"/>
              </a:spcAft>
              <a:buFont typeface="Arial" charset="0"/>
              <a:buChar char="•"/>
              <a:defRPr sz="2100">
                <a:solidFill>
                  <a:schemeClr val="tx1"/>
                </a:solidFill>
                <a:latin typeface="Franklin Gothic Book" pitchFamily="34" charset="0"/>
              </a:defRPr>
            </a:lvl8pPr>
            <a:lvl9pPr marL="3886200" indent="-228600" eaLnBrk="0" fontAlgn="base" hangingPunct="0">
              <a:spcBef>
                <a:spcPct val="20000"/>
              </a:spcBef>
              <a:spcAft>
                <a:spcPct val="0"/>
              </a:spcAft>
              <a:buFont typeface="Arial" charset="0"/>
              <a:buChar char="•"/>
              <a:defRPr sz="2100">
                <a:solidFill>
                  <a:schemeClr val="tx1"/>
                </a:solidFill>
                <a:latin typeface="Franklin Gothic Book" pitchFamily="34" charset="0"/>
              </a:defRPr>
            </a:lvl9pPr>
          </a:lstStyle>
          <a:p>
            <a:pPr defTabSz="914400" eaLnBrk="1" hangingPunct="1">
              <a:lnSpc>
                <a:spcPct val="90000"/>
              </a:lnSpc>
              <a:buFont typeface="Arial" charset="0"/>
              <a:buNone/>
            </a:pPr>
            <a:r>
              <a:rPr lang="en-US" altLang="en-US" sz="2300">
                <a:solidFill>
                  <a:srgbClr val="CC0000"/>
                </a:solidFill>
                <a:latin typeface="Source Sans Pro" panose="020B0503030403020204" pitchFamily="34" charset="0"/>
                <a:ea typeface="Source Sans Pro" panose="020B0503030403020204" pitchFamily="34" charset="0"/>
                <a:cs typeface="Franklin Gothic Medium" pitchFamily="34" charset="0"/>
              </a:rPr>
              <a:t>REVENUE DRIVERS:  </a:t>
            </a:r>
            <a: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t>How many ways do you have to generate sales revenue?  Does the number of revenue drivers increase or decrease your risk?</a:t>
            </a:r>
            <a:b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br>
            <a:endParaRPr lang="en-US" altLang="en-US" sz="1700">
              <a:solidFill>
                <a:schemeClr val="tx2"/>
              </a:solidFill>
              <a:latin typeface="Source Sans Pro" panose="020B0503030403020204" pitchFamily="34" charset="0"/>
              <a:ea typeface="Source Sans Pro" panose="020B0503030403020204" pitchFamily="34" charset="0"/>
              <a:cs typeface="Franklin Gothic Book" pitchFamily="34" charset="0"/>
            </a:endParaRPr>
          </a:p>
          <a:p>
            <a:pPr defTabSz="914400" eaLnBrk="1" hangingPunct="1">
              <a:lnSpc>
                <a:spcPct val="90000"/>
              </a:lnSpc>
              <a:buFont typeface="Arial" charset="0"/>
              <a:buNone/>
            </a:pPr>
            <a:r>
              <a:rPr lang="en-US" altLang="en-US" sz="2300">
                <a:solidFill>
                  <a:srgbClr val="CC0000"/>
                </a:solidFill>
                <a:latin typeface="Source Sans Pro" panose="020B0503030403020204" pitchFamily="34" charset="0"/>
                <a:ea typeface="Source Sans Pro" panose="020B0503030403020204" pitchFamily="34" charset="0"/>
                <a:cs typeface="Franklin Gothic Medium" pitchFamily="34" charset="0"/>
              </a:rPr>
              <a:t>MARGINS:  </a:t>
            </a:r>
            <a: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t>What is left over after each unit of sale to pay fixed costs?  What percentage of sales is that?  When do you break even?</a:t>
            </a:r>
            <a:br>
              <a:rPr lang="en-US" altLang="en-US" sz="2300">
                <a:solidFill>
                  <a:schemeClr val="tx1"/>
                </a:solidFill>
                <a:latin typeface="Source Sans Pro" panose="020B0503030403020204" pitchFamily="34" charset="0"/>
                <a:ea typeface="Source Sans Pro" panose="020B0503030403020204" pitchFamily="34" charset="0"/>
                <a:cs typeface="Franklin Gothic Medium" pitchFamily="34" charset="0"/>
              </a:rPr>
            </a:br>
            <a:endParaRPr lang="en-US" altLang="en-US" sz="1700">
              <a:solidFill>
                <a:schemeClr val="tx1"/>
              </a:solidFill>
              <a:latin typeface="Source Sans Pro" panose="020B0503030403020204" pitchFamily="34" charset="0"/>
              <a:ea typeface="Source Sans Pro" panose="020B0503030403020204" pitchFamily="34" charset="0"/>
              <a:cs typeface="Franklin Gothic Medium" pitchFamily="34" charset="0"/>
            </a:endParaRPr>
          </a:p>
          <a:p>
            <a:pPr defTabSz="914400" eaLnBrk="1" hangingPunct="1">
              <a:lnSpc>
                <a:spcPct val="90000"/>
              </a:lnSpc>
              <a:buFont typeface="Arial" charset="0"/>
              <a:buNone/>
            </a:pPr>
            <a:r>
              <a:rPr lang="en-US" altLang="en-US" sz="2300">
                <a:solidFill>
                  <a:srgbClr val="CC0000"/>
                </a:solidFill>
                <a:latin typeface="Source Sans Pro" panose="020B0503030403020204" pitchFamily="34" charset="0"/>
                <a:ea typeface="Source Sans Pro" panose="020B0503030403020204" pitchFamily="34" charset="0"/>
                <a:cs typeface="Franklin Gothic Medium" pitchFamily="34" charset="0"/>
              </a:rPr>
              <a:t>VOLUMES:  </a:t>
            </a:r>
            <a: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t>How many units do you sell each period?  Is it enough to exceed breakeven?  Is there enough sales volume to make your business profitable and worthwhile?</a:t>
            </a:r>
            <a:br>
              <a:rPr lang="en-US" altLang="en-US" sz="2300">
                <a:solidFill>
                  <a:schemeClr val="tx2"/>
                </a:solidFill>
                <a:latin typeface="Source Sans Pro" panose="020B0503030403020204" pitchFamily="34" charset="0"/>
                <a:ea typeface="Source Sans Pro" panose="020B0503030403020204" pitchFamily="34" charset="0"/>
                <a:cs typeface="Franklin Gothic Medium" pitchFamily="34" charset="0"/>
              </a:rPr>
            </a:br>
            <a:endParaRPr lang="en-US" altLang="en-US" sz="1700">
              <a:solidFill>
                <a:schemeClr val="tx2"/>
              </a:solidFill>
              <a:latin typeface="Source Sans Pro" panose="020B0503030403020204" pitchFamily="34" charset="0"/>
              <a:ea typeface="Source Sans Pro" panose="020B0503030403020204" pitchFamily="34" charset="0"/>
              <a:cs typeface="Franklin Gothic Medium" pitchFamily="34" charset="0"/>
            </a:endParaRPr>
          </a:p>
          <a:p>
            <a:pPr defTabSz="914400" eaLnBrk="1" hangingPunct="1">
              <a:lnSpc>
                <a:spcPct val="90000"/>
              </a:lnSpc>
              <a:buFont typeface="Arial" charset="0"/>
              <a:buNone/>
            </a:pPr>
            <a:r>
              <a:rPr lang="en-US" altLang="en-US" sz="2300">
                <a:solidFill>
                  <a:srgbClr val="CC0000"/>
                </a:solidFill>
                <a:latin typeface="Source Sans Pro" panose="020B0503030403020204" pitchFamily="34" charset="0"/>
                <a:ea typeface="Source Sans Pro" panose="020B0503030403020204" pitchFamily="34" charset="0"/>
                <a:cs typeface="Franklin Gothic Medium" pitchFamily="34" charset="0"/>
              </a:rPr>
              <a:t>OPERATING LEVERAGE:  </a:t>
            </a:r>
            <a: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t>New businesses will need to maintain a low operating leverage (high variable cost) model to manage risk and maintain liquidity.</a:t>
            </a:r>
            <a:br>
              <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rPr>
            </a:br>
            <a:endParaRPr lang="en-US" altLang="en-US" sz="2300">
              <a:solidFill>
                <a:schemeClr val="tx2"/>
              </a:solidFill>
              <a:latin typeface="Source Sans Pro" panose="020B0503030403020204" pitchFamily="34" charset="0"/>
              <a:ea typeface="Source Sans Pro" panose="020B0503030403020204" pitchFamily="34" charset="0"/>
              <a:cs typeface="Franklin Gothic Book" pitchFamily="34" charset="0"/>
            </a:endParaRPr>
          </a:p>
        </p:txBody>
      </p:sp>
      <p:sp>
        <p:nvSpPr>
          <p:cNvPr id="6" name="Title 5">
            <a:extLst>
              <a:ext uri="{FF2B5EF4-FFF2-40B4-BE49-F238E27FC236}">
                <a16:creationId xmlns:a16="http://schemas.microsoft.com/office/drawing/2014/main" id="{F3518AB3-4D3E-6113-A9A9-1CF00EDA7987}"/>
              </a:ext>
            </a:extLst>
          </p:cNvPr>
          <p:cNvSpPr>
            <a:spLocks noGrp="1"/>
          </p:cNvSpPr>
          <p:nvPr>
            <p:ph type="title"/>
          </p:nvPr>
        </p:nvSpPr>
        <p:spPr/>
        <p:txBody>
          <a:bodyPr>
            <a:normAutofit/>
          </a:bodyPr>
          <a:lstStyle/>
          <a:p>
            <a:r>
              <a:rPr lang="en-US" sz="2800"/>
              <a:t>Key Takeaways</a:t>
            </a:r>
          </a:p>
        </p:txBody>
      </p:sp>
    </p:spTree>
    <p:extLst>
      <p:ext uri="{BB962C8B-B14F-4D97-AF65-F5344CB8AC3E}">
        <p14:creationId xmlns:p14="http://schemas.microsoft.com/office/powerpoint/2010/main" val="25833484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CDD0F35-613E-0171-F7E9-42D17B9E6D15}"/>
              </a:ext>
            </a:extLst>
          </p:cNvPr>
          <p:cNvSpPr>
            <a:spLocks noGrp="1"/>
          </p:cNvSpPr>
          <p:nvPr>
            <p:ph type="sldNum" sz="quarter" idx="4"/>
          </p:nvPr>
        </p:nvSpPr>
        <p:spPr/>
        <p:txBody>
          <a:bodyPr/>
          <a:lstStyle/>
          <a:p>
            <a:fld id="{EF13FA6D-C8B2-4F7A-9B51-E7C42DF59B48}" type="slidenum">
              <a:rPr lang="en-US" smtClean="0"/>
              <a:pPr/>
              <a:t>26</a:t>
            </a:fld>
            <a:endParaRPr lang="en-US" sz="900"/>
          </a:p>
        </p:txBody>
      </p:sp>
      <p:sp>
        <p:nvSpPr>
          <p:cNvPr id="3" name="Title 2">
            <a:extLst>
              <a:ext uri="{FF2B5EF4-FFF2-40B4-BE49-F238E27FC236}">
                <a16:creationId xmlns:a16="http://schemas.microsoft.com/office/drawing/2014/main" id="{07EF4B9B-8806-2D39-605A-AA2B51DEEA92}"/>
              </a:ext>
            </a:extLst>
          </p:cNvPr>
          <p:cNvSpPr>
            <a:spLocks noGrp="1"/>
          </p:cNvSpPr>
          <p:nvPr>
            <p:ph type="title"/>
          </p:nvPr>
        </p:nvSpPr>
        <p:spPr/>
        <p:txBody>
          <a:bodyPr/>
          <a:lstStyle/>
          <a:p>
            <a:r>
              <a:rPr lang="en-US" dirty="0"/>
              <a:t>Filling In YOUR Business Model Canvas…</a:t>
            </a:r>
          </a:p>
        </p:txBody>
      </p:sp>
      <p:pic>
        <p:nvPicPr>
          <p:cNvPr id="5" name="Picture 4" descr="Table&#10;&#10;Description automatically generated">
            <a:extLst>
              <a:ext uri="{FF2B5EF4-FFF2-40B4-BE49-F238E27FC236}">
                <a16:creationId xmlns:a16="http://schemas.microsoft.com/office/drawing/2014/main" id="{A110535E-ED8A-B0D1-FC34-7FA9031D6E18}"/>
              </a:ext>
            </a:extLst>
          </p:cNvPr>
          <p:cNvPicPr>
            <a:picLocks noChangeAspect="1"/>
          </p:cNvPicPr>
          <p:nvPr/>
        </p:nvPicPr>
        <p:blipFill>
          <a:blip r:embed="rId3"/>
          <a:stretch>
            <a:fillRect/>
          </a:stretch>
        </p:blipFill>
        <p:spPr>
          <a:xfrm>
            <a:off x="70312" y="858821"/>
            <a:ext cx="8999145" cy="5990332"/>
          </a:xfrm>
          <a:prstGeom prst="rect">
            <a:avLst/>
          </a:prstGeom>
        </p:spPr>
      </p:pic>
      <p:sp>
        <p:nvSpPr>
          <p:cNvPr id="8" name="Rectangle 7">
            <a:extLst>
              <a:ext uri="{FF2B5EF4-FFF2-40B4-BE49-F238E27FC236}">
                <a16:creationId xmlns:a16="http://schemas.microsoft.com/office/drawing/2014/main" id="{F54B30F5-E4FE-92F6-B14D-A60DE84C5AF3}"/>
              </a:ext>
            </a:extLst>
          </p:cNvPr>
          <p:cNvSpPr/>
          <p:nvPr/>
        </p:nvSpPr>
        <p:spPr>
          <a:xfrm>
            <a:off x="7324253" y="1023040"/>
            <a:ext cx="1573737" cy="602195"/>
          </a:xfrm>
          <a:prstGeom prst="rect">
            <a:avLst/>
          </a:prstGeom>
          <a:solidFill>
            <a:schemeClr val="tx1">
              <a:alpha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0C11C0F-8A35-D22B-1E99-BDD1B1FC333C}"/>
              </a:ext>
            </a:extLst>
          </p:cNvPr>
          <p:cNvSpPr/>
          <p:nvPr/>
        </p:nvSpPr>
        <p:spPr>
          <a:xfrm>
            <a:off x="5557320" y="1012486"/>
            <a:ext cx="1573737" cy="730202"/>
          </a:xfrm>
          <a:prstGeom prst="rect">
            <a:avLst/>
          </a:prstGeom>
          <a:solidFill>
            <a:schemeClr val="tx1">
              <a:alpha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66F78BA-C781-C534-40EB-0E6DCF6708D4}"/>
              </a:ext>
            </a:extLst>
          </p:cNvPr>
          <p:cNvSpPr/>
          <p:nvPr/>
        </p:nvSpPr>
        <p:spPr>
          <a:xfrm>
            <a:off x="5564872" y="2957461"/>
            <a:ext cx="1573737" cy="582444"/>
          </a:xfrm>
          <a:prstGeom prst="rect">
            <a:avLst/>
          </a:prstGeom>
          <a:solidFill>
            <a:schemeClr val="tx1">
              <a:alpha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7B1DB531-72B8-1FA4-BF69-4D8EFC76430D}"/>
              </a:ext>
            </a:extLst>
          </p:cNvPr>
          <p:cNvSpPr/>
          <p:nvPr/>
        </p:nvSpPr>
        <p:spPr>
          <a:xfrm>
            <a:off x="3739070" y="1012485"/>
            <a:ext cx="1613026" cy="798207"/>
          </a:xfrm>
          <a:prstGeom prst="rect">
            <a:avLst/>
          </a:prstGeom>
          <a:solidFill>
            <a:schemeClr val="tx1">
              <a:alpha val="15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AD57D6-F45A-3FC3-B6E0-D2E74C6D9BC0}"/>
              </a:ext>
            </a:extLst>
          </p:cNvPr>
          <p:cNvSpPr/>
          <p:nvPr/>
        </p:nvSpPr>
        <p:spPr>
          <a:xfrm>
            <a:off x="4650471" y="4849664"/>
            <a:ext cx="1895184" cy="730202"/>
          </a:xfrm>
          <a:prstGeom prst="rect">
            <a:avLst/>
          </a:prstGeom>
          <a:solidFill>
            <a:srgbClr val="00B05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F977EEB-6436-A761-C09C-78503CBFAFAC}"/>
              </a:ext>
            </a:extLst>
          </p:cNvPr>
          <p:cNvSpPr/>
          <p:nvPr/>
        </p:nvSpPr>
        <p:spPr>
          <a:xfrm>
            <a:off x="203713" y="4857215"/>
            <a:ext cx="1895184" cy="730202"/>
          </a:xfrm>
          <a:prstGeom prst="rect">
            <a:avLst/>
          </a:prstGeom>
          <a:solidFill>
            <a:srgbClr val="00B050">
              <a:alpha val="25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100D841-8367-3AF3-F9BB-DD6E238E480A}"/>
              </a:ext>
            </a:extLst>
          </p:cNvPr>
          <p:cNvSpPr/>
          <p:nvPr/>
        </p:nvSpPr>
        <p:spPr>
          <a:xfrm>
            <a:off x="244444" y="6490973"/>
            <a:ext cx="274320" cy="274320"/>
          </a:xfrm>
          <a:prstGeom prst="rect">
            <a:avLst/>
          </a:prstGeom>
          <a:solidFill>
            <a:srgbClr val="00B050">
              <a:alpha val="3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3C7D2DE-C27E-7171-D0A0-910CEBCF106D}"/>
              </a:ext>
            </a:extLst>
          </p:cNvPr>
          <p:cNvSpPr txBox="1"/>
          <p:nvPr/>
        </p:nvSpPr>
        <p:spPr>
          <a:xfrm>
            <a:off x="516052" y="6490973"/>
            <a:ext cx="3223017" cy="276999"/>
          </a:xfrm>
          <a:prstGeom prst="rect">
            <a:avLst/>
          </a:prstGeom>
          <a:noFill/>
        </p:spPr>
        <p:txBody>
          <a:bodyPr wrap="square" rtlCol="0">
            <a:spAutoFit/>
          </a:bodyPr>
          <a:lstStyle/>
          <a:p>
            <a:r>
              <a:rPr lang="en-US" sz="1200" dirty="0"/>
              <a:t>Fill in this section of BMC in student workbook</a:t>
            </a:r>
          </a:p>
        </p:txBody>
      </p:sp>
      <p:sp>
        <p:nvSpPr>
          <p:cNvPr id="13" name="Rectangle 12">
            <a:extLst>
              <a:ext uri="{FF2B5EF4-FFF2-40B4-BE49-F238E27FC236}">
                <a16:creationId xmlns:a16="http://schemas.microsoft.com/office/drawing/2014/main" id="{BB637F87-EE17-F8B4-EC8C-2DD93F225972}"/>
              </a:ext>
            </a:extLst>
          </p:cNvPr>
          <p:cNvSpPr/>
          <p:nvPr/>
        </p:nvSpPr>
        <p:spPr>
          <a:xfrm>
            <a:off x="3873366" y="6480415"/>
            <a:ext cx="274320" cy="274320"/>
          </a:xfrm>
          <a:prstGeom prst="rect">
            <a:avLst/>
          </a:prstGeom>
          <a:solidFill>
            <a:schemeClr val="tx1">
              <a:alpha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F9A819EF-5AEC-1A47-DDD3-FB30C668BBAE}"/>
              </a:ext>
            </a:extLst>
          </p:cNvPr>
          <p:cNvSpPr txBox="1"/>
          <p:nvPr/>
        </p:nvSpPr>
        <p:spPr>
          <a:xfrm>
            <a:off x="4144974" y="6480415"/>
            <a:ext cx="2417271" cy="276999"/>
          </a:xfrm>
          <a:prstGeom prst="rect">
            <a:avLst/>
          </a:prstGeom>
          <a:noFill/>
        </p:spPr>
        <p:txBody>
          <a:bodyPr wrap="square" rtlCol="0">
            <a:spAutoFit/>
          </a:bodyPr>
          <a:lstStyle/>
          <a:p>
            <a:r>
              <a:rPr lang="en-US" sz="1200" dirty="0"/>
              <a:t>You completed in an earlier module</a:t>
            </a:r>
          </a:p>
        </p:txBody>
      </p:sp>
      <p:sp>
        <p:nvSpPr>
          <p:cNvPr id="15" name="TextBox 14">
            <a:extLst>
              <a:ext uri="{FF2B5EF4-FFF2-40B4-BE49-F238E27FC236}">
                <a16:creationId xmlns:a16="http://schemas.microsoft.com/office/drawing/2014/main" id="{D5D14643-D71B-D4E5-B091-BA3127C6F7F5}"/>
              </a:ext>
            </a:extLst>
          </p:cNvPr>
          <p:cNvSpPr txBox="1"/>
          <p:nvPr/>
        </p:nvSpPr>
        <p:spPr>
          <a:xfrm>
            <a:off x="3757175" y="1874070"/>
            <a:ext cx="1613026" cy="1754326"/>
          </a:xfrm>
          <a:prstGeom prst="rect">
            <a:avLst/>
          </a:prstGeom>
          <a:noFill/>
        </p:spPr>
        <p:txBody>
          <a:bodyPr wrap="square" rtlCol="0">
            <a:spAutoFit/>
          </a:bodyPr>
          <a:lstStyle/>
          <a:p>
            <a:r>
              <a:rPr lang="en-US" b="0" i="0" dirty="0">
                <a:solidFill>
                  <a:schemeClr val="bg1">
                    <a:lumMod val="75000"/>
                  </a:schemeClr>
                </a:solidFill>
                <a:effectLst/>
                <a:latin typeface="Fave Script Bold Pro" panose="020F0502020204030204" pitchFamily="2" charset="0"/>
              </a:rPr>
              <a:t>Lorem ipsum dolor sit </a:t>
            </a:r>
            <a:r>
              <a:rPr lang="en-US" b="0" i="0" dirty="0" err="1">
                <a:solidFill>
                  <a:schemeClr val="bg1">
                    <a:lumMod val="75000"/>
                  </a:schemeClr>
                </a:solidFill>
                <a:effectLst/>
                <a:latin typeface="Fave Script Bold Pro" panose="020F0502020204030204" pitchFamily="2" charset="0"/>
              </a:rPr>
              <a:t>amet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consectetur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adipiscing</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elit</a:t>
            </a:r>
            <a:r>
              <a:rPr lang="en-US" b="0" i="0" dirty="0">
                <a:solidFill>
                  <a:schemeClr val="bg1">
                    <a:lumMod val="75000"/>
                  </a:schemeClr>
                </a:solidFill>
                <a:effectLst/>
                <a:latin typeface="Fave Script Bold Pro" panose="020F0502020204030204" pitchFamily="2" charset="0"/>
              </a:rPr>
              <a:t>, sed do </a:t>
            </a:r>
            <a:r>
              <a:rPr lang="en-US" b="0" i="0" dirty="0" err="1">
                <a:solidFill>
                  <a:schemeClr val="bg1">
                    <a:lumMod val="75000"/>
                  </a:schemeClr>
                </a:solidFill>
                <a:effectLst/>
                <a:latin typeface="Fave Script Bold Pro" panose="020F0502020204030204" pitchFamily="2" charset="0"/>
              </a:rPr>
              <a:t>eiusmod</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tempor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incididunt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ut</a:t>
            </a:r>
            <a:r>
              <a:rPr lang="en-US" b="0" i="0" dirty="0">
                <a:solidFill>
                  <a:schemeClr val="bg1">
                    <a:lumMod val="75000"/>
                  </a:schemeClr>
                </a:solidFill>
                <a:effectLst/>
                <a:latin typeface="Fave Script Bold Pro" panose="020F0502020204030204" pitchFamily="2" charset="0"/>
              </a:rPr>
              <a:t> labore et dolore magna </a:t>
            </a:r>
            <a:r>
              <a:rPr lang="en-US" b="0" i="0" dirty="0" err="1">
                <a:solidFill>
                  <a:schemeClr val="bg1">
                    <a:lumMod val="75000"/>
                  </a:schemeClr>
                </a:solidFill>
                <a:effectLst/>
                <a:latin typeface="Fave Script Bold Pro" panose="020F0502020204030204" pitchFamily="2" charset="0"/>
              </a:rPr>
              <a:t>aliqua</a:t>
            </a:r>
            <a:r>
              <a:rPr lang="en-US" b="0" i="0" dirty="0">
                <a:solidFill>
                  <a:schemeClr val="bg1">
                    <a:lumMod val="75000"/>
                  </a:schemeClr>
                </a:solidFill>
                <a:effectLst/>
                <a:latin typeface="Fave Script Bold Pro" panose="020F0502020204030204" pitchFamily="2" charset="0"/>
              </a:rPr>
              <a:t>. </a:t>
            </a:r>
            <a:endParaRPr lang="en-US" dirty="0">
              <a:solidFill>
                <a:schemeClr val="bg1">
                  <a:lumMod val="75000"/>
                </a:schemeClr>
              </a:solidFill>
              <a:latin typeface="Fave Script Bold Pro" panose="020F0502020204030204" pitchFamily="2" charset="0"/>
            </a:endParaRPr>
          </a:p>
        </p:txBody>
      </p:sp>
      <p:sp>
        <p:nvSpPr>
          <p:cNvPr id="16" name="TextBox 15">
            <a:extLst>
              <a:ext uri="{FF2B5EF4-FFF2-40B4-BE49-F238E27FC236}">
                <a16:creationId xmlns:a16="http://schemas.microsoft.com/office/drawing/2014/main" id="{AAB18195-CE6A-BD12-E1E4-78053C497ABC}"/>
              </a:ext>
            </a:extLst>
          </p:cNvPr>
          <p:cNvSpPr txBox="1"/>
          <p:nvPr/>
        </p:nvSpPr>
        <p:spPr>
          <a:xfrm>
            <a:off x="5539200" y="1818251"/>
            <a:ext cx="1613026" cy="923330"/>
          </a:xfrm>
          <a:prstGeom prst="rect">
            <a:avLst/>
          </a:prstGeom>
          <a:noFill/>
        </p:spPr>
        <p:txBody>
          <a:bodyPr wrap="square" rtlCol="0">
            <a:spAutoFit/>
          </a:bodyPr>
          <a:lstStyle/>
          <a:p>
            <a:r>
              <a:rPr lang="en-US" b="0" i="0" dirty="0">
                <a:solidFill>
                  <a:schemeClr val="bg1">
                    <a:lumMod val="75000"/>
                  </a:schemeClr>
                </a:solidFill>
                <a:effectLst/>
                <a:latin typeface="Fave Script Bold Pro" panose="020F0502020204030204" pitchFamily="2" charset="0"/>
              </a:rPr>
              <a:t>Lorem ipsum dolor sit </a:t>
            </a:r>
            <a:r>
              <a:rPr lang="en-US" b="0" i="0" dirty="0" err="1">
                <a:solidFill>
                  <a:schemeClr val="bg1">
                    <a:lumMod val="75000"/>
                  </a:schemeClr>
                </a:solidFill>
                <a:effectLst/>
                <a:latin typeface="Fave Script Bold Pro" panose="020F0502020204030204" pitchFamily="2" charset="0"/>
              </a:rPr>
              <a:t>amet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consectetur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adipiscing</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elit</a:t>
            </a:r>
            <a:r>
              <a:rPr lang="en-US" dirty="0">
                <a:solidFill>
                  <a:schemeClr val="bg1">
                    <a:lumMod val="75000"/>
                  </a:schemeClr>
                </a:solidFill>
                <a:latin typeface="Fave Script Bold Pro" panose="020F0502020204030204" pitchFamily="2" charset="0"/>
              </a:rPr>
              <a:t>.</a:t>
            </a:r>
            <a:r>
              <a:rPr lang="en-US" b="0" i="0" dirty="0">
                <a:solidFill>
                  <a:schemeClr val="bg1">
                    <a:lumMod val="75000"/>
                  </a:schemeClr>
                </a:solidFill>
                <a:effectLst/>
                <a:latin typeface="Fave Script Bold Pro" panose="020F0502020204030204" pitchFamily="2" charset="0"/>
              </a:rPr>
              <a:t>. </a:t>
            </a:r>
            <a:endParaRPr lang="en-US" dirty="0">
              <a:solidFill>
                <a:schemeClr val="bg1">
                  <a:lumMod val="75000"/>
                </a:schemeClr>
              </a:solidFill>
              <a:latin typeface="Fave Script Bold Pro" panose="020F0502020204030204" pitchFamily="2" charset="0"/>
            </a:endParaRPr>
          </a:p>
        </p:txBody>
      </p:sp>
      <p:sp>
        <p:nvSpPr>
          <p:cNvPr id="17" name="TextBox 16">
            <a:extLst>
              <a:ext uri="{FF2B5EF4-FFF2-40B4-BE49-F238E27FC236}">
                <a16:creationId xmlns:a16="http://schemas.microsoft.com/office/drawing/2014/main" id="{FAE6BB96-F894-3CA3-CF41-AE70507871E3}"/>
              </a:ext>
            </a:extLst>
          </p:cNvPr>
          <p:cNvSpPr txBox="1"/>
          <p:nvPr/>
        </p:nvSpPr>
        <p:spPr>
          <a:xfrm>
            <a:off x="5537694" y="3645548"/>
            <a:ext cx="1613026" cy="923330"/>
          </a:xfrm>
          <a:prstGeom prst="rect">
            <a:avLst/>
          </a:prstGeom>
          <a:noFill/>
        </p:spPr>
        <p:txBody>
          <a:bodyPr wrap="square" rtlCol="0">
            <a:spAutoFit/>
          </a:bodyPr>
          <a:lstStyle/>
          <a:p>
            <a:r>
              <a:rPr lang="en-US" b="0" i="0" dirty="0">
                <a:solidFill>
                  <a:schemeClr val="bg1">
                    <a:lumMod val="75000"/>
                  </a:schemeClr>
                </a:solidFill>
                <a:effectLst/>
                <a:latin typeface="Fave Script Bold Pro" panose="020F0502020204030204" pitchFamily="2" charset="0"/>
              </a:rPr>
              <a:t>Lorem ipsum dolor sit </a:t>
            </a:r>
            <a:r>
              <a:rPr lang="en-US" b="0" i="0" dirty="0" err="1">
                <a:solidFill>
                  <a:schemeClr val="bg1">
                    <a:lumMod val="75000"/>
                  </a:schemeClr>
                </a:solidFill>
                <a:effectLst/>
                <a:latin typeface="Fave Script Bold Pro" panose="020F0502020204030204" pitchFamily="2" charset="0"/>
              </a:rPr>
              <a:t>amet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consectetur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adipiscing</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elit</a:t>
            </a:r>
            <a:r>
              <a:rPr lang="en-US" dirty="0">
                <a:solidFill>
                  <a:schemeClr val="bg1">
                    <a:lumMod val="75000"/>
                  </a:schemeClr>
                </a:solidFill>
                <a:latin typeface="Fave Script Bold Pro" panose="020F0502020204030204" pitchFamily="2" charset="0"/>
              </a:rPr>
              <a:t>.</a:t>
            </a:r>
            <a:r>
              <a:rPr lang="en-US" b="0" i="0" dirty="0">
                <a:solidFill>
                  <a:schemeClr val="bg1">
                    <a:lumMod val="75000"/>
                  </a:schemeClr>
                </a:solidFill>
                <a:effectLst/>
                <a:latin typeface="Fave Script Bold Pro" panose="020F0502020204030204" pitchFamily="2" charset="0"/>
              </a:rPr>
              <a:t>. </a:t>
            </a:r>
            <a:endParaRPr lang="en-US" dirty="0">
              <a:solidFill>
                <a:schemeClr val="bg1">
                  <a:lumMod val="75000"/>
                </a:schemeClr>
              </a:solidFill>
              <a:latin typeface="Fave Script Bold Pro" panose="020F0502020204030204" pitchFamily="2" charset="0"/>
            </a:endParaRPr>
          </a:p>
        </p:txBody>
      </p:sp>
      <p:sp>
        <p:nvSpPr>
          <p:cNvPr id="19" name="TextBox 18">
            <a:extLst>
              <a:ext uri="{FF2B5EF4-FFF2-40B4-BE49-F238E27FC236}">
                <a16:creationId xmlns:a16="http://schemas.microsoft.com/office/drawing/2014/main" id="{52D0A367-5992-7B77-1770-19B0595B7AAA}"/>
              </a:ext>
            </a:extLst>
          </p:cNvPr>
          <p:cNvSpPr txBox="1"/>
          <p:nvPr/>
        </p:nvSpPr>
        <p:spPr>
          <a:xfrm>
            <a:off x="7313672" y="1754877"/>
            <a:ext cx="1613026" cy="1754326"/>
          </a:xfrm>
          <a:prstGeom prst="rect">
            <a:avLst/>
          </a:prstGeom>
          <a:noFill/>
        </p:spPr>
        <p:txBody>
          <a:bodyPr wrap="square" rtlCol="0">
            <a:spAutoFit/>
          </a:bodyPr>
          <a:lstStyle/>
          <a:p>
            <a:r>
              <a:rPr lang="en-US" b="0" i="0" dirty="0">
                <a:solidFill>
                  <a:schemeClr val="bg1">
                    <a:lumMod val="75000"/>
                  </a:schemeClr>
                </a:solidFill>
                <a:effectLst/>
                <a:latin typeface="Fave Script Bold Pro" panose="020F0502020204030204" pitchFamily="2" charset="0"/>
              </a:rPr>
              <a:t>Lorem ipsum dolor sit </a:t>
            </a:r>
            <a:r>
              <a:rPr lang="en-US" b="0" i="0" dirty="0" err="1">
                <a:solidFill>
                  <a:schemeClr val="bg1">
                    <a:lumMod val="75000"/>
                  </a:schemeClr>
                </a:solidFill>
                <a:effectLst/>
                <a:latin typeface="Fave Script Bold Pro" panose="020F0502020204030204" pitchFamily="2" charset="0"/>
              </a:rPr>
              <a:t>amet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consectetur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adipiscing</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elit</a:t>
            </a:r>
            <a:r>
              <a:rPr lang="en-US" b="0" i="0" dirty="0">
                <a:solidFill>
                  <a:schemeClr val="bg1">
                    <a:lumMod val="75000"/>
                  </a:schemeClr>
                </a:solidFill>
                <a:effectLst/>
                <a:latin typeface="Fave Script Bold Pro" panose="020F0502020204030204" pitchFamily="2" charset="0"/>
              </a:rPr>
              <a:t>, sed do </a:t>
            </a:r>
            <a:r>
              <a:rPr lang="en-US" b="0" i="0" dirty="0" err="1">
                <a:solidFill>
                  <a:schemeClr val="bg1">
                    <a:lumMod val="75000"/>
                  </a:schemeClr>
                </a:solidFill>
                <a:effectLst/>
                <a:latin typeface="Fave Script Bold Pro" panose="020F0502020204030204" pitchFamily="2" charset="0"/>
              </a:rPr>
              <a:t>eiusmod</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tempor</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incididunt</a:t>
            </a:r>
            <a:r>
              <a:rPr lang="en-US" b="0" i="0" dirty="0">
                <a:solidFill>
                  <a:schemeClr val="bg1">
                    <a:lumMod val="75000"/>
                  </a:schemeClr>
                </a:solidFill>
                <a:effectLst/>
                <a:latin typeface="Fave Script Bold Pro" panose="020F0502020204030204" pitchFamily="2" charset="0"/>
              </a:rPr>
              <a:t> </a:t>
            </a:r>
            <a:r>
              <a:rPr lang="en-US" b="0" i="0" dirty="0" err="1">
                <a:solidFill>
                  <a:schemeClr val="bg1">
                    <a:lumMod val="75000"/>
                  </a:schemeClr>
                </a:solidFill>
                <a:effectLst/>
                <a:latin typeface="Fave Script Bold Pro" panose="020F0502020204030204" pitchFamily="2" charset="0"/>
              </a:rPr>
              <a:t>ut</a:t>
            </a:r>
            <a:r>
              <a:rPr lang="en-US" b="0" i="0" dirty="0">
                <a:solidFill>
                  <a:schemeClr val="bg1">
                    <a:lumMod val="75000"/>
                  </a:schemeClr>
                </a:solidFill>
                <a:effectLst/>
                <a:latin typeface="Fave Script Bold Pro" panose="020F0502020204030204" pitchFamily="2" charset="0"/>
              </a:rPr>
              <a:t> labore et dolore magna </a:t>
            </a:r>
            <a:r>
              <a:rPr lang="en-US" b="0" i="0" dirty="0" err="1">
                <a:solidFill>
                  <a:schemeClr val="bg1">
                    <a:lumMod val="75000"/>
                  </a:schemeClr>
                </a:solidFill>
                <a:effectLst/>
                <a:latin typeface="Fave Script Bold Pro" panose="020F0502020204030204" pitchFamily="2" charset="0"/>
              </a:rPr>
              <a:t>aliqua</a:t>
            </a:r>
            <a:r>
              <a:rPr lang="en-US" b="0" i="0" dirty="0">
                <a:effectLst/>
                <a:latin typeface="Fave Script Bold Pro" panose="020F0502020204030204" pitchFamily="2" charset="0"/>
              </a:rPr>
              <a:t>. </a:t>
            </a:r>
            <a:endParaRPr lang="en-US" dirty="0">
              <a:latin typeface="Fave Script Bold Pro" panose="020F0502020204030204" pitchFamily="2" charset="0"/>
            </a:endParaRPr>
          </a:p>
        </p:txBody>
      </p:sp>
    </p:spTree>
    <p:extLst>
      <p:ext uri="{BB962C8B-B14F-4D97-AF65-F5344CB8AC3E}">
        <p14:creationId xmlns:p14="http://schemas.microsoft.com/office/powerpoint/2010/main" val="3702136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childTnLst>
                                </p:cTn>
                              </p:par>
                            </p:childTnLst>
                          </p:cTn>
                        </p:par>
                        <p:par>
                          <p:cTn id="8" fill="hold">
                            <p:stCondLst>
                              <p:cond delay="1500"/>
                            </p:stCondLst>
                            <p:childTnLst>
                              <p:par>
                                <p:cTn id="9" presetID="10" presetClass="entr" presetSubtype="0" fill="hold" grpId="0" nodeType="afterEffect">
                                  <p:stCondLst>
                                    <p:cond delay="50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972AB89-CD12-1551-ABA6-9346B729DB5B}"/>
              </a:ext>
            </a:extLst>
          </p:cNvPr>
          <p:cNvSpPr>
            <a:spLocks noGrp="1"/>
          </p:cNvSpPr>
          <p:nvPr>
            <p:ph type="sldNum" sz="quarter" idx="4"/>
          </p:nvPr>
        </p:nvSpPr>
        <p:spPr/>
        <p:txBody>
          <a:bodyPr/>
          <a:lstStyle/>
          <a:p>
            <a:fld id="{EF13FA6D-C8B2-4F7A-9B51-E7C42DF59B48}" type="slidenum">
              <a:rPr lang="en-US" smtClean="0"/>
              <a:pPr/>
              <a:t>27</a:t>
            </a:fld>
            <a:endParaRPr lang="en-US" sz="900"/>
          </a:p>
        </p:txBody>
      </p:sp>
      <p:sp>
        <p:nvSpPr>
          <p:cNvPr id="4" name="Content Placeholder 2">
            <a:extLst>
              <a:ext uri="{FF2B5EF4-FFF2-40B4-BE49-F238E27FC236}">
                <a16:creationId xmlns:a16="http://schemas.microsoft.com/office/drawing/2014/main" id="{C05392AD-6B58-5338-D093-330EB23FB0B1}"/>
              </a:ext>
            </a:extLst>
          </p:cNvPr>
          <p:cNvSpPr txBox="1">
            <a:spLocks/>
          </p:cNvSpPr>
          <p:nvPr/>
        </p:nvSpPr>
        <p:spPr bwMode="auto">
          <a:xfrm>
            <a:off x="2333274" y="2476964"/>
            <a:ext cx="4762500" cy="2172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6661" tIns="48331" rIns="96661" bIns="48331"/>
          <a:lstStyle>
            <a:lvl1pPr eaLnBrk="0" hangingPunct="0">
              <a:spcBef>
                <a:spcPct val="20000"/>
              </a:spcBef>
              <a:buFont typeface="Arial" pitchFamily="34" charset="0"/>
              <a:buChar char="•"/>
              <a:defRPr sz="3400">
                <a:solidFill>
                  <a:srgbClr val="AB162B"/>
                </a:solidFill>
                <a:latin typeface="Franklin Gothic Medium" pitchFamily="34" charset="0"/>
              </a:defRPr>
            </a:lvl1pPr>
            <a:lvl2pPr marL="742950" indent="-285750" eaLnBrk="0" hangingPunct="0">
              <a:spcBef>
                <a:spcPct val="20000"/>
              </a:spcBef>
              <a:buFont typeface="Arial" pitchFamily="34" charset="0"/>
              <a:buChar char="•"/>
              <a:defRPr sz="3000">
                <a:solidFill>
                  <a:schemeClr val="tx1"/>
                </a:solidFill>
                <a:latin typeface="Franklin Gothic Book" pitchFamily="34" charset="0"/>
              </a:defRPr>
            </a:lvl2pPr>
            <a:lvl3pPr marL="1143000" indent="-228600" eaLnBrk="0" hangingPunct="0">
              <a:spcBef>
                <a:spcPct val="20000"/>
              </a:spcBef>
              <a:buFont typeface="Arial" pitchFamily="34" charset="0"/>
              <a:buChar char="•"/>
              <a:defRPr sz="2500">
                <a:solidFill>
                  <a:schemeClr val="tx1"/>
                </a:solidFill>
                <a:latin typeface="Franklin Gothic Book" pitchFamily="34" charset="0"/>
              </a:defRPr>
            </a:lvl3pPr>
            <a:lvl4pPr marL="1600200" indent="-228600" eaLnBrk="0" hangingPunct="0">
              <a:spcBef>
                <a:spcPct val="20000"/>
              </a:spcBef>
              <a:buFont typeface="Arial" pitchFamily="34" charset="0"/>
              <a:buChar char="•"/>
              <a:defRPr sz="2100">
                <a:solidFill>
                  <a:schemeClr val="tx1"/>
                </a:solidFill>
                <a:latin typeface="Franklin Gothic Book" pitchFamily="34" charset="0"/>
              </a:defRPr>
            </a:lvl4pPr>
            <a:lvl5pPr marL="2057400" indent="-228600" eaLnBrk="0" hangingPunct="0">
              <a:spcBef>
                <a:spcPct val="20000"/>
              </a:spcBef>
              <a:buFont typeface="Arial" pitchFamily="34" charset="0"/>
              <a:buChar char="•"/>
              <a:defRPr sz="2100">
                <a:solidFill>
                  <a:schemeClr val="tx1"/>
                </a:solidFill>
                <a:latin typeface="Franklin Gothic Book" pitchFamily="34" charset="0"/>
              </a:defRPr>
            </a:lvl5pPr>
            <a:lvl6pPr marL="2514600" indent="-228600" eaLnBrk="0" fontAlgn="base" hangingPunct="0">
              <a:spcBef>
                <a:spcPct val="20000"/>
              </a:spcBef>
              <a:spcAft>
                <a:spcPct val="0"/>
              </a:spcAft>
              <a:buFont typeface="Arial" pitchFamily="34" charset="0"/>
              <a:buChar char="•"/>
              <a:defRPr sz="2100">
                <a:solidFill>
                  <a:schemeClr val="tx1"/>
                </a:solidFill>
                <a:latin typeface="Franklin Gothic Book" pitchFamily="34" charset="0"/>
              </a:defRPr>
            </a:lvl6pPr>
            <a:lvl7pPr marL="2971800" indent="-228600" eaLnBrk="0" fontAlgn="base" hangingPunct="0">
              <a:spcBef>
                <a:spcPct val="20000"/>
              </a:spcBef>
              <a:spcAft>
                <a:spcPct val="0"/>
              </a:spcAft>
              <a:buFont typeface="Arial" pitchFamily="34" charset="0"/>
              <a:buChar char="•"/>
              <a:defRPr sz="2100">
                <a:solidFill>
                  <a:schemeClr val="tx1"/>
                </a:solidFill>
                <a:latin typeface="Franklin Gothic Book" pitchFamily="34" charset="0"/>
              </a:defRPr>
            </a:lvl7pPr>
            <a:lvl8pPr marL="3429000" indent="-228600" eaLnBrk="0" fontAlgn="base" hangingPunct="0">
              <a:spcBef>
                <a:spcPct val="20000"/>
              </a:spcBef>
              <a:spcAft>
                <a:spcPct val="0"/>
              </a:spcAft>
              <a:buFont typeface="Arial" pitchFamily="34" charset="0"/>
              <a:buChar char="•"/>
              <a:defRPr sz="2100">
                <a:solidFill>
                  <a:schemeClr val="tx1"/>
                </a:solidFill>
                <a:latin typeface="Franklin Gothic Book" pitchFamily="34" charset="0"/>
              </a:defRPr>
            </a:lvl8pPr>
            <a:lvl9pPr marL="3886200" indent="-228600" eaLnBrk="0" fontAlgn="base" hangingPunct="0">
              <a:spcBef>
                <a:spcPct val="20000"/>
              </a:spcBef>
              <a:spcAft>
                <a:spcPct val="0"/>
              </a:spcAft>
              <a:buFont typeface="Arial" pitchFamily="34" charset="0"/>
              <a:buChar char="•"/>
              <a:defRPr sz="2100">
                <a:solidFill>
                  <a:schemeClr val="tx1"/>
                </a:solidFill>
                <a:latin typeface="Franklin Gothic Book" pitchFamily="34" charset="0"/>
              </a:defRPr>
            </a:lvl9pPr>
          </a:lstStyle>
          <a:p>
            <a:pPr algn="ctr" defTabSz="914400" eaLnBrk="1" hangingPunct="1">
              <a:spcBef>
                <a:spcPct val="0"/>
              </a:spcBef>
              <a:buFont typeface="Arial" pitchFamily="34" charset="0"/>
              <a:buNone/>
            </a:pPr>
            <a:r>
              <a:rPr lang="en-US" altLang="en-US" sz="4400" b="1" dirty="0">
                <a:solidFill>
                  <a:srgbClr val="002E6D"/>
                </a:solidFill>
                <a:latin typeface="Source Sans Pro" panose="020B0503030403020204" pitchFamily="34" charset="0"/>
                <a:ea typeface="Source Sans Pro" panose="020B0503030403020204" pitchFamily="34" charset="0"/>
              </a:rPr>
              <a:t>Questions &amp; Discussion</a:t>
            </a:r>
          </a:p>
        </p:txBody>
      </p:sp>
    </p:spTree>
    <p:extLst>
      <p:ext uri="{BB962C8B-B14F-4D97-AF65-F5344CB8AC3E}">
        <p14:creationId xmlns:p14="http://schemas.microsoft.com/office/powerpoint/2010/main" val="3861466594"/>
      </p:ext>
    </p:extLst>
  </p:cSld>
  <p:clrMapOvr>
    <a:masterClrMapping/>
  </p:clrMapOvr>
</p:sld>
</file>

<file path=ppt/theme/theme1.xml><?xml version="1.0" encoding="utf-8"?>
<a:theme xmlns:a="http://schemas.openxmlformats.org/drawingml/2006/main" name="Office Theme">
  <a:themeElements>
    <a:clrScheme name="Custom 1">
      <a:dk1>
        <a:srgbClr val="1B1E29"/>
      </a:dk1>
      <a:lt1>
        <a:srgbClr val="FFFFFF"/>
      </a:lt1>
      <a:dk2>
        <a:srgbClr val="002E6D"/>
      </a:dk2>
      <a:lt2>
        <a:srgbClr val="007DBC"/>
      </a:lt2>
      <a:accent1>
        <a:srgbClr val="969696"/>
      </a:accent1>
      <a:accent2>
        <a:srgbClr val="197E4E"/>
      </a:accent2>
      <a:accent3>
        <a:srgbClr val="F1C400"/>
      </a:accent3>
      <a:accent4>
        <a:srgbClr val="7AC5EB"/>
      </a:accent4>
      <a:accent5>
        <a:srgbClr val="CC0000"/>
      </a:accent5>
      <a:accent6>
        <a:srgbClr val="FFFFFF"/>
      </a:accent6>
      <a:hlink>
        <a:srgbClr val="007DBC"/>
      </a:hlink>
      <a:folHlink>
        <a:srgbClr val="7AC5EB"/>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BA-Template-4x3" id="{10B8EB85-0603-6C4A-B199-97FFBF5C934D}" vid="{C65D1D54-2505-3642-821A-0245DDC064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582706d8-95c0-48cc-aef3-5e3ecbe53914">
      <UserInfo>
        <DisplayName>Williams, Mark J.</DisplayName>
        <AccountId>57</AccountId>
        <AccountType/>
      </UserInfo>
      <UserInfo>
        <DisplayName>Varn, Sophie A. (Contractor)</DisplayName>
        <AccountId>2808</AccountId>
        <AccountType/>
      </UserInfo>
    </SharedWithUsers>
    <lcf76f155ced4ddcb4097134ff3c332f xmlns="b51dd3a9-6de1-4731-b3d5-4a5aecad7bc8">
      <Terms xmlns="http://schemas.microsoft.com/office/infopath/2007/PartnerControls"/>
    </lcf76f155ced4ddcb4097134ff3c332f>
    <TaxCatchAll xmlns="582706d8-95c0-48cc-aef3-5e3ecbe53914" xsi:nil="true"/>
    <_ip_UnifiedCompliancePolicyUIAction xmlns="http://schemas.microsoft.com/sharepoint/v3" xsi:nil="true"/>
    <_ip_UnifiedCompliancePolicyProperties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4BFECC814B6A4DA79CE86AB86465EC" ma:contentTypeVersion="23" ma:contentTypeDescription="Create a new document." ma:contentTypeScope="" ma:versionID="fd1a90c7408ba272184c16fc36f91ca5">
  <xsd:schema xmlns:xsd="http://www.w3.org/2001/XMLSchema" xmlns:xs="http://www.w3.org/2001/XMLSchema" xmlns:p="http://schemas.microsoft.com/office/2006/metadata/properties" xmlns:ns1="http://schemas.microsoft.com/sharepoint/v3" xmlns:ns2="582706d8-95c0-48cc-aef3-5e3ecbe53914" xmlns:ns3="b51dd3a9-6de1-4731-b3d5-4a5aecad7bc8" targetNamespace="http://schemas.microsoft.com/office/2006/metadata/properties" ma:root="true" ma:fieldsID="dabba3decffeb794541a265d05953612" ns1:_="" ns2:_="" ns3:_="">
    <xsd:import namespace="http://schemas.microsoft.com/sharepoint/v3"/>
    <xsd:import namespace="582706d8-95c0-48cc-aef3-5e3ecbe53914"/>
    <xsd:import namespace="b51dd3a9-6de1-4731-b3d5-4a5aecad7bc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Location" minOccurs="0"/>
                <xsd:element ref="ns3:MediaServiceOCR" minOccurs="0"/>
                <xsd:element ref="ns1:_ip_UnifiedCompliancePolicyProperties" minOccurs="0"/>
                <xsd:element ref="ns1:_ip_UnifiedCompliancePolicyUIAction" minOccurs="0"/>
                <xsd:element ref="ns3:MediaServiceEventHashCode" minOccurs="0"/>
                <xsd:element ref="ns3:MediaServiceGenerationTime" minOccurs="0"/>
                <xsd:element ref="ns3:MediaLengthInSeconds" minOccurs="0"/>
                <xsd:element ref="ns3:lcf76f155ced4ddcb4097134ff3c332f" minOccurs="0"/>
                <xsd:element ref="ns2:TaxCatchAll"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82706d8-95c0-48cc-aef3-5e3ecbe53914"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30b4a906-f53d-4acc-9786-517b136676d0}" ma:internalName="TaxCatchAll" ma:showField="CatchAllData" ma:web="582706d8-95c0-48cc-aef3-5e3ecbe53914">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51dd3a9-6de1-4731-b3d5-4a5aecad7bc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Location" ma:index="14" nillable="true" ma:displayName="MediaServiceLocation" ma:internalName="MediaServiceLocation" ma:readOnly="true">
      <xsd:simpleType>
        <xsd:restriction base="dms:Text"/>
      </xsd:simpleType>
    </xsd:element>
    <xsd:element name="MediaServiceOCR" ma:index="15" nillable="true" ma:displayName="MediaServiceOCR" ma:internalName="MediaServiceOCR" ma:readOnly="true">
      <xsd:simpleType>
        <xsd:restriction base="dms:Note">
          <xsd:maxLength value="255"/>
        </xsd:restriction>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fa0e949-ffd4-4536-b9e8-54043ebe243a"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B4868AA-5616-4225-BE3D-74CBF4BE4004}">
  <ds:schemaRefs>
    <ds:schemaRef ds:uri="http://schemas.openxmlformats.org/package/2006/metadata/core-properties"/>
    <ds:schemaRef ds:uri="http://purl.org/dc/terms/"/>
    <ds:schemaRef ds:uri="http://schemas.microsoft.com/office/2006/documentManagement/types"/>
    <ds:schemaRef ds:uri="http://purl.org/dc/elements/1.1/"/>
    <ds:schemaRef ds:uri="http://schemas.microsoft.com/office/infopath/2007/PartnerControls"/>
    <ds:schemaRef ds:uri="b51dd3a9-6de1-4731-b3d5-4a5aecad7bc8"/>
    <ds:schemaRef ds:uri="http://purl.org/dc/dcmitype/"/>
    <ds:schemaRef ds:uri="http://schemas.microsoft.com/office/2006/metadata/properties"/>
    <ds:schemaRef ds:uri="582706d8-95c0-48cc-aef3-5e3ecbe53914"/>
    <ds:schemaRef ds:uri="http://schemas.microsoft.com/sharepoint/v3"/>
    <ds:schemaRef ds:uri="http://www.w3.org/XML/1998/namespace"/>
  </ds:schemaRefs>
</ds:datastoreItem>
</file>

<file path=customXml/itemProps2.xml><?xml version="1.0" encoding="utf-8"?>
<ds:datastoreItem xmlns:ds="http://schemas.openxmlformats.org/officeDocument/2006/customXml" ds:itemID="{85DB3626-63E2-462F-9586-1AF8B3BAA9D7}">
  <ds:schemaRefs>
    <ds:schemaRef ds:uri="http://schemas.microsoft.com/sharepoint/v3/contenttype/forms"/>
  </ds:schemaRefs>
</ds:datastoreItem>
</file>

<file path=customXml/itemProps3.xml><?xml version="1.0" encoding="utf-8"?>
<ds:datastoreItem xmlns:ds="http://schemas.openxmlformats.org/officeDocument/2006/customXml" ds:itemID="{94D0CA1C-E9EF-4061-AC94-B175F750F12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82706d8-95c0-48cc-aef3-5e3ecbe53914"/>
    <ds:schemaRef ds:uri="b51dd3a9-6de1-4731-b3d5-4a5aecad7bc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15</TotalTime>
  <Words>4898</Words>
  <Application>Microsoft Office PowerPoint</Application>
  <PresentationFormat>On-screen Show (4:3)</PresentationFormat>
  <Paragraphs>436</Paragraphs>
  <Slides>27</Slides>
  <Notes>27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Fave Script Bold Pro</vt:lpstr>
      <vt:lpstr>Franklin Gothic Book</vt:lpstr>
      <vt:lpstr>Franklin Gothic Demi</vt:lpstr>
      <vt:lpstr>Source Sans Pro</vt:lpstr>
      <vt:lpstr>Office Theme</vt:lpstr>
      <vt:lpstr>Boots to Business Module 4</vt:lpstr>
      <vt:lpstr>Objective</vt:lpstr>
      <vt:lpstr>Agenda</vt:lpstr>
      <vt:lpstr>Why This is Important</vt:lpstr>
      <vt:lpstr>Why This is Important</vt:lpstr>
      <vt:lpstr>PowerPoint Presentation</vt:lpstr>
      <vt:lpstr>Revenue Drivers</vt:lpstr>
      <vt:lpstr>Example in Practice</vt:lpstr>
      <vt:lpstr>Example</vt:lpstr>
      <vt:lpstr>Margins</vt:lpstr>
      <vt:lpstr>Example</vt:lpstr>
      <vt:lpstr>Volume</vt:lpstr>
      <vt:lpstr>Variable Costs</vt:lpstr>
      <vt:lpstr>Fixed Costs</vt:lpstr>
      <vt:lpstr>Breakeven</vt:lpstr>
      <vt:lpstr>PowerPoint Presentation</vt:lpstr>
      <vt:lpstr>Economic Model for Giddy Up Coffee</vt:lpstr>
      <vt:lpstr>Increased Sales</vt:lpstr>
      <vt:lpstr>Improve Margin</vt:lpstr>
      <vt:lpstr>Decrease Fixed Costs</vt:lpstr>
      <vt:lpstr>Understanding Your Numbers is Important!</vt:lpstr>
      <vt:lpstr>Operating Leverage</vt:lpstr>
      <vt:lpstr>Implications of Operating Leverage</vt:lpstr>
      <vt:lpstr>Before you open your doors, ask yourself</vt:lpstr>
      <vt:lpstr>Key Takeaways</vt:lpstr>
      <vt:lpstr>Filling In YOUR Business Model Canvas…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Monthly VBDO Sync  July 2019</dc:title>
  <dc:creator>SBA OVBD</dc:creator>
  <cp:lastModifiedBy>Robert Sewell</cp:lastModifiedBy>
  <cp:revision>2</cp:revision>
  <cp:lastPrinted>2019-10-17T13:00:55Z</cp:lastPrinted>
  <dcterms:created xsi:type="dcterms:W3CDTF">2019-07-09T20:09:35Z</dcterms:created>
  <dcterms:modified xsi:type="dcterms:W3CDTF">2026-02-15T21:24:00Z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0x0101002F4BFECC814B6A4DA79CE86AB86465EC</vt:lpwstr>
  </property>
  <property fmtid="{D5CDD505-2E9C-101B-9397-08002B2CF9AE}" pid="3" name="MediaServiceImageTags">
    <vt:lpwstr/>
  </property>
</Properties>
</file>