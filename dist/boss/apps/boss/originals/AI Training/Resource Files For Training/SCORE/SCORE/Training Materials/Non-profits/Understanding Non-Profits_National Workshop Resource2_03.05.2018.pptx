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29"/>
  </p:notesMasterIdLst>
  <p:handoutMasterIdLst>
    <p:handoutMasterId r:id="rId30"/>
  </p:handoutMasterIdLst>
  <p:sldIdLst>
    <p:sldId id="290" r:id="rId2"/>
    <p:sldId id="261" r:id="rId3"/>
    <p:sldId id="265" r:id="rId4"/>
    <p:sldId id="263" r:id="rId5"/>
    <p:sldId id="264" r:id="rId6"/>
    <p:sldId id="266" r:id="rId7"/>
    <p:sldId id="267" r:id="rId8"/>
    <p:sldId id="268" r:id="rId9"/>
    <p:sldId id="269" r:id="rId10"/>
    <p:sldId id="270" r:id="rId11"/>
    <p:sldId id="273" r:id="rId12"/>
    <p:sldId id="274" r:id="rId13"/>
    <p:sldId id="272" r:id="rId14"/>
    <p:sldId id="275" r:id="rId15"/>
    <p:sldId id="271" r:id="rId16"/>
    <p:sldId id="276" r:id="rId17"/>
    <p:sldId id="277" r:id="rId18"/>
    <p:sldId id="278" r:id="rId19"/>
    <p:sldId id="279" r:id="rId20"/>
    <p:sldId id="280" r:id="rId21"/>
    <p:sldId id="285" r:id="rId22"/>
    <p:sldId id="282" r:id="rId23"/>
    <p:sldId id="286" r:id="rId24"/>
    <p:sldId id="288" r:id="rId25"/>
    <p:sldId id="283" r:id="rId26"/>
    <p:sldId id="287" r:id="rId27"/>
    <p:sldId id="28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1620"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itchFamily="-108" charset="0"/>
              </a:defRPr>
            </a:lvl1pPr>
          </a:lstStyle>
          <a:p>
            <a:pPr>
              <a:defRPr/>
            </a:pPr>
            <a:fld id="{21CCD6B7-6398-584C-90B6-6FEC19A5F167}" type="datetime1">
              <a:rPr lang="en-US"/>
              <a:pPr>
                <a:defRPr/>
              </a:pPr>
              <a:t>3/5/2018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128"/>
                <a:cs typeface="ＭＳ Ｐゴシック" charset="-128"/>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itchFamily="-108" charset="0"/>
              </a:defRPr>
            </a:lvl1pPr>
          </a:lstStyle>
          <a:p>
            <a:pPr>
              <a:defRPr/>
            </a:pPr>
            <a:fld id="{D3DFDBD5-932A-2946-B48F-BE825D05A2F5}" type="slidenum">
              <a:rPr lang="en-US"/>
              <a:pPr>
                <a:defRPr/>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itchFamily="-108" charset="0"/>
              </a:defRPr>
            </a:lvl1pPr>
          </a:lstStyle>
          <a:p>
            <a:pPr>
              <a:defRPr/>
            </a:pPr>
            <a:fld id="{425A7CF1-F296-A345-9CE3-B971876DC75A}" type="datetime1">
              <a:rPr lang="en-US"/>
              <a:pPr>
                <a:defRPr/>
              </a:pPr>
              <a:t>3/5/2018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128"/>
                <a:cs typeface="ＭＳ Ｐゴシック"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pitchFamily="-108" charset="0"/>
              </a:defRPr>
            </a:lvl1pPr>
          </a:lstStyle>
          <a:p>
            <a:pPr>
              <a:defRPr/>
            </a:pPr>
            <a:fld id="{DE95B3E0-1314-CC46-83CC-BB8DB4ECAADE}"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itchFamily="34" charset="-128"/>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itchFamily="34" charset="-128"/>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itchFamily="34" charset="-128"/>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Shape 156"/>
          <p:cNvSpPr>
            <a:spLocks noGrp="1" noRot="1" noChangeAspect="1" noTextEdit="1"/>
          </p:cNvSpPr>
          <p:nvPr>
            <p:ph type="sldImg" idx="2"/>
          </p:nvPr>
        </p:nvSpPr>
        <p:spPr bwMode="auto">
          <a:noFill/>
          <a:ln w="9525">
            <a:solidFill>
              <a:srgbClr val="000000"/>
            </a:solidFill>
            <a:miter lim="800000"/>
            <a:headEnd/>
            <a:tailEnd/>
          </a:ln>
        </p:spPr>
      </p:sp>
      <p:sp>
        <p:nvSpPr>
          <p:cNvPr id="16387" name="Shape 157"/>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
        <p:nvSpPr>
          <p:cNvPr id="16388" name="Shape 158"/>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55632BE8-B3D0-4E4F-9D95-795E98B651F7}" type="slidenum">
              <a:rPr lang="en-US" sz="1300">
                <a:solidFill>
                  <a:srgbClr val="000000"/>
                </a:solidFill>
                <a:latin typeface="Calibri" pitchFamily="4" charset="0"/>
                <a:sym typeface="Calibri" pitchFamily="4" charset="0"/>
              </a:rPr>
              <a:pPr algn="r" eaLnBrk="1" hangingPunct="1">
                <a:buClr>
                  <a:srgbClr val="000000"/>
                </a:buClr>
                <a:buSzPct val="25000"/>
              </a:pPr>
              <a:t>2</a:t>
            </a:fld>
            <a:endParaRPr lang="en-US" sz="1300">
              <a:solidFill>
                <a:srgbClr val="000000"/>
              </a:solidFill>
              <a:latin typeface="Calibri" pitchFamily="4" charset="0"/>
              <a:sym typeface="Calibri" pitchFamily="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p:spPr>
      </p:sp>
      <p:sp>
        <p:nvSpPr>
          <p:cNvPr id="245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24580" name="Slide Number Placeholder 3"/>
          <p:cNvSpPr>
            <a:spLocks noGrp="1"/>
          </p:cNvSpPr>
          <p:nvPr>
            <p:ph type="sldNum" sz="quarter" idx="5"/>
          </p:nvPr>
        </p:nvSpPr>
        <p:spPr bwMode="auto">
          <a:noFill/>
          <a:ln>
            <a:miter lim="800000"/>
            <a:headEnd/>
            <a:tailEnd/>
          </a:ln>
        </p:spPr>
        <p:txBody>
          <a:bodyPr/>
          <a:lstStyle/>
          <a:p>
            <a:fld id="{841B2A9B-2B85-FF4D-9BF5-6AE7AF66D0C5}" type="slidenum">
              <a:rPr lang="en-US">
                <a:latin typeface="Arial" pitchFamily="4" charset="-52"/>
              </a:rPr>
              <a:pPr/>
              <a:t>9</a:t>
            </a:fld>
            <a:endParaRPr lang="en-US">
              <a:latin typeface="Arial" pitchFamily="4" charset="-5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Shape 163"/>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8EF98886-C67C-9247-A3E1-C68503429CC4}" type="slidenum">
              <a:rPr lang="en-US" sz="1300">
                <a:solidFill>
                  <a:srgbClr val="000000"/>
                </a:solidFill>
                <a:latin typeface="Calibri" pitchFamily="4" charset="0"/>
                <a:sym typeface="Calibri" pitchFamily="4" charset="0"/>
              </a:rPr>
              <a:pPr algn="r" eaLnBrk="1" hangingPunct="1">
                <a:buClr>
                  <a:srgbClr val="000000"/>
                </a:buClr>
                <a:buSzPct val="25000"/>
              </a:pPr>
              <a:t>10</a:t>
            </a:fld>
            <a:endParaRPr lang="en-US" sz="1300">
              <a:solidFill>
                <a:srgbClr val="000000"/>
              </a:solidFill>
              <a:latin typeface="Calibri" pitchFamily="4" charset="0"/>
              <a:sym typeface="Calibri" pitchFamily="4" charset="0"/>
            </a:endParaRPr>
          </a:p>
        </p:txBody>
      </p:sp>
      <p:sp>
        <p:nvSpPr>
          <p:cNvPr id="26627" name="Shape 164"/>
          <p:cNvSpPr>
            <a:spLocks noGrp="1" noRot="1" noChangeAspect="1" noTextEdit="1"/>
          </p:cNvSpPr>
          <p:nvPr>
            <p:ph type="sldImg" idx="2"/>
          </p:nvPr>
        </p:nvSpPr>
        <p:spPr bwMode="auto">
          <a:noFill/>
          <a:ln w="9525">
            <a:solidFill>
              <a:srgbClr val="000000"/>
            </a:solidFill>
            <a:miter lim="800000"/>
            <a:headEnd/>
            <a:tailEnd/>
          </a:ln>
        </p:spPr>
      </p:sp>
      <p:sp>
        <p:nvSpPr>
          <p:cNvPr id="26628" name="Shape 165"/>
          <p:cNvSpPr>
            <a:spLocks noGrp="1"/>
          </p:cNvSpPr>
          <p:nvPr>
            <p:ph type="body" idx="1"/>
          </p:nvPr>
        </p:nvSpPr>
        <p:spPr bwMode="auto">
          <a:xfrm>
            <a:off x="0" y="3541713"/>
            <a:ext cx="6880225" cy="5627687"/>
          </a:xfrm>
          <a:noFill/>
        </p:spPr>
        <p:txBody>
          <a:bodyPr wrap="square" tIns="48309" bIns="48309" numCol="1" anchor="t" anchorCtr="0" compatLnSpc="1">
            <a:prstTxWarp prst="textNoShape">
              <a:avLst/>
            </a:prstTxWarp>
          </a:bodyPr>
          <a:lstStyle/>
          <a:p>
            <a:pPr eaLnBrk="1" hangingPunct="1">
              <a:lnSpc>
                <a:spcPct val="70000"/>
              </a:lnSpc>
              <a:spcBef>
                <a:spcPct val="0"/>
              </a:spcBef>
              <a:buSzPct val="25000"/>
            </a:pPr>
            <a:r>
              <a:rPr lang="en-US" sz="1500"/>
              <a:t>Examples of Nonprofit Organizations</a:t>
            </a:r>
          </a:p>
          <a:p>
            <a:pPr marL="0" lvl="1" eaLnBrk="1" hangingPunct="1">
              <a:lnSpc>
                <a:spcPct val="70000"/>
              </a:lnSpc>
              <a:spcBef>
                <a:spcPts val="950"/>
              </a:spcBef>
              <a:buSzPct val="25000"/>
            </a:pPr>
            <a:r>
              <a:rPr lang="en-US" sz="1500"/>
              <a:t>501(c)(3) public charities and foundations (focus of ESC)</a:t>
            </a:r>
          </a:p>
          <a:p>
            <a:pPr marL="0" lvl="1" eaLnBrk="1" hangingPunct="1">
              <a:lnSpc>
                <a:spcPct val="70000"/>
              </a:lnSpc>
              <a:spcBef>
                <a:spcPts val="950"/>
              </a:spcBef>
              <a:buSzPct val="25000"/>
            </a:pPr>
            <a:r>
              <a:rPr lang="en-US" sz="1500"/>
              <a:t>501(c)(4) civic leagues, volunteer fire departments </a:t>
            </a:r>
          </a:p>
          <a:p>
            <a:pPr marL="0" lvl="1" eaLnBrk="1" hangingPunct="1">
              <a:lnSpc>
                <a:spcPct val="70000"/>
              </a:lnSpc>
              <a:spcBef>
                <a:spcPts val="950"/>
              </a:spcBef>
              <a:buSzPct val="25000"/>
            </a:pPr>
            <a:r>
              <a:rPr lang="en-US" sz="1500"/>
              <a:t>501(c)(5) labor and agricultural organizations (i.e. labor unions and councils)</a:t>
            </a:r>
          </a:p>
          <a:p>
            <a:pPr marL="0" lvl="1" eaLnBrk="1" hangingPunct="1">
              <a:lnSpc>
                <a:spcPct val="70000"/>
              </a:lnSpc>
              <a:spcBef>
                <a:spcPts val="950"/>
              </a:spcBef>
              <a:buSzPct val="25000"/>
            </a:pPr>
            <a:r>
              <a:rPr lang="en-US" sz="1500"/>
              <a:t>501(c)(6) chambers of commerce, boards of trade, real estate boards, trade and professional associations</a:t>
            </a:r>
          </a:p>
          <a:p>
            <a:pPr marL="0" lvl="1" eaLnBrk="1" hangingPunct="1">
              <a:lnSpc>
                <a:spcPct val="70000"/>
              </a:lnSpc>
              <a:spcBef>
                <a:spcPts val="950"/>
              </a:spcBef>
              <a:buSzPct val="25000"/>
            </a:pPr>
            <a:r>
              <a:rPr lang="en-US" sz="1500"/>
              <a:t>501(c)(7) social clubs organized for recreation, with limited membership and supported primarily by membership fees and dues</a:t>
            </a:r>
          </a:p>
          <a:p>
            <a:pPr marL="0" lvl="1" eaLnBrk="1" hangingPunct="1">
              <a:lnSpc>
                <a:spcPct val="70000"/>
              </a:lnSpc>
              <a:spcBef>
                <a:spcPts val="950"/>
              </a:spcBef>
              <a:buSzPct val="25000"/>
            </a:pPr>
            <a:r>
              <a:rPr lang="en-US" sz="1500"/>
              <a:t>501(c)(8) fraternal beneficiary societies (membership is based on a common tie or the pursuit of a common object)</a:t>
            </a:r>
          </a:p>
          <a:p>
            <a:pPr marL="0" lvl="1" eaLnBrk="1" hangingPunct="1">
              <a:lnSpc>
                <a:spcPct val="70000"/>
              </a:lnSpc>
              <a:spcBef>
                <a:spcPts val="950"/>
              </a:spcBef>
              <a:buSzPct val="25000"/>
            </a:pPr>
            <a:r>
              <a:rPr lang="en-US" sz="1500"/>
              <a:t>501(c)(19) post or organization of war veterans (97.5% of organization’s members must be past or present members of the US Armed Forces, cadets, or spouses, widows, widowers of any of these)</a:t>
            </a:r>
          </a:p>
          <a:p>
            <a:pPr algn="r" eaLnBrk="1" hangingPunct="1">
              <a:lnSpc>
                <a:spcPct val="70000"/>
              </a:lnSpc>
              <a:spcBef>
                <a:spcPts val="950"/>
              </a:spcBef>
              <a:buSzPct val="25000"/>
            </a:pPr>
            <a:r>
              <a:rPr lang="en-US" sz="1500" i="1"/>
              <a:t>Source: www.irs.gov</a:t>
            </a:r>
          </a:p>
          <a:p>
            <a:pPr eaLnBrk="1" hangingPunct="1">
              <a:lnSpc>
                <a:spcPct val="70000"/>
              </a:lnSpc>
              <a:spcBef>
                <a:spcPts val="950"/>
              </a:spcBef>
              <a:buSzPct val="25000"/>
            </a:pPr>
            <a:r>
              <a:rPr lang="en-US" sz="1500"/>
              <a:t>Can Nonprofits Make a Profit?</a:t>
            </a:r>
          </a:p>
          <a:p>
            <a:pPr marL="0" lvl="1" eaLnBrk="1" hangingPunct="1">
              <a:lnSpc>
                <a:spcPct val="70000"/>
              </a:lnSpc>
              <a:spcBef>
                <a:spcPts val="950"/>
              </a:spcBef>
              <a:buSzPct val="25000"/>
            </a:pPr>
            <a:r>
              <a:rPr lang="en-US" sz="1500"/>
              <a:t>What distinguishes nonprofits is not whether they can make a profit, but what happens to profits. In fact a nonprofit needs to make a profit in order to survive.  </a:t>
            </a:r>
          </a:p>
          <a:p>
            <a:pPr marL="0" lvl="1" eaLnBrk="1" hangingPunct="1">
              <a:lnSpc>
                <a:spcPct val="70000"/>
              </a:lnSpc>
              <a:spcBef>
                <a:spcPts val="950"/>
              </a:spcBef>
              <a:buSzPct val="25000"/>
            </a:pPr>
            <a:r>
              <a:rPr lang="en-US" sz="1500"/>
              <a:t>A for-profit company that generates net revenue can choose to distribute those profits to owners and shareholders, executives, and employees.  Nonprofit organizations, in contrast, are non-profit-distributing; they don't exist to earn money for owners and shareholders (there are none) or employees.  In fact, distribution of profits — termed private immurement in the nonprofit world — is strictly prohibited.  </a:t>
            </a:r>
          </a:p>
          <a:p>
            <a:pPr marL="0" lvl="1" eaLnBrk="1" hangingPunct="1">
              <a:lnSpc>
                <a:spcPct val="70000"/>
              </a:lnSpc>
              <a:spcBef>
                <a:spcPts val="950"/>
              </a:spcBef>
              <a:buSzPct val="25000"/>
            </a:pPr>
            <a:r>
              <a:rPr lang="en-US" sz="1500"/>
              <a:t>This distinction, not the ability to generate a profit, is a major difference between nonprofits and businesses.	S</a:t>
            </a:r>
            <a:r>
              <a:rPr lang="en-US" sz="1500" i="1"/>
              <a:t>ource: www.boardsource.gov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4" name="Shape 205"/>
          <p:cNvSpPr txBox="1">
            <a:spLocks noChangeArrowheads="1"/>
          </p:cNvSpPr>
          <p:nvPr/>
        </p:nvSpPr>
        <p:spPr bwMode="auto">
          <a:xfrm>
            <a:off x="4146550" y="9120188"/>
            <a:ext cx="3168650" cy="481012"/>
          </a:xfrm>
          <a:prstGeom prst="rect">
            <a:avLst/>
          </a:prstGeom>
          <a:noFill/>
          <a:ln w="9525">
            <a:noFill/>
            <a:miter lim="800000"/>
            <a:headEnd/>
            <a:tailEnd/>
          </a:ln>
        </p:spPr>
        <p:txBody>
          <a:bodyPr lIns="96857" tIns="48415" rIns="96857" bIns="48415" anchor="b">
            <a:prstTxWarp prst="textNoShape">
              <a:avLst/>
            </a:prstTxWarp>
          </a:bodyPr>
          <a:lstStyle/>
          <a:p>
            <a:pPr algn="r" eaLnBrk="1" hangingPunct="1">
              <a:buClr>
                <a:srgbClr val="000000"/>
              </a:buClr>
              <a:buSzPct val="25000"/>
            </a:pPr>
            <a:fld id="{A1E3302C-8CEA-884E-8923-644D62044BD0}" type="slidenum">
              <a:rPr lang="en-US" sz="1100">
                <a:solidFill>
                  <a:srgbClr val="000000"/>
                </a:solidFill>
                <a:latin typeface="Times New Roman" pitchFamily="4" charset="0"/>
                <a:ea typeface="Times New Roman" pitchFamily="4" charset="0"/>
                <a:cs typeface="Times New Roman" pitchFamily="4" charset="0"/>
                <a:sym typeface="Times New Roman" pitchFamily="4" charset="0"/>
              </a:rPr>
              <a:pPr algn="r" eaLnBrk="1" hangingPunct="1">
                <a:buClr>
                  <a:srgbClr val="000000"/>
                </a:buClr>
                <a:buSzPct val="25000"/>
              </a:pPr>
              <a:t>11</a:t>
            </a:fld>
            <a:endParaRPr lang="en-US" sz="1100">
              <a:solidFill>
                <a:srgbClr val="000000"/>
              </a:solidFill>
              <a:latin typeface="Times New Roman" pitchFamily="4" charset="0"/>
              <a:ea typeface="Times New Roman" pitchFamily="4" charset="0"/>
              <a:cs typeface="Times New Roman" pitchFamily="4" charset="0"/>
              <a:sym typeface="Times New Roman" pitchFamily="4" charset="0"/>
            </a:endParaRPr>
          </a:p>
        </p:txBody>
      </p:sp>
      <p:sp>
        <p:nvSpPr>
          <p:cNvPr id="28675" name="Shape 206"/>
          <p:cNvSpPr txBox="1">
            <a:spLocks noChangeArrowheads="1"/>
          </p:cNvSpPr>
          <p:nvPr/>
        </p:nvSpPr>
        <p:spPr bwMode="auto">
          <a:xfrm>
            <a:off x="4146550" y="9120188"/>
            <a:ext cx="3168650" cy="481012"/>
          </a:xfrm>
          <a:prstGeom prst="rect">
            <a:avLst/>
          </a:prstGeom>
          <a:noFill/>
          <a:ln w="9525">
            <a:noFill/>
            <a:miter lim="800000"/>
            <a:headEnd/>
            <a:tailEnd/>
          </a:ln>
        </p:spPr>
        <p:txBody>
          <a:bodyPr lIns="96857" tIns="48415" rIns="96857" bIns="48415" anchor="b">
            <a:prstTxWarp prst="textNoShape">
              <a:avLst/>
            </a:prstTxWarp>
          </a:bodyPr>
          <a:lstStyle/>
          <a:p>
            <a:pPr algn="r" eaLnBrk="1" hangingPunct="1">
              <a:buClr>
                <a:srgbClr val="000000"/>
              </a:buClr>
              <a:buSzPct val="25000"/>
            </a:pPr>
            <a:fld id="{0C6FEB0B-F1CD-3847-BAC6-60F20B17EBCA}" type="slidenum">
              <a:rPr lang="en-US" sz="1100">
                <a:solidFill>
                  <a:srgbClr val="000000"/>
                </a:solidFill>
                <a:latin typeface="Times New Roman" pitchFamily="4" charset="0"/>
                <a:ea typeface="Times New Roman" pitchFamily="4" charset="0"/>
                <a:cs typeface="Times New Roman" pitchFamily="4" charset="0"/>
                <a:sym typeface="Times New Roman" pitchFamily="4" charset="0"/>
              </a:rPr>
              <a:pPr algn="r" eaLnBrk="1" hangingPunct="1">
                <a:buClr>
                  <a:srgbClr val="000000"/>
                </a:buClr>
                <a:buSzPct val="25000"/>
              </a:pPr>
              <a:t>11</a:t>
            </a:fld>
            <a:endParaRPr lang="en-US" sz="1100">
              <a:solidFill>
                <a:srgbClr val="000000"/>
              </a:solidFill>
              <a:latin typeface="Times New Roman" pitchFamily="4" charset="0"/>
              <a:ea typeface="Times New Roman" pitchFamily="4" charset="0"/>
              <a:cs typeface="Times New Roman" pitchFamily="4" charset="0"/>
              <a:sym typeface="Times New Roman" pitchFamily="4" charset="0"/>
            </a:endParaRPr>
          </a:p>
        </p:txBody>
      </p:sp>
      <p:sp>
        <p:nvSpPr>
          <p:cNvPr id="28676" name="Shape 207"/>
          <p:cNvSpPr>
            <a:spLocks noGrp="1" noRot="1" noChangeAspect="1" noTextEdit="1"/>
          </p:cNvSpPr>
          <p:nvPr>
            <p:ph type="sldImg" idx="2"/>
          </p:nvPr>
        </p:nvSpPr>
        <p:spPr bwMode="auto">
          <a:xfrm>
            <a:off x="250825" y="206375"/>
            <a:ext cx="4237038" cy="3178175"/>
          </a:xfrm>
          <a:custGeom>
            <a:avLst/>
            <a:gdLst>
              <a:gd name="T0" fmla="*/ 0 w 120000"/>
              <a:gd name="T1" fmla="*/ 0 h 120000"/>
              <a:gd name="T2" fmla="*/ 2147483647 w 120000"/>
              <a:gd name="T3" fmla="*/ 0 h 120000"/>
              <a:gd name="T4" fmla="*/ 2147483647 w 120000"/>
              <a:gd name="T5" fmla="*/ 2147483647 h 120000"/>
              <a:gd name="T6" fmla="*/ 0 w 120000"/>
              <a:gd name="T7" fmla="*/ 2147483647 h 120000"/>
              <a:gd name="T8" fmla="*/ 0 60000 65536"/>
              <a:gd name="T9" fmla="*/ 0 60000 65536"/>
              <a:gd name="T10" fmla="*/ 0 60000 65536"/>
              <a:gd name="T11" fmla="*/ 0 60000 65536"/>
              <a:gd name="T12" fmla="*/ 0 w 120000"/>
              <a:gd name="T13" fmla="*/ 0 h 120000"/>
              <a:gd name="T14" fmla="*/ 120000 w 120000"/>
              <a:gd name="T15" fmla="*/ 120000 h 120000"/>
            </a:gdLst>
            <a:ahLst/>
            <a:cxnLst>
              <a:cxn ang="T8">
                <a:pos x="T0" y="T1"/>
              </a:cxn>
              <a:cxn ang="T9">
                <a:pos x="T2" y="T3"/>
              </a:cxn>
              <a:cxn ang="T10">
                <a:pos x="T4" y="T5"/>
              </a:cxn>
              <a:cxn ang="T11">
                <a:pos x="T6" y="T7"/>
              </a:cxn>
            </a:cxnLst>
            <a:rect l="T12" t="T13" r="T14" b="T15"/>
            <a:pathLst>
              <a:path w="120000" h="120000" extrusionOk="0">
                <a:moveTo>
                  <a:pt x="0" y="0"/>
                </a:moveTo>
                <a:lnTo>
                  <a:pt x="120000" y="0"/>
                </a:lnTo>
                <a:lnTo>
                  <a:pt x="120000" y="120000"/>
                </a:lnTo>
                <a:lnTo>
                  <a:pt x="0" y="120000"/>
                </a:lnTo>
                <a:lnTo>
                  <a:pt x="0" y="0"/>
                </a:lnTo>
                <a:close/>
              </a:path>
            </a:pathLst>
          </a:custGeom>
          <a:solidFill>
            <a:srgbClr val="FFFFFF"/>
          </a:solidFill>
          <a:ln w="9525">
            <a:solidFill>
              <a:srgbClr val="000000"/>
            </a:solidFill>
            <a:round/>
            <a:headEnd/>
            <a:tailEnd/>
          </a:ln>
        </p:spPr>
      </p:sp>
      <p:sp>
        <p:nvSpPr>
          <p:cNvPr id="28677" name="Shape 208"/>
          <p:cNvSpPr>
            <a:spLocks noGrp="1"/>
          </p:cNvSpPr>
          <p:nvPr>
            <p:ph type="body" idx="1"/>
          </p:nvPr>
        </p:nvSpPr>
        <p:spPr bwMode="auto">
          <a:xfrm>
            <a:off x="0" y="3621088"/>
            <a:ext cx="7207250" cy="6562725"/>
          </a:xfrm>
          <a:noFill/>
          <a:ln cap="flat">
            <a:solidFill>
              <a:srgbClr val="000000"/>
            </a:solidFill>
            <a:miter lim="800000"/>
            <a:headEnd type="none" w="med" len="med"/>
            <a:tailEnd type="none" w="med" len="med"/>
          </a:ln>
        </p:spPr>
        <p:txBody>
          <a:bodyPr wrap="square" lIns="97650" tIns="48812" rIns="97650" bIns="48812" numCol="1" anchor="t" anchorCtr="0" compatLnSpc="1">
            <a:prstTxWarp prst="textNoShape">
              <a:avLst/>
            </a:prstTxWarp>
          </a:bodyPr>
          <a:lstStyle/>
          <a:p>
            <a:pPr marL="187325" eaLnBrk="1" hangingPunct="1">
              <a:spcBef>
                <a:spcPct val="0"/>
              </a:spcBef>
              <a:buSzPct val="25000"/>
            </a:pPr>
            <a:r>
              <a:rPr lang="en-US" b="1"/>
              <a:t>The board has legal and moral obligations in governing and is always accountable to the public trust. It must ensure operation within local, state and federal guidelines and safeguard the mission and resources.  To do this, boards rely upon broad governing principles such as mission, oversight and resources.</a:t>
            </a:r>
          </a:p>
          <a:p>
            <a:pPr marL="187325" eaLnBrk="1" hangingPunct="1">
              <a:spcBef>
                <a:spcPct val="0"/>
              </a:spcBef>
            </a:pPr>
            <a:endParaRPr lang="en-US" b="1"/>
          </a:p>
          <a:p>
            <a:pPr marL="187325" eaLnBrk="1" hangingPunct="1">
              <a:spcBef>
                <a:spcPct val="0"/>
              </a:spcBef>
              <a:buSzPct val="25000"/>
            </a:pPr>
            <a:r>
              <a:rPr lang="en-US"/>
              <a:t>Mission	Among the elements regarding mission, the board must determine:</a:t>
            </a:r>
          </a:p>
          <a:p>
            <a:pPr marL="1208088" lvl="2" eaLnBrk="1" hangingPunct="1">
              <a:spcBef>
                <a:spcPct val="0"/>
              </a:spcBef>
              <a:buSzPct val="25000"/>
            </a:pPr>
            <a:r>
              <a:rPr lang="en-US"/>
              <a:t>How do board members maintain their connection to the mission and vision?</a:t>
            </a:r>
          </a:p>
          <a:p>
            <a:pPr marL="1208088" lvl="2" eaLnBrk="1" hangingPunct="1">
              <a:spcBef>
                <a:spcPct val="0"/>
              </a:spcBef>
              <a:buSzPct val="25000"/>
            </a:pPr>
            <a:r>
              <a:rPr lang="en-US"/>
              <a:t>Can all board members state the mission, vision and core values?</a:t>
            </a:r>
          </a:p>
          <a:p>
            <a:pPr marL="1208088" lvl="2" eaLnBrk="1" hangingPunct="1">
              <a:spcBef>
                <a:spcPct val="0"/>
              </a:spcBef>
              <a:buSzPct val="25000"/>
            </a:pPr>
            <a:r>
              <a:rPr lang="en-US"/>
              <a:t>How are the core values expressed in the board’s functioning?</a:t>
            </a:r>
          </a:p>
          <a:p>
            <a:pPr marL="1208088" lvl="2" eaLnBrk="1" hangingPunct="1">
              <a:spcBef>
                <a:spcPct val="0"/>
              </a:spcBef>
              <a:buSzPct val="25000"/>
            </a:pPr>
            <a:r>
              <a:rPr lang="en-US"/>
              <a:t>Do the program outcomes contribute to the achievement of the mission?</a:t>
            </a:r>
          </a:p>
          <a:p>
            <a:pPr marL="187325" eaLnBrk="1" hangingPunct="1">
              <a:spcBef>
                <a:spcPct val="0"/>
              </a:spcBef>
              <a:buSzPct val="25000"/>
            </a:pPr>
            <a:r>
              <a:rPr lang="en-US"/>
              <a:t>Oversight	Among the elements regarding oversight, the board must determine:</a:t>
            </a:r>
          </a:p>
          <a:p>
            <a:pPr marL="1208088" lvl="2" eaLnBrk="1" hangingPunct="1">
              <a:spcBef>
                <a:spcPct val="0"/>
              </a:spcBef>
              <a:buSzPct val="25000"/>
            </a:pPr>
            <a:r>
              <a:rPr lang="en-US"/>
              <a:t>Is the organization committed to planning?</a:t>
            </a:r>
          </a:p>
          <a:p>
            <a:pPr marL="1208088" lvl="2" eaLnBrk="1" hangingPunct="1">
              <a:spcBef>
                <a:spcPct val="0"/>
              </a:spcBef>
              <a:buSzPct val="25000"/>
            </a:pPr>
            <a:r>
              <a:rPr lang="en-US"/>
              <a:t>Are plans used to evaluate progress and outcomes? board effectiveness?</a:t>
            </a:r>
          </a:p>
          <a:p>
            <a:pPr marL="1208088" lvl="2" eaLnBrk="1" hangingPunct="1">
              <a:spcBef>
                <a:spcPct val="0"/>
              </a:spcBef>
              <a:buSzPct val="25000"/>
            </a:pPr>
            <a:r>
              <a:rPr lang="en-US"/>
              <a:t>Are there clear, written role descriptions for board members? For the ED?</a:t>
            </a:r>
          </a:p>
          <a:p>
            <a:pPr marL="1208088" lvl="2" eaLnBrk="1" hangingPunct="1">
              <a:spcBef>
                <a:spcPct val="0"/>
              </a:spcBef>
              <a:buSzPct val="25000"/>
            </a:pPr>
            <a:r>
              <a:rPr lang="en-US"/>
              <a:t>Do we evaluate performance regularly?</a:t>
            </a:r>
          </a:p>
          <a:p>
            <a:pPr marL="1208088" lvl="2" eaLnBrk="1" hangingPunct="1">
              <a:spcBef>
                <a:spcPct val="0"/>
              </a:spcBef>
              <a:buSzPct val="25000"/>
            </a:pPr>
            <a:r>
              <a:rPr lang="en-US"/>
              <a:t>How do we distinguish between board-staff responsibilities? Where is overlap?</a:t>
            </a:r>
          </a:p>
          <a:p>
            <a:pPr marL="1208088" lvl="2" eaLnBrk="1" hangingPunct="1">
              <a:spcBef>
                <a:spcPct val="0"/>
              </a:spcBef>
              <a:buSzPct val="25000"/>
            </a:pPr>
            <a:r>
              <a:rPr lang="en-US"/>
              <a:t>Do we have a code of ethics? Conflict of interest policy? Last revised when?</a:t>
            </a:r>
          </a:p>
          <a:p>
            <a:pPr marL="187325" eaLnBrk="1" hangingPunct="1">
              <a:spcBef>
                <a:spcPct val="0"/>
              </a:spcBef>
              <a:buSzPct val="25000"/>
            </a:pPr>
            <a:r>
              <a:rPr lang="en-US"/>
              <a:t>Resources	Among the elements regarding resources, the board must determine:</a:t>
            </a:r>
          </a:p>
          <a:p>
            <a:pPr marL="1208088" lvl="2" eaLnBrk="1" hangingPunct="1">
              <a:spcBef>
                <a:spcPct val="0"/>
              </a:spcBef>
              <a:buSzPct val="25000"/>
            </a:pPr>
            <a:r>
              <a:rPr lang="en-US"/>
              <a:t>Do we have a fund-raising strategy? Do we educate members about it? </a:t>
            </a:r>
          </a:p>
          <a:p>
            <a:pPr marL="1208088" lvl="2" eaLnBrk="1" hangingPunct="1">
              <a:spcBef>
                <a:spcPct val="0"/>
              </a:spcBef>
              <a:buSzPct val="25000"/>
            </a:pPr>
            <a:r>
              <a:rPr lang="en-US"/>
              <a:t>Does every member contribute financially every year?</a:t>
            </a:r>
          </a:p>
          <a:p>
            <a:pPr marL="1208088" lvl="2" eaLnBrk="1" hangingPunct="1">
              <a:spcBef>
                <a:spcPct val="0"/>
              </a:spcBef>
              <a:buSzPct val="25000"/>
            </a:pPr>
            <a:r>
              <a:rPr lang="en-US"/>
              <a:t>Does board review complete financial reports regularly? Do they ask questions?</a:t>
            </a:r>
          </a:p>
          <a:p>
            <a:pPr marL="1208088" lvl="2" eaLnBrk="1" hangingPunct="1">
              <a:spcBef>
                <a:spcPct val="0"/>
              </a:spcBef>
              <a:buSzPct val="25000"/>
            </a:pPr>
            <a:r>
              <a:rPr lang="en-US"/>
              <a:t>What internal controls are in place to guard against potential fraud/abuse?</a:t>
            </a:r>
          </a:p>
          <a:p>
            <a:pPr marL="1208088" lvl="2" eaLnBrk="1" hangingPunct="1">
              <a:spcBef>
                <a:spcPct val="0"/>
              </a:spcBef>
              <a:buSzPct val="25000"/>
            </a:pPr>
            <a:r>
              <a:rPr lang="en-US"/>
              <a:t>Are investment policies consistent with our values, financial situation &amp; goals?</a:t>
            </a:r>
          </a:p>
          <a:p>
            <a:pPr marL="1208088" lvl="2" eaLnBrk="1" hangingPunct="1">
              <a:spcBef>
                <a:spcPct val="0"/>
              </a:spcBef>
              <a:buSzPct val="25000"/>
            </a:pPr>
            <a:r>
              <a:rPr lang="en-US"/>
              <a:t>How does the board assure that the agency has a sufficient quantity of volunteers to assist with operations and administration?</a:t>
            </a:r>
          </a:p>
          <a:p>
            <a:pPr marL="1208088" lvl="2" eaLnBrk="1" hangingPunct="1">
              <a:spcBef>
                <a:spcPct val="0"/>
              </a:spcBef>
              <a:buSzPct val="25000"/>
            </a:pPr>
            <a:r>
              <a:rPr lang="en-US"/>
              <a:t>How does the board assure that the volunteers are well trained and effective?</a:t>
            </a:r>
          </a:p>
          <a:p>
            <a:pPr marL="187325" eaLnBrk="1" hangingPunct="1">
              <a:spcBef>
                <a:spcPct val="0"/>
              </a:spcBef>
              <a:buSzPct val="25000"/>
            </a:pPr>
            <a:r>
              <a:rPr lang="en-US"/>
              <a:t>Outreach	Among the elements regarding outreach, the board must determine:</a:t>
            </a:r>
          </a:p>
          <a:p>
            <a:pPr marL="1208088" lvl="2" eaLnBrk="1" hangingPunct="1">
              <a:spcBef>
                <a:spcPct val="0"/>
              </a:spcBef>
              <a:buSzPct val="25000"/>
            </a:pPr>
            <a:r>
              <a:rPr lang="en-US"/>
              <a:t>Do our community stakeholders understand our mission? </a:t>
            </a:r>
          </a:p>
          <a:p>
            <a:pPr marL="1208088" lvl="2" eaLnBrk="1" hangingPunct="1">
              <a:spcBef>
                <a:spcPct val="0"/>
              </a:spcBef>
              <a:buSzPct val="25000"/>
            </a:pPr>
            <a:r>
              <a:rPr lang="en-US"/>
              <a:t>Is the mission still relevant to the needs of the community?</a:t>
            </a:r>
          </a:p>
          <a:p>
            <a:pPr marL="1208088" lvl="2" eaLnBrk="1" hangingPunct="1">
              <a:spcBef>
                <a:spcPct val="0"/>
              </a:spcBef>
              <a:buSzPct val="25000"/>
            </a:pPr>
            <a:r>
              <a:rPr lang="en-US"/>
              <a:t>Does the board support and promote our outreach activities?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30724" name="Slide Number Placeholder 3"/>
          <p:cNvSpPr>
            <a:spLocks noGrp="1"/>
          </p:cNvSpPr>
          <p:nvPr>
            <p:ph type="sldNum" sz="quarter" idx="5"/>
          </p:nvPr>
        </p:nvSpPr>
        <p:spPr bwMode="auto">
          <a:noFill/>
          <a:ln>
            <a:miter lim="800000"/>
            <a:headEnd/>
            <a:tailEnd/>
          </a:ln>
        </p:spPr>
        <p:txBody>
          <a:bodyPr/>
          <a:lstStyle/>
          <a:p>
            <a:fld id="{4BC96764-FD24-6A4B-9C8C-94AC02E7EA89}" type="slidenum">
              <a:rPr lang="en-US">
                <a:latin typeface="Arial" pitchFamily="4" charset="-52"/>
              </a:rPr>
              <a:pPr/>
              <a:t>12</a:t>
            </a:fld>
            <a:endParaRPr lang="en-US">
              <a:latin typeface="Arial" pitchFamily="4" charset="-5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Shape 185"/>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21D5BD0D-8E15-0C43-9F44-BA9E47CD590F}" type="slidenum">
              <a:rPr lang="en-US" sz="1300">
                <a:solidFill>
                  <a:srgbClr val="000000"/>
                </a:solidFill>
                <a:latin typeface="Calibri" pitchFamily="4" charset="0"/>
                <a:sym typeface="Calibri" pitchFamily="4" charset="0"/>
              </a:rPr>
              <a:pPr algn="r" eaLnBrk="1" hangingPunct="1">
                <a:buClr>
                  <a:srgbClr val="000000"/>
                </a:buClr>
                <a:buSzPct val="25000"/>
              </a:pPr>
              <a:t>13</a:t>
            </a:fld>
            <a:endParaRPr lang="en-US" sz="1300">
              <a:solidFill>
                <a:srgbClr val="000000"/>
              </a:solidFill>
              <a:latin typeface="Calibri" pitchFamily="4" charset="0"/>
              <a:sym typeface="Calibri" pitchFamily="4" charset="0"/>
            </a:endParaRPr>
          </a:p>
        </p:txBody>
      </p:sp>
      <p:sp>
        <p:nvSpPr>
          <p:cNvPr id="32771" name="Shape 186"/>
          <p:cNvSpPr>
            <a:spLocks noGrp="1" noRot="1" noChangeAspect="1" noTextEdit="1"/>
          </p:cNvSpPr>
          <p:nvPr>
            <p:ph type="sldImg" idx="2"/>
          </p:nvPr>
        </p:nvSpPr>
        <p:spPr bwMode="auto">
          <a:noFill/>
          <a:ln w="9525">
            <a:solidFill>
              <a:srgbClr val="000000"/>
            </a:solidFill>
            <a:miter lim="800000"/>
            <a:headEnd/>
            <a:tailEnd/>
          </a:ln>
        </p:spPr>
      </p:sp>
      <p:sp>
        <p:nvSpPr>
          <p:cNvPr id="32772" name="Shape 187"/>
          <p:cNvSpPr>
            <a:spLocks noGrp="1"/>
          </p:cNvSpPr>
          <p:nvPr>
            <p:ph type="body" idx="1"/>
          </p:nvPr>
        </p:nvSpPr>
        <p:spPr bwMode="auto">
          <a:xfrm>
            <a:off x="201613" y="3295650"/>
            <a:ext cx="6880225" cy="3376613"/>
          </a:xfrm>
          <a:noFill/>
        </p:spPr>
        <p:txBody>
          <a:bodyPr wrap="square" tIns="48309" bIns="48309" numCol="1" anchor="t" anchorCtr="0" compatLnSpc="1">
            <a:prstTxWarp prst="textNoShape">
              <a:avLst/>
            </a:prstTxWarp>
          </a:bodyPr>
          <a:lstStyle/>
          <a:p>
            <a:pPr eaLnBrk="1" hangingPunct="1">
              <a:lnSpc>
                <a:spcPct val="80000"/>
              </a:lnSpc>
              <a:spcBef>
                <a:spcPct val="0"/>
              </a:spcBef>
            </a:pPr>
            <a:endParaRPr lang="en-US" sz="1300"/>
          </a:p>
          <a:p>
            <a:pPr eaLnBrk="1" hangingPunct="1">
              <a:lnSpc>
                <a:spcPct val="80000"/>
              </a:lnSpc>
              <a:spcBef>
                <a:spcPts val="1338"/>
              </a:spcBef>
              <a:buSzPct val="25000"/>
            </a:pPr>
            <a:r>
              <a:rPr lang="en-US" sz="1300"/>
              <a:t>Organizational Structure</a:t>
            </a:r>
          </a:p>
          <a:p>
            <a:pPr eaLnBrk="1" hangingPunct="1">
              <a:lnSpc>
                <a:spcPct val="80000"/>
              </a:lnSpc>
              <a:spcBef>
                <a:spcPts val="1338"/>
              </a:spcBef>
              <a:buSzPct val="25000"/>
            </a:pPr>
            <a:r>
              <a:rPr lang="en-US" sz="1300"/>
              <a:t>Board – responsible for the strategic guidance and leadership of the organization</a:t>
            </a:r>
          </a:p>
          <a:p>
            <a:pPr eaLnBrk="1" hangingPunct="1">
              <a:lnSpc>
                <a:spcPct val="80000"/>
              </a:lnSpc>
              <a:spcBef>
                <a:spcPts val="1338"/>
              </a:spcBef>
              <a:buSzPct val="25000"/>
            </a:pPr>
            <a:r>
              <a:rPr lang="en-US" sz="1300"/>
              <a:t>ED – responsible for the strategic direction and the execution of the tactics needed to meet the strategic goals</a:t>
            </a:r>
          </a:p>
          <a:p>
            <a:pPr eaLnBrk="1" hangingPunct="1">
              <a:lnSpc>
                <a:spcPct val="80000"/>
              </a:lnSpc>
              <a:spcBef>
                <a:spcPts val="1338"/>
              </a:spcBef>
              <a:buSzPct val="25000"/>
            </a:pPr>
            <a:r>
              <a:rPr lang="en-US" sz="1300"/>
              <a:t>Staff – execute the tactics</a:t>
            </a:r>
          </a:p>
          <a:p>
            <a:pPr eaLnBrk="1" hangingPunct="1">
              <a:lnSpc>
                <a:spcPct val="80000"/>
              </a:lnSpc>
              <a:spcBef>
                <a:spcPts val="1338"/>
              </a:spcBef>
            </a:pPr>
            <a:endParaRPr lang="en-US" sz="1300"/>
          </a:p>
          <a:p>
            <a:pPr eaLnBrk="1" hangingPunct="1">
              <a:lnSpc>
                <a:spcPct val="80000"/>
              </a:lnSpc>
              <a:spcBef>
                <a:spcPts val="1338"/>
              </a:spcBef>
              <a:buSzPct val="25000"/>
            </a:pPr>
            <a:r>
              <a:rPr lang="en-US" sz="1300"/>
              <a:t>NOTE – this is a very “cut and dry” distribution of responsibility. It’s important to note that the size, age, and stage of development of each organization can cause this shift. For example, when you have a very small, all volunteer run np, then the board must take on “staff “ responsibilities and do some of the work.  In larger, more established (institutional) settings, this approach is very appropriate. In the in between organizations, this process can be much more fluid and needs to be utilized in a way that allows the organization to meet its strategic goals.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Shape 194"/>
          <p:cNvSpPr txBox="1">
            <a:spLocks noChangeArrowheads="1"/>
          </p:cNvSpPr>
          <p:nvPr/>
        </p:nvSpPr>
        <p:spPr bwMode="auto">
          <a:xfrm>
            <a:off x="4146550" y="9120188"/>
            <a:ext cx="3168650" cy="481012"/>
          </a:xfrm>
          <a:prstGeom prst="rect">
            <a:avLst/>
          </a:prstGeom>
          <a:noFill/>
          <a:ln w="9525">
            <a:noFill/>
            <a:miter lim="800000"/>
            <a:headEnd/>
            <a:tailEnd/>
          </a:ln>
        </p:spPr>
        <p:txBody>
          <a:bodyPr lIns="96857" tIns="48415" rIns="96857" bIns="48415" anchor="b">
            <a:prstTxWarp prst="textNoShape">
              <a:avLst/>
            </a:prstTxWarp>
          </a:bodyPr>
          <a:lstStyle/>
          <a:p>
            <a:pPr algn="r" eaLnBrk="1" hangingPunct="1">
              <a:buClr>
                <a:srgbClr val="000000"/>
              </a:buClr>
              <a:buSzPct val="25000"/>
            </a:pPr>
            <a:fld id="{4CA0F968-C4AB-3747-AB35-0A230CA41994}" type="slidenum">
              <a:rPr lang="en-US" sz="1100">
                <a:solidFill>
                  <a:srgbClr val="000000"/>
                </a:solidFill>
                <a:latin typeface="Times New Roman" pitchFamily="4" charset="0"/>
                <a:ea typeface="Times New Roman" pitchFamily="4" charset="0"/>
                <a:cs typeface="Times New Roman" pitchFamily="4" charset="0"/>
                <a:sym typeface="Times New Roman" pitchFamily="4" charset="0"/>
              </a:rPr>
              <a:pPr algn="r" eaLnBrk="1" hangingPunct="1">
                <a:buClr>
                  <a:srgbClr val="000000"/>
                </a:buClr>
                <a:buSzPct val="25000"/>
              </a:pPr>
              <a:t>14</a:t>
            </a:fld>
            <a:endParaRPr lang="en-US" sz="1100">
              <a:solidFill>
                <a:srgbClr val="000000"/>
              </a:solidFill>
              <a:latin typeface="Times New Roman" pitchFamily="4" charset="0"/>
              <a:ea typeface="Times New Roman" pitchFamily="4" charset="0"/>
              <a:cs typeface="Times New Roman" pitchFamily="4" charset="0"/>
              <a:sym typeface="Times New Roman" pitchFamily="4" charset="0"/>
            </a:endParaRPr>
          </a:p>
        </p:txBody>
      </p:sp>
      <p:sp>
        <p:nvSpPr>
          <p:cNvPr id="34819" name="Shape 195"/>
          <p:cNvSpPr>
            <a:spLocks noGrp="1" noRot="1" noChangeAspect="1" noTextEdit="1"/>
          </p:cNvSpPr>
          <p:nvPr>
            <p:ph type="sldImg" idx="2"/>
          </p:nvPr>
        </p:nvSpPr>
        <p:spPr bwMode="auto">
          <a:xfrm>
            <a:off x="250825" y="206375"/>
            <a:ext cx="4237038" cy="3178175"/>
          </a:xfrm>
          <a:custGeom>
            <a:avLst/>
            <a:gdLst>
              <a:gd name="T0" fmla="*/ 0 w 120000"/>
              <a:gd name="T1" fmla="*/ 0 h 120000"/>
              <a:gd name="T2" fmla="*/ 2147483647 w 120000"/>
              <a:gd name="T3" fmla="*/ 0 h 120000"/>
              <a:gd name="T4" fmla="*/ 2147483647 w 120000"/>
              <a:gd name="T5" fmla="*/ 2147483647 h 120000"/>
              <a:gd name="T6" fmla="*/ 0 w 120000"/>
              <a:gd name="T7" fmla="*/ 2147483647 h 120000"/>
              <a:gd name="T8" fmla="*/ 0 60000 65536"/>
              <a:gd name="T9" fmla="*/ 0 60000 65536"/>
              <a:gd name="T10" fmla="*/ 0 60000 65536"/>
              <a:gd name="T11" fmla="*/ 0 60000 65536"/>
              <a:gd name="T12" fmla="*/ 0 w 120000"/>
              <a:gd name="T13" fmla="*/ 0 h 120000"/>
              <a:gd name="T14" fmla="*/ 120000 w 120000"/>
              <a:gd name="T15" fmla="*/ 120000 h 120000"/>
            </a:gdLst>
            <a:ahLst/>
            <a:cxnLst>
              <a:cxn ang="T8">
                <a:pos x="T0" y="T1"/>
              </a:cxn>
              <a:cxn ang="T9">
                <a:pos x="T2" y="T3"/>
              </a:cxn>
              <a:cxn ang="T10">
                <a:pos x="T4" y="T5"/>
              </a:cxn>
              <a:cxn ang="T11">
                <a:pos x="T6" y="T7"/>
              </a:cxn>
            </a:cxnLst>
            <a:rect l="T12" t="T13" r="T14" b="T15"/>
            <a:pathLst>
              <a:path w="120000" h="120000" extrusionOk="0">
                <a:moveTo>
                  <a:pt x="0" y="0"/>
                </a:moveTo>
                <a:lnTo>
                  <a:pt x="120000" y="0"/>
                </a:lnTo>
                <a:lnTo>
                  <a:pt x="120000" y="120000"/>
                </a:lnTo>
                <a:lnTo>
                  <a:pt x="0" y="120000"/>
                </a:lnTo>
                <a:lnTo>
                  <a:pt x="0" y="0"/>
                </a:lnTo>
                <a:close/>
              </a:path>
            </a:pathLst>
          </a:custGeom>
          <a:solidFill>
            <a:srgbClr val="FFFFFF"/>
          </a:solidFill>
          <a:ln w="9525">
            <a:solidFill>
              <a:srgbClr val="000000"/>
            </a:solidFill>
            <a:round/>
            <a:headEnd/>
            <a:tailEnd/>
          </a:ln>
        </p:spPr>
      </p:sp>
      <p:sp>
        <p:nvSpPr>
          <p:cNvPr id="13316" name="Shape 196"/>
          <p:cNvSpPr txBox="1">
            <a:spLocks noGrp="1"/>
          </p:cNvSpPr>
          <p:nvPr>
            <p:ph type="body" idx="1"/>
          </p:nvPr>
        </p:nvSpPr>
        <p:spPr bwMode="auto">
          <a:xfrm>
            <a:off x="201613" y="3644900"/>
            <a:ext cx="6951662" cy="2147888"/>
          </a:xfrm>
          <a:ln cap="flat">
            <a:solidFill>
              <a:srgbClr val="000000"/>
            </a:solidFill>
            <a:miter lim="800000"/>
            <a:headEnd type="none" w="med" len="med"/>
            <a:tailEnd type="none" w="med" len="med"/>
          </a:ln>
          <a:extLst/>
        </p:spPr>
        <p:txBody>
          <a:bodyPr wrap="square" lIns="97650" tIns="48812" rIns="97650" bIns="48812" numCol="1" anchor="t" compatLnSpc="1">
            <a:prstTxWarp prst="textNoShape">
              <a:avLst/>
            </a:prstTxWarp>
            <a:normAutofit fontScale="77500" lnSpcReduction="20000"/>
          </a:bodyPr>
          <a:lstStyle/>
          <a:p>
            <a:pPr eaLnBrk="1" hangingPunct="1">
              <a:spcBef>
                <a:spcPct val="0"/>
              </a:spcBef>
              <a:buSzPct val="25000"/>
              <a:defRPr/>
            </a:pPr>
            <a:r>
              <a:rPr lang="en-US" altLang="en-US" sz="1900">
                <a:cs typeface="+mn-cs"/>
              </a:rPr>
              <a:t>Examples:</a:t>
            </a:r>
          </a:p>
          <a:p>
            <a:pPr eaLnBrk="1" hangingPunct="1">
              <a:spcBef>
                <a:spcPct val="0"/>
              </a:spcBef>
              <a:defRPr/>
            </a:pPr>
            <a:endParaRPr lang="en-US" altLang="en-US" sz="1900">
              <a:cs typeface="+mn-cs"/>
            </a:endParaRPr>
          </a:p>
          <a:p>
            <a:pPr eaLnBrk="1" hangingPunct="1">
              <a:spcBef>
                <a:spcPct val="0"/>
              </a:spcBef>
              <a:buSzPct val="25000"/>
              <a:defRPr/>
            </a:pPr>
            <a:r>
              <a:rPr lang="en-US" altLang="en-US" sz="1900" b="1">
                <a:cs typeface="+mn-cs"/>
              </a:rPr>
              <a:t>Summer theater groups may operate indefinitely in the style of a founding board because the services they offer can be handled entirely by volunteers.</a:t>
            </a:r>
          </a:p>
          <a:p>
            <a:pPr eaLnBrk="1" hangingPunct="1">
              <a:spcBef>
                <a:spcPct val="0"/>
              </a:spcBef>
              <a:defRPr/>
            </a:pPr>
            <a:endParaRPr lang="en-US" altLang="en-US" sz="1900" b="1">
              <a:cs typeface="+mn-cs"/>
            </a:endParaRPr>
          </a:p>
          <a:p>
            <a:pPr eaLnBrk="1" hangingPunct="1">
              <a:spcBef>
                <a:spcPct val="0"/>
              </a:spcBef>
              <a:buSzPct val="25000"/>
              <a:defRPr/>
            </a:pPr>
            <a:r>
              <a:rPr lang="en-US" altLang="en-US" sz="1900" b="1">
                <a:cs typeface="+mn-cs"/>
              </a:rPr>
              <a:t>State-funded social service organizations that have a need to obtain their own separate funding may decide to take on an institutional style board to commit several members to raising resources without affecting regular oversight of operations.</a:t>
            </a:r>
          </a:p>
          <a:p>
            <a:pPr eaLnBrk="1" hangingPunct="1">
              <a:spcBef>
                <a:spcPct val="0"/>
              </a:spcBef>
              <a:defRPr/>
            </a:pPr>
            <a:endParaRPr lang="en-US" altLang="en-US" sz="1900">
              <a:cs typeface="+mn-cs"/>
            </a:endParaRPr>
          </a:p>
          <a:p>
            <a:pPr eaLnBrk="1" hangingPunct="1">
              <a:spcBef>
                <a:spcPct val="0"/>
              </a:spcBef>
              <a:buSzPct val="25000"/>
              <a:defRPr/>
            </a:pPr>
            <a:r>
              <a:rPr lang="en-US" altLang="en-US" sz="1900" b="1">
                <a:cs typeface="+mn-cs"/>
              </a:rPr>
              <a:t>Note: A board may be transitioning from one style to another to adjust to a changing situation.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Shape 170"/>
          <p:cNvSpPr txBox="1">
            <a:spLocks noChangeArrowheads="1"/>
          </p:cNvSpPr>
          <p:nvPr/>
        </p:nvSpPr>
        <p:spPr bwMode="auto">
          <a:xfrm>
            <a:off x="0"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eaLnBrk="1" hangingPunct="1">
              <a:buClr>
                <a:srgbClr val="000000"/>
              </a:buClr>
              <a:buSzPct val="25000"/>
            </a:pPr>
            <a:r>
              <a:rPr lang="en-US" sz="1300">
                <a:solidFill>
                  <a:srgbClr val="000000"/>
                </a:solidFill>
                <a:latin typeface="Calibri" pitchFamily="4" charset="0"/>
                <a:sym typeface="Calibri" pitchFamily="4" charset="0"/>
              </a:rPr>
              <a:t>May 3, 2007</a:t>
            </a:r>
          </a:p>
        </p:txBody>
      </p:sp>
      <p:sp>
        <p:nvSpPr>
          <p:cNvPr id="36867" name="Shape 171"/>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2481BF50-09F4-054F-B32D-016EE7AA0771}" type="slidenum">
              <a:rPr lang="en-US" sz="1300">
                <a:solidFill>
                  <a:srgbClr val="000000"/>
                </a:solidFill>
                <a:latin typeface="Calibri" pitchFamily="4" charset="0"/>
                <a:sym typeface="Calibri" pitchFamily="4" charset="0"/>
              </a:rPr>
              <a:pPr algn="r" eaLnBrk="1" hangingPunct="1">
                <a:buClr>
                  <a:srgbClr val="000000"/>
                </a:buClr>
                <a:buSzPct val="25000"/>
              </a:pPr>
              <a:t>15</a:t>
            </a:fld>
            <a:endParaRPr lang="en-US" sz="1300">
              <a:solidFill>
                <a:srgbClr val="000000"/>
              </a:solidFill>
              <a:latin typeface="Calibri" pitchFamily="4" charset="0"/>
              <a:sym typeface="Calibri" pitchFamily="4" charset="0"/>
            </a:endParaRPr>
          </a:p>
        </p:txBody>
      </p:sp>
      <p:sp>
        <p:nvSpPr>
          <p:cNvPr id="36868" name="Shape 172"/>
          <p:cNvSpPr>
            <a:spLocks noGrp="1" noRot="1" noChangeAspect="1" noTextEdit="1"/>
          </p:cNvSpPr>
          <p:nvPr>
            <p:ph type="sldImg" idx="2"/>
          </p:nvPr>
        </p:nvSpPr>
        <p:spPr bwMode="auto">
          <a:noFill/>
          <a:ln w="9525">
            <a:solidFill>
              <a:srgbClr val="000000"/>
            </a:solidFill>
            <a:miter lim="800000"/>
            <a:headEnd/>
            <a:tailEnd/>
          </a:ln>
        </p:spPr>
      </p:sp>
      <p:sp>
        <p:nvSpPr>
          <p:cNvPr id="36869" name="Shape 173"/>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4" name="Shape 224"/>
          <p:cNvSpPr txBox="1">
            <a:spLocks noChangeArrowheads="1"/>
          </p:cNvSpPr>
          <p:nvPr/>
        </p:nvSpPr>
        <p:spPr bwMode="auto">
          <a:xfrm>
            <a:off x="0"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eaLnBrk="1" hangingPunct="1">
              <a:buClr>
                <a:srgbClr val="000000"/>
              </a:buClr>
              <a:buSzPct val="25000"/>
            </a:pPr>
            <a:r>
              <a:rPr lang="en-US" sz="1300">
                <a:solidFill>
                  <a:srgbClr val="000000"/>
                </a:solidFill>
                <a:latin typeface="Calibri" pitchFamily="4" charset="0"/>
                <a:sym typeface="Calibri" pitchFamily="4" charset="0"/>
              </a:rPr>
              <a:t>May 3, 2007</a:t>
            </a:r>
          </a:p>
        </p:txBody>
      </p:sp>
      <p:sp>
        <p:nvSpPr>
          <p:cNvPr id="38915" name="Shape 225"/>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DF775800-DB74-5C4D-A202-BFF930171C4D}" type="slidenum">
              <a:rPr lang="en-US" sz="1300">
                <a:solidFill>
                  <a:srgbClr val="000000"/>
                </a:solidFill>
                <a:latin typeface="Calibri" pitchFamily="4" charset="0"/>
                <a:sym typeface="Calibri" pitchFamily="4" charset="0"/>
              </a:rPr>
              <a:pPr algn="r" eaLnBrk="1" hangingPunct="1">
                <a:buClr>
                  <a:srgbClr val="000000"/>
                </a:buClr>
                <a:buSzPct val="25000"/>
              </a:pPr>
              <a:t>16</a:t>
            </a:fld>
            <a:endParaRPr lang="en-US" sz="1300">
              <a:solidFill>
                <a:srgbClr val="000000"/>
              </a:solidFill>
              <a:latin typeface="Calibri" pitchFamily="4" charset="0"/>
              <a:sym typeface="Calibri" pitchFamily="4" charset="0"/>
            </a:endParaRPr>
          </a:p>
        </p:txBody>
      </p:sp>
      <p:sp>
        <p:nvSpPr>
          <p:cNvPr id="38916" name="Shape 226"/>
          <p:cNvSpPr>
            <a:spLocks noGrp="1" noRot="1" noChangeAspect="1" noTextEdit="1"/>
          </p:cNvSpPr>
          <p:nvPr>
            <p:ph type="sldImg" idx="2"/>
          </p:nvPr>
        </p:nvSpPr>
        <p:spPr bwMode="auto">
          <a:noFill/>
          <a:ln w="9525">
            <a:solidFill>
              <a:srgbClr val="000000"/>
            </a:solidFill>
            <a:miter lim="800000"/>
            <a:headEnd/>
            <a:tailEnd/>
          </a:ln>
        </p:spPr>
      </p:sp>
      <p:sp>
        <p:nvSpPr>
          <p:cNvPr id="38917" name="Shape 227"/>
          <p:cNvSpPr>
            <a:spLocks noGrp="1"/>
          </p:cNvSpPr>
          <p:nvPr>
            <p:ph type="body" idx="1"/>
          </p:nvPr>
        </p:nvSpPr>
        <p:spPr bwMode="auto">
          <a:xfrm>
            <a:off x="201613" y="3295650"/>
            <a:ext cx="6880225" cy="5927725"/>
          </a:xfrm>
          <a:noFill/>
        </p:spPr>
        <p:txBody>
          <a:bodyPr wrap="square" tIns="48309" bIns="48309" numCol="1" anchor="t" anchorCtr="0" compatLnSpc="1">
            <a:prstTxWarp prst="textNoShape">
              <a:avLst/>
            </a:prstTxWarp>
          </a:bodyPr>
          <a:lstStyle/>
          <a:p>
            <a:pPr eaLnBrk="1" hangingPunct="1">
              <a:lnSpc>
                <a:spcPct val="80000"/>
              </a:lnSpc>
              <a:spcBef>
                <a:spcPct val="0"/>
              </a:spcBef>
              <a:buSzPct val="25000"/>
            </a:pPr>
            <a:r>
              <a:rPr lang="en-US" sz="1600"/>
              <a:t>Revenue</a:t>
            </a:r>
          </a:p>
          <a:p>
            <a:pPr marL="0" lvl="1" eaLnBrk="1" hangingPunct="1">
              <a:lnSpc>
                <a:spcPct val="80000"/>
              </a:lnSpc>
              <a:spcBef>
                <a:spcPct val="0"/>
              </a:spcBef>
              <a:buSzPct val="25000"/>
            </a:pPr>
            <a:r>
              <a:rPr lang="en-US" sz="1600"/>
              <a:t>Restricted versus Unrestricted funding:</a:t>
            </a:r>
          </a:p>
          <a:p>
            <a:pPr marL="0" lvl="2" eaLnBrk="1" hangingPunct="1">
              <a:lnSpc>
                <a:spcPct val="80000"/>
              </a:lnSpc>
              <a:spcBef>
                <a:spcPct val="0"/>
              </a:spcBef>
              <a:buSzPct val="25000"/>
            </a:pPr>
            <a:r>
              <a:rPr lang="en-US" sz="1600" u="sng"/>
              <a:t>restricted funding</a:t>
            </a:r>
            <a:r>
              <a:rPr lang="en-US" sz="1600"/>
              <a:t> has detailed provisions for how the funding should be used, usually for delivery of a particular program or service.  (Ex: government funding, some foundation grants, contributions to capital campaigns)</a:t>
            </a:r>
          </a:p>
          <a:p>
            <a:pPr marL="0" lvl="2" eaLnBrk="1" hangingPunct="1">
              <a:lnSpc>
                <a:spcPct val="80000"/>
              </a:lnSpc>
              <a:spcBef>
                <a:spcPct val="0"/>
              </a:spcBef>
              <a:buSzPct val="25000"/>
            </a:pPr>
            <a:r>
              <a:rPr lang="en-US" sz="1600" u="sng"/>
              <a:t>unrestricted funding </a:t>
            </a:r>
            <a:r>
              <a:rPr lang="en-US" sz="1600"/>
              <a:t>can be applied to any area within the organization, such as general operating expenses, expansion of services to meet emerging community needs, development of new programs, or other expenses.</a:t>
            </a:r>
          </a:p>
          <a:p>
            <a:pPr marL="0" lvl="1" eaLnBrk="1" hangingPunct="1">
              <a:lnSpc>
                <a:spcPct val="80000"/>
              </a:lnSpc>
              <a:spcBef>
                <a:spcPct val="0"/>
              </a:spcBef>
              <a:buSzPct val="25000"/>
            </a:pPr>
            <a:r>
              <a:rPr lang="en-US" sz="1600"/>
              <a:t>There is a lot of competition for philanthropic contributions and an increased focus on evaluating effectiveness and efficiency of charitable organizations.  For example, www.CharityNavigator.org evaluates large charities and www.GuideStar.org provides online access to copies of nonprofit organizations’ tax returns</a:t>
            </a:r>
          </a:p>
          <a:p>
            <a:pPr marL="0" lvl="1" eaLnBrk="1" hangingPunct="1">
              <a:lnSpc>
                <a:spcPct val="80000"/>
              </a:lnSpc>
              <a:spcBef>
                <a:spcPct val="0"/>
              </a:spcBef>
              <a:buSzPct val="25000"/>
            </a:pPr>
            <a:r>
              <a:rPr lang="en-US" sz="1600"/>
              <a:t>Obtaining funding for capital expenditures may be a challenge</a:t>
            </a:r>
          </a:p>
          <a:p>
            <a:pPr marL="0" lvl="2" eaLnBrk="1" hangingPunct="1">
              <a:lnSpc>
                <a:spcPct val="80000"/>
              </a:lnSpc>
              <a:spcBef>
                <a:spcPct val="0"/>
              </a:spcBef>
              <a:buSzPct val="25000"/>
            </a:pPr>
            <a:r>
              <a:rPr lang="en-US" sz="1600"/>
              <a:t>Organizations must convince funders that capital expenditures are necessary for effective provision of services</a:t>
            </a:r>
          </a:p>
          <a:p>
            <a:pPr eaLnBrk="1" hangingPunct="1">
              <a:lnSpc>
                <a:spcPct val="80000"/>
              </a:lnSpc>
              <a:spcBef>
                <a:spcPts val="2925"/>
              </a:spcBef>
              <a:buSzPct val="25000"/>
            </a:pPr>
            <a:r>
              <a:rPr lang="en-US" sz="1600"/>
              <a:t>Governance and Accountability</a:t>
            </a:r>
          </a:p>
          <a:p>
            <a:pPr marL="0" lvl="1" eaLnBrk="1" hangingPunct="1">
              <a:lnSpc>
                <a:spcPct val="80000"/>
              </a:lnSpc>
              <a:spcBef>
                <a:spcPct val="0"/>
              </a:spcBef>
              <a:buSzPct val="25000"/>
            </a:pPr>
            <a:r>
              <a:rPr lang="en-US" sz="1600"/>
              <a:t>There is a growing trend to ensure accountability, especially in the wake of recent scandals within corporations and prominent nonprofits.</a:t>
            </a:r>
          </a:p>
          <a:p>
            <a:pPr marL="0" lvl="1" eaLnBrk="1" hangingPunct="1">
              <a:lnSpc>
                <a:spcPct val="80000"/>
              </a:lnSpc>
              <a:spcBef>
                <a:spcPct val="0"/>
              </a:spcBef>
              <a:buSzPct val="25000"/>
            </a:pPr>
            <a:r>
              <a:rPr lang="en-US" sz="1600"/>
              <a:t>In June 2005, Independent Sector, a nonprofit organization working to strengthen the nonprofit sector, released its report to Congress and the Nonprofit Sector, which includes recommendations to strengthen the accountability of charities and foundations.  The report included input from thousands of individuals involved with nonprofit organizations across the United States. It can be found at www.nonprofitpanel.org/final/Panel_Final_Report.pdf  </a:t>
            </a:r>
          </a:p>
          <a:p>
            <a:pPr marL="0" lvl="1" algn="r" eaLnBrk="1" hangingPunct="1">
              <a:lnSpc>
                <a:spcPct val="80000"/>
              </a:lnSpc>
              <a:spcBef>
                <a:spcPct val="0"/>
              </a:spcBef>
              <a:buSzPct val="25000"/>
            </a:pPr>
            <a:r>
              <a:rPr lang="en-US" sz="1600" i="1"/>
              <a:t>Adopted from:Note on Starting a Nonprofit Venture, by J. Gregory Dees &amp; Alice Oberfield (1991)</a:t>
            </a:r>
          </a:p>
        </p:txBody>
      </p:sp>
      <p:sp>
        <p:nvSpPr>
          <p:cNvPr id="38918" name="Shape 228"/>
          <p:cNvSpPr txBox="1">
            <a:spLocks noChangeArrowheads="1"/>
          </p:cNvSpPr>
          <p:nvPr/>
        </p:nvSpPr>
        <p:spPr bwMode="auto">
          <a:xfrm>
            <a:off x="4662488" y="300038"/>
            <a:ext cx="2492375" cy="1003300"/>
          </a:xfrm>
          <a:prstGeom prst="rect">
            <a:avLst/>
          </a:prstGeom>
          <a:noFill/>
          <a:ln w="9525">
            <a:noFill/>
            <a:miter lim="800000"/>
            <a:headEnd/>
            <a:tailEnd/>
          </a:ln>
        </p:spPr>
        <p:txBody>
          <a:bodyPr lIns="96064" tIns="48019" rIns="96064" bIns="48019">
            <a:prstTxWarp prst="textNoShape">
              <a:avLst/>
            </a:prstTxWarp>
          </a:bodyPr>
          <a:lstStyle/>
          <a:p>
            <a:pPr eaLnBrk="1" hangingPunct="1">
              <a:buClr>
                <a:srgbClr val="000000"/>
              </a:buClr>
              <a:buSzPct val="25000"/>
            </a:pPr>
            <a:r>
              <a:rPr lang="en-US" sz="1200">
                <a:solidFill>
                  <a:srgbClr val="000000"/>
                </a:solidFill>
              </a:rPr>
              <a:t>Speaker:</a:t>
            </a:r>
            <a:r>
              <a:rPr lang="en-US" sz="1200">
                <a:solidFill>
                  <a:srgbClr val="FF0000"/>
                </a:solidFill>
              </a:rPr>
              <a:t>	Jeanne Waldinger</a:t>
            </a:r>
          </a:p>
          <a:p>
            <a:pPr eaLnBrk="1" hangingPunct="1">
              <a:buClr>
                <a:srgbClr val="000000"/>
              </a:buClr>
              <a:buSzPct val="25000"/>
            </a:pPr>
            <a:r>
              <a:rPr lang="en-US" sz="1200">
                <a:solidFill>
                  <a:srgbClr val="000000"/>
                </a:solidFill>
              </a:rPr>
              <a:t>Subject: 	About Nonprofit Sector</a:t>
            </a:r>
          </a:p>
          <a:p>
            <a:pPr eaLnBrk="1" hangingPunct="1">
              <a:buClr>
                <a:srgbClr val="000000"/>
              </a:buClr>
              <a:buSzPct val="25000"/>
            </a:pPr>
            <a:r>
              <a:rPr lang="en-US" sz="1200">
                <a:solidFill>
                  <a:srgbClr val="000000"/>
                </a:solidFill>
              </a:rPr>
              <a:t>Time: 	9:45-10:05</a:t>
            </a:r>
          </a:p>
          <a:p>
            <a:pPr eaLnBrk="1" hangingPunct="1">
              <a:spcBef>
                <a:spcPts val="175"/>
              </a:spcBef>
              <a:buClr>
                <a:srgbClr val="000000"/>
              </a:buClr>
              <a:buSzPct val="25000"/>
            </a:pPr>
            <a:r>
              <a:rPr lang="en-US" sz="1200">
                <a:solidFill>
                  <a:srgbClr val="000000"/>
                </a:solidFill>
              </a:rPr>
              <a:t>Slides: 	16-20</a:t>
            </a:r>
          </a:p>
          <a:p>
            <a:pPr eaLnBrk="1" hangingPunct="1">
              <a:buClr>
                <a:srgbClr val="000000"/>
              </a:buClr>
              <a:buSzPct val="25000"/>
            </a:pPr>
            <a:r>
              <a:rPr lang="en-US" sz="1200">
                <a:solidFill>
                  <a:srgbClr val="000000"/>
                </a:solidFill>
              </a:rPr>
              <a:t>Tools: 	none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Shape 217"/>
          <p:cNvSpPr>
            <a:spLocks noGrp="1" noRot="1" noChangeAspect="1" noTextEdit="1"/>
          </p:cNvSpPr>
          <p:nvPr>
            <p:ph type="sldImg" idx="2"/>
          </p:nvPr>
        </p:nvSpPr>
        <p:spPr bwMode="auto">
          <a:noFill/>
          <a:ln w="9525">
            <a:solidFill>
              <a:srgbClr val="000000"/>
            </a:solidFill>
            <a:miter lim="800000"/>
            <a:headEnd/>
            <a:tailEnd/>
          </a:ln>
        </p:spPr>
      </p:sp>
      <p:sp>
        <p:nvSpPr>
          <p:cNvPr id="40963" name="Shape 218"/>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
        <p:nvSpPr>
          <p:cNvPr id="40964" name="Shape 219"/>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CD008194-F0C4-9349-9108-893E5C5555CD}" type="slidenum">
              <a:rPr lang="en-US" sz="1300">
                <a:solidFill>
                  <a:srgbClr val="000000"/>
                </a:solidFill>
                <a:latin typeface="Calibri" pitchFamily="4" charset="0"/>
                <a:sym typeface="Calibri" pitchFamily="4" charset="0"/>
              </a:rPr>
              <a:pPr algn="r" eaLnBrk="1" hangingPunct="1">
                <a:buClr>
                  <a:srgbClr val="000000"/>
                </a:buClr>
                <a:buSzPct val="25000"/>
              </a:pPr>
              <a:t>17</a:t>
            </a:fld>
            <a:endParaRPr lang="en-US" sz="1300">
              <a:solidFill>
                <a:srgbClr val="000000"/>
              </a:solidFill>
              <a:latin typeface="Calibri" pitchFamily="4" charset="0"/>
              <a:sym typeface="Calibri" pitchFamily="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0" name="Shape 233"/>
          <p:cNvSpPr>
            <a:spLocks noGrp="1" noRot="1" noChangeAspect="1" noTextEdit="1"/>
          </p:cNvSpPr>
          <p:nvPr>
            <p:ph type="sldImg" idx="2"/>
          </p:nvPr>
        </p:nvSpPr>
        <p:spPr bwMode="auto">
          <a:noFill/>
          <a:ln w="9525">
            <a:solidFill>
              <a:srgbClr val="000000"/>
            </a:solidFill>
            <a:miter lim="800000"/>
            <a:headEnd/>
            <a:tailEnd/>
          </a:ln>
        </p:spPr>
      </p:sp>
      <p:sp>
        <p:nvSpPr>
          <p:cNvPr id="43011" name="Shape 234"/>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Shape 239"/>
          <p:cNvSpPr txBox="1">
            <a:spLocks noChangeArrowheads="1"/>
          </p:cNvSpPr>
          <p:nvPr/>
        </p:nvSpPr>
        <p:spPr bwMode="auto">
          <a:xfrm>
            <a:off x="0"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eaLnBrk="1" hangingPunct="1">
              <a:buClr>
                <a:srgbClr val="000000"/>
              </a:buClr>
              <a:buSzPct val="25000"/>
            </a:pPr>
            <a:r>
              <a:rPr lang="en-US" sz="1300">
                <a:solidFill>
                  <a:srgbClr val="000000"/>
                </a:solidFill>
                <a:latin typeface="Calibri" pitchFamily="4" charset="0"/>
                <a:sym typeface="Calibri" pitchFamily="4" charset="0"/>
              </a:rPr>
              <a:t>May 3, 2007</a:t>
            </a:r>
          </a:p>
        </p:txBody>
      </p:sp>
      <p:sp>
        <p:nvSpPr>
          <p:cNvPr id="45059" name="Shape 240"/>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C58B8860-EECD-3F42-B68C-1AB20FF2C521}" type="slidenum">
              <a:rPr lang="en-US" sz="1300">
                <a:solidFill>
                  <a:srgbClr val="000000"/>
                </a:solidFill>
                <a:latin typeface="Calibri" pitchFamily="4" charset="0"/>
                <a:sym typeface="Calibri" pitchFamily="4" charset="0"/>
              </a:rPr>
              <a:pPr algn="r" eaLnBrk="1" hangingPunct="1">
                <a:buClr>
                  <a:srgbClr val="000000"/>
                </a:buClr>
                <a:buSzPct val="25000"/>
              </a:pPr>
              <a:t>19</a:t>
            </a:fld>
            <a:endParaRPr lang="en-US" sz="1300">
              <a:solidFill>
                <a:srgbClr val="000000"/>
              </a:solidFill>
              <a:latin typeface="Calibri" pitchFamily="4" charset="0"/>
              <a:sym typeface="Calibri" pitchFamily="4" charset="0"/>
            </a:endParaRPr>
          </a:p>
        </p:txBody>
      </p:sp>
      <p:sp>
        <p:nvSpPr>
          <p:cNvPr id="45060" name="Shape 241"/>
          <p:cNvSpPr>
            <a:spLocks noGrp="1" noRot="1" noChangeAspect="1" noTextEdit="1"/>
          </p:cNvSpPr>
          <p:nvPr>
            <p:ph type="sldImg" idx="2"/>
          </p:nvPr>
        </p:nvSpPr>
        <p:spPr bwMode="auto">
          <a:noFill/>
          <a:ln w="9525">
            <a:solidFill>
              <a:srgbClr val="000000"/>
            </a:solidFill>
            <a:miter lim="800000"/>
            <a:headEnd/>
            <a:tailEnd/>
          </a:ln>
        </p:spPr>
      </p:sp>
      <p:sp>
        <p:nvSpPr>
          <p:cNvPr id="45061" name="Shape 242"/>
          <p:cNvSpPr>
            <a:spLocks noGrp="1"/>
          </p:cNvSpPr>
          <p:nvPr>
            <p:ph type="body" idx="1"/>
          </p:nvPr>
        </p:nvSpPr>
        <p:spPr bwMode="auto">
          <a:xfrm>
            <a:off x="201613" y="3295650"/>
            <a:ext cx="6880225" cy="5824538"/>
          </a:xfrm>
          <a:noFill/>
        </p:spPr>
        <p:txBody>
          <a:bodyPr wrap="square" tIns="48309" bIns="48309" numCol="1" anchor="t" anchorCtr="0" compatLnSpc="1">
            <a:prstTxWarp prst="textNoShape">
              <a:avLst/>
            </a:prstTxWarp>
          </a:bodyPr>
          <a:lstStyle/>
          <a:p>
            <a:pPr eaLnBrk="1" hangingPunct="1">
              <a:lnSpc>
                <a:spcPct val="80000"/>
              </a:lnSpc>
              <a:spcBef>
                <a:spcPct val="0"/>
              </a:spcBef>
              <a:buSzPct val="25000"/>
            </a:pPr>
            <a:r>
              <a:rPr lang="en-US" sz="1600"/>
              <a:t>Defining and measuring success</a:t>
            </a:r>
          </a:p>
          <a:p>
            <a:pPr marL="0" lvl="1" eaLnBrk="1" hangingPunct="1">
              <a:lnSpc>
                <a:spcPct val="80000"/>
              </a:lnSpc>
              <a:spcBef>
                <a:spcPct val="0"/>
              </a:spcBef>
              <a:buSzPct val="25000"/>
            </a:pPr>
            <a:r>
              <a:rPr lang="en-US" sz="1600"/>
              <a:t>Success is defined in terms of how well an organization fulfills its mission and creates social value.  Social benefits created may be intangible, widely dispersed, measurable over a long period of time, or otherwise difficult to measure. (Ex: mental health, education, environment preservation)</a:t>
            </a:r>
          </a:p>
          <a:p>
            <a:pPr marL="0" lvl="1" eaLnBrk="1" hangingPunct="1">
              <a:lnSpc>
                <a:spcPct val="80000"/>
              </a:lnSpc>
              <a:spcBef>
                <a:spcPct val="0"/>
              </a:spcBef>
              <a:buSzPct val="25000"/>
            </a:pPr>
            <a:r>
              <a:rPr lang="en-US" sz="1600"/>
              <a:t>Financial success is not the primary goal – nonprofits are created to serve a social purpose</a:t>
            </a:r>
          </a:p>
          <a:p>
            <a:pPr eaLnBrk="1" hangingPunct="1">
              <a:lnSpc>
                <a:spcPct val="80000"/>
              </a:lnSpc>
              <a:spcBef>
                <a:spcPts val="3800"/>
              </a:spcBef>
              <a:buSzPct val="25000"/>
            </a:pPr>
            <a:r>
              <a:rPr lang="en-US" sz="1600"/>
              <a:t>Attracting and motivating people</a:t>
            </a:r>
          </a:p>
          <a:p>
            <a:pPr marL="0" lvl="1" eaLnBrk="1" hangingPunct="1">
              <a:lnSpc>
                <a:spcPct val="80000"/>
              </a:lnSpc>
              <a:spcBef>
                <a:spcPct val="0"/>
              </a:spcBef>
              <a:buSzPct val="25000"/>
            </a:pPr>
            <a:r>
              <a:rPr lang="en-US" sz="1600"/>
              <a:t>Limited use of compensation system as an on-going management tool:</a:t>
            </a:r>
          </a:p>
          <a:p>
            <a:pPr marL="0" lvl="2" eaLnBrk="1" hangingPunct="1">
              <a:lnSpc>
                <a:spcPct val="80000"/>
              </a:lnSpc>
              <a:spcBef>
                <a:spcPct val="0"/>
              </a:spcBef>
              <a:buSzPct val="25000"/>
            </a:pPr>
            <a:r>
              <a:rPr lang="en-US" sz="1600"/>
              <a:t>limited financial incentives available to employees</a:t>
            </a:r>
          </a:p>
          <a:p>
            <a:pPr marL="0" lvl="2" eaLnBrk="1" hangingPunct="1">
              <a:lnSpc>
                <a:spcPct val="80000"/>
              </a:lnSpc>
              <a:spcBef>
                <a:spcPct val="0"/>
              </a:spcBef>
              <a:buSzPct val="25000"/>
            </a:pPr>
            <a:r>
              <a:rPr lang="en-US" sz="1600"/>
              <a:t>profits cannot be distributed; no opportunity for ownership</a:t>
            </a:r>
          </a:p>
          <a:p>
            <a:pPr marL="0" lvl="2" eaLnBrk="1" hangingPunct="1">
              <a:lnSpc>
                <a:spcPct val="80000"/>
              </a:lnSpc>
              <a:spcBef>
                <a:spcPct val="0"/>
              </a:spcBef>
              <a:buSzPct val="25000"/>
            </a:pPr>
            <a:r>
              <a:rPr lang="en-US" sz="1600"/>
              <a:t>supporting constituencies may perceive that market salaries are an illegitimate expense (ie. supporters of a human services organization may want the money to go to the disadvantaged clients, not staff) </a:t>
            </a:r>
          </a:p>
          <a:p>
            <a:pPr marL="0" lvl="1" eaLnBrk="1" hangingPunct="1">
              <a:lnSpc>
                <a:spcPct val="80000"/>
              </a:lnSpc>
              <a:spcBef>
                <a:spcPct val="0"/>
              </a:spcBef>
              <a:buSzPct val="25000"/>
            </a:pPr>
            <a:r>
              <a:rPr lang="en-US" sz="1600"/>
              <a:t>Non-financial rewards:</a:t>
            </a:r>
          </a:p>
          <a:p>
            <a:pPr marL="0" lvl="2" eaLnBrk="1" hangingPunct="1">
              <a:lnSpc>
                <a:spcPct val="80000"/>
              </a:lnSpc>
              <a:spcBef>
                <a:spcPct val="0"/>
              </a:spcBef>
              <a:buSzPct val="25000"/>
            </a:pPr>
            <a:r>
              <a:rPr lang="en-US" sz="1600"/>
              <a:t>individuals are drawn to an organization’s mission</a:t>
            </a:r>
          </a:p>
          <a:p>
            <a:pPr marL="0" lvl="2" eaLnBrk="1" hangingPunct="1">
              <a:lnSpc>
                <a:spcPct val="80000"/>
              </a:lnSpc>
              <a:spcBef>
                <a:spcPct val="0"/>
              </a:spcBef>
              <a:buSzPct val="25000"/>
            </a:pPr>
            <a:r>
              <a:rPr lang="en-US" sz="1600"/>
              <a:t>mature nonprofits may offer prestige, job security, less intense work environment</a:t>
            </a:r>
          </a:p>
          <a:p>
            <a:pPr marL="0" lvl="1" eaLnBrk="1" hangingPunct="1">
              <a:lnSpc>
                <a:spcPct val="80000"/>
              </a:lnSpc>
              <a:spcBef>
                <a:spcPct val="0"/>
              </a:spcBef>
              <a:buSzPct val="25000"/>
            </a:pPr>
            <a:r>
              <a:rPr lang="en-US" sz="1600"/>
              <a:t>Use of volunteers is very common:</a:t>
            </a:r>
          </a:p>
          <a:p>
            <a:pPr marL="0" lvl="2" eaLnBrk="1" hangingPunct="1">
              <a:lnSpc>
                <a:spcPct val="80000"/>
              </a:lnSpc>
              <a:spcBef>
                <a:spcPct val="0"/>
              </a:spcBef>
              <a:buSzPct val="25000"/>
            </a:pPr>
            <a:r>
              <a:rPr lang="en-US" sz="1600"/>
              <a:t>1 out of 2 adults volunteer</a:t>
            </a:r>
          </a:p>
          <a:p>
            <a:pPr marL="0" lvl="2" eaLnBrk="1" hangingPunct="1">
              <a:lnSpc>
                <a:spcPct val="80000"/>
              </a:lnSpc>
              <a:spcBef>
                <a:spcPct val="0"/>
              </a:spcBef>
              <a:buSzPct val="25000"/>
            </a:pPr>
            <a:r>
              <a:rPr lang="en-US" sz="1600"/>
              <a:t>costs to organization: recruitment, training, supervision, motivation, support, volunteer turnover/absenteeism</a:t>
            </a:r>
          </a:p>
          <a:p>
            <a:pPr eaLnBrk="1" hangingPunct="1">
              <a:lnSpc>
                <a:spcPct val="80000"/>
              </a:lnSpc>
              <a:spcBef>
                <a:spcPct val="0"/>
              </a:spcBef>
            </a:pPr>
            <a:endParaRPr lang="en-US" sz="1600"/>
          </a:p>
          <a:p>
            <a:pPr algn="r" eaLnBrk="1" hangingPunct="1">
              <a:lnSpc>
                <a:spcPct val="80000"/>
              </a:lnSpc>
              <a:spcBef>
                <a:spcPct val="0"/>
              </a:spcBef>
              <a:buSzPct val="25000"/>
            </a:pPr>
            <a:r>
              <a:rPr lang="en-US" sz="1600" i="1"/>
              <a:t>Adopted from: Note on Starting a Nonprofit Venture, HBSP item # 9-391-096 </a:t>
            </a:r>
          </a:p>
          <a:p>
            <a:pPr eaLnBrk="1" hangingPunct="1">
              <a:lnSpc>
                <a:spcPct val="80000"/>
              </a:lnSpc>
              <a:spcBef>
                <a:spcPct val="0"/>
              </a:spcBef>
            </a:pPr>
            <a:endParaRPr lang="en-US" sz="1600" i="1"/>
          </a:p>
        </p:txBody>
      </p:sp>
      <p:sp>
        <p:nvSpPr>
          <p:cNvPr id="45062" name="Shape 243"/>
          <p:cNvSpPr txBox="1">
            <a:spLocks noChangeArrowheads="1"/>
          </p:cNvSpPr>
          <p:nvPr/>
        </p:nvSpPr>
        <p:spPr bwMode="auto">
          <a:xfrm>
            <a:off x="4662488" y="300038"/>
            <a:ext cx="2492375" cy="1003300"/>
          </a:xfrm>
          <a:prstGeom prst="rect">
            <a:avLst/>
          </a:prstGeom>
          <a:noFill/>
          <a:ln w="9525">
            <a:noFill/>
            <a:miter lim="800000"/>
            <a:headEnd/>
            <a:tailEnd/>
          </a:ln>
        </p:spPr>
        <p:txBody>
          <a:bodyPr lIns="96064" tIns="48019" rIns="96064" bIns="48019">
            <a:prstTxWarp prst="textNoShape">
              <a:avLst/>
            </a:prstTxWarp>
          </a:bodyPr>
          <a:lstStyle/>
          <a:p>
            <a:pPr eaLnBrk="1" hangingPunct="1">
              <a:buClr>
                <a:srgbClr val="000000"/>
              </a:buClr>
              <a:buSzPct val="25000"/>
            </a:pPr>
            <a:r>
              <a:rPr lang="en-US" sz="1200">
                <a:solidFill>
                  <a:srgbClr val="000000"/>
                </a:solidFill>
              </a:rPr>
              <a:t>Speaker:</a:t>
            </a:r>
            <a:r>
              <a:rPr lang="en-US" sz="1200">
                <a:solidFill>
                  <a:srgbClr val="FF0000"/>
                </a:solidFill>
              </a:rPr>
              <a:t>	Jeanne Waldinger</a:t>
            </a:r>
          </a:p>
          <a:p>
            <a:pPr eaLnBrk="1" hangingPunct="1">
              <a:buClr>
                <a:srgbClr val="000000"/>
              </a:buClr>
              <a:buSzPct val="25000"/>
            </a:pPr>
            <a:r>
              <a:rPr lang="en-US" sz="1200">
                <a:solidFill>
                  <a:srgbClr val="000000"/>
                </a:solidFill>
              </a:rPr>
              <a:t>Subject: 	About Nonprofit Sector</a:t>
            </a:r>
          </a:p>
          <a:p>
            <a:pPr eaLnBrk="1" hangingPunct="1">
              <a:buClr>
                <a:srgbClr val="000000"/>
              </a:buClr>
              <a:buSzPct val="25000"/>
            </a:pPr>
            <a:r>
              <a:rPr lang="en-US" sz="1200">
                <a:solidFill>
                  <a:srgbClr val="000000"/>
                </a:solidFill>
              </a:rPr>
              <a:t>Time: 	9:45-10:05</a:t>
            </a:r>
          </a:p>
          <a:p>
            <a:pPr eaLnBrk="1" hangingPunct="1">
              <a:spcBef>
                <a:spcPts val="175"/>
              </a:spcBef>
              <a:buClr>
                <a:srgbClr val="000000"/>
              </a:buClr>
              <a:buSzPct val="25000"/>
            </a:pPr>
            <a:r>
              <a:rPr lang="en-US" sz="1200">
                <a:solidFill>
                  <a:srgbClr val="000000"/>
                </a:solidFill>
              </a:rPr>
              <a:t>Slides: 	16-20</a:t>
            </a:r>
          </a:p>
          <a:p>
            <a:pPr eaLnBrk="1" hangingPunct="1">
              <a:buClr>
                <a:srgbClr val="000000"/>
              </a:buClr>
              <a:buSzPct val="25000"/>
            </a:pPr>
            <a:r>
              <a:rPr lang="en-US" sz="1200">
                <a:solidFill>
                  <a:srgbClr val="000000"/>
                </a:solidFill>
              </a:rPr>
              <a:t>Tools: 	none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6" name="Shape 248"/>
          <p:cNvSpPr>
            <a:spLocks noGrp="1" noRot="1" noChangeAspect="1" noTextEdit="1"/>
          </p:cNvSpPr>
          <p:nvPr>
            <p:ph type="sldImg" idx="2"/>
          </p:nvPr>
        </p:nvSpPr>
        <p:spPr bwMode="auto">
          <a:noFill/>
          <a:ln w="9525">
            <a:solidFill>
              <a:srgbClr val="000000"/>
            </a:solidFill>
            <a:miter lim="800000"/>
            <a:headEnd/>
            <a:tailEnd/>
          </a:ln>
        </p:spPr>
      </p:sp>
      <p:sp>
        <p:nvSpPr>
          <p:cNvPr id="47107" name="Shape 249"/>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
        <p:nvSpPr>
          <p:cNvPr id="47108" name="Shape 250"/>
          <p:cNvSpPr txBox="1">
            <a:spLocks noChangeArrowheads="1"/>
          </p:cNvSpPr>
          <p:nvPr/>
        </p:nvSpPr>
        <p:spPr bwMode="auto">
          <a:xfrm>
            <a:off x="4143375" y="9120188"/>
            <a:ext cx="3170238" cy="479425"/>
          </a:xfrm>
          <a:prstGeom prst="rect">
            <a:avLst/>
          </a:prstGeom>
          <a:noFill/>
          <a:ln w="9525">
            <a:noFill/>
            <a:miter lim="800000"/>
            <a:headEnd/>
            <a:tailEnd/>
          </a:ln>
        </p:spPr>
        <p:txBody>
          <a:bodyPr lIns="96645" tIns="48309" rIns="96645" bIns="48309" anchor="b">
            <a:prstTxWarp prst="textNoShape">
              <a:avLst/>
            </a:prstTxWarp>
          </a:bodyPr>
          <a:lstStyle/>
          <a:p>
            <a:pPr algn="r" eaLnBrk="1" hangingPunct="1">
              <a:buClr>
                <a:srgbClr val="000000"/>
              </a:buClr>
              <a:buSzPct val="25000"/>
            </a:pPr>
            <a:fld id="{CE1B7086-97BE-8846-92D3-943E62B85BDB}" type="slidenum">
              <a:rPr lang="en-US" sz="1300">
                <a:solidFill>
                  <a:srgbClr val="000000"/>
                </a:solidFill>
                <a:latin typeface="Calibri" pitchFamily="4" charset="0"/>
                <a:sym typeface="Calibri" pitchFamily="4" charset="0"/>
              </a:rPr>
              <a:pPr algn="r" eaLnBrk="1" hangingPunct="1">
                <a:buClr>
                  <a:srgbClr val="000000"/>
                </a:buClr>
                <a:buSzPct val="25000"/>
              </a:pPr>
              <a:t>20</a:t>
            </a:fld>
            <a:endParaRPr lang="en-US" sz="1300">
              <a:solidFill>
                <a:srgbClr val="000000"/>
              </a:solidFill>
              <a:latin typeface="Calibri" pitchFamily="4" charset="0"/>
              <a:sym typeface="Calibri" pitchFamily="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Shape 268"/>
          <p:cNvSpPr>
            <a:spLocks noGrp="1" noRot="1" noChangeAspect="1" noTextEdit="1"/>
          </p:cNvSpPr>
          <p:nvPr>
            <p:ph type="sldImg" idx="2"/>
          </p:nvPr>
        </p:nvSpPr>
        <p:spPr bwMode="auto">
          <a:noFill/>
          <a:ln w="9525">
            <a:solidFill>
              <a:srgbClr val="000000"/>
            </a:solidFill>
            <a:miter lim="800000"/>
            <a:headEnd/>
            <a:tailEnd/>
          </a:ln>
        </p:spPr>
      </p:sp>
      <p:sp>
        <p:nvSpPr>
          <p:cNvPr id="49155" name="Shape 269"/>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Shape 262"/>
          <p:cNvSpPr>
            <a:spLocks noGrp="1" noRot="1" noChangeAspect="1" noTextEdit="1"/>
          </p:cNvSpPr>
          <p:nvPr>
            <p:ph type="sldImg" idx="2"/>
          </p:nvPr>
        </p:nvSpPr>
        <p:spPr bwMode="auto">
          <a:noFill/>
          <a:ln w="9525">
            <a:solidFill>
              <a:srgbClr val="000000"/>
            </a:solidFill>
            <a:miter lim="800000"/>
            <a:headEnd/>
            <a:tailEnd/>
          </a:ln>
        </p:spPr>
      </p:sp>
      <p:sp>
        <p:nvSpPr>
          <p:cNvPr id="51203" name="Shape 263"/>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3250" name="Shape 281"/>
          <p:cNvSpPr>
            <a:spLocks noGrp="1" noRot="1" noChangeAspect="1" noTextEdit="1"/>
          </p:cNvSpPr>
          <p:nvPr>
            <p:ph type="sldImg" idx="2"/>
          </p:nvPr>
        </p:nvSpPr>
        <p:spPr bwMode="auto">
          <a:noFill/>
          <a:ln w="9525">
            <a:solidFill>
              <a:srgbClr val="000000"/>
            </a:solidFill>
            <a:round/>
            <a:headEnd/>
            <a:tailEnd/>
          </a:ln>
        </p:spPr>
      </p:sp>
      <p:sp>
        <p:nvSpPr>
          <p:cNvPr id="53251" name="Shape 28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3252" name="Shape 283"/>
          <p:cNvSpPr>
            <a:spLocks noGrp="1"/>
          </p:cNvSpPr>
          <p:nvPr>
            <p:ph type="sldNum" sz="quarter" idx="5"/>
          </p:nvPr>
        </p:nvSpPr>
        <p:spPr bwMode="auto">
          <a:noFill/>
          <a:ln>
            <a:miter lim="800000"/>
            <a:headEnd/>
            <a:tailEnd/>
          </a:ln>
        </p:spPr>
        <p:txBody>
          <a:bodyPr/>
          <a:lstStyle/>
          <a:p>
            <a:fld id="{22365FDD-4266-7643-8CCC-04936710EAF3}" type="slidenum">
              <a:rPr lang="en-US" sz="1300">
                <a:solidFill>
                  <a:srgbClr val="000000"/>
                </a:solidFill>
                <a:latin typeface="Calibri" pitchFamily="4" charset="0"/>
              </a:rPr>
              <a:pPr/>
              <a:t>23</a:t>
            </a:fld>
            <a:endParaRPr lang="en-US" sz="1300">
              <a:solidFill>
                <a:srgbClr val="000000"/>
              </a:solidFill>
              <a:latin typeface="Calibri" pitchFamily="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2" name="Shape 274"/>
          <p:cNvSpPr>
            <a:spLocks noGrp="1" noRot="1" noChangeAspect="1" noTextEdit="1"/>
          </p:cNvSpPr>
          <p:nvPr>
            <p:ph type="sldImg" idx="2"/>
          </p:nvPr>
        </p:nvSpPr>
        <p:spPr bwMode="auto">
          <a:noFill/>
          <a:ln w="9525">
            <a:solidFill>
              <a:srgbClr val="000000"/>
            </a:solidFill>
            <a:round/>
            <a:headEnd/>
            <a:tailEnd/>
          </a:ln>
        </p:spPr>
      </p:sp>
      <p:sp>
        <p:nvSpPr>
          <p:cNvPr id="56323" name="Shape 275"/>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6324" name="Shape 276"/>
          <p:cNvSpPr>
            <a:spLocks noGrp="1"/>
          </p:cNvSpPr>
          <p:nvPr>
            <p:ph type="sldNum" sz="quarter" idx="5"/>
          </p:nvPr>
        </p:nvSpPr>
        <p:spPr bwMode="auto">
          <a:noFill/>
          <a:ln>
            <a:miter lim="800000"/>
            <a:headEnd/>
            <a:tailEnd/>
          </a:ln>
        </p:spPr>
        <p:txBody>
          <a:bodyPr/>
          <a:lstStyle/>
          <a:p>
            <a:fld id="{8906AD7D-22CD-9848-A723-D12A7558B64C}" type="slidenum">
              <a:rPr lang="en-US" sz="1300">
                <a:solidFill>
                  <a:srgbClr val="000000"/>
                </a:solidFill>
                <a:latin typeface="Calibri" pitchFamily="4" charset="0"/>
              </a:rPr>
              <a:pPr/>
              <a:t>25</a:t>
            </a:fld>
            <a:endParaRPr lang="en-US" sz="1300">
              <a:solidFill>
                <a:srgbClr val="000000"/>
              </a:solidFill>
              <a:latin typeface="Calibri" pitchFamily="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70" name="Shape 288"/>
          <p:cNvSpPr>
            <a:spLocks noGrp="1" noRot="1" noChangeAspect="1" noTextEdit="1"/>
          </p:cNvSpPr>
          <p:nvPr>
            <p:ph type="sldImg" idx="2"/>
          </p:nvPr>
        </p:nvSpPr>
        <p:spPr bwMode="auto">
          <a:noFill/>
          <a:ln w="9525">
            <a:solidFill>
              <a:srgbClr val="000000"/>
            </a:solidFill>
            <a:miter lim="800000"/>
            <a:headEnd/>
            <a:tailEnd/>
          </a:ln>
        </p:spPr>
      </p:sp>
      <p:sp>
        <p:nvSpPr>
          <p:cNvPr id="58371" name="Shape 289"/>
          <p:cNvSpPr>
            <a:spLocks noGrp="1"/>
          </p:cNvSpPr>
          <p:nvPr>
            <p:ph type="body" idx="1"/>
          </p:nvPr>
        </p:nvSpPr>
        <p:spPr bwMode="auto">
          <a:noFill/>
        </p:spPr>
        <p:txBody>
          <a:bodyPr wrap="square" tIns="48309" bIns="48309"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0418" name="Shape 294"/>
          <p:cNvSpPr>
            <a:spLocks noGrp="1" noRot="1" noChangeAspect="1" noTextEdit="1"/>
          </p:cNvSpPr>
          <p:nvPr>
            <p:ph type="sldImg" idx="2"/>
          </p:nvPr>
        </p:nvSpPr>
        <p:spPr bwMode="auto">
          <a:xfrm>
            <a:off x="1263650" y="725488"/>
            <a:ext cx="4789488" cy="3590925"/>
          </a:xfrm>
          <a:custGeom>
            <a:avLst/>
            <a:gdLst>
              <a:gd name="T0" fmla="*/ 0 w 120000"/>
              <a:gd name="T1" fmla="*/ 0 h 120000"/>
              <a:gd name="T2" fmla="*/ 2147483647 w 120000"/>
              <a:gd name="T3" fmla="*/ 0 h 120000"/>
              <a:gd name="T4" fmla="*/ 2147483647 w 120000"/>
              <a:gd name="T5" fmla="*/ 2147483647 h 120000"/>
              <a:gd name="T6" fmla="*/ 0 w 120000"/>
              <a:gd name="T7" fmla="*/ 2147483647 h 120000"/>
              <a:gd name="T8" fmla="*/ 0 60000 65536"/>
              <a:gd name="T9" fmla="*/ 0 60000 65536"/>
              <a:gd name="T10" fmla="*/ 0 60000 65536"/>
              <a:gd name="T11" fmla="*/ 0 60000 65536"/>
              <a:gd name="T12" fmla="*/ 0 w 120000"/>
              <a:gd name="T13" fmla="*/ 0 h 120000"/>
              <a:gd name="T14" fmla="*/ 120000 w 120000"/>
              <a:gd name="T15" fmla="*/ 120000 h 120000"/>
            </a:gdLst>
            <a:ahLst/>
            <a:cxnLst>
              <a:cxn ang="T8">
                <a:pos x="T0" y="T1"/>
              </a:cxn>
              <a:cxn ang="T9">
                <a:pos x="T2" y="T3"/>
              </a:cxn>
              <a:cxn ang="T10">
                <a:pos x="T4" y="T5"/>
              </a:cxn>
              <a:cxn ang="T11">
                <a:pos x="T6" y="T7"/>
              </a:cxn>
            </a:cxnLst>
            <a:rect l="T12" t="T13" r="T14" b="T15"/>
            <a:pathLst>
              <a:path w="120000" h="120000" extrusionOk="0">
                <a:moveTo>
                  <a:pt x="0" y="0"/>
                </a:moveTo>
                <a:lnTo>
                  <a:pt x="120000" y="0"/>
                </a:lnTo>
                <a:lnTo>
                  <a:pt x="120000" y="120000"/>
                </a:lnTo>
                <a:lnTo>
                  <a:pt x="0" y="120000"/>
                </a:lnTo>
                <a:lnTo>
                  <a:pt x="0" y="0"/>
                </a:lnTo>
                <a:close/>
              </a:path>
            </a:pathLst>
          </a:custGeom>
          <a:solidFill>
            <a:srgbClr val="FFFFFF"/>
          </a:solidFill>
          <a:ln w="9525">
            <a:solidFill>
              <a:srgbClr val="000000"/>
            </a:solidFill>
            <a:round/>
            <a:headEnd/>
            <a:tailEnd/>
          </a:ln>
        </p:spPr>
      </p:sp>
      <p:sp>
        <p:nvSpPr>
          <p:cNvPr id="60419" name="Shape 295"/>
          <p:cNvSpPr>
            <a:spLocks noGrp="1"/>
          </p:cNvSpPr>
          <p:nvPr>
            <p:ph type="body" idx="1"/>
          </p:nvPr>
        </p:nvSpPr>
        <p:spPr bwMode="auto">
          <a:xfrm>
            <a:off x="730250" y="4560888"/>
            <a:ext cx="5854700" cy="4316412"/>
          </a:xfrm>
          <a:noFill/>
        </p:spPr>
        <p:txBody>
          <a:bodyPr wrap="square" lIns="97332" tIns="48653" rIns="97332" bIns="48653" numCol="1" anchor="t" anchorCtr="0" compatLnSpc="1">
            <a:prstTxWarp prst="textNoShape">
              <a:avLst/>
            </a:prstTxWarp>
          </a:bodyPr>
          <a:lstStyle/>
          <a:p>
            <a:pPr algn="ctr" eaLnBrk="1" hangingPunct="1">
              <a:spcBef>
                <a:spcPct val="0"/>
              </a:spcBef>
              <a:buSzPct val="25000"/>
            </a:pPr>
            <a:r>
              <a:rPr lang="en-US" sz="1500"/>
              <a:t>Questions on text portion of B/P</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95912"/>
            <a:ext cx="7772400" cy="1367733"/>
          </a:xfrm>
        </p:spPr>
        <p:txBody>
          <a:bodyPr/>
          <a:lstStyle>
            <a:lvl1pPr>
              <a:defRPr baseline="0"/>
            </a:lvl1pPr>
          </a:lstStyle>
          <a:p>
            <a:r>
              <a:rPr lang="en-US" smtClean="0"/>
              <a:t>Click to edit Master title style</a:t>
            </a:r>
            <a:endParaRPr lang="en-US" dirty="0"/>
          </a:p>
        </p:txBody>
      </p:sp>
      <p:sp>
        <p:nvSpPr>
          <p:cNvPr id="3" name="Subtitle 2"/>
          <p:cNvSpPr>
            <a:spLocks noGrp="1"/>
          </p:cNvSpPr>
          <p:nvPr>
            <p:ph type="subTitle" idx="1"/>
          </p:nvPr>
        </p:nvSpPr>
        <p:spPr>
          <a:xfrm>
            <a:off x="1371600" y="4092456"/>
            <a:ext cx="6400800" cy="900865"/>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5" name="Title 1"/>
          <p:cNvSpPr txBox="1">
            <a:spLocks/>
          </p:cNvSpPr>
          <p:nvPr/>
        </p:nvSpPr>
        <p:spPr bwMode="auto">
          <a:xfrm>
            <a:off x="609600" y="88900"/>
            <a:ext cx="7924800" cy="520700"/>
          </a:xfrm>
          <a:prstGeom prst="rect">
            <a:avLst/>
          </a:prstGeom>
          <a:noFill/>
          <a:ln w="9525">
            <a:noFill/>
            <a:miter lim="800000"/>
            <a:headEnd/>
            <a:tailEnd/>
          </a:ln>
        </p:spPr>
        <p:txBody>
          <a:bodyPr anchor="ctr"/>
          <a:lstStyle>
            <a:lvl1pPr algn="ctr">
              <a:defRPr/>
            </a:lvl1pPr>
          </a:lstStyle>
          <a:p>
            <a:pPr>
              <a:lnSpc>
                <a:spcPct val="100000"/>
              </a:lnSpc>
              <a:buClrTx/>
              <a:buSzTx/>
              <a:buFontTx/>
              <a:buNone/>
              <a:defRPr/>
            </a:pPr>
            <a:r>
              <a:rPr lang="en-US" sz="2800" kern="0" dirty="0" smtClean="0">
                <a:solidFill>
                  <a:schemeClr val="bg1"/>
                </a:solidFill>
                <a:latin typeface="+mj-lt"/>
                <a:ea typeface="+mj-ea"/>
                <a:cs typeface="+mj-cs"/>
              </a:rPr>
              <a:t>Click to edit Master title style</a:t>
            </a:r>
            <a:endParaRPr lang="en-US" sz="2800" kern="0" dirty="0">
              <a:solidFill>
                <a:schemeClr val="bg1"/>
              </a:solidFill>
              <a:latin typeface="+mj-lt"/>
              <a:ea typeface="+mj-ea"/>
              <a:cs typeface="+mj-cs"/>
            </a:endParaRPr>
          </a:p>
        </p:txBody>
      </p:sp>
      <p:pic>
        <p:nvPicPr>
          <p:cNvPr id="8" name="Picture 7" descr="SCORE Logo 2015-R-Tagline.png"/>
          <p:cNvPicPr>
            <a:picLocks noChangeAspect="1"/>
          </p:cNvPicPr>
          <p:nvPr/>
        </p:nvPicPr>
        <p:blipFill>
          <a:blip r:embed="rId2"/>
          <a:stretch>
            <a:fillRect/>
          </a:stretch>
        </p:blipFill>
        <p:spPr>
          <a:xfrm>
            <a:off x="2268909" y="1243202"/>
            <a:ext cx="4572000" cy="1860550"/>
          </a:xfrm>
          <a:prstGeom prst="rect">
            <a:avLst/>
          </a:prstGeom>
        </p:spPr>
      </p:pic>
      <p:sp>
        <p:nvSpPr>
          <p:cNvPr id="4" name="Slide Number Placeholder 3"/>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12494290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10"/>
          </p:nvPr>
        </p:nvSpPr>
        <p:spPr/>
        <p:txBody>
          <a:bodyPr/>
          <a:lstStyle/>
          <a:p>
            <a:fld id="{BFB36014-D174-482E-9E35-CC7AE60656D4}" type="slidenum">
              <a:rPr lang="en-US" smtClean="0"/>
              <a:t>‹#›</a:t>
            </a:fld>
            <a:endParaRPr lang="en-US"/>
          </a:p>
        </p:txBody>
      </p:sp>
    </p:spTree>
    <p:extLst>
      <p:ext uri="{BB962C8B-B14F-4D97-AF65-F5344CB8AC3E}">
        <p14:creationId xmlns:p14="http://schemas.microsoft.com/office/powerpoint/2010/main" val="12005887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295525"/>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676400"/>
            <a:ext cx="7772400" cy="619125"/>
          </a:xfrm>
        </p:spPr>
        <p:txBody>
          <a:bodyPr anchor="b"/>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5" name="Slide Number Placeholder 4"/>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2480491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1308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13080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3382782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728611"/>
          </a:xfrm>
        </p:spPr>
        <p:txBody>
          <a:bodyPr/>
          <a:lstStyle>
            <a:lvl1pPr>
              <a:buClr>
                <a:schemeClr val="accent4"/>
              </a:buClr>
              <a:defRPr sz="2400">
                <a:solidFill>
                  <a:schemeClr val="accent4"/>
                </a:solidFill>
              </a:defRPr>
            </a:lvl1pPr>
            <a:lvl2pPr>
              <a:buClr>
                <a:schemeClr val="accent4"/>
              </a:buClr>
              <a:defRPr sz="2000">
                <a:solidFill>
                  <a:schemeClr val="accent4"/>
                </a:solidFill>
              </a:defRPr>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540452"/>
          </a:xfrm>
        </p:spPr>
        <p:txBody>
          <a:bodyPr/>
          <a:lstStyle>
            <a:lvl1pPr>
              <a:buClr>
                <a:schemeClr val="accent4"/>
              </a:buClr>
              <a:defRPr sz="2400">
                <a:solidFill>
                  <a:schemeClr val="accent4"/>
                </a:solidFill>
              </a:defRPr>
            </a:lvl1pPr>
            <a:lvl2pPr>
              <a:defRPr sz="2000">
                <a:solidFill>
                  <a:schemeClr val="accent4"/>
                </a:solidFill>
              </a:defRPr>
            </a:lvl2pPr>
            <a:lvl3pPr>
              <a:defRPr sz="1800">
                <a:solidFill>
                  <a:schemeClr val="accent4"/>
                </a:solidFill>
              </a:defRPr>
            </a:lvl3pPr>
            <a:lvl4pPr>
              <a:defRPr sz="1600">
                <a:solidFill>
                  <a:schemeClr val="accent4"/>
                </a:solidFill>
              </a:defRPr>
            </a:lvl4pPr>
            <a:lvl5pPr>
              <a:defRPr sz="1600">
                <a:solidFill>
                  <a:schemeClr val="accent4"/>
                </a:solidFill>
              </a:defRPr>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Slide Number Placeholder 7"/>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611801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Slide Number Placeholder 3"/>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3063175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35100"/>
            <a:ext cx="3008313" cy="910003"/>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1435100"/>
            <a:ext cx="5111750" cy="42880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531382"/>
            <a:ext cx="3008313" cy="3481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Title Placeholder 1"/>
          <p:cNvSpPr txBox="1">
            <a:spLocks/>
          </p:cNvSpPr>
          <p:nvPr/>
        </p:nvSpPr>
        <p:spPr>
          <a:xfrm>
            <a:off x="457200" y="161551"/>
            <a:ext cx="8229600" cy="925812"/>
          </a:xfrm>
          <a:prstGeom prst="rect">
            <a:avLst/>
          </a:prstGeom>
        </p:spPr>
        <p:txBody>
          <a:bodyPr vert="horz" lIns="91440" tIns="45720" rIns="91440" bIns="45720" rtlCol="0" anchor="ctr">
            <a:normAutofit/>
          </a:bodyPr>
          <a:lstStyle>
            <a:lvl1pPr algn="ctr" defTabSz="457200" rtl="0" eaLnBrk="1" fontAlgn="base" hangingPunct="1">
              <a:spcBef>
                <a:spcPct val="0"/>
              </a:spcBef>
              <a:spcAft>
                <a:spcPct val="0"/>
              </a:spcAft>
              <a:defRPr sz="4400" kern="1200" spc="-100">
                <a:solidFill>
                  <a:schemeClr val="tx1"/>
                </a:solidFill>
                <a:latin typeface="Gill Sans MT" pitchFamily="34" charset="0"/>
                <a:ea typeface="ＭＳ Ｐゴシック" pitchFamily="-110" charset="-128"/>
                <a:cs typeface="Gill Sans MT" pitchFamily="34" charset="0"/>
              </a:defRPr>
            </a:lvl1pPr>
            <a:lvl2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2pPr>
            <a:lvl3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3pPr>
            <a:lvl4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4pPr>
            <a:lvl5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5pPr>
            <a:lvl6pPr marL="4572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6pPr>
            <a:lvl7pPr marL="9144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7pPr>
            <a:lvl8pPr marL="13716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8pPr>
            <a:lvl9pPr marL="18288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9pPr>
          </a:lstStyle>
          <a:p>
            <a:r>
              <a:rPr lang="en-US" b="0" smtClean="0"/>
              <a:t>Click to edit Master title style</a:t>
            </a:r>
            <a:endParaRPr lang="en-US" b="0" dirty="0"/>
          </a:p>
        </p:txBody>
      </p:sp>
      <p:sp>
        <p:nvSpPr>
          <p:cNvPr id="5" name="Slide Number Placeholder 4"/>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824921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4800600"/>
            <a:ext cx="5486400" cy="566738"/>
          </a:xfrm>
        </p:spPr>
        <p:txBody>
          <a:bodyPr anchor="b"/>
          <a:lstStyle>
            <a:lvl1pPr algn="l">
              <a:defRPr sz="20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1828800" y="5367338"/>
            <a:ext cx="5486400" cy="48910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Picture Placeholder 5"/>
          <p:cNvSpPr>
            <a:spLocks noGrp="1"/>
          </p:cNvSpPr>
          <p:nvPr>
            <p:ph type="pic" sz="quarter" idx="10"/>
          </p:nvPr>
        </p:nvSpPr>
        <p:spPr>
          <a:xfrm>
            <a:off x="1828800" y="1524000"/>
            <a:ext cx="5486400" cy="3276600"/>
          </a:xfrm>
        </p:spPr>
        <p:txBody>
          <a:bodyPr/>
          <a:lstStyle/>
          <a:p>
            <a:r>
              <a:rPr lang="en-US" smtClean="0"/>
              <a:t>Click icon to add picture</a:t>
            </a:r>
            <a:endParaRPr lang="en-US"/>
          </a:p>
        </p:txBody>
      </p:sp>
      <p:sp>
        <p:nvSpPr>
          <p:cNvPr id="3" name="Slide Number Placeholder 2"/>
          <p:cNvSpPr>
            <a:spLocks noGrp="1"/>
          </p:cNvSpPr>
          <p:nvPr>
            <p:ph type="sldNum" sz="quarter" idx="11"/>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4205595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BFB36014-D174-482E-9E35-CC7AE60656D4}" type="slidenum">
              <a:rPr lang="en-US" smtClean="0"/>
              <a:pPr/>
              <a:t>‹#›</a:t>
            </a:fld>
            <a:endParaRPr lang="en-US" dirty="0"/>
          </a:p>
        </p:txBody>
      </p:sp>
    </p:spTree>
    <p:extLst>
      <p:ext uri="{BB962C8B-B14F-4D97-AF65-F5344CB8AC3E}">
        <p14:creationId xmlns:p14="http://schemas.microsoft.com/office/powerpoint/2010/main" val="150431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925"/>
            <a:ext cx="8229600" cy="92551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14655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Slide Number Placeholder 3"/>
          <p:cNvSpPr>
            <a:spLocks noGrp="1"/>
          </p:cNvSpPr>
          <p:nvPr>
            <p:ph type="sldNum" sz="quarter" idx="4"/>
          </p:nvPr>
        </p:nvSpPr>
        <p:spPr>
          <a:xfrm>
            <a:off x="3505200" y="6309310"/>
            <a:ext cx="2133600" cy="365125"/>
          </a:xfrm>
          <a:prstGeom prst="rect">
            <a:avLst/>
          </a:prstGeom>
        </p:spPr>
        <p:txBody>
          <a:bodyPr vert="horz" lIns="91440" tIns="45720" rIns="91440" bIns="45720" rtlCol="0" anchor="ctr"/>
          <a:lstStyle>
            <a:lvl1pPr algn="ctr">
              <a:defRPr sz="1100" b="0">
                <a:solidFill>
                  <a:schemeClr val="bg1"/>
                </a:solidFill>
                <a:latin typeface="Gill Sans MT" pitchFamily="34" charset="0"/>
              </a:defRPr>
            </a:lvl1pPr>
          </a:lstStyle>
          <a:p>
            <a:fld id="{BFB36014-D174-482E-9E35-CC7AE60656D4}" type="slidenum">
              <a:rPr lang="en-US" smtClean="0"/>
              <a:t>‹#›</a:t>
            </a:fld>
            <a:endParaRPr lang="en-US"/>
          </a:p>
        </p:txBody>
      </p:sp>
    </p:spTree>
    <p:extLst>
      <p:ext uri="{BB962C8B-B14F-4D97-AF65-F5344CB8AC3E}">
        <p14:creationId xmlns:p14="http://schemas.microsoft.com/office/powerpoint/2010/main" val="169880260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Lst>
  <p:timing>
    <p:tnLst>
      <p:par>
        <p:cTn id="1" dur="indefinite" restart="never" nodeType="tmRoot"/>
      </p:par>
    </p:tnLst>
  </p:timing>
  <p:txStyles>
    <p:titleStyle>
      <a:lvl1pPr algn="ctr" defTabSz="457200" rtl="0" eaLnBrk="1" fontAlgn="base" hangingPunct="1">
        <a:spcBef>
          <a:spcPct val="0"/>
        </a:spcBef>
        <a:spcAft>
          <a:spcPct val="0"/>
        </a:spcAft>
        <a:defRPr sz="4400" kern="1200" spc="-100">
          <a:solidFill>
            <a:schemeClr val="tx1"/>
          </a:solidFill>
          <a:latin typeface="Gill Sans MT" pitchFamily="34" charset="0"/>
          <a:ea typeface="ＭＳ Ｐゴシック" pitchFamily="-110" charset="-128"/>
          <a:cs typeface="Gill Sans MT" pitchFamily="34" charset="0"/>
        </a:defRPr>
      </a:lvl1pPr>
      <a:lvl2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2pPr>
      <a:lvl3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3pPr>
      <a:lvl4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4pPr>
      <a:lvl5pPr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5pPr>
      <a:lvl6pPr marL="4572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6pPr>
      <a:lvl7pPr marL="9144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7pPr>
      <a:lvl8pPr marL="13716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8pPr>
      <a:lvl9pPr marL="18288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9pPr>
    </p:titleStyle>
    <p:bodyStyle>
      <a:lvl1pPr marL="342900" indent="-342900" algn="l" defTabSz="457200" rtl="0" eaLnBrk="1" fontAlgn="base" hangingPunct="1">
        <a:spcBef>
          <a:spcPct val="20000"/>
        </a:spcBef>
        <a:spcAft>
          <a:spcPct val="0"/>
        </a:spcAft>
        <a:buFont typeface="Arial" charset="0"/>
        <a:buChar char="•"/>
        <a:defRPr sz="3200" kern="1200" spc="-50">
          <a:solidFill>
            <a:schemeClr val="tx2"/>
          </a:solidFill>
          <a:latin typeface="Gill Sans MT" pitchFamily="34" charset="0"/>
          <a:ea typeface="ＭＳ Ｐゴシック" pitchFamily="-110" charset="-128"/>
          <a:cs typeface="Gill Sans MT" pitchFamily="34" charset="0"/>
        </a:defRPr>
      </a:lvl1pPr>
      <a:lvl2pPr marL="742950" indent="-285750" algn="l" defTabSz="457200" rtl="0" eaLnBrk="1" fontAlgn="base" hangingPunct="1">
        <a:spcBef>
          <a:spcPct val="20000"/>
        </a:spcBef>
        <a:spcAft>
          <a:spcPct val="0"/>
        </a:spcAft>
        <a:buClr>
          <a:srgbClr val="2A2517"/>
        </a:buClr>
        <a:buFont typeface="Arial" charset="0"/>
        <a:buChar char="–"/>
        <a:defRPr sz="2800" kern="1200" spc="-50">
          <a:solidFill>
            <a:srgbClr val="2A2517"/>
          </a:solidFill>
          <a:latin typeface="Gill Sans MT" pitchFamily="34" charset="0"/>
          <a:ea typeface="ＭＳ Ｐゴシック" pitchFamily="-110" charset="-128"/>
          <a:cs typeface="Gill Sans MT" pitchFamily="34" charset="0"/>
        </a:defRPr>
      </a:lvl2pPr>
      <a:lvl3pPr marL="1143000" indent="-228600" algn="l" defTabSz="457200" rtl="0" eaLnBrk="1" fontAlgn="base" hangingPunct="1">
        <a:spcBef>
          <a:spcPct val="20000"/>
        </a:spcBef>
        <a:spcAft>
          <a:spcPct val="0"/>
        </a:spcAft>
        <a:buClr>
          <a:srgbClr val="2A2517"/>
        </a:buClr>
        <a:buFont typeface="Arial" charset="0"/>
        <a:buChar char="•"/>
        <a:defRPr sz="2400" kern="1200" spc="-50">
          <a:solidFill>
            <a:srgbClr val="2A2517"/>
          </a:solidFill>
          <a:latin typeface="Gill Sans MT" pitchFamily="34" charset="0"/>
          <a:ea typeface="ＭＳ Ｐゴシック" pitchFamily="-110" charset="-128"/>
          <a:cs typeface="Gill Sans MT" pitchFamily="34" charset="0"/>
        </a:defRPr>
      </a:lvl3pPr>
      <a:lvl4pPr marL="1600200" indent="-228600" algn="l" defTabSz="457200" rtl="0" eaLnBrk="1" fontAlgn="base" hangingPunct="1">
        <a:spcBef>
          <a:spcPct val="20000"/>
        </a:spcBef>
        <a:spcAft>
          <a:spcPct val="0"/>
        </a:spcAft>
        <a:buClr>
          <a:srgbClr val="2A2517"/>
        </a:buClr>
        <a:buFont typeface="Arial" charset="0"/>
        <a:buChar char="–"/>
        <a:defRPr sz="2000" kern="1200" spc="-50">
          <a:solidFill>
            <a:srgbClr val="2A2517"/>
          </a:solidFill>
          <a:latin typeface="Gill Sans MT" pitchFamily="34" charset="0"/>
          <a:ea typeface="ＭＳ Ｐゴシック" pitchFamily="-110" charset="-128"/>
          <a:cs typeface="Gill Sans MT" pitchFamily="34" charset="0"/>
        </a:defRPr>
      </a:lvl4pPr>
      <a:lvl5pPr marL="2057400" indent="-228600" algn="l" defTabSz="457200" rtl="0" eaLnBrk="1" fontAlgn="base" hangingPunct="1">
        <a:spcBef>
          <a:spcPct val="20000"/>
        </a:spcBef>
        <a:spcAft>
          <a:spcPct val="0"/>
        </a:spcAft>
        <a:buClr>
          <a:srgbClr val="2A2517"/>
        </a:buClr>
        <a:buFont typeface="Arial" charset="0"/>
        <a:buChar char="»"/>
        <a:defRPr sz="2000" kern="1200" spc="-50">
          <a:solidFill>
            <a:srgbClr val="2A2517"/>
          </a:solidFill>
          <a:latin typeface="Gill Sans MT" pitchFamily="34" charset="0"/>
          <a:ea typeface="ＭＳ Ｐゴシック" pitchFamily="-110" charset="-128"/>
          <a:cs typeface="Gill Sans MT"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hyperlink" Target="~$SCORE%20Briefing%20On%20Nonprofits%20at%20Venture%20Cafe%2020160107v2.pptx"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www.grants.gov/"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hyperlink" Target="http://www.philanthropy.com/" TargetMode="External"/><Relationship Id="rId7" Type="http://schemas.openxmlformats.org/officeDocument/2006/relationships/hyperlink" Target="http://massnonprofitnet.org/"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hyperlink" Target="http://www.blueavocado.org/" TargetMode="External"/><Relationship Id="rId5" Type="http://schemas.openxmlformats.org/officeDocument/2006/relationships/hyperlink" Target="http://www.tbf.org/" TargetMode="External"/><Relationship Id="rId4" Type="http://schemas.openxmlformats.org/officeDocument/2006/relationships/hyperlink" Target="http://foundationcenter.org/pnd"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81000" y="1299048"/>
            <a:ext cx="8229600" cy="1143000"/>
          </a:xfrm>
          <a:prstGeom prst="rect">
            <a:avLst/>
          </a:prstGeom>
        </p:spPr>
        <p:txBody>
          <a:bodyPr vert="horz" wrap="square" lIns="91440" tIns="45720" rIns="91440" bIns="45720" numCol="1" rtlCol="0" anchor="ctr" anchorCtr="0" compatLnSpc="1">
            <a:prstTxWarp prst="textNoShape">
              <a:avLst/>
            </a:prstTxWarp>
            <a:normAutofit/>
          </a:bodyPr>
          <a:lstStyle>
            <a:lvl1pPr algn="l" defTabSz="457200" rtl="0" eaLnBrk="0" fontAlgn="base" hangingPunct="0">
              <a:spcBef>
                <a:spcPct val="0"/>
              </a:spcBef>
              <a:spcAft>
                <a:spcPct val="0"/>
              </a:spcAft>
              <a:defRPr sz="4600" kern="1200" cap="small" spc="-100" baseline="0">
                <a:solidFill>
                  <a:schemeClr val="tx1"/>
                </a:solidFill>
                <a:latin typeface="Gill Sans MT" pitchFamily="34" charset="0"/>
                <a:ea typeface="MS PGothic" panose="020B0600070205080204" pitchFamily="34" charset="-128"/>
                <a:cs typeface="Gill Sans MT" pitchFamily="34" charset="0"/>
              </a:defRPr>
            </a:lvl1pPr>
            <a:lvl2pPr algn="l" defTabSz="457200" rtl="0" eaLnBrk="0" fontAlgn="base" hangingPunct="0">
              <a:spcBef>
                <a:spcPct val="0"/>
              </a:spcBef>
              <a:spcAft>
                <a:spcPct val="0"/>
              </a:spcAft>
              <a:defRPr sz="3200">
                <a:solidFill>
                  <a:schemeClr val="tx1"/>
                </a:solidFill>
                <a:latin typeface="Gill Sans MT" charset="0"/>
                <a:ea typeface="MS PGothic" panose="020B0600070205080204" pitchFamily="34" charset="-128"/>
                <a:cs typeface="Gill Sans MT" panose="020B0502020104020203" pitchFamily="34" charset="0"/>
              </a:defRPr>
            </a:lvl2pPr>
            <a:lvl3pPr algn="l" defTabSz="457200" rtl="0" eaLnBrk="0" fontAlgn="base" hangingPunct="0">
              <a:spcBef>
                <a:spcPct val="0"/>
              </a:spcBef>
              <a:spcAft>
                <a:spcPct val="0"/>
              </a:spcAft>
              <a:defRPr sz="3200">
                <a:solidFill>
                  <a:schemeClr val="tx1"/>
                </a:solidFill>
                <a:latin typeface="Gill Sans MT" charset="0"/>
                <a:ea typeface="MS PGothic" panose="020B0600070205080204" pitchFamily="34" charset="-128"/>
                <a:cs typeface="Gill Sans MT" panose="020B0502020104020203" pitchFamily="34" charset="0"/>
              </a:defRPr>
            </a:lvl3pPr>
            <a:lvl4pPr algn="l" defTabSz="457200" rtl="0" eaLnBrk="0" fontAlgn="base" hangingPunct="0">
              <a:spcBef>
                <a:spcPct val="0"/>
              </a:spcBef>
              <a:spcAft>
                <a:spcPct val="0"/>
              </a:spcAft>
              <a:defRPr sz="3200">
                <a:solidFill>
                  <a:schemeClr val="tx1"/>
                </a:solidFill>
                <a:latin typeface="Gill Sans MT" charset="0"/>
                <a:ea typeface="MS PGothic" panose="020B0600070205080204" pitchFamily="34" charset="-128"/>
                <a:cs typeface="Gill Sans MT" panose="020B0502020104020203" pitchFamily="34" charset="0"/>
              </a:defRPr>
            </a:lvl4pPr>
            <a:lvl5pPr algn="l" defTabSz="457200" rtl="0" eaLnBrk="0" fontAlgn="base" hangingPunct="0">
              <a:spcBef>
                <a:spcPct val="0"/>
              </a:spcBef>
              <a:spcAft>
                <a:spcPct val="0"/>
              </a:spcAft>
              <a:defRPr sz="3200">
                <a:solidFill>
                  <a:schemeClr val="tx1"/>
                </a:solidFill>
                <a:latin typeface="Gill Sans MT" charset="0"/>
                <a:ea typeface="MS PGothic" panose="020B0600070205080204" pitchFamily="34" charset="-128"/>
                <a:cs typeface="Gill Sans MT" panose="020B0502020104020203" pitchFamily="34" charset="0"/>
              </a:defRPr>
            </a:lvl5pPr>
            <a:lvl6pPr marL="4572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6pPr>
            <a:lvl7pPr marL="9144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7pPr>
            <a:lvl8pPr marL="13716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8pPr>
            <a:lvl9pPr marL="1828800" algn="ctr" defTabSz="457200" rtl="0" eaLnBrk="1" fontAlgn="base" hangingPunct="1">
              <a:spcBef>
                <a:spcPct val="0"/>
              </a:spcBef>
              <a:spcAft>
                <a:spcPct val="0"/>
              </a:spcAft>
              <a:defRPr sz="4400">
                <a:solidFill>
                  <a:schemeClr val="tx1"/>
                </a:solidFill>
                <a:latin typeface="Gill Sans" pitchFamily="-110" charset="0"/>
                <a:ea typeface="ＭＳ Ｐゴシック" pitchFamily="-110" charset="-128"/>
              </a:defRPr>
            </a:lvl9pPr>
          </a:lstStyle>
          <a:p>
            <a:pPr eaLnBrk="1" hangingPunct="1"/>
            <a:r>
              <a:rPr lang="en-US" altLang="en-US" sz="2800" cap="none" dirty="0">
                <a:ea typeface="ＭＳ Ｐゴシック" pitchFamily="34" charset="-128"/>
              </a:rPr>
              <a:t>Presentation Title: </a:t>
            </a:r>
            <a:r>
              <a:rPr lang="en-US" altLang="en-US" sz="2800" cap="none" dirty="0">
                <a:solidFill>
                  <a:schemeClr val="accent4"/>
                </a:solidFill>
                <a:ea typeface="ＭＳ Ｐゴシック" pitchFamily="34" charset="-128"/>
              </a:rPr>
              <a:t>Understanding Non-Profits</a:t>
            </a:r>
            <a:endParaRPr lang="en-US" altLang="en-US" sz="2800" b="1" cap="none" dirty="0">
              <a:solidFill>
                <a:schemeClr val="accent4"/>
              </a:solidFill>
              <a:ea typeface="ＭＳ Ｐゴシック" pitchFamily="34" charset="-128"/>
            </a:endParaRPr>
          </a:p>
        </p:txBody>
      </p:sp>
      <p:sp>
        <p:nvSpPr>
          <p:cNvPr id="5" name="Subtitle 2"/>
          <p:cNvSpPr txBox="1">
            <a:spLocks/>
          </p:cNvSpPr>
          <p:nvPr/>
        </p:nvSpPr>
        <p:spPr>
          <a:xfrm>
            <a:off x="381000" y="2439739"/>
            <a:ext cx="8229600" cy="685800"/>
          </a:xfrm>
          <a:prstGeom prst="rect">
            <a:avLst/>
          </a:prstGeom>
        </p:spPr>
        <p:txBody>
          <a:bodyPr vert="horz" wrap="square" lIns="91440" tIns="45720" rIns="91440" bIns="45720" numCol="1" rtlCol="0" anchor="t" anchorCtr="0" compatLnSpc="1">
            <a:prstTxWarp prst="textNoShape">
              <a:avLst/>
            </a:prstTxWarp>
            <a:normAutofit/>
          </a:bodyPr>
          <a:lstStyle>
            <a:lvl1pPr marL="0" indent="0" algn="l" defTabSz="457200" rtl="0" eaLnBrk="0" fontAlgn="base" hangingPunct="0">
              <a:spcBef>
                <a:spcPct val="20000"/>
              </a:spcBef>
              <a:spcAft>
                <a:spcPct val="0"/>
              </a:spcAft>
              <a:buFont typeface="Arial" pitchFamily="4" charset="-52"/>
              <a:buNone/>
              <a:defRPr sz="2800" i="1" kern="1200" spc="-50">
                <a:solidFill>
                  <a:schemeClr val="tx1">
                    <a:tint val="75000"/>
                  </a:schemeClr>
                </a:solidFill>
                <a:latin typeface="Gill Sans MT" pitchFamily="34" charset="0"/>
                <a:ea typeface="MS PGothic" panose="020B0600070205080204" pitchFamily="34" charset="-128"/>
                <a:cs typeface="Gill Sans MT" pitchFamily="34" charset="0"/>
              </a:defRPr>
            </a:lvl1pPr>
            <a:lvl2pPr marL="457200" indent="0" algn="ctr" defTabSz="457200" rtl="0" eaLnBrk="0" fontAlgn="base" hangingPunct="0">
              <a:spcBef>
                <a:spcPct val="20000"/>
              </a:spcBef>
              <a:spcAft>
                <a:spcPct val="0"/>
              </a:spcAft>
              <a:buFont typeface="Arial" pitchFamily="4" charset="-52"/>
              <a:buNone/>
              <a:defRPr sz="2800" kern="1200" spc="-50">
                <a:solidFill>
                  <a:schemeClr val="tx1">
                    <a:tint val="75000"/>
                  </a:schemeClr>
                </a:solidFill>
                <a:latin typeface="Gill Sans MT" pitchFamily="34" charset="0"/>
                <a:ea typeface="MS PGothic" panose="020B0600070205080204" pitchFamily="34" charset="-128"/>
                <a:cs typeface="Gill Sans MT" pitchFamily="34" charset="0"/>
              </a:defRPr>
            </a:lvl2pPr>
            <a:lvl3pPr marL="914400" indent="0" algn="ctr" defTabSz="457200" rtl="0" eaLnBrk="0" fontAlgn="base" hangingPunct="0">
              <a:spcBef>
                <a:spcPct val="20000"/>
              </a:spcBef>
              <a:spcAft>
                <a:spcPct val="0"/>
              </a:spcAft>
              <a:buFont typeface="Arial" pitchFamily="4" charset="-52"/>
              <a:buNone/>
              <a:defRPr sz="2400" kern="1200" spc="-50">
                <a:solidFill>
                  <a:schemeClr val="tx1">
                    <a:tint val="75000"/>
                  </a:schemeClr>
                </a:solidFill>
                <a:latin typeface="Gill Sans MT" pitchFamily="34" charset="0"/>
                <a:ea typeface="MS PGothic" panose="020B0600070205080204" pitchFamily="34" charset="-128"/>
                <a:cs typeface="Gill Sans MT" pitchFamily="34" charset="0"/>
              </a:defRPr>
            </a:lvl3pPr>
            <a:lvl4pPr marL="1371600" indent="0" algn="ctr" defTabSz="457200" rtl="0" eaLnBrk="0" fontAlgn="base" hangingPunct="0">
              <a:spcBef>
                <a:spcPct val="20000"/>
              </a:spcBef>
              <a:spcAft>
                <a:spcPct val="0"/>
              </a:spcAft>
              <a:buFont typeface="Arial" pitchFamily="4" charset="-52"/>
              <a:buNone/>
              <a:defRPr sz="2400" kern="1200" spc="-50">
                <a:solidFill>
                  <a:schemeClr val="tx1">
                    <a:tint val="75000"/>
                  </a:schemeClr>
                </a:solidFill>
                <a:latin typeface="Gill Sans MT" pitchFamily="34" charset="0"/>
                <a:ea typeface="MS PGothic" panose="020B0600070205080204" pitchFamily="34" charset="-128"/>
                <a:cs typeface="Gill Sans MT" pitchFamily="34" charset="0"/>
              </a:defRPr>
            </a:lvl4pPr>
            <a:lvl5pPr marL="1828800" indent="0" algn="ctr" defTabSz="457200" rtl="0" eaLnBrk="0" fontAlgn="base" hangingPunct="0">
              <a:spcBef>
                <a:spcPct val="20000"/>
              </a:spcBef>
              <a:spcAft>
                <a:spcPct val="0"/>
              </a:spcAft>
              <a:buFont typeface="Arial" pitchFamily="4" charset="-52"/>
              <a:buNone/>
              <a:defRPr sz="2400" kern="1200" spc="-50">
                <a:solidFill>
                  <a:schemeClr val="tx1">
                    <a:tint val="75000"/>
                  </a:schemeClr>
                </a:solidFill>
                <a:latin typeface="Gill Sans MT" pitchFamily="34" charset="0"/>
                <a:ea typeface="MS PGothic" panose="020B0600070205080204" pitchFamily="34" charset="-128"/>
                <a:cs typeface="Gill Sans MT" pitchFamily="34"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eaLnBrk="1" hangingPunct="1"/>
            <a:r>
              <a:rPr lang="en-US" altLang="en-US" i="0" dirty="0">
                <a:solidFill>
                  <a:schemeClr val="tx1"/>
                </a:solidFill>
                <a:ea typeface="ＭＳ Ｐゴシック" pitchFamily="34" charset="-128"/>
              </a:rPr>
              <a:t>Submitted by: Boston Chapter #20</a:t>
            </a:r>
          </a:p>
        </p:txBody>
      </p:sp>
      <p:sp>
        <p:nvSpPr>
          <p:cNvPr id="6" name="TextBox 5"/>
          <p:cNvSpPr txBox="1"/>
          <p:nvPr/>
        </p:nvSpPr>
        <p:spPr>
          <a:xfrm>
            <a:off x="304800" y="565483"/>
            <a:ext cx="8382000" cy="769441"/>
          </a:xfrm>
          <a:prstGeom prst="rect">
            <a:avLst/>
          </a:prstGeom>
          <a:noFill/>
        </p:spPr>
        <p:txBody>
          <a:bodyPr wrap="square" rtlCol="0">
            <a:spAutoFit/>
          </a:bodyPr>
          <a:lstStyle/>
          <a:p>
            <a:r>
              <a:rPr lang="en-US" sz="4400" b="1" dirty="0"/>
              <a:t>National Workshop Resource</a:t>
            </a:r>
          </a:p>
        </p:txBody>
      </p:sp>
      <p:sp>
        <p:nvSpPr>
          <p:cNvPr id="7" name="Text Placeholder 3"/>
          <p:cNvSpPr txBox="1">
            <a:spLocks/>
          </p:cNvSpPr>
          <p:nvPr/>
        </p:nvSpPr>
        <p:spPr>
          <a:xfrm>
            <a:off x="381000" y="3125539"/>
            <a:ext cx="8077200" cy="989176"/>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800" dirty="0">
                <a:solidFill>
                  <a:schemeClr val="accent4"/>
                </a:solidFill>
                <a:latin typeface="Arial" panose="020B0604020202020204" pitchFamily="34" charset="0"/>
                <a:cs typeface="Arial" panose="020B0604020202020204" pitchFamily="34" charset="0"/>
              </a:rPr>
              <a:t>If you would like to more information about this presentation or to connect with a member of our workshop program group, please contact </a:t>
            </a:r>
            <a:r>
              <a:rPr lang="en-US" sz="1800" b="1" dirty="0">
                <a:solidFill>
                  <a:schemeClr val="accent4"/>
                </a:solidFill>
                <a:latin typeface="Arial" panose="020B0604020202020204" pitchFamily="34" charset="0"/>
                <a:cs typeface="Arial" panose="020B0604020202020204" pitchFamily="34" charset="0"/>
              </a:rPr>
              <a:t>education@score.org</a:t>
            </a:r>
          </a:p>
        </p:txBody>
      </p:sp>
    </p:spTree>
    <p:extLst>
      <p:ext uri="{BB962C8B-B14F-4D97-AF65-F5344CB8AC3E}">
        <p14:creationId xmlns:p14="http://schemas.microsoft.com/office/powerpoint/2010/main" val="104664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17848" y="1751044"/>
            <a:ext cx="7963679" cy="1691951"/>
          </a:xfrm>
          <a:prstGeom prst="rect">
            <a:avLst/>
          </a:prstGeom>
        </p:spPr>
        <p:txBody>
          <a:bodyPr anchor="ctr">
            <a:prstTxWarp prst="textNoShape">
              <a:avLst/>
            </a:prstTxWarp>
            <a:normAutofit/>
          </a:bodyPr>
          <a:lstStyle/>
          <a:p>
            <a:pPr algn="ctr" defTabSz="457200" eaLnBrk="1" hangingPunct="1">
              <a:defRPr/>
            </a:pPr>
            <a:r>
              <a:rPr lang="en-US" altLang="en-US" sz="4400" b="1" spc="-100" dirty="0">
                <a:latin typeface="Gill Sans MT" pitchFamily="34" charset="0"/>
                <a:ea typeface="ＭＳ Ｐゴシック" pitchFamily="34" charset="-128"/>
                <a:cs typeface="Gill Sans MT" pitchFamily="34" charset="0"/>
              </a:rPr>
              <a:t>UNDERSTANDING NONPROFITS</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914400"/>
            <a:ext cx="8229600" cy="5330825"/>
          </a:xfrm>
        </p:spPr>
        <p:txBody>
          <a:bodyPr wrap="square" numCol="1" anchor="t" anchorCtr="0" compatLnSpc="1">
            <a:prstTxWarp prst="textNoShape">
              <a:avLst/>
            </a:prstTxWarp>
            <a:normAutofit lnSpcReduction="10000"/>
          </a:bodyPr>
          <a:lstStyle/>
          <a:p>
            <a:pPr marL="0" indent="0">
              <a:spcBef>
                <a:spcPts val="638"/>
              </a:spcBef>
              <a:spcAft>
                <a:spcPct val="0"/>
              </a:spcAft>
              <a:buClrTx/>
              <a:buNone/>
              <a:defRPr/>
            </a:pPr>
            <a:r>
              <a:rPr lang="en-US" dirty="0">
                <a:solidFill>
                  <a:srgbClr val="FF0000"/>
                </a:solidFill>
                <a:latin typeface="+mn-lt"/>
                <a:cs typeface="Gill Sans MT" pitchFamily="-108" charset="0"/>
              </a:rPr>
              <a:t>How does the enterprise fund itself</a:t>
            </a:r>
            <a:endParaRPr lang="en-US" sz="2400" dirty="0">
              <a:solidFill>
                <a:srgbClr val="FF0000"/>
              </a:solidFill>
              <a:latin typeface="+mn-lt"/>
              <a:cs typeface="Gill Sans MT" pitchFamily="-108" charset="0"/>
            </a:endParaRPr>
          </a:p>
          <a:p>
            <a:pPr marL="1203325" lvl="2" indent="-136525">
              <a:spcBef>
                <a:spcPts val="475"/>
              </a:spcBef>
              <a:spcAft>
                <a:spcPct val="0"/>
              </a:spcAft>
              <a:buClrTx/>
              <a:buFont typeface="Arial" pitchFamily="-108" charset="0"/>
              <a:buChar char="•"/>
              <a:defRPr/>
            </a:pPr>
            <a:r>
              <a:rPr lang="en-US" dirty="0">
                <a:solidFill>
                  <a:srgbClr val="004D8F"/>
                </a:solidFill>
                <a:latin typeface="+mn-lt"/>
                <a:cs typeface="Gill Sans MT" pitchFamily="-108" charset="0"/>
              </a:rPr>
              <a:t>Primarily earned income—may want to consider for profit </a:t>
            </a:r>
          </a:p>
          <a:p>
            <a:pPr marL="1773238" lvl="3" indent="-274638">
              <a:spcAft>
                <a:spcPct val="0"/>
              </a:spcAft>
              <a:buClrTx/>
              <a:buFont typeface="Arial" pitchFamily="-108" charset="0"/>
              <a:buChar char="–"/>
              <a:defRPr/>
            </a:pPr>
            <a:r>
              <a:rPr lang="en-US" sz="2000" dirty="0">
                <a:solidFill>
                  <a:srgbClr val="004D8F"/>
                </a:solidFill>
                <a:latin typeface="+mn-lt"/>
                <a:cs typeface="Gill Sans MT" pitchFamily="-108" charset="0"/>
              </a:rPr>
              <a:t>The rule is income from products and services must be fully integrated into the mission to preserve tax exemption</a:t>
            </a:r>
          </a:p>
          <a:p>
            <a:pPr marL="1203325" lvl="2" indent="-136525">
              <a:spcBef>
                <a:spcPts val="475"/>
              </a:spcBef>
              <a:spcAft>
                <a:spcPct val="0"/>
              </a:spcAft>
              <a:buClrTx/>
              <a:buFont typeface="Arial" pitchFamily="-108" charset="0"/>
              <a:buChar char="•"/>
              <a:defRPr/>
            </a:pPr>
            <a:r>
              <a:rPr lang="en-US" dirty="0">
                <a:solidFill>
                  <a:srgbClr val="004D8F"/>
                </a:solidFill>
                <a:latin typeface="+mn-lt"/>
                <a:cs typeface="Gill Sans MT" pitchFamily="-108" charset="0"/>
              </a:rPr>
              <a:t>Primarily grants and donations—nonprofit</a:t>
            </a:r>
          </a:p>
          <a:p>
            <a:pPr marL="1773238" lvl="3" indent="-274638">
              <a:spcAft>
                <a:spcPct val="0"/>
              </a:spcAft>
              <a:buClrTx/>
              <a:buFont typeface="Arial" pitchFamily="-108" charset="0"/>
              <a:buChar char="–"/>
              <a:defRPr/>
            </a:pPr>
            <a:r>
              <a:rPr lang="en-US" sz="2000" dirty="0">
                <a:solidFill>
                  <a:srgbClr val="004D8F"/>
                </a:solidFill>
                <a:latin typeface="+mn-lt"/>
                <a:cs typeface="Gill Sans MT" pitchFamily="-108" charset="0"/>
              </a:rPr>
              <a:t>Products</a:t>
            </a:r>
            <a:r>
              <a:rPr lang="en-US" dirty="0">
                <a:solidFill>
                  <a:srgbClr val="004D8F"/>
                </a:solidFill>
                <a:latin typeface="+mn-lt"/>
                <a:cs typeface="Gill Sans MT" pitchFamily="-108" charset="0"/>
              </a:rPr>
              <a:t> </a:t>
            </a:r>
            <a:r>
              <a:rPr lang="en-US" sz="2000" dirty="0">
                <a:solidFill>
                  <a:srgbClr val="004D8F"/>
                </a:solidFill>
                <a:latin typeface="+mn-lt"/>
                <a:cs typeface="Gill Sans MT" pitchFamily="-108" charset="0"/>
              </a:rPr>
              <a:t>and services are offered to beneficiaries who can neither afford nor are billed to pay</a:t>
            </a:r>
          </a:p>
          <a:p>
            <a:pPr marL="912813" lvl="1" indent="-277813">
              <a:spcBef>
                <a:spcPts val="563"/>
              </a:spcBef>
              <a:spcAft>
                <a:spcPct val="0"/>
              </a:spcAft>
              <a:buClrTx/>
              <a:buFont typeface="Arial"/>
              <a:buChar char="•"/>
              <a:defRPr/>
            </a:pPr>
            <a:r>
              <a:rPr lang="en-US" sz="2400" dirty="0">
                <a:solidFill>
                  <a:srgbClr val="004D8F"/>
                </a:solidFill>
                <a:latin typeface="+mn-lt"/>
                <a:cs typeface="Gill Sans MT" pitchFamily="-108" charset="0"/>
              </a:rPr>
              <a:t>Nonprofits can own for profit business, have joint ventures with for profits or license intellectual property to for profits </a:t>
            </a:r>
          </a:p>
          <a:p>
            <a:pPr marL="1773238" lvl="3" indent="-274638">
              <a:spcAft>
                <a:spcPct val="0"/>
              </a:spcAft>
              <a:buClrTx/>
              <a:buFont typeface="Arial" pitchFamily="-108" charset="0"/>
              <a:buChar char="–"/>
              <a:defRPr/>
            </a:pPr>
            <a:r>
              <a:rPr lang="en-US" sz="2000" dirty="0">
                <a:solidFill>
                  <a:srgbClr val="004D8F"/>
                </a:solidFill>
                <a:latin typeface="+mn-lt"/>
                <a:cs typeface="Gill Sans MT" pitchFamily="-108" charset="0"/>
              </a:rPr>
              <a:t>Be careful how you invest in for profits: cannot benefit individuals</a:t>
            </a:r>
          </a:p>
          <a:p>
            <a:pPr marL="912813" lvl="1" indent="-277813">
              <a:spcBef>
                <a:spcPts val="563"/>
              </a:spcBef>
              <a:spcAft>
                <a:spcPct val="0"/>
              </a:spcAft>
              <a:buClrTx/>
              <a:buFont typeface="Arial"/>
              <a:buChar char="•"/>
              <a:defRPr/>
            </a:pPr>
            <a:r>
              <a:rPr lang="en-US" sz="2400" dirty="0">
                <a:solidFill>
                  <a:srgbClr val="004D8F"/>
                </a:solidFill>
                <a:latin typeface="+mn-lt"/>
                <a:cs typeface="Gill Sans MT" pitchFamily="-108" charset="0"/>
              </a:rPr>
              <a:t>For profits cannot own nonprofits</a:t>
            </a:r>
          </a:p>
          <a:p>
            <a:pPr marL="0" indent="0">
              <a:spcBef>
                <a:spcPts val="638"/>
              </a:spcBef>
              <a:spcAft>
                <a:spcPct val="0"/>
              </a:spcAft>
              <a:buClrTx/>
              <a:buNone/>
              <a:defRPr/>
            </a:pPr>
            <a:r>
              <a:rPr lang="en-US" dirty="0">
                <a:solidFill>
                  <a:srgbClr val="FF0000"/>
                </a:solidFill>
                <a:latin typeface="+mn-lt"/>
                <a:cs typeface="Gill Sans MT" pitchFamily="-108" charset="0"/>
              </a:rPr>
              <a:t>Governance and control</a:t>
            </a:r>
          </a:p>
          <a:p>
            <a:pPr marL="912813" lvl="1" indent="-277813">
              <a:spcBef>
                <a:spcPts val="563"/>
              </a:spcBef>
              <a:spcAft>
                <a:spcPct val="0"/>
              </a:spcAft>
              <a:buClrTx/>
              <a:buFont typeface="Arial"/>
              <a:buChar char="•"/>
              <a:defRPr/>
            </a:pPr>
            <a:r>
              <a:rPr lang="en-US" sz="2400" dirty="0">
                <a:solidFill>
                  <a:schemeClr val="bg2"/>
                </a:solidFill>
                <a:latin typeface="+mn-lt"/>
                <a:cs typeface="Gill Sans MT" pitchFamily="-108" charset="0"/>
              </a:rPr>
              <a:t>Who owns the nonprofit: typically but not always, the Board</a:t>
            </a:r>
          </a:p>
          <a:p>
            <a:pPr lvl="1">
              <a:spcBef>
                <a:spcPts val="563"/>
              </a:spcBef>
              <a:spcAft>
                <a:spcPct val="0"/>
              </a:spcAft>
              <a:buFont typeface="Arial" pitchFamily="-108" charset="0"/>
              <a:buChar char="–"/>
              <a:defRPr/>
            </a:pPr>
            <a:endParaRPr lang="en-US" sz="2000" dirty="0">
              <a:latin typeface="+mn-lt"/>
              <a:cs typeface="Gill Sans MT" pitchFamily="-108" charset="0"/>
            </a:endParaRPr>
          </a:p>
          <a:p>
            <a:pPr>
              <a:spcBef>
                <a:spcPts val="638"/>
              </a:spcBef>
              <a:spcAft>
                <a:spcPct val="0"/>
              </a:spcAft>
              <a:buClr>
                <a:srgbClr val="538833"/>
              </a:buClr>
              <a:buFont typeface="Arial" pitchFamily="-108" charset="0"/>
              <a:buChar char="•"/>
              <a:defRPr/>
            </a:pPr>
            <a:endParaRPr lang="en-US" dirty="0">
              <a:latin typeface="+mn-lt"/>
              <a:cs typeface="Gill Sans MT" pitchFamily="-108" charset="0"/>
            </a:endParaRPr>
          </a:p>
          <a:p>
            <a:pPr lvl="1">
              <a:spcBef>
                <a:spcPts val="563"/>
              </a:spcBef>
              <a:spcAft>
                <a:spcPct val="0"/>
              </a:spcAft>
              <a:buFont typeface="Arial" pitchFamily="-108" charset="0"/>
              <a:buChar char="–"/>
              <a:defRPr/>
            </a:pPr>
            <a:endParaRPr lang="en-US" sz="2000" dirty="0">
              <a:latin typeface="+mn-lt"/>
              <a:cs typeface="Gill Sans MT" pitchFamily="-108" charset="0"/>
            </a:endParaRPr>
          </a:p>
          <a:p>
            <a:pPr lvl="1">
              <a:spcBef>
                <a:spcPts val="563"/>
              </a:spcBef>
              <a:spcAft>
                <a:spcPct val="0"/>
              </a:spcAft>
              <a:buFont typeface="Arial" pitchFamily="-108" charset="0"/>
              <a:buChar char="–"/>
              <a:defRPr/>
            </a:pPr>
            <a:endParaRPr lang="en-US" sz="2000" dirty="0">
              <a:latin typeface="+mn-lt"/>
              <a:cs typeface="Gill Sans MT" pitchFamily="-108" charset="0"/>
            </a:endParaRPr>
          </a:p>
        </p:txBody>
      </p:sp>
      <p:sp>
        <p:nvSpPr>
          <p:cNvPr id="5" name="Title 4"/>
          <p:cNvSpPr>
            <a:spLocks noGrp="1"/>
          </p:cNvSpPr>
          <p:nvPr>
            <p:ph type="title" idx="4294967295"/>
          </p:nvPr>
        </p:nvSpPr>
        <p:spPr>
          <a:xfrm>
            <a:off x="0" y="69850"/>
            <a:ext cx="8229600" cy="925513"/>
          </a:xfrm>
        </p:spPr>
        <p:txBody>
          <a:bodyPr/>
          <a:lstStyle/>
          <a:p>
            <a:pPr>
              <a:defRPr/>
            </a:pPr>
            <a:r>
              <a:rPr lang="en-US" sz="3600" b="1" dirty="0">
                <a:solidFill>
                  <a:srgbClr val="004D8F"/>
                </a:solidFill>
              </a:rPr>
              <a:t>Profit  Vs. Non Profit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5400"/>
            <a:ext cx="8229600" cy="925513"/>
          </a:xfrm>
        </p:spPr>
        <p:txBody>
          <a:bodyPr/>
          <a:lstStyle/>
          <a:p>
            <a:pPr eaLnBrk="1" fontAlgn="auto" hangingPunct="1">
              <a:defRPr/>
            </a:pPr>
            <a:r>
              <a:rPr lang="en-US" sz="3600" b="1" dirty="0">
                <a:solidFill>
                  <a:schemeClr val="bg2"/>
                </a:solidFill>
                <a:latin typeface="Gill Sans MT"/>
                <a:cs typeface="Gill Sans MT"/>
                <a:sym typeface="Arial"/>
              </a:rPr>
              <a:t>Alternative:  Benefit Corporations--LLC </a:t>
            </a:r>
          </a:p>
        </p:txBody>
      </p:sp>
      <p:sp>
        <p:nvSpPr>
          <p:cNvPr id="7" name="Text Placeholder 6"/>
          <p:cNvSpPr>
            <a:spLocks noGrp="1"/>
          </p:cNvSpPr>
          <p:nvPr>
            <p:ph type="body" idx="4294967295"/>
          </p:nvPr>
        </p:nvSpPr>
        <p:spPr>
          <a:xfrm>
            <a:off x="444500" y="790575"/>
            <a:ext cx="8699500" cy="5430838"/>
          </a:xfrm>
        </p:spPr>
        <p:txBody>
          <a:bodyPr wrap="square" numCol="1" anchor="t" anchorCtr="0" compatLnSpc="1">
            <a:prstTxWarp prst="textNoShape">
              <a:avLst/>
            </a:prstTxWarp>
            <a:noAutofit/>
          </a:bodyPr>
          <a:lstStyle/>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Purpose: to create a vehicle that promotes investment opportunities that promote social causes or, at the very least, temper corporate profit-maximization with concern for larger social consequences</a:t>
            </a: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Organizational structure assigns control to the founder or designees</a:t>
            </a:r>
            <a:endParaRPr lang="en-US" sz="2200" baseline="30000" dirty="0">
              <a:solidFill>
                <a:srgbClr val="004D8F"/>
              </a:solidFill>
              <a:latin typeface="Calibri" pitchFamily="4" charset="0"/>
              <a:sym typeface="Arial" pitchFamily="4" charset="-52"/>
            </a:endParaRP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Benefit corporation must measure its efforts to promote its general public purpose against a third-party standard for “defining, reporting and assessing overall corporate social and environmental performance.”</a:t>
            </a: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Expanded fiduciary responsibility and legal protection to pursue mission </a:t>
            </a: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Caveat: There is lack of specificity on third-party standard and enforcement of requirements</a:t>
            </a: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Must file standard for profit business reports + annual benefit statement</a:t>
            </a:r>
          </a:p>
          <a:p>
            <a:pPr marL="568325" indent="-365125" eaLnBrk="1" hangingPunct="1">
              <a:spcBef>
                <a:spcPts val="600"/>
              </a:spcBef>
              <a:spcAft>
                <a:spcPct val="0"/>
              </a:spcAft>
              <a:buClr>
                <a:schemeClr val="bg2"/>
              </a:buClr>
              <a:buFont typeface="Arial" pitchFamily="4" charset="-52"/>
              <a:buChar char="•"/>
            </a:pPr>
            <a:r>
              <a:rPr lang="en-US" sz="2200" dirty="0">
                <a:solidFill>
                  <a:srgbClr val="004D8F"/>
                </a:solidFill>
                <a:latin typeface="Calibri" pitchFamily="4" charset="0"/>
                <a:sym typeface="Arial" pitchFamily="4" charset="-52"/>
              </a:rPr>
              <a:t>B Corp Community has 34 members in MA out 1405 total</a:t>
            </a:r>
          </a:p>
          <a:p>
            <a:pPr marL="568325" indent="-365125" eaLnBrk="1" hangingPunct="1">
              <a:spcBef>
                <a:spcPct val="0"/>
              </a:spcBef>
              <a:spcAft>
                <a:spcPct val="0"/>
              </a:spcAft>
              <a:buClr>
                <a:schemeClr val="bg2"/>
              </a:buClr>
              <a:buFont typeface="Arial" pitchFamily="4" charset="-52"/>
              <a:buChar char="•"/>
            </a:pPr>
            <a:endParaRPr lang="en-US" sz="2200" dirty="0">
              <a:solidFill>
                <a:srgbClr val="2A2517"/>
              </a:solidFill>
              <a:latin typeface="Calibri" pitchFamily="4" charset="0"/>
              <a:sym typeface="Arial" pitchFamily="4" charset="-52"/>
            </a:endParaRPr>
          </a:p>
          <a:p>
            <a:pPr marL="568325" indent="-365125" eaLnBrk="1" hangingPunct="1">
              <a:spcBef>
                <a:spcPct val="0"/>
              </a:spcBef>
              <a:spcAft>
                <a:spcPct val="0"/>
              </a:spcAft>
              <a:buClr>
                <a:schemeClr val="bg2"/>
              </a:buClr>
              <a:buFont typeface="Arial" pitchFamily="4" charset="-52"/>
              <a:buNone/>
            </a:pPr>
            <a:r>
              <a:rPr lang="en-US" sz="2200" dirty="0">
                <a:solidFill>
                  <a:srgbClr val="003A6B"/>
                </a:solidFill>
                <a:latin typeface="Calibri" pitchFamily="4" charset="0"/>
                <a:sym typeface="Arial" pitchFamily="4" charset="-52"/>
              </a:rPr>
              <a:t>Website: </a:t>
            </a:r>
            <a:r>
              <a:rPr lang="en-US" sz="2200" dirty="0">
                <a:solidFill>
                  <a:srgbClr val="003A6B"/>
                </a:solidFill>
                <a:latin typeface="Calibri" pitchFamily="4" charset="0"/>
                <a:sym typeface="Arial" pitchFamily="4" charset="-52"/>
                <a:hlinkClick r:id="rId2" action="ppaction://hlinkpres?slideindex=1&amp;slidetitle="/>
              </a:rPr>
              <a:t>https://www.bcorporation.net/b-corp-community</a:t>
            </a:r>
            <a:endParaRPr lang="en-US" sz="2200" dirty="0">
              <a:solidFill>
                <a:srgbClr val="003A6B"/>
              </a:solidFill>
              <a:latin typeface="Calibri" pitchFamily="4" charset="0"/>
              <a:sym typeface="Arial" pitchFamily="4" charset="-5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1925"/>
            <a:ext cx="8229600" cy="925513"/>
          </a:xfrm>
        </p:spPr>
        <p:txBody>
          <a:bodyPr/>
          <a:lstStyle/>
          <a:p>
            <a:pPr>
              <a:defRPr/>
            </a:pPr>
            <a:r>
              <a:rPr lang="en-US" sz="3600" b="1" dirty="0">
                <a:solidFill>
                  <a:srgbClr val="004D8F"/>
                </a:solidFill>
                <a:latin typeface="Gill Sans MT"/>
                <a:cs typeface="Gill Sans MT"/>
              </a:rPr>
              <a:t>Another Option:  L3C Organizations</a:t>
            </a:r>
          </a:p>
        </p:txBody>
      </p:sp>
      <p:sp>
        <p:nvSpPr>
          <p:cNvPr id="41987" name="Text Placeholder 6"/>
          <p:cNvSpPr txBox="1">
            <a:spLocks noGrp="1"/>
          </p:cNvSpPr>
          <p:nvPr>
            <p:ph type="body" idx="4294967295"/>
          </p:nvPr>
        </p:nvSpPr>
        <p:spPr>
          <a:xfrm>
            <a:off x="903288" y="1311275"/>
            <a:ext cx="8240712" cy="4146550"/>
          </a:xfrm>
        </p:spPr>
        <p:txBody>
          <a:bodyPr wrap="square" numCol="1" anchor="t" anchorCtr="0" compatLnSpc="1">
            <a:prstTxWarp prst="textNoShape">
              <a:avLst/>
            </a:prstTxWarp>
            <a:normAutofit fontScale="92500"/>
          </a:bodyPr>
          <a:lstStyle/>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L3C= Low profit, Limited Liability Company</a:t>
            </a:r>
          </a:p>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Bridges the gap between non profit and for profit investing</a:t>
            </a:r>
          </a:p>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Goal: Perform socially beneficial purpose, NOT maximizing income</a:t>
            </a:r>
          </a:p>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Treated as LLC for tax and liability purposes</a:t>
            </a:r>
          </a:p>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Designed to attract investors</a:t>
            </a:r>
          </a:p>
          <a:p>
            <a:pPr marL="568325" indent="-365125">
              <a:spcBef>
                <a:spcPts val="638"/>
              </a:spcBef>
              <a:spcAft>
                <a:spcPct val="0"/>
              </a:spcAft>
              <a:buClrTx/>
              <a:buFontTx/>
              <a:buChar char="•"/>
              <a:defRPr/>
            </a:pPr>
            <a:r>
              <a:rPr lang="en-US" dirty="0">
                <a:solidFill>
                  <a:srgbClr val="004D8F"/>
                </a:solidFill>
                <a:latin typeface="+mn-lt"/>
                <a:ea typeface="Arial" pitchFamily="-108" charset="0"/>
                <a:cs typeface="Arial" pitchFamily="-108" charset="0"/>
              </a:rPr>
              <a:t>Available in 10 states + 2 Indian nations; </a:t>
            </a:r>
            <a:r>
              <a:rPr lang="en-US" u="sng" dirty="0">
                <a:solidFill>
                  <a:srgbClr val="004D8F"/>
                </a:solidFill>
                <a:latin typeface="+mn-lt"/>
                <a:ea typeface="Arial" pitchFamily="-108" charset="0"/>
                <a:cs typeface="Arial" pitchFamily="-108" charset="0"/>
              </a:rPr>
              <a:t>not 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1925"/>
            <a:ext cx="8229600" cy="925513"/>
          </a:xfrm>
        </p:spPr>
        <p:txBody>
          <a:bodyPr/>
          <a:lstStyle/>
          <a:p>
            <a:pPr>
              <a:defRPr/>
            </a:pPr>
            <a:r>
              <a:rPr lang="en-US" sz="3600" b="1" dirty="0">
                <a:solidFill>
                  <a:srgbClr val="004D8F"/>
                </a:solidFill>
                <a:latin typeface="Gill Sans MT"/>
                <a:cs typeface="Gill Sans MT"/>
              </a:rPr>
              <a:t>And One More:  Membership Based </a:t>
            </a:r>
          </a:p>
        </p:txBody>
      </p:sp>
      <p:sp>
        <p:nvSpPr>
          <p:cNvPr id="3" name="Text Placeholder 2"/>
          <p:cNvSpPr>
            <a:spLocks noGrp="1"/>
          </p:cNvSpPr>
          <p:nvPr>
            <p:ph type="body" idx="4294967295"/>
          </p:nvPr>
        </p:nvSpPr>
        <p:spPr>
          <a:xfrm>
            <a:off x="0" y="1311275"/>
            <a:ext cx="8229600" cy="4146550"/>
          </a:xfrm>
        </p:spPr>
        <p:txBody>
          <a:bodyPr wrap="square" numCol="1" anchor="t" anchorCtr="0" compatLnSpc="1">
            <a:prstTxWarp prst="textNoShape">
              <a:avLst/>
            </a:prstTxWarp>
          </a:bodyPr>
          <a:lstStyle/>
          <a:p>
            <a:pPr marL="203200" indent="0">
              <a:spcBef>
                <a:spcPts val="638"/>
              </a:spcBef>
              <a:spcAft>
                <a:spcPct val="0"/>
              </a:spcAft>
              <a:buClrTx/>
              <a:buNone/>
              <a:defRPr/>
            </a:pPr>
            <a:r>
              <a:rPr lang="en-US" sz="3200" dirty="0">
                <a:solidFill>
                  <a:srgbClr val="FF0000"/>
                </a:solidFill>
                <a:latin typeface="+mn-lt"/>
                <a:cs typeface="Gill Sans MT" pitchFamily="-108" charset="0"/>
              </a:rPr>
              <a:t>Single membership non-profits</a:t>
            </a:r>
            <a:r>
              <a:rPr lang="en-US" sz="3200" dirty="0">
                <a:latin typeface="+mn-lt"/>
                <a:cs typeface="Gill Sans MT" pitchFamily="-108" charset="0"/>
              </a:rPr>
              <a:t>	</a:t>
            </a:r>
          </a:p>
          <a:p>
            <a:pPr marL="965200" lvl="1" indent="-330200">
              <a:spcBef>
                <a:spcPts val="563"/>
              </a:spcBef>
              <a:spcAft>
                <a:spcPct val="0"/>
              </a:spcAft>
              <a:buClrTx/>
              <a:buFont typeface="Arial"/>
              <a:buChar char="•"/>
              <a:defRPr/>
            </a:pPr>
            <a:r>
              <a:rPr lang="en-US" dirty="0">
                <a:solidFill>
                  <a:srgbClr val="004D8F"/>
                </a:solidFill>
                <a:latin typeface="+mn-lt"/>
                <a:cs typeface="Gill Sans MT" pitchFamily="-108" charset="0"/>
              </a:rPr>
              <a:t>Founding member selects board of directors and retains the right  to dismiss and replace</a:t>
            </a:r>
          </a:p>
          <a:p>
            <a:pPr marL="965200" lvl="1" indent="-330200">
              <a:spcBef>
                <a:spcPts val="563"/>
              </a:spcBef>
              <a:spcAft>
                <a:spcPct val="0"/>
              </a:spcAft>
              <a:buClrTx/>
              <a:buFont typeface="Arial"/>
              <a:buChar char="•"/>
              <a:defRPr/>
            </a:pPr>
            <a:r>
              <a:rPr lang="en-US" dirty="0">
                <a:solidFill>
                  <a:srgbClr val="004D8F"/>
                </a:solidFill>
                <a:latin typeface="+mn-lt"/>
                <a:cs typeface="Gill Sans MT" pitchFamily="-108" charset="0"/>
              </a:rPr>
              <a:t>Board selects executive director</a:t>
            </a:r>
          </a:p>
          <a:p>
            <a:pPr marL="965200" lvl="1" indent="-330200">
              <a:spcBef>
                <a:spcPts val="563"/>
              </a:spcBef>
              <a:spcAft>
                <a:spcPct val="0"/>
              </a:spcAft>
              <a:buClrTx/>
              <a:buFont typeface="Arial"/>
              <a:buChar char="•"/>
              <a:defRPr/>
            </a:pPr>
            <a:r>
              <a:rPr lang="en-US" dirty="0">
                <a:solidFill>
                  <a:srgbClr val="004D8F"/>
                </a:solidFill>
                <a:latin typeface="+mn-lt"/>
                <a:cs typeface="Gill Sans MT" pitchFamily="-108" charset="0"/>
              </a:rPr>
              <a:t>Day to day activities are the responsibility of the board and ED</a:t>
            </a:r>
          </a:p>
          <a:p>
            <a:pPr lvl="1">
              <a:spcBef>
                <a:spcPts val="563"/>
              </a:spcBef>
              <a:spcAft>
                <a:spcPct val="0"/>
              </a:spcAft>
              <a:buFont typeface="Arial" pitchFamily="-108" charset="0"/>
              <a:buNone/>
              <a:defRPr/>
            </a:pPr>
            <a:endParaRPr lang="en-US" dirty="0">
              <a:solidFill>
                <a:srgbClr val="2E302F"/>
              </a:solidFill>
              <a:latin typeface="+mn-lt"/>
              <a:cs typeface="Gill Sans MT" pitchFamily="-10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1273175"/>
            <a:ext cx="8229600" cy="4838700"/>
          </a:xfrm>
        </p:spPr>
        <p:txBody>
          <a:bodyPr wrap="square" numCol="1" anchor="t" anchorCtr="0" compatLnSpc="1">
            <a:prstTxWarp prst="textNoShape">
              <a:avLst/>
            </a:prstTxWarp>
          </a:bodyPr>
          <a:lstStyle/>
          <a:p>
            <a:pPr marL="0" indent="0">
              <a:spcBef>
                <a:spcPts val="638"/>
              </a:spcBef>
              <a:spcAft>
                <a:spcPct val="0"/>
              </a:spcAft>
              <a:buClrTx/>
              <a:buNone/>
            </a:pPr>
            <a:r>
              <a:rPr lang="en-US" sz="2400" dirty="0">
                <a:solidFill>
                  <a:srgbClr val="FF0000"/>
                </a:solidFill>
                <a:latin typeface="Cabin" charset="-52"/>
              </a:rPr>
              <a:t>Single and double bottom line</a:t>
            </a:r>
          </a:p>
          <a:p>
            <a:pPr marL="1084263" lvl="2" indent="-449263">
              <a:spcBef>
                <a:spcPts val="475"/>
              </a:spcBef>
              <a:spcAft>
                <a:spcPct val="0"/>
              </a:spcAft>
              <a:buClrTx/>
              <a:buFont typeface="Arial" pitchFamily="4" charset="-52"/>
              <a:buChar char="•"/>
            </a:pPr>
            <a:r>
              <a:rPr lang="en-US" sz="2000" dirty="0">
                <a:solidFill>
                  <a:srgbClr val="004D8F"/>
                </a:solidFill>
                <a:latin typeface="Cabin" charset="-52"/>
              </a:rPr>
              <a:t>For profits aim to maximize earnings by providing value to a customer for a price, thus generating revenues</a:t>
            </a:r>
          </a:p>
          <a:p>
            <a:pPr marL="1084263" lvl="2" indent="-449263">
              <a:spcBef>
                <a:spcPts val="475"/>
              </a:spcBef>
              <a:spcAft>
                <a:spcPct val="0"/>
              </a:spcAft>
              <a:buClrTx/>
              <a:buFont typeface="Arial" pitchFamily="4" charset="-52"/>
              <a:buChar char="•"/>
            </a:pPr>
            <a:r>
              <a:rPr lang="en-US" sz="2000" dirty="0">
                <a:solidFill>
                  <a:srgbClr val="004D8F"/>
                </a:solidFill>
                <a:latin typeface="Cabin" charset="-52"/>
              </a:rPr>
              <a:t>Nonprofits are mission driven and provide value to beneficiaries who typically do not pay for products or services received</a:t>
            </a:r>
          </a:p>
          <a:p>
            <a:pPr marL="1084263" lvl="2" indent="-449263">
              <a:spcBef>
                <a:spcPts val="475"/>
              </a:spcBef>
              <a:spcAft>
                <a:spcPct val="0"/>
              </a:spcAft>
              <a:buClrTx/>
              <a:buFont typeface="Arial" pitchFamily="4" charset="-52"/>
              <a:buChar char="•"/>
            </a:pPr>
            <a:r>
              <a:rPr lang="en-US" sz="2000" dirty="0">
                <a:solidFill>
                  <a:srgbClr val="004D8F"/>
                </a:solidFill>
                <a:latin typeface="Cabin" charset="-52"/>
              </a:rPr>
              <a:t>Therefore, nonprofits must identify a separate source of funding</a:t>
            </a:r>
          </a:p>
          <a:p>
            <a:pPr marL="1084263" lvl="2" indent="-449263">
              <a:spcBef>
                <a:spcPts val="475"/>
              </a:spcBef>
              <a:spcAft>
                <a:spcPct val="0"/>
              </a:spcAft>
              <a:buClrTx/>
              <a:buFont typeface="Arial" pitchFamily="4" charset="-52"/>
              <a:buChar char="•"/>
            </a:pPr>
            <a:r>
              <a:rPr lang="en-US" sz="2000" dirty="0">
                <a:solidFill>
                  <a:srgbClr val="004D8F"/>
                </a:solidFill>
                <a:latin typeface="Cabin" charset="-52"/>
              </a:rPr>
              <a:t>Otherwise, the planning of the business includes the same elements: defining the value proposition, identifying key resources and partners, targeting a customer segment, etc.</a:t>
            </a:r>
          </a:p>
          <a:p>
            <a:pPr marL="0" indent="0">
              <a:spcBef>
                <a:spcPts val="638"/>
              </a:spcBef>
              <a:spcAft>
                <a:spcPct val="0"/>
              </a:spcAft>
              <a:buClrTx/>
              <a:buNone/>
            </a:pPr>
            <a:r>
              <a:rPr lang="en-US" sz="2400" dirty="0">
                <a:solidFill>
                  <a:srgbClr val="FF0000"/>
                </a:solidFill>
                <a:latin typeface="Cabin" charset="-52"/>
              </a:rPr>
              <a:t>The perpetual nonprofit challenge</a:t>
            </a:r>
          </a:p>
          <a:p>
            <a:pPr marL="1084263" lvl="2" indent="-449263">
              <a:spcBef>
                <a:spcPts val="475"/>
              </a:spcBef>
              <a:spcAft>
                <a:spcPct val="0"/>
              </a:spcAft>
              <a:buClrTx/>
              <a:buFont typeface="Arial" pitchFamily="4" charset="-52"/>
              <a:buChar char="•"/>
            </a:pPr>
            <a:r>
              <a:rPr lang="en-US" sz="2000" dirty="0">
                <a:solidFill>
                  <a:srgbClr val="004D8F"/>
                </a:solidFill>
                <a:latin typeface="Cabin" charset="-52"/>
              </a:rPr>
              <a:t>Serving the mission while maintaining financial health</a:t>
            </a:r>
          </a:p>
          <a:p>
            <a:pPr marL="1084263" lvl="2" indent="-449263">
              <a:spcBef>
                <a:spcPts val="475"/>
              </a:spcBef>
              <a:spcAft>
                <a:spcPct val="0"/>
              </a:spcAft>
              <a:buFont typeface="Arial" pitchFamily="4" charset="-52"/>
              <a:buChar char="•"/>
            </a:pPr>
            <a:endParaRPr lang="en-US" sz="2000" dirty="0">
              <a:solidFill>
                <a:srgbClr val="2E302F"/>
              </a:solidFill>
              <a:latin typeface="Cabin" charset="-52"/>
            </a:endParaRPr>
          </a:p>
        </p:txBody>
      </p:sp>
      <p:sp>
        <p:nvSpPr>
          <p:cNvPr id="4" name="Title 1"/>
          <p:cNvSpPr txBox="1">
            <a:spLocks/>
          </p:cNvSpPr>
          <p:nvPr/>
        </p:nvSpPr>
        <p:spPr>
          <a:xfrm>
            <a:off x="457200" y="214313"/>
            <a:ext cx="8229600" cy="925512"/>
          </a:xfrm>
          <a:prstGeom prst="rect">
            <a:avLst/>
          </a:prstGeom>
          <a:noFill/>
          <a:ln>
            <a:noFill/>
          </a:ln>
        </p:spPr>
        <p:txBody>
          <a:bodyPr anchor="ctr">
            <a:normAutofit/>
          </a:bodyPr>
          <a:lstStyle/>
          <a:p>
            <a:pPr algn="ctr" defTabSz="457200">
              <a:spcBef>
                <a:spcPts val="0"/>
              </a:spcBef>
              <a:spcAft>
                <a:spcPts val="0"/>
              </a:spcAft>
              <a:defRPr/>
            </a:pPr>
            <a:r>
              <a:rPr lang="en-US" sz="3600" b="1" cap="small" spc="-100" dirty="0">
                <a:solidFill>
                  <a:srgbClr val="004D8F"/>
                </a:solidFill>
                <a:latin typeface="Gill Sans MT"/>
                <a:cs typeface="Gill Sans MT"/>
              </a:rPr>
              <a:t>Profit vs. Nonprofit:  Finances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a:stretch>
            <a:fillRect/>
          </a:stretch>
        </p:blipFill>
        <p:spPr bwMode="auto">
          <a:xfrm>
            <a:off x="1525588" y="1557338"/>
            <a:ext cx="5883275" cy="4325937"/>
          </a:xfrm>
          <a:prstGeom prst="rect">
            <a:avLst/>
          </a:prstGeom>
          <a:noFill/>
          <a:ln w="9525">
            <a:noFill/>
            <a:miter lim="800000"/>
            <a:headEnd/>
            <a:tailEnd/>
          </a:ln>
        </p:spPr>
      </p:pic>
      <p:sp>
        <p:nvSpPr>
          <p:cNvPr id="4" name="Title 1"/>
          <p:cNvSpPr txBox="1">
            <a:spLocks/>
          </p:cNvSpPr>
          <p:nvPr/>
        </p:nvSpPr>
        <p:spPr>
          <a:xfrm>
            <a:off x="457200" y="109538"/>
            <a:ext cx="8229600" cy="1212850"/>
          </a:xfrm>
          <a:prstGeom prst="rect">
            <a:avLst/>
          </a:prstGeom>
          <a:noFill/>
          <a:ln>
            <a:noFill/>
          </a:ln>
        </p:spPr>
        <p:txBody>
          <a:bodyPr anchor="ctr">
            <a:normAutofit/>
          </a:bodyPr>
          <a:lstStyle/>
          <a:p>
            <a:pPr algn="ctr" defTabSz="457200">
              <a:spcBef>
                <a:spcPts val="0"/>
              </a:spcBef>
              <a:spcAft>
                <a:spcPts val="0"/>
              </a:spcAft>
              <a:defRPr/>
            </a:pPr>
            <a:r>
              <a:rPr lang="en-US" sz="3600" cap="small" spc="-100" dirty="0">
                <a:solidFill>
                  <a:srgbClr val="004D8F"/>
                </a:solidFill>
                <a:latin typeface="Gill Sans MT"/>
                <a:cs typeface="Gill Sans MT"/>
              </a:rPr>
              <a:t>Contributions to US Non Profits in 2014</a:t>
            </a:r>
          </a:p>
          <a:p>
            <a:pPr algn="ctr" defTabSz="457200">
              <a:spcBef>
                <a:spcPts val="0"/>
              </a:spcBef>
              <a:spcAft>
                <a:spcPts val="0"/>
              </a:spcAft>
              <a:defRPr/>
            </a:pPr>
            <a:r>
              <a:rPr lang="en-US" sz="3200" cap="small" spc="-100" dirty="0">
                <a:solidFill>
                  <a:srgbClr val="004D8F"/>
                </a:solidFill>
                <a:latin typeface="Gill Sans MT"/>
                <a:cs typeface="Gill Sans MT"/>
              </a:rPr>
              <a:t>(Boston Globe 12/13/15)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6838"/>
            <a:ext cx="8229600" cy="925512"/>
          </a:xfrm>
        </p:spPr>
        <p:txBody>
          <a:bodyPr/>
          <a:lstStyle/>
          <a:p>
            <a:pPr>
              <a:defRPr/>
            </a:pPr>
            <a:r>
              <a:rPr lang="en-US" sz="3600" b="1" dirty="0">
                <a:solidFill>
                  <a:srgbClr val="004D8F"/>
                </a:solidFill>
                <a:latin typeface="Gill Sans MT"/>
                <a:cs typeface="Gill Sans MT"/>
              </a:rPr>
              <a:t>The MA Nonprofit Sector</a:t>
            </a:r>
          </a:p>
        </p:txBody>
      </p:sp>
      <p:sp>
        <p:nvSpPr>
          <p:cNvPr id="3" name="Text Placeholder 2"/>
          <p:cNvSpPr>
            <a:spLocks noGrp="1"/>
          </p:cNvSpPr>
          <p:nvPr>
            <p:ph type="body" idx="4294967295"/>
          </p:nvPr>
        </p:nvSpPr>
        <p:spPr>
          <a:xfrm>
            <a:off x="919163" y="938213"/>
            <a:ext cx="8224837" cy="4575175"/>
          </a:xfrm>
        </p:spPr>
        <p:txBody>
          <a:bodyPr wrap="square" numCol="1" anchor="t" anchorCtr="0" compatLnSpc="1">
            <a:prstTxWarp prst="textNoShape">
              <a:avLst/>
            </a:prstTxWarp>
            <a:noAutofit/>
          </a:bodyPr>
          <a:lstStyle/>
          <a:p>
            <a:pPr marL="568325" indent="-365125">
              <a:spcBef>
                <a:spcPts val="638"/>
              </a:spcBef>
              <a:spcAft>
                <a:spcPct val="0"/>
              </a:spcAft>
              <a:buClrTx/>
              <a:buFont typeface="Arial" pitchFamily="-108" charset="0"/>
              <a:buChar char="•"/>
              <a:defRPr/>
            </a:pPr>
            <a:r>
              <a:rPr lang="en-US" sz="2400" dirty="0">
                <a:solidFill>
                  <a:srgbClr val="FF0000"/>
                </a:solidFill>
                <a:latin typeface="+mn-lt"/>
                <a:cs typeface="Gill Sans MT" pitchFamily="-108" charset="0"/>
              </a:rPr>
              <a:t>Re</a:t>
            </a:r>
            <a:r>
              <a:rPr lang="en-US" sz="2600" dirty="0">
                <a:solidFill>
                  <a:srgbClr val="FF0000"/>
                </a:solidFill>
                <a:latin typeface="+mn-lt"/>
                <a:cs typeface="Gill Sans MT" pitchFamily="-108" charset="0"/>
              </a:rPr>
              <a:t>cent statistics for the non-profit sector are impressive</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33,000 non-profits, 20,000 have recurring annual revenues </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generated $234M in Revenues in 2010</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employed 16.7% of the workforce in 2011</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added jobs during the recent downturn while the private and government sector shed them</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Contribution revenue growing at 1.2%</a:t>
            </a:r>
          </a:p>
          <a:p>
            <a:pPr marL="965200" lvl="1" indent="-330200">
              <a:spcBef>
                <a:spcPts val="563"/>
              </a:spcBef>
              <a:spcAft>
                <a:spcPct val="0"/>
              </a:spcAft>
              <a:buClrTx/>
              <a:buFont typeface="Arial"/>
              <a:buChar char="•"/>
              <a:defRPr/>
            </a:pPr>
            <a:r>
              <a:rPr lang="en-US" sz="2400" dirty="0">
                <a:solidFill>
                  <a:srgbClr val="004D8F"/>
                </a:solidFill>
                <a:latin typeface="+mn-lt"/>
                <a:cs typeface="Gill Sans MT" pitchFamily="-108" charset="0"/>
              </a:rPr>
              <a:t>Program/service revenue growing at 2.8%</a:t>
            </a:r>
          </a:p>
          <a:p>
            <a:pPr marL="568325" indent="-365125">
              <a:spcBef>
                <a:spcPts val="638"/>
              </a:spcBef>
              <a:spcAft>
                <a:spcPct val="0"/>
              </a:spcAft>
              <a:buClrTx/>
              <a:buFont typeface="Arial" pitchFamily="-108" charset="0"/>
              <a:buChar char="•"/>
              <a:defRPr/>
            </a:pPr>
            <a:r>
              <a:rPr lang="en-US" sz="2600" dirty="0">
                <a:solidFill>
                  <a:srgbClr val="FF0000"/>
                </a:solidFill>
                <a:latin typeface="+mn-lt"/>
                <a:cs typeface="Gill Sans MT" pitchFamily="-108" charset="0"/>
              </a:rPr>
              <a:t>Serving the mission remains a financial challenge raising the threat of unsustainable growth</a:t>
            </a:r>
          </a:p>
          <a:p>
            <a:pPr marL="568325" indent="-365125">
              <a:spcBef>
                <a:spcPts val="638"/>
              </a:spcBef>
              <a:spcAft>
                <a:spcPct val="0"/>
              </a:spcAft>
              <a:buClrTx/>
              <a:buFont typeface="Arial" pitchFamily="-108" charset="0"/>
              <a:buChar char="•"/>
              <a:defRPr/>
            </a:pPr>
            <a:r>
              <a:rPr lang="en-US" sz="2600" dirty="0">
                <a:solidFill>
                  <a:srgbClr val="FF0000"/>
                </a:solidFill>
                <a:latin typeface="+mn-lt"/>
                <a:cs typeface="Gill Sans MT" pitchFamily="-108" charset="0"/>
              </a:rPr>
              <a:t>Are there too many non-profits offering duplicate services?</a:t>
            </a:r>
          </a:p>
          <a:p>
            <a:pPr>
              <a:spcBef>
                <a:spcPts val="638"/>
              </a:spcBef>
              <a:spcAft>
                <a:spcPct val="0"/>
              </a:spcAft>
              <a:buClr>
                <a:srgbClr val="538833"/>
              </a:buClr>
              <a:buFont typeface="Arial" pitchFamily="-108" charset="0"/>
              <a:buChar char="•"/>
              <a:defRPr/>
            </a:pPr>
            <a:endParaRPr lang="en-US" dirty="0">
              <a:latin typeface="+mn-lt"/>
              <a:cs typeface="Gill Sans MT" pitchFamily="-108" charset="0"/>
            </a:endParaRPr>
          </a:p>
          <a:p>
            <a:pPr>
              <a:spcBef>
                <a:spcPts val="638"/>
              </a:spcBef>
              <a:spcAft>
                <a:spcPct val="0"/>
              </a:spcAft>
              <a:buClr>
                <a:srgbClr val="538833"/>
              </a:buClr>
              <a:buFont typeface="Arial" pitchFamily="-108" charset="0"/>
              <a:buChar char="•"/>
              <a:defRPr/>
            </a:pPr>
            <a:endParaRPr lang="en-US" sz="2400" dirty="0">
              <a:latin typeface="+mn-lt"/>
              <a:cs typeface="Gill Sans MT" pitchFamily="-108" charset="0"/>
            </a:endParaRPr>
          </a:p>
          <a:p>
            <a:pPr lvl="1">
              <a:spcBef>
                <a:spcPts val="563"/>
              </a:spcBef>
              <a:spcAft>
                <a:spcPct val="0"/>
              </a:spcAft>
              <a:buFont typeface="Arial" pitchFamily="-108" charset="0"/>
              <a:buChar char="–"/>
              <a:defRPr/>
            </a:pPr>
            <a:endParaRPr lang="en-US" sz="2400" dirty="0">
              <a:latin typeface="+mn-lt"/>
              <a:cs typeface="Gill Sans MT" pitchFamily="-108" charset="0"/>
            </a:endParaRPr>
          </a:p>
          <a:p>
            <a:pPr lvl="1">
              <a:spcBef>
                <a:spcPts val="563"/>
              </a:spcBef>
              <a:spcAft>
                <a:spcPct val="0"/>
              </a:spcAft>
              <a:buFont typeface="Arial" pitchFamily="-108" charset="0"/>
              <a:buNone/>
              <a:defRPr/>
            </a:pPr>
            <a:endParaRPr lang="en-US" sz="2400" dirty="0">
              <a:latin typeface="+mn-lt"/>
              <a:cs typeface="Gill Sans MT" pitchFamily="-108" charset="0"/>
            </a:endParaRPr>
          </a:p>
          <a:p>
            <a:pPr lvl="1">
              <a:spcBef>
                <a:spcPts val="563"/>
              </a:spcBef>
              <a:spcAft>
                <a:spcPct val="0"/>
              </a:spcAft>
              <a:buFont typeface="Arial" pitchFamily="-108" charset="0"/>
              <a:buChar char="–"/>
              <a:defRPr/>
            </a:pPr>
            <a:endParaRPr lang="en-US" sz="3200" dirty="0">
              <a:latin typeface="+mn-lt"/>
              <a:cs typeface="Gill Sans MT" pitchFamily="-108" charset="0"/>
            </a:endParaRPr>
          </a:p>
          <a:p>
            <a:pPr lvl="1">
              <a:spcBef>
                <a:spcPts val="563"/>
              </a:spcBef>
              <a:spcAft>
                <a:spcPct val="0"/>
              </a:spcAft>
              <a:buFont typeface="Arial" pitchFamily="-108" charset="0"/>
              <a:buChar char="–"/>
              <a:defRPr/>
            </a:pPr>
            <a:endParaRPr lang="en-US" sz="3200" dirty="0">
              <a:latin typeface="+mn-lt"/>
              <a:cs typeface="Gill Sans MT" pitchFamily="-108" charset="0"/>
            </a:endParaRPr>
          </a:p>
          <a:p>
            <a:pPr lvl="1">
              <a:spcBef>
                <a:spcPts val="563"/>
              </a:spcBef>
              <a:spcAft>
                <a:spcPct val="0"/>
              </a:spcAft>
              <a:buFont typeface="Arial" pitchFamily="-108" charset="0"/>
              <a:buChar char="–"/>
              <a:defRPr/>
            </a:pPr>
            <a:endParaRPr lang="en-US" sz="3200" dirty="0">
              <a:latin typeface="+mn-lt"/>
              <a:cs typeface="Gill Sans MT" pitchFamily="-108" charset="0"/>
            </a:endParaRPr>
          </a:p>
          <a:p>
            <a:pPr lvl="1">
              <a:spcBef>
                <a:spcPts val="563"/>
              </a:spcBef>
              <a:spcAft>
                <a:spcPct val="0"/>
              </a:spcAft>
              <a:buFont typeface="Arial" pitchFamily="-108" charset="0"/>
              <a:buNone/>
              <a:defRPr/>
            </a:pPr>
            <a:endParaRPr lang="en-US" sz="3200" dirty="0">
              <a:latin typeface="+mn-lt"/>
              <a:cs typeface="Gill Sans MT" pitchFamily="-108" charset="0"/>
            </a:endParaRPr>
          </a:p>
          <a:p>
            <a:pPr lvl="1">
              <a:spcBef>
                <a:spcPts val="563"/>
              </a:spcBef>
              <a:spcAft>
                <a:spcPct val="0"/>
              </a:spcAft>
              <a:buFont typeface="Arial" pitchFamily="-108" charset="0"/>
              <a:buChar char="–"/>
              <a:defRPr/>
            </a:pPr>
            <a:endParaRPr lang="en-US" sz="3200" dirty="0">
              <a:latin typeface="+mn-lt"/>
              <a:cs typeface="Gill Sans MT" pitchFamily="-108" charset="0"/>
            </a:endParaRPr>
          </a:p>
          <a:p>
            <a:pPr>
              <a:spcBef>
                <a:spcPts val="638"/>
              </a:spcBef>
              <a:spcAft>
                <a:spcPct val="0"/>
              </a:spcAft>
              <a:buClr>
                <a:srgbClr val="538833"/>
              </a:buClr>
              <a:buFont typeface="Arial" pitchFamily="-108" charset="0"/>
              <a:buChar char="•"/>
              <a:defRPr/>
            </a:pPr>
            <a:endParaRPr lang="en-US" sz="3200" dirty="0">
              <a:latin typeface="+mn-lt"/>
              <a:cs typeface="Gill Sans MT" pitchFamily="-10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hape 160"/>
          <p:cNvSpPr txBox="1">
            <a:spLocks noGrp="1"/>
          </p:cNvSpPr>
          <p:nvPr>
            <p:ph type="title" idx="4294967295"/>
          </p:nvPr>
        </p:nvSpPr>
        <p:spPr>
          <a:xfrm>
            <a:off x="739775" y="193675"/>
            <a:ext cx="8404225" cy="549275"/>
          </a:xfrm>
        </p:spPr>
        <p:txBody>
          <a:bodyPr tIns="45700" bIns="45700">
            <a:normAutofit fontScale="90000"/>
          </a:bodyPr>
          <a:lstStyle/>
          <a:p>
            <a:pPr eaLnBrk="1" hangingPunct="1">
              <a:spcBef>
                <a:spcPct val="0"/>
              </a:spcBef>
              <a:spcAft>
                <a:spcPct val="0"/>
              </a:spcAft>
              <a:buClr>
                <a:srgbClr val="1A68A6"/>
              </a:buClr>
              <a:buSzPct val="25000"/>
              <a:buFont typeface="Cabin"/>
              <a:buNone/>
              <a:defRPr/>
            </a:pPr>
            <a:r>
              <a:rPr lang="en-US" altLang="en-US" sz="4000" b="1" dirty="0">
                <a:solidFill>
                  <a:srgbClr val="004D8F"/>
                </a:solidFill>
                <a:latin typeface="Gill Sans MT"/>
                <a:ea typeface="Cabin"/>
                <a:cs typeface="Gill Sans MT"/>
                <a:sym typeface="Cabin"/>
              </a:rPr>
              <a:t>Tax Exempt Nonprofit Organization</a:t>
            </a:r>
          </a:p>
        </p:txBody>
      </p:sp>
      <p:sp>
        <p:nvSpPr>
          <p:cNvPr id="6147" name="Shape 161"/>
          <p:cNvSpPr txBox="1">
            <a:spLocks noGrp="1"/>
          </p:cNvSpPr>
          <p:nvPr>
            <p:ph type="body" idx="4294967295"/>
          </p:nvPr>
        </p:nvSpPr>
        <p:spPr>
          <a:xfrm>
            <a:off x="0" y="965200"/>
            <a:ext cx="8582025" cy="5140325"/>
          </a:xfrm>
        </p:spPr>
        <p:txBody>
          <a:bodyPr wrap="square" tIns="45700" bIns="45700" numCol="1" anchor="t" anchorCtr="0" compatLnSpc="1">
            <a:prstTxWarp prst="textNoShape">
              <a:avLst/>
            </a:prstTxWarp>
            <a:noAutofit/>
          </a:bodyPr>
          <a:lstStyle/>
          <a:p>
            <a:pPr indent="-342900" eaLnBrk="1" hangingPunct="1">
              <a:spcBef>
                <a:spcPct val="0"/>
              </a:spcBef>
              <a:spcAft>
                <a:spcPct val="0"/>
              </a:spcAft>
              <a:buClrTx/>
              <a:buFont typeface="Noto Symbol" charset="0"/>
              <a:buChar char="▪"/>
              <a:defRPr/>
            </a:pPr>
            <a:r>
              <a:rPr lang="en-US" sz="2800" dirty="0">
                <a:solidFill>
                  <a:srgbClr val="004D8F"/>
                </a:solidFill>
                <a:latin typeface="+mn-lt"/>
                <a:ea typeface="Cabin" charset="0"/>
                <a:cs typeface="Cabin" charset="0"/>
                <a:sym typeface="Cabin" charset="0"/>
              </a:rPr>
              <a:t>Formed to serve a purpose of public or mutual benefit other than the accumulation of profit (charitable purpose)</a:t>
            </a:r>
          </a:p>
          <a:p>
            <a:pPr indent="-342900" eaLnBrk="1" hangingPunct="1">
              <a:spcBef>
                <a:spcPts val="475"/>
              </a:spcBef>
              <a:spcAft>
                <a:spcPct val="0"/>
              </a:spcAft>
              <a:buClrTx/>
              <a:buFont typeface="Noto Symbol" charset="0"/>
              <a:buChar char="▪"/>
              <a:defRPr/>
            </a:pPr>
            <a:r>
              <a:rPr lang="en-US" sz="2800" dirty="0">
                <a:solidFill>
                  <a:srgbClr val="004D8F"/>
                </a:solidFill>
                <a:latin typeface="+mn-lt"/>
                <a:ea typeface="Cabin" charset="0"/>
                <a:cs typeface="Cabin" charset="0"/>
                <a:sym typeface="Cabin" charset="0"/>
              </a:rPr>
              <a:t>Exempt from federal income taxes under Internal Revenue Code Section 501(c) </a:t>
            </a:r>
          </a:p>
          <a:p>
            <a:pPr indent="-342900" eaLnBrk="1" hangingPunct="1">
              <a:spcBef>
                <a:spcPts val="475"/>
              </a:spcBef>
              <a:spcAft>
                <a:spcPct val="0"/>
              </a:spcAft>
              <a:buClrTx/>
              <a:buFont typeface="Noto Symbol" charset="0"/>
              <a:buChar char="▪"/>
              <a:defRPr/>
            </a:pPr>
            <a:r>
              <a:rPr lang="en-US" sz="2800" u="sng" dirty="0">
                <a:solidFill>
                  <a:srgbClr val="004D8F"/>
                </a:solidFill>
                <a:latin typeface="+mn-lt"/>
                <a:ea typeface="Cabin" charset="0"/>
                <a:cs typeface="Cabin" charset="0"/>
                <a:sym typeface="Cabin" charset="0"/>
              </a:rPr>
              <a:t>Can generate a surplus</a:t>
            </a:r>
            <a:r>
              <a:rPr lang="en-US" sz="2800" dirty="0">
                <a:solidFill>
                  <a:srgbClr val="004D8F"/>
                </a:solidFill>
                <a:latin typeface="+mn-lt"/>
                <a:ea typeface="Cabin" charset="0"/>
                <a:cs typeface="Cabin" charset="0"/>
                <a:sym typeface="Cabin" charset="0"/>
              </a:rPr>
              <a:t>: </a:t>
            </a:r>
            <a:r>
              <a:rPr lang="en-US" sz="2800" i="1" dirty="0">
                <a:solidFill>
                  <a:srgbClr val="FF0000"/>
                </a:solidFill>
                <a:latin typeface="+mn-lt"/>
                <a:ea typeface="Cabin" charset="0"/>
                <a:cs typeface="Cabin" charset="0"/>
                <a:sym typeface="Cabin" charset="0"/>
              </a:rPr>
              <a:t>“It’s a designation, not a goal.”</a:t>
            </a:r>
          </a:p>
          <a:p>
            <a:pPr lvl="1" indent="-285750" eaLnBrk="1" hangingPunct="1">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Profits cannot be distributed to individuals with controlling interest in organization </a:t>
            </a:r>
          </a:p>
          <a:p>
            <a:pPr lvl="1" indent="-285750" eaLnBrk="1" hangingPunct="1">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Profits must be applied toward future operations or distributed to individuals without controlling interest in organization</a:t>
            </a:r>
          </a:p>
          <a:p>
            <a:pPr lvl="1" indent="-285750" eaLnBrk="1" hangingPunct="1">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In event of termination, surplus must be donated to similar NFP</a:t>
            </a:r>
          </a:p>
          <a:p>
            <a:pPr lvl="1" indent="-285750" algn="r" eaLnBrk="1" hangingPunct="1">
              <a:spcBef>
                <a:spcPts val="438"/>
              </a:spcBef>
              <a:spcAft>
                <a:spcPct val="0"/>
              </a:spcAft>
              <a:buClrTx/>
              <a:buSzPct val="25000"/>
              <a:buFont typeface="Cabin" charset="0"/>
              <a:buNone/>
              <a:defRPr/>
            </a:pPr>
            <a:r>
              <a:rPr lang="en-US" sz="2400" i="1" dirty="0">
                <a:solidFill>
                  <a:srgbClr val="004D8F"/>
                </a:solidFill>
                <a:latin typeface="+mn-lt"/>
                <a:ea typeface="Cabin" charset="0"/>
                <a:cs typeface="Cabin" charset="0"/>
                <a:sym typeface="Cabin" charset="0"/>
              </a:rPr>
              <a:t>Source: </a:t>
            </a:r>
            <a:r>
              <a:rPr lang="en-US" sz="2400" i="1" dirty="0" err="1">
                <a:solidFill>
                  <a:srgbClr val="004D8F"/>
                </a:solidFill>
                <a:latin typeface="+mn-lt"/>
                <a:ea typeface="Cabin" charset="0"/>
                <a:cs typeface="Cabin" charset="0"/>
                <a:sym typeface="Cabin" charset="0"/>
              </a:rPr>
              <a:t>www.irs.gov</a:t>
            </a:r>
            <a:endParaRPr lang="en-US" sz="2400" i="1" dirty="0">
              <a:solidFill>
                <a:srgbClr val="004D8F"/>
              </a:solidFill>
              <a:latin typeface="+mn-lt"/>
              <a:ea typeface="Cabin" charset="0"/>
              <a:cs typeface="Cabin" charset="0"/>
              <a:sym typeface="Cabin" charset="0"/>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hape 198"/>
          <p:cNvSpPr txBox="1">
            <a:spLocks noGrp="1"/>
          </p:cNvSpPr>
          <p:nvPr>
            <p:ph type="title" idx="4294967295"/>
          </p:nvPr>
        </p:nvSpPr>
        <p:spPr>
          <a:xfrm>
            <a:off x="0" y="125413"/>
            <a:ext cx="5262563" cy="838200"/>
          </a:xfrm>
        </p:spPr>
        <p:txBody>
          <a:bodyPr tIns="45700" bIns="45700">
            <a:normAutofit/>
          </a:bodyPr>
          <a:lstStyle/>
          <a:p>
            <a:pPr eaLnBrk="1" hangingPunct="1">
              <a:spcBef>
                <a:spcPct val="0"/>
              </a:spcBef>
              <a:spcAft>
                <a:spcPct val="0"/>
              </a:spcAft>
              <a:buClr>
                <a:srgbClr val="1A68A6"/>
              </a:buClr>
              <a:buSzPct val="25000"/>
              <a:buFont typeface="Cabin"/>
              <a:buNone/>
              <a:defRPr/>
            </a:pPr>
            <a:r>
              <a:rPr lang="en-US" altLang="en-US" sz="4000" b="1" dirty="0">
                <a:solidFill>
                  <a:srgbClr val="004D8F"/>
                </a:solidFill>
                <a:latin typeface="Gill Sans MT"/>
                <a:ea typeface="Cabin"/>
                <a:cs typeface="Gill Sans MT"/>
                <a:sym typeface="Cabin"/>
              </a:rPr>
              <a:t>Governing Principles</a:t>
            </a:r>
          </a:p>
        </p:txBody>
      </p:sp>
      <p:sp>
        <p:nvSpPr>
          <p:cNvPr id="14339" name="Shape 199"/>
          <p:cNvSpPr txBox="1">
            <a:spLocks noGrp="1"/>
          </p:cNvSpPr>
          <p:nvPr>
            <p:ph type="body" idx="4294967295"/>
          </p:nvPr>
        </p:nvSpPr>
        <p:spPr>
          <a:xfrm>
            <a:off x="0" y="1230313"/>
            <a:ext cx="4437063" cy="3633787"/>
          </a:xfrm>
        </p:spPr>
        <p:txBody>
          <a:bodyPr wrap="square" tIns="45700" bIns="45700" numCol="1" anchor="t" anchorCtr="0" compatLnSpc="1">
            <a:prstTxWarp prst="textNoShape">
              <a:avLst/>
            </a:prstTxWarp>
          </a:bodyPr>
          <a:lstStyle/>
          <a:p>
            <a:pPr indent="-342900" eaLnBrk="1" hangingPunct="1">
              <a:lnSpc>
                <a:spcPct val="90000"/>
              </a:lnSpc>
              <a:spcBef>
                <a:spcPct val="0"/>
              </a:spcBef>
              <a:spcAft>
                <a:spcPct val="0"/>
              </a:spcAft>
              <a:buClr>
                <a:srgbClr val="538833"/>
              </a:buClr>
              <a:buSzPct val="25000"/>
              <a:buFont typeface="Cabin" charset="0"/>
              <a:buNone/>
              <a:defRPr/>
            </a:pPr>
            <a:r>
              <a:rPr lang="en-US" sz="2400" b="1" dirty="0">
                <a:solidFill>
                  <a:srgbClr val="FF0000"/>
                </a:solidFill>
                <a:latin typeface="+mn-lt"/>
                <a:ea typeface="Cabin" charset="0"/>
                <a:cs typeface="Cabin" charset="0"/>
                <a:sym typeface="Cabin" charset="0"/>
              </a:rPr>
              <a:t>Mission:</a:t>
            </a:r>
          </a:p>
          <a:p>
            <a:pPr indent="-342900" eaLnBrk="1" hangingPunct="1">
              <a:lnSpc>
                <a:spcPct val="90000"/>
              </a:lnSpc>
              <a:spcBef>
                <a:spcPct val="0"/>
              </a:spcBef>
              <a:spcAft>
                <a:spcPct val="0"/>
              </a:spcAft>
              <a:buClrTx/>
              <a:buSzPct val="80000"/>
              <a:buFontTx/>
              <a:buChar char="•"/>
              <a:defRPr/>
            </a:pPr>
            <a:r>
              <a:rPr lang="en-US" sz="2400" dirty="0">
                <a:solidFill>
                  <a:srgbClr val="004D8F"/>
                </a:solidFill>
                <a:latin typeface="+mn-lt"/>
                <a:ea typeface="Cabin" charset="0"/>
                <a:cs typeface="Cabin" charset="0"/>
                <a:sym typeface="Cabin" charset="0"/>
              </a:rPr>
              <a:t>Board creates mission statement that defines purpose &amp; values</a:t>
            </a:r>
          </a:p>
          <a:p>
            <a:pPr indent="-342900" eaLnBrk="1" hangingPunct="1">
              <a:lnSpc>
                <a:spcPct val="90000"/>
              </a:lnSpc>
              <a:spcBef>
                <a:spcPts val="1675"/>
              </a:spcBef>
              <a:spcAft>
                <a:spcPct val="0"/>
              </a:spcAft>
              <a:buClr>
                <a:srgbClr val="538833"/>
              </a:buClr>
              <a:buSzPct val="25000"/>
              <a:buFont typeface="Cabin" charset="0"/>
              <a:buNone/>
              <a:defRPr/>
            </a:pPr>
            <a:r>
              <a:rPr lang="en-US" sz="2400" b="1" dirty="0">
                <a:solidFill>
                  <a:srgbClr val="FF0000"/>
                </a:solidFill>
                <a:latin typeface="+mn-lt"/>
                <a:ea typeface="Cabin" charset="0"/>
                <a:cs typeface="Cabin" charset="0"/>
                <a:sym typeface="Cabin" charset="0"/>
              </a:rPr>
              <a:t>Oversight:</a:t>
            </a:r>
          </a:p>
          <a:p>
            <a:pPr indent="-342900" eaLnBrk="1" hangingPunct="1">
              <a:lnSpc>
                <a:spcPct val="90000"/>
              </a:lnSpc>
              <a:spcBef>
                <a:spcPct val="0"/>
              </a:spcBef>
              <a:spcAft>
                <a:spcPct val="0"/>
              </a:spcAft>
              <a:buClrTx/>
              <a:buSzPct val="80000"/>
              <a:buFontTx/>
              <a:buChar char="•"/>
              <a:defRPr/>
            </a:pPr>
            <a:r>
              <a:rPr lang="en-US" sz="2400" dirty="0">
                <a:solidFill>
                  <a:srgbClr val="004D8F"/>
                </a:solidFill>
                <a:latin typeface="+mn-lt"/>
                <a:ea typeface="Cabin" charset="0"/>
                <a:cs typeface="Cabin" charset="0"/>
                <a:sym typeface="Cabin" charset="0"/>
              </a:rPr>
              <a:t>Includes legal, ethical &amp; fiduciary responsibilities, relationship </a:t>
            </a:r>
            <a:r>
              <a:rPr lang="en-US" sz="2400" dirty="0" err="1">
                <a:solidFill>
                  <a:srgbClr val="004D8F"/>
                </a:solidFill>
                <a:latin typeface="+mn-lt"/>
                <a:ea typeface="Cabin" charset="0"/>
                <a:cs typeface="Cabin" charset="0"/>
                <a:sym typeface="Cabin" charset="0"/>
              </a:rPr>
              <a:t>w</a:t>
            </a:r>
            <a:r>
              <a:rPr lang="en-US" sz="2400" dirty="0">
                <a:solidFill>
                  <a:srgbClr val="004D8F"/>
                </a:solidFill>
                <a:latin typeface="+mn-lt"/>
                <a:ea typeface="Cabin" charset="0"/>
                <a:cs typeface="Cabin" charset="0"/>
                <a:sym typeface="Cabin" charset="0"/>
              </a:rPr>
              <a:t>/ED, evaluate performance &amp; effectiveness</a:t>
            </a:r>
          </a:p>
        </p:txBody>
      </p:sp>
      <p:sp>
        <p:nvSpPr>
          <p:cNvPr id="14340" name="Shape 200"/>
          <p:cNvSpPr txBox="1">
            <a:spLocks noGrp="1"/>
          </p:cNvSpPr>
          <p:nvPr>
            <p:ph type="body" idx="4294967295"/>
          </p:nvPr>
        </p:nvSpPr>
        <p:spPr>
          <a:xfrm>
            <a:off x="4903788" y="1298575"/>
            <a:ext cx="4240212" cy="3306763"/>
          </a:xfrm>
        </p:spPr>
        <p:txBody>
          <a:bodyPr wrap="square" tIns="45700" bIns="45700" numCol="1" anchor="t" anchorCtr="0" compatLnSpc="1">
            <a:prstTxWarp prst="textNoShape">
              <a:avLst/>
            </a:prstTxWarp>
          </a:bodyPr>
          <a:lstStyle/>
          <a:p>
            <a:pPr eaLnBrk="1" hangingPunct="1">
              <a:lnSpc>
                <a:spcPct val="90000"/>
              </a:lnSpc>
              <a:buClr>
                <a:srgbClr val="538833"/>
              </a:buClr>
              <a:buSzPct val="25000"/>
              <a:buFont typeface="Cabin" charset="0"/>
              <a:buNone/>
              <a:defRPr/>
            </a:pPr>
            <a:r>
              <a:rPr lang="en-US" sz="2400" b="1" dirty="0">
                <a:solidFill>
                  <a:srgbClr val="FF0000"/>
                </a:solidFill>
                <a:latin typeface="+mn-lt"/>
                <a:ea typeface="Cabin" charset="0"/>
                <a:cs typeface="Cabin" charset="0"/>
                <a:sym typeface="Cabin" charset="0"/>
              </a:rPr>
              <a:t>Resources:</a:t>
            </a:r>
          </a:p>
          <a:p>
            <a:pPr eaLnBrk="1" hangingPunct="1">
              <a:lnSpc>
                <a:spcPct val="90000"/>
              </a:lnSpc>
              <a:spcBef>
                <a:spcPct val="0"/>
              </a:spcBef>
              <a:buSzPct val="80000"/>
              <a:buFontTx/>
              <a:buChar char="•"/>
              <a:defRPr/>
            </a:pPr>
            <a:r>
              <a:rPr lang="en-US" sz="2400" dirty="0">
                <a:solidFill>
                  <a:srgbClr val="004D8F"/>
                </a:solidFill>
                <a:latin typeface="+mn-lt"/>
                <a:ea typeface="Cabin" charset="0"/>
                <a:cs typeface="Cabin" charset="0"/>
                <a:sym typeface="Cabin" charset="0"/>
              </a:rPr>
              <a:t>Key challenge is financial &amp; human resource development</a:t>
            </a:r>
          </a:p>
          <a:p>
            <a:pPr eaLnBrk="1" hangingPunct="1">
              <a:lnSpc>
                <a:spcPct val="90000"/>
              </a:lnSpc>
              <a:spcBef>
                <a:spcPts val="1675"/>
              </a:spcBef>
              <a:buClr>
                <a:srgbClr val="538833"/>
              </a:buClr>
              <a:buSzPct val="25000"/>
              <a:buFont typeface="Cabin" charset="0"/>
              <a:buNone/>
              <a:defRPr/>
            </a:pPr>
            <a:r>
              <a:rPr lang="en-US" sz="2400" b="1" dirty="0">
                <a:solidFill>
                  <a:srgbClr val="FF0000"/>
                </a:solidFill>
                <a:latin typeface="+mn-lt"/>
                <a:ea typeface="Cabin" charset="0"/>
                <a:cs typeface="Cabin" charset="0"/>
                <a:sym typeface="Cabin" charset="0"/>
              </a:rPr>
              <a:t>Outreach:</a:t>
            </a:r>
          </a:p>
          <a:p>
            <a:pPr eaLnBrk="1" hangingPunct="1">
              <a:lnSpc>
                <a:spcPct val="90000"/>
              </a:lnSpc>
              <a:spcBef>
                <a:spcPct val="0"/>
              </a:spcBef>
              <a:buSzPct val="80000"/>
              <a:buFontTx/>
              <a:buChar char="•"/>
              <a:defRPr/>
            </a:pPr>
            <a:r>
              <a:rPr lang="en-US" sz="2400" dirty="0">
                <a:solidFill>
                  <a:srgbClr val="004D8F"/>
                </a:solidFill>
                <a:latin typeface="+mn-lt"/>
                <a:ea typeface="Cabin" charset="0"/>
                <a:cs typeface="Cabin" charset="0"/>
                <a:sym typeface="Cabin" charset="0"/>
              </a:rPr>
              <a:t>Board members serve as ambassadors to the community</a:t>
            </a:r>
          </a:p>
        </p:txBody>
      </p:sp>
      <p:sp>
        <p:nvSpPr>
          <p:cNvPr id="27653" name="Shape 201"/>
          <p:cNvSpPr txBox="1">
            <a:spLocks noChangeArrowheads="1"/>
          </p:cNvSpPr>
          <p:nvPr/>
        </p:nvSpPr>
        <p:spPr bwMode="auto">
          <a:xfrm>
            <a:off x="5257800" y="6400800"/>
            <a:ext cx="3886200" cy="457200"/>
          </a:xfrm>
          <a:prstGeom prst="rect">
            <a:avLst/>
          </a:prstGeom>
          <a:noFill/>
          <a:ln w="9525">
            <a:noFill/>
            <a:miter lim="800000"/>
            <a:headEnd/>
            <a:tailEnd/>
          </a:ln>
        </p:spPr>
        <p:txBody>
          <a:bodyPr lIns="92075" tIns="46025" rIns="92075" bIns="46025" anchor="b">
            <a:prstTxWarp prst="textNoShape">
              <a:avLst/>
            </a:prstTxWarp>
          </a:bodyPr>
          <a:lstStyle/>
          <a:p>
            <a:pPr algn="r" eaLnBrk="1" hangingPunct="1">
              <a:buClr>
                <a:srgbClr val="1A68A6"/>
              </a:buClr>
              <a:buSzPct val="25000"/>
              <a:buFont typeface="Calibri" pitchFamily="4" charset="0"/>
              <a:buNone/>
            </a:pPr>
            <a:fld id="{30C8CBE3-558D-E24F-81BC-8D90E8416C7F}" type="slidenum">
              <a:rPr lang="en-US" sz="1000">
                <a:solidFill>
                  <a:srgbClr val="1A68A6"/>
                </a:solidFill>
                <a:latin typeface="Calibri" pitchFamily="4" charset="0"/>
                <a:ea typeface="Arial" pitchFamily="4" charset="-52"/>
                <a:cs typeface="Arial" pitchFamily="4" charset="-52"/>
                <a:sym typeface="Calibri" pitchFamily="4" charset="0"/>
              </a:rPr>
              <a:pPr algn="r" eaLnBrk="1" hangingPunct="1">
                <a:buClr>
                  <a:srgbClr val="1A68A6"/>
                </a:buClr>
                <a:buSzPct val="25000"/>
                <a:buFont typeface="Calibri" pitchFamily="4" charset="0"/>
                <a:buNone/>
              </a:pPr>
              <a:t>11</a:t>
            </a:fld>
            <a:endParaRPr lang="en-US" sz="1000">
              <a:solidFill>
                <a:srgbClr val="1A68A6"/>
              </a:solidFill>
              <a:latin typeface="Calibri" pitchFamily="4" charset="0"/>
              <a:ea typeface="Arial" pitchFamily="4" charset="-52"/>
              <a:cs typeface="Arial" pitchFamily="4" charset="-52"/>
              <a:sym typeface="Calibri" pitchFamily="4" charset="0"/>
            </a:endParaRPr>
          </a:p>
        </p:txBody>
      </p:sp>
      <p:sp>
        <p:nvSpPr>
          <p:cNvPr id="17414" name="Shape 202"/>
          <p:cNvSpPr txBox="1">
            <a:spLocks noChangeArrowheads="1"/>
          </p:cNvSpPr>
          <p:nvPr/>
        </p:nvSpPr>
        <p:spPr bwMode="auto">
          <a:xfrm>
            <a:off x="1566895" y="4625675"/>
            <a:ext cx="5922963" cy="1163638"/>
          </a:xfrm>
          <a:prstGeom prst="rect">
            <a:avLst/>
          </a:prstGeom>
          <a:noFill/>
          <a:ln w="9525">
            <a:noFill/>
            <a:miter lim="800000"/>
            <a:headEnd/>
            <a:tailEnd/>
          </a:ln>
        </p:spPr>
        <p:txBody>
          <a:bodyPr lIns="92075" tIns="46025" rIns="92075" bIns="46025">
            <a:prstTxWarp prst="textNoShape">
              <a:avLst/>
            </a:prstTxWarp>
          </a:bodyPr>
          <a:lstStyle/>
          <a:p>
            <a:pPr algn="ctr" eaLnBrk="1" hangingPunct="1">
              <a:buClr>
                <a:srgbClr val="1A68A6"/>
              </a:buClr>
              <a:buSzPct val="25000"/>
              <a:buFont typeface="Calibri" pitchFamily="4" charset="0"/>
              <a:buNone/>
            </a:pPr>
            <a:r>
              <a:rPr lang="en-US" sz="2400" b="1" i="1" dirty="0">
                <a:solidFill>
                  <a:srgbClr val="004D8F"/>
                </a:solidFill>
                <a:latin typeface="Calibri" pitchFamily="4" charset="0"/>
                <a:ea typeface="Arial" pitchFamily="4" charset="-52"/>
                <a:cs typeface="Arial" pitchFamily="4" charset="-52"/>
                <a:sym typeface="Calibri" pitchFamily="4" charset="0"/>
              </a:rPr>
              <a:t>Board has </a:t>
            </a:r>
            <a:r>
              <a:rPr lang="en-US" sz="2400" b="1" i="1" u="sng" dirty="0">
                <a:solidFill>
                  <a:srgbClr val="004D8F"/>
                </a:solidFill>
                <a:latin typeface="Calibri" pitchFamily="4" charset="0"/>
                <a:ea typeface="Arial" pitchFamily="4" charset="-52"/>
                <a:cs typeface="Arial" pitchFamily="4" charset="-52"/>
                <a:sym typeface="Calibri" pitchFamily="4" charset="0"/>
              </a:rPr>
              <a:t>legal and moral </a:t>
            </a:r>
            <a:r>
              <a:rPr lang="en-US" sz="2400" b="1" i="1" dirty="0">
                <a:solidFill>
                  <a:srgbClr val="004D8F"/>
                </a:solidFill>
                <a:latin typeface="Calibri" pitchFamily="4" charset="0"/>
                <a:ea typeface="Arial" pitchFamily="4" charset="-52"/>
                <a:cs typeface="Arial" pitchFamily="4" charset="-52"/>
                <a:sym typeface="Calibri" pitchFamily="4" charset="0"/>
              </a:rPr>
              <a:t>obligations </a:t>
            </a:r>
          </a:p>
          <a:p>
            <a:pPr algn="ctr" eaLnBrk="1" hangingPunct="1">
              <a:spcBef>
                <a:spcPts val="438"/>
              </a:spcBef>
              <a:buClr>
                <a:srgbClr val="1A68A6"/>
              </a:buClr>
              <a:buSzPct val="25000"/>
              <a:buFont typeface="Calibri" pitchFamily="4" charset="0"/>
              <a:buNone/>
            </a:pPr>
            <a:r>
              <a:rPr lang="en-US" sz="2400" b="1" i="1" dirty="0">
                <a:solidFill>
                  <a:srgbClr val="004D8F"/>
                </a:solidFill>
                <a:latin typeface="Calibri" pitchFamily="4" charset="0"/>
                <a:ea typeface="Arial" pitchFamily="4" charset="-52"/>
                <a:cs typeface="Arial" pitchFamily="4" charset="-52"/>
                <a:sym typeface="Calibri" pitchFamily="4" charset="0"/>
              </a:rPr>
              <a:t>and is always accountable to the public trust</a:t>
            </a:r>
          </a:p>
        </p:txBody>
      </p:sp>
      <p:sp>
        <p:nvSpPr>
          <p:cNvPr id="27655" name="Shape 203"/>
          <p:cNvSpPr txBox="1">
            <a:spLocks noChangeArrowheads="1"/>
          </p:cNvSpPr>
          <p:nvPr/>
        </p:nvSpPr>
        <p:spPr bwMode="auto">
          <a:xfrm>
            <a:off x="457200" y="6324600"/>
            <a:ext cx="1905000" cy="457200"/>
          </a:xfrm>
          <a:prstGeom prst="rect">
            <a:avLst/>
          </a:prstGeom>
          <a:noFill/>
          <a:ln w="9525">
            <a:noFill/>
            <a:miter lim="800000"/>
            <a:headEnd/>
            <a:tailEnd/>
          </a:ln>
        </p:spPr>
        <p:txBody>
          <a:bodyPr lIns="92075" tIns="46025" rIns="92075" bIns="46025" anchor="b">
            <a:prstTxWarp prst="textNoShape">
              <a:avLst/>
            </a:prstTxWarp>
          </a:bodyPr>
          <a:lstStyle/>
          <a:p>
            <a:pPr eaLnBrk="1" hangingPunct="1">
              <a:buClr>
                <a:srgbClr val="1A68A6"/>
              </a:buClr>
              <a:buSzPct val="25000"/>
            </a:pPr>
            <a:r>
              <a:rPr lang="en-US" sz="1000">
                <a:solidFill>
                  <a:srgbClr val="1A68A6"/>
                </a:solidFill>
                <a:ea typeface="Arial" pitchFamily="4" charset="-52"/>
                <a:cs typeface="Arial" pitchFamily="4" charset="-52"/>
                <a:sym typeface="Arial" pitchFamily="4" charset="-52"/>
              </a:rPr>
              <a:t>ESC Governance</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61925"/>
            <a:ext cx="8229600" cy="925513"/>
          </a:xfrm>
        </p:spPr>
        <p:txBody>
          <a:bodyPr>
            <a:normAutofit/>
          </a:bodyPr>
          <a:lstStyle/>
          <a:p>
            <a:pPr>
              <a:defRPr/>
            </a:pPr>
            <a:r>
              <a:rPr lang="en-US" sz="4000" b="1" dirty="0">
                <a:solidFill>
                  <a:srgbClr val="004D8F"/>
                </a:solidFill>
                <a:latin typeface="Gill Sans MT"/>
                <a:cs typeface="Gill Sans MT"/>
              </a:rPr>
              <a:t>Board Member Selection</a:t>
            </a:r>
          </a:p>
        </p:txBody>
      </p:sp>
      <p:sp>
        <p:nvSpPr>
          <p:cNvPr id="3" name="Text Placeholder 2"/>
          <p:cNvSpPr>
            <a:spLocks noGrp="1"/>
          </p:cNvSpPr>
          <p:nvPr>
            <p:ph type="body" idx="4294967295"/>
          </p:nvPr>
        </p:nvSpPr>
        <p:spPr>
          <a:xfrm>
            <a:off x="0" y="1336675"/>
            <a:ext cx="8229600" cy="4146550"/>
          </a:xfrm>
        </p:spPr>
        <p:txBody>
          <a:bodyPr wrap="square" numCol="1" anchor="t" anchorCtr="0" compatLnSpc="1">
            <a:prstTxWarp prst="textNoShape">
              <a:avLst/>
            </a:prstTxWarp>
            <a:normAutofit lnSpcReduction="10000"/>
          </a:bodyPr>
          <a:lstStyle/>
          <a:p>
            <a:pPr marL="568325" indent="-365125">
              <a:spcBef>
                <a:spcPts val="638"/>
              </a:spcBef>
              <a:spcAft>
                <a:spcPct val="0"/>
              </a:spcAft>
              <a:buClrTx/>
              <a:buFont typeface="Arial" pitchFamily="-108" charset="0"/>
              <a:buChar char="•"/>
              <a:defRPr/>
            </a:pPr>
            <a:r>
              <a:rPr lang="en-US" dirty="0">
                <a:solidFill>
                  <a:srgbClr val="FF0000"/>
                </a:solidFill>
                <a:latin typeface="+mn-lt"/>
                <a:cs typeface="Gill Sans MT" pitchFamily="-108" charset="0"/>
              </a:rPr>
              <a:t>Identify the skills/experience/mission you want represented</a:t>
            </a:r>
          </a:p>
          <a:p>
            <a:pPr marL="965200" lvl="1" indent="-330200">
              <a:spcBef>
                <a:spcPts val="563"/>
              </a:spcBef>
              <a:spcAft>
                <a:spcPct val="0"/>
              </a:spcAft>
              <a:buClr>
                <a:schemeClr val="bg2"/>
              </a:buClr>
              <a:buFont typeface="Arial"/>
              <a:buChar char="•"/>
              <a:defRPr/>
            </a:pPr>
            <a:r>
              <a:rPr lang="en-US" sz="2400" dirty="0">
                <a:solidFill>
                  <a:srgbClr val="004D8F"/>
                </a:solidFill>
                <a:latin typeface="+mn-lt"/>
                <a:cs typeface="Gill Sans MT" pitchFamily="-108" charset="0"/>
              </a:rPr>
              <a:t>Build a grid to summarize candidate profiles</a:t>
            </a:r>
          </a:p>
          <a:p>
            <a:pPr marL="568325" indent="-365125">
              <a:spcBef>
                <a:spcPts val="638"/>
              </a:spcBef>
              <a:spcAft>
                <a:spcPct val="0"/>
              </a:spcAft>
              <a:buClrTx/>
              <a:buFont typeface="Arial" pitchFamily="-108" charset="0"/>
              <a:buChar char="•"/>
              <a:defRPr/>
            </a:pPr>
            <a:r>
              <a:rPr lang="en-US" dirty="0">
                <a:solidFill>
                  <a:srgbClr val="FF0000"/>
                </a:solidFill>
                <a:latin typeface="+mn-lt"/>
                <a:cs typeface="Gill Sans MT" pitchFamily="-108" charset="0"/>
              </a:rPr>
              <a:t>Search tips</a:t>
            </a:r>
          </a:p>
          <a:p>
            <a:pPr marL="965200" lvl="1" indent="-330200">
              <a:spcBef>
                <a:spcPts val="563"/>
              </a:spcBef>
              <a:spcAft>
                <a:spcPct val="0"/>
              </a:spcAft>
              <a:buClr>
                <a:schemeClr val="bg2"/>
              </a:buClr>
              <a:buFont typeface="Arial"/>
              <a:buChar char="•"/>
              <a:defRPr/>
            </a:pPr>
            <a:r>
              <a:rPr lang="en-US" sz="2400" dirty="0">
                <a:solidFill>
                  <a:srgbClr val="004D8F"/>
                </a:solidFill>
                <a:latin typeface="+mn-lt"/>
                <a:cs typeface="Gill Sans MT" pitchFamily="-108" charset="0"/>
              </a:rPr>
              <a:t>Stay in touch, frequently</a:t>
            </a:r>
          </a:p>
          <a:p>
            <a:pPr marL="965200" lvl="1" indent="-330200">
              <a:spcBef>
                <a:spcPts val="563"/>
              </a:spcBef>
              <a:spcAft>
                <a:spcPct val="0"/>
              </a:spcAft>
              <a:buClr>
                <a:schemeClr val="bg2"/>
              </a:buClr>
              <a:buFont typeface="Arial"/>
              <a:buChar char="•"/>
              <a:defRPr/>
            </a:pPr>
            <a:r>
              <a:rPr lang="en-US" sz="2400" dirty="0">
                <a:solidFill>
                  <a:srgbClr val="004D8F"/>
                </a:solidFill>
                <a:latin typeface="+mn-lt"/>
                <a:cs typeface="Gill Sans MT" pitchFamily="-108" charset="0"/>
              </a:rPr>
              <a:t>Make them feel needed</a:t>
            </a:r>
          </a:p>
          <a:p>
            <a:pPr marL="965200" lvl="1" indent="-330200">
              <a:spcBef>
                <a:spcPts val="563"/>
              </a:spcBef>
              <a:spcAft>
                <a:spcPct val="0"/>
              </a:spcAft>
              <a:buClr>
                <a:schemeClr val="bg2"/>
              </a:buClr>
              <a:buFont typeface="Arial"/>
              <a:buChar char="•"/>
              <a:defRPr/>
            </a:pPr>
            <a:r>
              <a:rPr lang="en-US" sz="2400" dirty="0">
                <a:solidFill>
                  <a:srgbClr val="004D8F"/>
                </a:solidFill>
                <a:latin typeface="+mn-lt"/>
                <a:cs typeface="Gill Sans MT" pitchFamily="-108" charset="0"/>
              </a:rPr>
              <a:t>Money is not the only contribution, be clear about expectations</a:t>
            </a:r>
          </a:p>
          <a:p>
            <a:pPr marL="965200" lvl="1" indent="-330200">
              <a:spcBef>
                <a:spcPts val="563"/>
              </a:spcBef>
              <a:spcAft>
                <a:spcPct val="0"/>
              </a:spcAft>
              <a:buClr>
                <a:schemeClr val="bg2"/>
              </a:buClr>
              <a:buFont typeface="Arial"/>
              <a:buChar char="•"/>
              <a:defRPr/>
            </a:pPr>
            <a:r>
              <a:rPr lang="en-US" sz="2400" dirty="0">
                <a:solidFill>
                  <a:srgbClr val="004D8F"/>
                </a:solidFill>
                <a:latin typeface="+mn-lt"/>
                <a:cs typeface="Gill Sans MT" pitchFamily="-108" charset="0"/>
              </a:rPr>
              <a:t>Define commitment—time, focus, access</a:t>
            </a:r>
          </a:p>
          <a:p>
            <a:pPr lvl="1">
              <a:spcBef>
                <a:spcPts val="563"/>
              </a:spcBef>
              <a:spcAft>
                <a:spcPct val="0"/>
              </a:spcAft>
              <a:buClr>
                <a:schemeClr val="bg2"/>
              </a:buClr>
              <a:buFont typeface="Arial" pitchFamily="-108" charset="0"/>
              <a:buNone/>
              <a:defRPr/>
            </a:pPr>
            <a:endParaRPr lang="en-US" sz="2400" dirty="0">
              <a:latin typeface="+mn-lt"/>
              <a:cs typeface="Gill Sans MT" pitchFamily="-108" charset="0"/>
            </a:endParaRPr>
          </a:p>
          <a:p>
            <a:pPr lvl="1">
              <a:spcBef>
                <a:spcPts val="563"/>
              </a:spcBef>
              <a:spcAft>
                <a:spcPct val="0"/>
              </a:spcAft>
              <a:buClr>
                <a:schemeClr val="bg2"/>
              </a:buClr>
              <a:buFont typeface="Arial" pitchFamily="-108" charset="0"/>
              <a:buChar char="–"/>
              <a:defRPr/>
            </a:pPr>
            <a:endParaRPr lang="en-US" sz="2400" dirty="0">
              <a:latin typeface="+mn-lt"/>
              <a:cs typeface="Gill Sans MT" pitchFamily="-108" charset="0"/>
            </a:endParaRPr>
          </a:p>
          <a:p>
            <a:pPr lvl="1">
              <a:spcBef>
                <a:spcPts val="563"/>
              </a:spcBef>
              <a:spcAft>
                <a:spcPct val="0"/>
              </a:spcAft>
              <a:buClr>
                <a:schemeClr val="bg2"/>
              </a:buClr>
              <a:buFont typeface="Arial" pitchFamily="-108" charset="0"/>
              <a:buChar char="–"/>
              <a:defRPr/>
            </a:pPr>
            <a:endParaRPr lang="en-US" dirty="0">
              <a:latin typeface="+mn-lt"/>
              <a:cs typeface="Gill Sans MT" pitchFamily="-10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hape 175"/>
          <p:cNvSpPr txBox="1">
            <a:spLocks noGrp="1"/>
          </p:cNvSpPr>
          <p:nvPr>
            <p:ph type="title" idx="4294967295"/>
          </p:nvPr>
        </p:nvSpPr>
        <p:spPr>
          <a:xfrm>
            <a:off x="0" y="161925"/>
            <a:ext cx="8229600" cy="925513"/>
          </a:xfrm>
        </p:spPr>
        <p:txBody>
          <a:bodyPr tIns="45700" bIns="45700"/>
          <a:lstStyle/>
          <a:p>
            <a:pPr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Typical Organizational Structure</a:t>
            </a:r>
          </a:p>
        </p:txBody>
      </p:sp>
      <p:sp>
        <p:nvSpPr>
          <p:cNvPr id="10243" name="Shape 176"/>
          <p:cNvSpPr txBox="1">
            <a:spLocks noGrp="1"/>
          </p:cNvSpPr>
          <p:nvPr>
            <p:ph type="body" idx="4294967295"/>
          </p:nvPr>
        </p:nvSpPr>
        <p:spPr>
          <a:xfrm>
            <a:off x="0" y="1065213"/>
            <a:ext cx="5273675" cy="5240337"/>
          </a:xfrm>
        </p:spPr>
        <p:txBody>
          <a:bodyPr tIns="45700" bIns="45700">
            <a:normAutofit lnSpcReduction="10000"/>
          </a:bodyPr>
          <a:lstStyle/>
          <a:p>
            <a:pPr indent="-342900" eaLnBrk="1" hangingPunct="1">
              <a:lnSpc>
                <a:spcPct val="80000"/>
              </a:lnSpc>
              <a:spcBef>
                <a:spcPct val="0"/>
              </a:spcBef>
              <a:spcAft>
                <a:spcPct val="0"/>
              </a:spcAft>
              <a:buClr>
                <a:srgbClr val="538833"/>
              </a:buClr>
              <a:buSzPct val="25000"/>
              <a:buFont typeface="Cabin"/>
              <a:buNone/>
              <a:defRPr/>
            </a:pPr>
            <a:r>
              <a:rPr lang="en-US" altLang="en-US" sz="2000" b="1" dirty="0">
                <a:solidFill>
                  <a:srgbClr val="FF0000"/>
                </a:solidFill>
                <a:latin typeface="+mn-lt"/>
                <a:ea typeface="Cabin"/>
                <a:cs typeface="Cabin"/>
                <a:sym typeface="Cabin"/>
              </a:rPr>
              <a:t>Board: </a:t>
            </a:r>
          </a:p>
          <a:p>
            <a:pPr indent="-342900" eaLnBrk="1" hangingPunct="1">
              <a:lnSpc>
                <a:spcPct val="110000"/>
              </a:lnSpc>
              <a:spcBef>
                <a:spcPct val="0"/>
              </a:spcBef>
              <a:spcAft>
                <a:spcPct val="0"/>
              </a:spcAft>
              <a:buClrTx/>
              <a:buFont typeface="Noto Symbol"/>
              <a:buChar char="▪"/>
              <a:defRPr/>
            </a:pPr>
            <a:r>
              <a:rPr lang="en-US" altLang="en-US" sz="2000" dirty="0">
                <a:solidFill>
                  <a:srgbClr val="004D8F"/>
                </a:solidFill>
                <a:latin typeface="+mn-lt"/>
                <a:ea typeface="Cabin"/>
                <a:cs typeface="Cabin"/>
                <a:sym typeface="Cabin"/>
              </a:rPr>
              <a:t>Responsible for fulfilling mission of organization, not for increasing profits</a:t>
            </a:r>
          </a:p>
          <a:p>
            <a:pPr indent="-342900" eaLnBrk="1" hangingPunct="1">
              <a:lnSpc>
                <a:spcPct val="110000"/>
              </a:lnSpc>
              <a:spcBef>
                <a:spcPct val="0"/>
              </a:spcBef>
              <a:spcAft>
                <a:spcPct val="0"/>
              </a:spcAft>
              <a:buClrTx/>
              <a:buFont typeface="Noto Symbol"/>
              <a:buChar char="▪"/>
              <a:defRPr/>
            </a:pPr>
            <a:r>
              <a:rPr lang="en-US" altLang="en-US" sz="2000" dirty="0">
                <a:solidFill>
                  <a:srgbClr val="004D8F"/>
                </a:solidFill>
                <a:latin typeface="+mn-lt"/>
                <a:ea typeface="Cabin"/>
                <a:cs typeface="Cabin"/>
                <a:sym typeface="Cabin"/>
              </a:rPr>
              <a:t>Active role in fundraising and some outreach activities</a:t>
            </a:r>
          </a:p>
          <a:p>
            <a:pPr indent="-342900" eaLnBrk="1" hangingPunct="1">
              <a:lnSpc>
                <a:spcPct val="110000"/>
              </a:lnSpc>
              <a:spcBef>
                <a:spcPct val="0"/>
              </a:spcBef>
              <a:spcAft>
                <a:spcPct val="0"/>
              </a:spcAft>
              <a:buClrTx/>
              <a:buFont typeface="Noto Symbol"/>
              <a:buChar char="▪"/>
              <a:defRPr/>
            </a:pPr>
            <a:r>
              <a:rPr lang="en-US" altLang="en-US" sz="2000" dirty="0">
                <a:solidFill>
                  <a:srgbClr val="004D8F"/>
                </a:solidFill>
                <a:latin typeface="+mn-lt"/>
                <a:ea typeface="Cabin"/>
                <a:cs typeface="Cabin"/>
                <a:sym typeface="Cabin"/>
              </a:rPr>
              <a:t>Responsible for hiring ED &amp; setting salary &amp; job description</a:t>
            </a:r>
          </a:p>
          <a:p>
            <a:pPr indent="-342900" eaLnBrk="1" hangingPunct="1">
              <a:lnSpc>
                <a:spcPct val="80000"/>
              </a:lnSpc>
              <a:spcBef>
                <a:spcPct val="0"/>
              </a:spcBef>
              <a:spcAft>
                <a:spcPct val="0"/>
              </a:spcAft>
              <a:buClr>
                <a:srgbClr val="1A68A6"/>
              </a:buClr>
              <a:buFont typeface="Calibri" panose="020F0502020204030204" pitchFamily="34" charset="0"/>
              <a:buNone/>
              <a:defRPr/>
            </a:pPr>
            <a:endParaRPr lang="en-US" altLang="en-US" sz="2000" dirty="0">
              <a:solidFill>
                <a:srgbClr val="FF0000"/>
              </a:solidFill>
              <a:latin typeface="+mn-lt"/>
              <a:ea typeface="Cabin"/>
              <a:cs typeface="Cabin"/>
              <a:sym typeface="Cabin"/>
            </a:endParaRPr>
          </a:p>
          <a:p>
            <a:pPr indent="-342900" eaLnBrk="1" hangingPunct="1">
              <a:lnSpc>
                <a:spcPct val="80000"/>
              </a:lnSpc>
              <a:spcBef>
                <a:spcPct val="0"/>
              </a:spcBef>
              <a:spcAft>
                <a:spcPct val="0"/>
              </a:spcAft>
              <a:buClr>
                <a:srgbClr val="538833"/>
              </a:buClr>
              <a:buSzPct val="25000"/>
              <a:buFont typeface="Cabin"/>
              <a:buNone/>
              <a:defRPr/>
            </a:pPr>
            <a:r>
              <a:rPr lang="en-US" altLang="en-US" sz="2000" b="1" dirty="0">
                <a:solidFill>
                  <a:srgbClr val="FF0000"/>
                </a:solidFill>
                <a:latin typeface="+mn-lt"/>
                <a:ea typeface="Cabin"/>
                <a:cs typeface="Cabin"/>
                <a:sym typeface="Cabin"/>
              </a:rPr>
              <a:t>Executive Director:</a:t>
            </a:r>
          </a:p>
          <a:p>
            <a:pPr indent="-342900" eaLnBrk="1" hangingPunct="1">
              <a:lnSpc>
                <a:spcPct val="110000"/>
              </a:lnSpc>
              <a:spcBef>
                <a:spcPct val="0"/>
              </a:spcBef>
              <a:spcAft>
                <a:spcPct val="0"/>
              </a:spcAft>
              <a:buClrTx/>
              <a:buFont typeface="Noto Symbol"/>
              <a:buChar char="▪"/>
              <a:defRPr/>
            </a:pPr>
            <a:r>
              <a:rPr lang="en-US" altLang="en-US" sz="2054" dirty="0">
                <a:solidFill>
                  <a:srgbClr val="004D8F"/>
                </a:solidFill>
                <a:latin typeface="+mn-lt"/>
                <a:ea typeface="Cabin"/>
                <a:cs typeface="Cabin"/>
                <a:sym typeface="Cabin"/>
              </a:rPr>
              <a:t>Helps develop policy for board approval</a:t>
            </a:r>
          </a:p>
          <a:p>
            <a:pPr indent="-342900" eaLnBrk="1" hangingPunct="1">
              <a:lnSpc>
                <a:spcPct val="110000"/>
              </a:lnSpc>
              <a:spcBef>
                <a:spcPct val="0"/>
              </a:spcBef>
              <a:spcAft>
                <a:spcPct val="0"/>
              </a:spcAft>
              <a:buClrTx/>
              <a:buFont typeface="Noto Symbol"/>
              <a:buChar char="▪"/>
              <a:defRPr/>
            </a:pPr>
            <a:r>
              <a:rPr lang="en-US" altLang="en-US" sz="2054" dirty="0">
                <a:solidFill>
                  <a:srgbClr val="004D8F"/>
                </a:solidFill>
                <a:latin typeface="+mn-lt"/>
                <a:ea typeface="Cabin"/>
                <a:cs typeface="Cabin"/>
                <a:sym typeface="Cabin"/>
              </a:rPr>
              <a:t>Generally not a voting board member</a:t>
            </a:r>
          </a:p>
          <a:p>
            <a:pPr indent="-342900" eaLnBrk="1" hangingPunct="1">
              <a:lnSpc>
                <a:spcPct val="110000"/>
              </a:lnSpc>
              <a:spcBef>
                <a:spcPct val="0"/>
              </a:spcBef>
              <a:spcAft>
                <a:spcPct val="0"/>
              </a:spcAft>
              <a:buClrTx/>
              <a:buFont typeface="Noto Symbol"/>
              <a:buChar char="▪"/>
              <a:defRPr/>
            </a:pPr>
            <a:r>
              <a:rPr lang="en-US" altLang="en-US" sz="2054" dirty="0">
                <a:solidFill>
                  <a:srgbClr val="004D8F"/>
                </a:solidFill>
                <a:latin typeface="+mn-lt"/>
                <a:ea typeface="Cabin"/>
                <a:cs typeface="Cabin"/>
                <a:sym typeface="Cabin"/>
              </a:rPr>
              <a:t>Manages Implementation of policy</a:t>
            </a:r>
          </a:p>
          <a:p>
            <a:pPr indent="-342900" eaLnBrk="1" hangingPunct="1">
              <a:lnSpc>
                <a:spcPct val="80000"/>
              </a:lnSpc>
              <a:spcBef>
                <a:spcPct val="0"/>
              </a:spcBef>
              <a:spcAft>
                <a:spcPct val="0"/>
              </a:spcAft>
              <a:buClr>
                <a:srgbClr val="1A68A6"/>
              </a:buClr>
              <a:buFont typeface="Calibri" panose="020F0502020204030204" pitchFamily="34" charset="0"/>
              <a:buNone/>
              <a:defRPr/>
            </a:pPr>
            <a:endParaRPr lang="en-US" altLang="en-US" sz="2000" dirty="0">
              <a:solidFill>
                <a:srgbClr val="538833"/>
              </a:solidFill>
              <a:latin typeface="+mn-lt"/>
              <a:ea typeface="Cabin"/>
              <a:cs typeface="Cabin"/>
              <a:sym typeface="Cabin"/>
            </a:endParaRPr>
          </a:p>
          <a:p>
            <a:pPr indent="-342900" eaLnBrk="1" hangingPunct="1">
              <a:lnSpc>
                <a:spcPct val="80000"/>
              </a:lnSpc>
              <a:spcBef>
                <a:spcPct val="0"/>
              </a:spcBef>
              <a:spcAft>
                <a:spcPct val="0"/>
              </a:spcAft>
              <a:buClr>
                <a:srgbClr val="538833"/>
              </a:buClr>
              <a:buSzPct val="25000"/>
              <a:buFont typeface="Cabin"/>
              <a:buNone/>
              <a:defRPr/>
            </a:pPr>
            <a:r>
              <a:rPr lang="en-US" altLang="en-US" sz="2000" b="1" dirty="0">
                <a:solidFill>
                  <a:srgbClr val="FF0000"/>
                </a:solidFill>
                <a:latin typeface="+mn-lt"/>
                <a:ea typeface="Cabin"/>
                <a:cs typeface="Cabin"/>
                <a:sym typeface="Cabin"/>
              </a:rPr>
              <a:t>Staff :</a:t>
            </a:r>
          </a:p>
          <a:p>
            <a:pPr indent="-342900" eaLnBrk="1" hangingPunct="1">
              <a:lnSpc>
                <a:spcPct val="120000"/>
              </a:lnSpc>
              <a:spcBef>
                <a:spcPct val="0"/>
              </a:spcBef>
              <a:spcAft>
                <a:spcPct val="0"/>
              </a:spcAft>
              <a:buClrTx/>
              <a:buFont typeface="Noto Symbol"/>
              <a:buChar char="▪"/>
              <a:defRPr/>
            </a:pPr>
            <a:r>
              <a:rPr lang="en-US" altLang="en-US" sz="2000" dirty="0">
                <a:solidFill>
                  <a:srgbClr val="004D8F"/>
                </a:solidFill>
                <a:latin typeface="+mn-lt"/>
                <a:ea typeface="Cabin"/>
                <a:cs typeface="Cabin"/>
                <a:sym typeface="Cabin"/>
              </a:rPr>
              <a:t>Implements policies by delivering a service or making a product</a:t>
            </a:r>
          </a:p>
          <a:p>
            <a:pPr indent="-342900" eaLnBrk="1" hangingPunct="1">
              <a:lnSpc>
                <a:spcPct val="120000"/>
              </a:lnSpc>
              <a:spcBef>
                <a:spcPct val="0"/>
              </a:spcBef>
              <a:spcAft>
                <a:spcPct val="0"/>
              </a:spcAft>
              <a:buClrTx/>
              <a:buFont typeface="Noto Symbol"/>
              <a:buChar char="▪"/>
              <a:defRPr/>
            </a:pPr>
            <a:r>
              <a:rPr lang="en-US" altLang="en-US" sz="2000" dirty="0">
                <a:solidFill>
                  <a:srgbClr val="004D8F"/>
                </a:solidFill>
                <a:latin typeface="+mn-lt"/>
                <a:ea typeface="Cabin"/>
                <a:cs typeface="Cabin"/>
                <a:sym typeface="Cabin"/>
              </a:rPr>
              <a:t>Cannot receive ownership options</a:t>
            </a:r>
          </a:p>
          <a:p>
            <a:pPr indent="-342900" algn="r" eaLnBrk="1" hangingPunct="1">
              <a:lnSpc>
                <a:spcPct val="80000"/>
              </a:lnSpc>
              <a:spcBef>
                <a:spcPct val="0"/>
              </a:spcBef>
              <a:spcAft>
                <a:spcPct val="0"/>
              </a:spcAft>
              <a:buClr>
                <a:srgbClr val="1A68A6"/>
              </a:buClr>
              <a:buFont typeface="Calibri" panose="020F0502020204030204" pitchFamily="34" charset="0"/>
              <a:buNone/>
              <a:defRPr/>
            </a:pPr>
            <a:endParaRPr lang="en-US" altLang="en-US" sz="1000" i="1" dirty="0">
              <a:solidFill>
                <a:srgbClr val="538833"/>
              </a:solidFill>
              <a:latin typeface="+mn-lt"/>
              <a:ea typeface="Cabin"/>
              <a:cs typeface="Cabin"/>
              <a:sym typeface="Cabin"/>
            </a:endParaRPr>
          </a:p>
          <a:p>
            <a:pPr indent="-342900" algn="r" eaLnBrk="1" hangingPunct="1">
              <a:lnSpc>
                <a:spcPct val="80000"/>
              </a:lnSpc>
              <a:spcBef>
                <a:spcPct val="0"/>
              </a:spcBef>
              <a:spcAft>
                <a:spcPct val="0"/>
              </a:spcAft>
              <a:buClr>
                <a:srgbClr val="538833"/>
              </a:buClr>
              <a:buSzPct val="25000"/>
              <a:buFont typeface="Cabin"/>
              <a:buNone/>
              <a:defRPr/>
            </a:pPr>
            <a:r>
              <a:rPr lang="en-US" altLang="en-US" sz="1800" i="1" dirty="0">
                <a:solidFill>
                  <a:srgbClr val="538833"/>
                </a:solidFill>
                <a:latin typeface="+mn-lt"/>
                <a:ea typeface="Cabin"/>
                <a:cs typeface="Cabin"/>
                <a:sym typeface="Cabin"/>
              </a:rPr>
              <a:t>Source:  Adapted from </a:t>
            </a:r>
            <a:r>
              <a:rPr lang="en-US" altLang="en-US" sz="1800" i="1" dirty="0" err="1">
                <a:solidFill>
                  <a:srgbClr val="538833"/>
                </a:solidFill>
                <a:latin typeface="+mn-lt"/>
                <a:ea typeface="Cabin"/>
                <a:cs typeface="Cabin"/>
                <a:sym typeface="Cabin"/>
              </a:rPr>
              <a:t>BoardSource</a:t>
            </a:r>
            <a:endParaRPr lang="en-US" altLang="en-US" sz="1800" i="1" dirty="0">
              <a:solidFill>
                <a:srgbClr val="538833"/>
              </a:solidFill>
              <a:latin typeface="+mn-lt"/>
              <a:ea typeface="Cabin"/>
              <a:cs typeface="Cabin"/>
              <a:sym typeface="Cabin"/>
            </a:endParaRPr>
          </a:p>
        </p:txBody>
      </p:sp>
      <p:grpSp>
        <p:nvGrpSpPr>
          <p:cNvPr id="31748" name="Shape 177"/>
          <p:cNvGrpSpPr>
            <a:grpSpLocks/>
          </p:cNvGrpSpPr>
          <p:nvPr/>
        </p:nvGrpSpPr>
        <p:grpSpPr bwMode="auto">
          <a:xfrm>
            <a:off x="6248400" y="1524000"/>
            <a:ext cx="2438400" cy="4114800"/>
            <a:chOff x="7715250" y="2571750"/>
            <a:chExt cx="3714750" cy="5715000"/>
          </a:xfrm>
        </p:grpSpPr>
        <p:sp>
          <p:nvSpPr>
            <p:cNvPr id="31749" name="Shape 178"/>
            <p:cNvSpPr txBox="1">
              <a:spLocks noChangeArrowheads="1"/>
            </p:cNvSpPr>
            <p:nvPr/>
          </p:nvSpPr>
          <p:spPr bwMode="auto">
            <a:xfrm>
              <a:off x="7715250" y="2571750"/>
              <a:ext cx="3714750" cy="5714999"/>
            </a:xfrm>
            <a:prstGeom prst="rect">
              <a:avLst/>
            </a:prstGeom>
            <a:noFill/>
            <a:ln w="9525">
              <a:noFill/>
              <a:miter lim="800000"/>
              <a:headEnd/>
              <a:tailEnd/>
            </a:ln>
          </p:spPr>
          <p:txBody>
            <a:bodyPr lIns="91425" tIns="45700" rIns="91425" bIns="45700">
              <a:prstTxWarp prst="textNoShape">
                <a:avLst/>
              </a:prstTxWarp>
            </a:bodyPr>
            <a:lstStyle/>
            <a:p>
              <a:pPr eaLnBrk="1" hangingPunct="1"/>
              <a:endParaRPr lang="en-US">
                <a:solidFill>
                  <a:srgbClr val="1A68A6"/>
                </a:solidFill>
                <a:ea typeface="Arial" pitchFamily="4" charset="-52"/>
                <a:cs typeface="Arial" pitchFamily="4" charset="-52"/>
                <a:sym typeface="Arial" pitchFamily="4" charset="-52"/>
              </a:endParaRPr>
            </a:p>
          </p:txBody>
        </p:sp>
        <p:sp>
          <p:nvSpPr>
            <p:cNvPr id="21510" name="Shape 179"/>
            <p:cNvSpPr txBox="1">
              <a:spLocks noChangeArrowheads="1"/>
            </p:cNvSpPr>
            <p:nvPr/>
          </p:nvSpPr>
          <p:spPr bwMode="auto">
            <a:xfrm>
              <a:off x="8000628" y="2571750"/>
              <a:ext cx="3143994" cy="1428750"/>
            </a:xfrm>
            <a:prstGeom prst="rect">
              <a:avLst/>
            </a:prstGeom>
            <a:solidFill>
              <a:srgbClr val="FFFFFF"/>
            </a:solidFill>
            <a:ln w="9525">
              <a:solidFill>
                <a:srgbClr val="000000"/>
              </a:solidFill>
              <a:miter lim="800000"/>
              <a:headEnd/>
              <a:tailEnd/>
            </a:ln>
          </p:spPr>
          <p:txBody>
            <a:bodyPr lIns="91425" tIns="45700" rIns="91425" bIns="45700" anchor="ctr">
              <a:prstTxWarp prst="textNoShape">
                <a:avLst/>
              </a:prstTxWarp>
            </a:bodyPr>
            <a:lstStyle/>
            <a:p>
              <a:pPr algn="ctr" eaLnBrk="1" hangingPunct="1">
                <a:buClr>
                  <a:srgbClr val="1A68A6"/>
                </a:buClr>
                <a:buSzPct val="25000"/>
                <a:defRPr/>
              </a:pPr>
              <a:r>
                <a:rPr lang="en-US" sz="2000" dirty="0">
                  <a:solidFill>
                    <a:srgbClr val="004D8F"/>
                  </a:solidFill>
                  <a:latin typeface="+mn-lt"/>
                  <a:ea typeface="Arial" pitchFamily="-108" charset="0"/>
                  <a:cs typeface="Arial" pitchFamily="-108" charset="0"/>
                  <a:sym typeface="Arial" pitchFamily="-108" charset="0"/>
                </a:rPr>
                <a:t>Board of Directors</a:t>
              </a:r>
            </a:p>
          </p:txBody>
        </p:sp>
        <p:sp>
          <p:nvSpPr>
            <p:cNvPr id="21511" name="Shape 180"/>
            <p:cNvSpPr txBox="1">
              <a:spLocks noChangeArrowheads="1"/>
            </p:cNvSpPr>
            <p:nvPr/>
          </p:nvSpPr>
          <p:spPr bwMode="auto">
            <a:xfrm>
              <a:off x="7715250" y="4858192"/>
              <a:ext cx="3714750" cy="1428750"/>
            </a:xfrm>
            <a:prstGeom prst="rect">
              <a:avLst/>
            </a:prstGeom>
            <a:solidFill>
              <a:srgbClr val="FFFFFF"/>
            </a:solidFill>
            <a:ln w="9525">
              <a:solidFill>
                <a:srgbClr val="000000"/>
              </a:solidFill>
              <a:miter lim="800000"/>
              <a:headEnd/>
              <a:tailEnd/>
            </a:ln>
          </p:spPr>
          <p:txBody>
            <a:bodyPr lIns="91425" tIns="45700" rIns="91425" bIns="45700" anchor="ctr">
              <a:prstTxWarp prst="textNoShape">
                <a:avLst/>
              </a:prstTxWarp>
            </a:bodyPr>
            <a:lstStyle/>
            <a:p>
              <a:pPr algn="ctr" eaLnBrk="1" hangingPunct="1">
                <a:buClr>
                  <a:srgbClr val="1A68A6"/>
                </a:buClr>
                <a:buSzPct val="25000"/>
                <a:buFont typeface="Calibri" pitchFamily="-108" charset="0"/>
                <a:buNone/>
                <a:defRPr/>
              </a:pPr>
              <a:r>
                <a:rPr lang="en-US" sz="2000">
                  <a:solidFill>
                    <a:srgbClr val="004D8F"/>
                  </a:solidFill>
                  <a:latin typeface="+mn-lt"/>
                  <a:ea typeface="Arial" pitchFamily="-108" charset="0"/>
                  <a:cs typeface="Arial" pitchFamily="-108" charset="0"/>
                  <a:sym typeface="Calibri" pitchFamily="-108" charset="0"/>
                </a:rPr>
                <a:t>Executive Director/President</a:t>
              </a:r>
            </a:p>
          </p:txBody>
        </p:sp>
        <p:sp>
          <p:nvSpPr>
            <p:cNvPr id="21512" name="Shape 181"/>
            <p:cNvSpPr txBox="1">
              <a:spLocks noChangeArrowheads="1"/>
            </p:cNvSpPr>
            <p:nvPr/>
          </p:nvSpPr>
          <p:spPr bwMode="auto">
            <a:xfrm>
              <a:off x="8286006" y="7429060"/>
              <a:ext cx="2573238" cy="857690"/>
            </a:xfrm>
            <a:prstGeom prst="rect">
              <a:avLst/>
            </a:prstGeom>
            <a:solidFill>
              <a:srgbClr val="FFFFFF"/>
            </a:solidFill>
            <a:ln w="9525">
              <a:solidFill>
                <a:srgbClr val="000000"/>
              </a:solidFill>
              <a:miter lim="800000"/>
              <a:headEnd/>
              <a:tailEnd/>
            </a:ln>
          </p:spPr>
          <p:txBody>
            <a:bodyPr lIns="91425" tIns="45700" rIns="91425" bIns="45700" anchor="ctr">
              <a:prstTxWarp prst="textNoShape">
                <a:avLst/>
              </a:prstTxWarp>
            </a:bodyPr>
            <a:lstStyle/>
            <a:p>
              <a:pPr algn="ctr" eaLnBrk="1" hangingPunct="1">
                <a:buClr>
                  <a:srgbClr val="1A68A6"/>
                </a:buClr>
                <a:buSzPct val="25000"/>
                <a:buFont typeface="Calibri" pitchFamily="-108" charset="0"/>
                <a:buNone/>
                <a:defRPr/>
              </a:pPr>
              <a:r>
                <a:rPr lang="en-US" sz="2000">
                  <a:solidFill>
                    <a:srgbClr val="004D8F"/>
                  </a:solidFill>
                  <a:latin typeface="+mn-lt"/>
                  <a:ea typeface="Arial" pitchFamily="-108" charset="0"/>
                  <a:cs typeface="Arial" pitchFamily="-108" charset="0"/>
                  <a:sym typeface="Calibri" pitchFamily="-108" charset="0"/>
                </a:rPr>
                <a:t>Staff</a:t>
              </a:r>
            </a:p>
          </p:txBody>
        </p:sp>
        <p:cxnSp>
          <p:nvCxnSpPr>
            <p:cNvPr id="31753" name="Shape 182"/>
            <p:cNvCxnSpPr>
              <a:cxnSpLocks noChangeShapeType="1"/>
            </p:cNvCxnSpPr>
            <p:nvPr/>
          </p:nvCxnSpPr>
          <p:spPr bwMode="auto">
            <a:xfrm>
              <a:off x="9572625" y="4000500"/>
              <a:ext cx="1587" cy="857250"/>
            </a:xfrm>
            <a:prstGeom prst="straightConnector1">
              <a:avLst/>
            </a:prstGeom>
            <a:noFill/>
            <a:ln w="9525">
              <a:solidFill>
                <a:srgbClr val="000000"/>
              </a:solidFill>
              <a:miter lim="800000"/>
              <a:headEnd/>
              <a:tailEnd/>
            </a:ln>
          </p:spPr>
        </p:cxnSp>
        <p:cxnSp>
          <p:nvCxnSpPr>
            <p:cNvPr id="31754" name="Shape 183"/>
            <p:cNvCxnSpPr>
              <a:cxnSpLocks noChangeShapeType="1"/>
            </p:cNvCxnSpPr>
            <p:nvPr/>
          </p:nvCxnSpPr>
          <p:spPr bwMode="auto">
            <a:xfrm>
              <a:off x="9572625" y="6286500"/>
              <a:ext cx="1587" cy="1143000"/>
            </a:xfrm>
            <a:prstGeom prst="straightConnector1">
              <a:avLst/>
            </a:prstGeom>
            <a:noFill/>
            <a:ln w="9525">
              <a:solidFill>
                <a:srgbClr val="000000"/>
              </a:solidFill>
              <a:miter lim="800000"/>
              <a:headEnd/>
              <a:tailEnd/>
            </a:ln>
          </p:spPr>
        </p:cxnSp>
      </p:gr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hape 189"/>
          <p:cNvSpPr txBox="1">
            <a:spLocks noGrp="1"/>
          </p:cNvSpPr>
          <p:nvPr>
            <p:ph type="title" idx="4294967295"/>
          </p:nvPr>
        </p:nvSpPr>
        <p:spPr>
          <a:xfrm>
            <a:off x="0" y="161925"/>
            <a:ext cx="8229600" cy="925513"/>
          </a:xfrm>
        </p:spPr>
        <p:txBody>
          <a:bodyPr tIns="45700" bIns="45700">
            <a:normAutofit/>
          </a:bodyPr>
          <a:lstStyle/>
          <a:p>
            <a:pPr eaLnBrk="1" hangingPunct="1">
              <a:spcBef>
                <a:spcPct val="0"/>
              </a:spcBef>
              <a:spcAft>
                <a:spcPct val="0"/>
              </a:spcAft>
              <a:buClr>
                <a:srgbClr val="1A68A6"/>
              </a:buClr>
              <a:buSzPct val="25000"/>
              <a:buFont typeface="Cabin"/>
              <a:buNone/>
              <a:defRPr/>
            </a:pPr>
            <a:r>
              <a:rPr lang="en-US" altLang="en-US" sz="4000" b="1" dirty="0">
                <a:solidFill>
                  <a:srgbClr val="004D8F"/>
                </a:solidFill>
                <a:latin typeface="Gill Sans MT"/>
                <a:ea typeface="Cabin"/>
                <a:cs typeface="Gill Sans MT"/>
                <a:sym typeface="Cabin"/>
              </a:rPr>
              <a:t>Styles / Stages of Boards</a:t>
            </a:r>
          </a:p>
        </p:txBody>
      </p:sp>
      <p:sp>
        <p:nvSpPr>
          <p:cNvPr id="12291" name="Shape 190"/>
          <p:cNvSpPr txBox="1">
            <a:spLocks noGrp="1"/>
          </p:cNvSpPr>
          <p:nvPr>
            <p:ph type="body" idx="4294967295"/>
          </p:nvPr>
        </p:nvSpPr>
        <p:spPr>
          <a:xfrm>
            <a:off x="0" y="1087438"/>
            <a:ext cx="8153400" cy="4968875"/>
          </a:xfrm>
        </p:spPr>
        <p:txBody>
          <a:bodyPr wrap="square" tIns="45700" bIns="45700" numCol="1" anchor="t" anchorCtr="0" compatLnSpc="1">
            <a:prstTxWarp prst="textNoShape">
              <a:avLst/>
            </a:prstTxWarp>
          </a:bodyPr>
          <a:lstStyle/>
          <a:p>
            <a:pPr indent="-342900" eaLnBrk="1" hangingPunct="1">
              <a:lnSpc>
                <a:spcPct val="90000"/>
              </a:lnSpc>
              <a:spcBef>
                <a:spcPct val="0"/>
              </a:spcBef>
              <a:spcAft>
                <a:spcPct val="0"/>
              </a:spcAft>
              <a:buClrTx/>
              <a:buFontTx/>
              <a:buChar char="•"/>
              <a:defRPr/>
            </a:pPr>
            <a:r>
              <a:rPr lang="en-US" sz="2400" b="1" dirty="0">
                <a:solidFill>
                  <a:srgbClr val="FF0000"/>
                </a:solidFill>
                <a:latin typeface="+mn-lt"/>
                <a:ea typeface="Cabin" charset="0"/>
                <a:cs typeface="Cabin" charset="0"/>
                <a:sym typeface="Cabin" charset="0"/>
              </a:rPr>
              <a:t>Founding</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Typically for new or small organizations;  few or no staff</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Board members active in daily operations</a:t>
            </a:r>
          </a:p>
          <a:p>
            <a:pPr indent="-342900" eaLnBrk="1" hangingPunct="1">
              <a:lnSpc>
                <a:spcPct val="90000"/>
              </a:lnSpc>
              <a:spcBef>
                <a:spcPts val="438"/>
              </a:spcBef>
              <a:spcAft>
                <a:spcPct val="0"/>
              </a:spcAft>
              <a:buClrTx/>
              <a:buFontTx/>
              <a:buChar char="•"/>
              <a:defRPr/>
            </a:pPr>
            <a:r>
              <a:rPr lang="en-US" sz="2400" b="1" dirty="0">
                <a:solidFill>
                  <a:srgbClr val="FF0000"/>
                </a:solidFill>
                <a:latin typeface="+mn-lt"/>
                <a:ea typeface="Cabin" charset="0"/>
                <a:cs typeface="Cabin" charset="0"/>
                <a:sym typeface="Cabin" charset="0"/>
              </a:rPr>
              <a:t>Governing</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Necessary when operational activity exceeds volunteer capacity, so that full-time staff is required</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Board handles policy, strategic direction and oversight;  </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Board hires Executive Director </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ED manages staff operations</a:t>
            </a:r>
          </a:p>
          <a:p>
            <a:pPr indent="-342900" eaLnBrk="1" hangingPunct="1">
              <a:lnSpc>
                <a:spcPct val="90000"/>
              </a:lnSpc>
              <a:spcBef>
                <a:spcPts val="438"/>
              </a:spcBef>
              <a:spcAft>
                <a:spcPct val="0"/>
              </a:spcAft>
              <a:buClrTx/>
              <a:buFontTx/>
              <a:buChar char="•"/>
              <a:defRPr/>
            </a:pPr>
            <a:r>
              <a:rPr lang="en-US" sz="2400" b="1" dirty="0">
                <a:solidFill>
                  <a:srgbClr val="FF0000"/>
                </a:solidFill>
                <a:latin typeface="+mn-lt"/>
                <a:ea typeface="Cabin" charset="0"/>
                <a:cs typeface="Cabin" charset="0"/>
                <a:sym typeface="Cabin" charset="0"/>
              </a:rPr>
              <a:t>Institutional</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Typically for large organizations</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Routine oversight delegated to Executive Committee</a:t>
            </a:r>
          </a:p>
          <a:p>
            <a:pPr lvl="1" indent="-285750" eaLnBrk="1" hangingPunct="1">
              <a:lnSpc>
                <a:spcPct val="90000"/>
              </a:lnSpc>
              <a:spcBef>
                <a:spcPts val="438"/>
              </a:spcBef>
              <a:spcAft>
                <a:spcPct val="0"/>
              </a:spcAft>
              <a:buClrTx/>
              <a:buFont typeface="Arial"/>
              <a:buChar char="•"/>
              <a:defRPr/>
            </a:pPr>
            <a:r>
              <a:rPr lang="en-US" sz="2400" dirty="0">
                <a:solidFill>
                  <a:srgbClr val="004D8F"/>
                </a:solidFill>
                <a:latin typeface="+mn-lt"/>
                <a:ea typeface="Cabin" charset="0"/>
                <a:cs typeface="Cabin" charset="0"/>
                <a:sym typeface="Cabin" charset="0"/>
              </a:rPr>
              <a:t>Other board members involved in raising resources</a:t>
            </a:r>
          </a:p>
        </p:txBody>
      </p:sp>
      <p:sp>
        <p:nvSpPr>
          <p:cNvPr id="33796" name="Shape 191"/>
          <p:cNvSpPr txBox="1">
            <a:spLocks noChangeArrowheads="1"/>
          </p:cNvSpPr>
          <p:nvPr/>
        </p:nvSpPr>
        <p:spPr bwMode="auto">
          <a:xfrm>
            <a:off x="6781800" y="6324600"/>
            <a:ext cx="1905000" cy="457200"/>
          </a:xfrm>
          <a:prstGeom prst="rect">
            <a:avLst/>
          </a:prstGeom>
          <a:noFill/>
          <a:ln w="9525">
            <a:noFill/>
            <a:miter lim="800000"/>
            <a:headEnd/>
            <a:tailEnd/>
          </a:ln>
        </p:spPr>
        <p:txBody>
          <a:bodyPr lIns="92075" tIns="46025" rIns="92075" bIns="46025" anchor="b">
            <a:prstTxWarp prst="textNoShape">
              <a:avLst/>
            </a:prstTxWarp>
          </a:bodyPr>
          <a:lstStyle/>
          <a:p>
            <a:pPr algn="r" eaLnBrk="1" hangingPunct="1">
              <a:buClr>
                <a:srgbClr val="1A68A6"/>
              </a:buClr>
              <a:buSzPct val="25000"/>
              <a:buFont typeface="Calibri" pitchFamily="4" charset="0"/>
              <a:buNone/>
            </a:pPr>
            <a:fld id="{6FEA5D58-07EB-9B46-BFC1-711365237DFC}" type="slidenum">
              <a:rPr lang="en-US" sz="1000">
                <a:solidFill>
                  <a:srgbClr val="1A68A6"/>
                </a:solidFill>
                <a:latin typeface="Calibri" pitchFamily="4" charset="0"/>
                <a:ea typeface="Arial" pitchFamily="4" charset="-52"/>
                <a:cs typeface="Arial" pitchFamily="4" charset="-52"/>
                <a:sym typeface="Calibri" pitchFamily="4" charset="0"/>
              </a:rPr>
              <a:pPr algn="r" eaLnBrk="1" hangingPunct="1">
                <a:buClr>
                  <a:srgbClr val="1A68A6"/>
                </a:buClr>
                <a:buSzPct val="25000"/>
                <a:buFont typeface="Calibri" pitchFamily="4" charset="0"/>
                <a:buNone/>
              </a:pPr>
              <a:t>14</a:t>
            </a:fld>
            <a:endParaRPr lang="en-US" sz="1000">
              <a:solidFill>
                <a:srgbClr val="1A68A6"/>
              </a:solidFill>
              <a:latin typeface="Calibri" pitchFamily="4" charset="0"/>
              <a:ea typeface="Arial" pitchFamily="4" charset="-52"/>
              <a:cs typeface="Arial" pitchFamily="4" charset="-52"/>
              <a:sym typeface="Calibri" pitchFamily="4" charset="0"/>
            </a:endParaRPr>
          </a:p>
        </p:txBody>
      </p:sp>
      <p:sp>
        <p:nvSpPr>
          <p:cNvPr id="33797" name="Shape 192"/>
          <p:cNvSpPr txBox="1">
            <a:spLocks noChangeArrowheads="1"/>
          </p:cNvSpPr>
          <p:nvPr/>
        </p:nvSpPr>
        <p:spPr bwMode="auto">
          <a:xfrm>
            <a:off x="457200" y="6324600"/>
            <a:ext cx="1905000" cy="457200"/>
          </a:xfrm>
          <a:prstGeom prst="rect">
            <a:avLst/>
          </a:prstGeom>
          <a:noFill/>
          <a:ln w="9525">
            <a:noFill/>
            <a:miter lim="800000"/>
            <a:headEnd/>
            <a:tailEnd/>
          </a:ln>
        </p:spPr>
        <p:txBody>
          <a:bodyPr lIns="92075" tIns="46025" rIns="92075" bIns="46025" anchor="b">
            <a:prstTxWarp prst="textNoShape">
              <a:avLst/>
            </a:prstTxWarp>
          </a:bodyPr>
          <a:lstStyle/>
          <a:p>
            <a:pPr eaLnBrk="1" hangingPunct="1">
              <a:buClr>
                <a:srgbClr val="1A68A6"/>
              </a:buClr>
              <a:buSzPct val="25000"/>
            </a:pPr>
            <a:r>
              <a:rPr lang="en-US" sz="1000">
                <a:solidFill>
                  <a:srgbClr val="1A68A6"/>
                </a:solidFill>
                <a:ea typeface="Arial" pitchFamily="4" charset="-52"/>
                <a:cs typeface="Arial" pitchFamily="4" charset="-52"/>
                <a:sym typeface="Arial" pitchFamily="4" charset="-52"/>
              </a:rPr>
              <a:t>ESC Governance</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hape 167"/>
          <p:cNvSpPr txBox="1">
            <a:spLocks noGrp="1"/>
          </p:cNvSpPr>
          <p:nvPr>
            <p:ph type="title" idx="4294967295"/>
          </p:nvPr>
        </p:nvSpPr>
        <p:spPr>
          <a:xfrm>
            <a:off x="152400" y="136525"/>
            <a:ext cx="8991600" cy="925513"/>
          </a:xfrm>
        </p:spPr>
        <p:txBody>
          <a:bodyPr tIns="45700" bIns="45700"/>
          <a:lstStyle/>
          <a:p>
            <a:pPr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What does a 501(c)(3) designation mean?</a:t>
            </a:r>
          </a:p>
        </p:txBody>
      </p:sp>
      <p:sp>
        <p:nvSpPr>
          <p:cNvPr id="8195" name="Shape 168"/>
          <p:cNvSpPr txBox="1">
            <a:spLocks noGrp="1"/>
          </p:cNvSpPr>
          <p:nvPr>
            <p:ph type="body" idx="4294967295"/>
          </p:nvPr>
        </p:nvSpPr>
        <p:spPr>
          <a:xfrm>
            <a:off x="0" y="1039813"/>
            <a:ext cx="8042275" cy="5103812"/>
          </a:xfrm>
        </p:spPr>
        <p:txBody>
          <a:bodyPr wrap="square" tIns="45700" bIns="45700" numCol="1" anchor="t" anchorCtr="0" compatLnSpc="1">
            <a:prstTxWarp prst="textNoShape">
              <a:avLst/>
            </a:prstTxWarp>
            <a:noAutofit/>
          </a:bodyPr>
          <a:lstStyle/>
          <a:p>
            <a:pPr marL="0" indent="0" eaLnBrk="1" hangingPunct="1">
              <a:lnSpc>
                <a:spcPct val="80000"/>
              </a:lnSpc>
              <a:spcBef>
                <a:spcPct val="0"/>
              </a:spcBef>
              <a:spcAft>
                <a:spcPct val="0"/>
              </a:spcAft>
              <a:buClrTx/>
              <a:buNone/>
              <a:defRPr/>
            </a:pPr>
            <a:r>
              <a:rPr lang="en-US" sz="2400" b="1" dirty="0">
                <a:solidFill>
                  <a:srgbClr val="FF0000"/>
                </a:solidFill>
                <a:latin typeface="+mn-lt"/>
                <a:ea typeface="Cabin" charset="0"/>
                <a:cs typeface="Cabin" charset="0"/>
                <a:sym typeface="Cabin" charset="0"/>
              </a:rPr>
              <a:t>501(c)(3)</a:t>
            </a:r>
            <a:r>
              <a:rPr lang="en-US" sz="2400" dirty="0">
                <a:solidFill>
                  <a:srgbClr val="FF0000"/>
                </a:solidFill>
                <a:latin typeface="+mn-lt"/>
                <a:ea typeface="Cabin" charset="0"/>
                <a:cs typeface="Cabin" charset="0"/>
                <a:sym typeface="Cabin" charset="0"/>
              </a:rPr>
              <a:t> is the most common Internal Revenue code for nonprofits</a:t>
            </a:r>
          </a:p>
          <a:p>
            <a:pPr lvl="1" indent="-285750" eaLnBrk="1" hangingPunct="1">
              <a:spcBef>
                <a:spcPts val="0"/>
              </a:spcBef>
              <a:spcAft>
                <a:spcPts val="600"/>
              </a:spcAft>
              <a:buClrTx/>
              <a:buFont typeface="Arial"/>
              <a:buChar char="•"/>
              <a:defRPr/>
            </a:pPr>
            <a:r>
              <a:rPr lang="en-US" sz="2200" dirty="0">
                <a:solidFill>
                  <a:srgbClr val="004D8F"/>
                </a:solidFill>
                <a:latin typeface="+mn-lt"/>
                <a:ea typeface="Cabin" charset="0"/>
                <a:cs typeface="Cabin" charset="0"/>
                <a:sym typeface="Cabin" charset="0"/>
              </a:rPr>
              <a:t>Includes organizations created for religious, charitable, educational, or scientific purposes, or to test for public safety, promote literacy, prevent cruelty to children or animals, or foster amateur sports</a:t>
            </a:r>
            <a:endParaRPr lang="en-US" sz="2400" dirty="0">
              <a:solidFill>
                <a:srgbClr val="2A2517"/>
              </a:solidFill>
              <a:latin typeface="+mn-lt"/>
              <a:ea typeface="Cabin" charset="0"/>
              <a:cs typeface="Cabin" charset="0"/>
              <a:sym typeface="Cabin" charset="0"/>
            </a:endParaRPr>
          </a:p>
          <a:p>
            <a:pPr marL="0" indent="0" eaLnBrk="1" hangingPunct="1">
              <a:lnSpc>
                <a:spcPct val="80000"/>
              </a:lnSpc>
              <a:spcBef>
                <a:spcPts val="438"/>
              </a:spcBef>
              <a:spcAft>
                <a:spcPct val="0"/>
              </a:spcAft>
              <a:buClrTx/>
              <a:buNone/>
              <a:defRPr/>
            </a:pPr>
            <a:r>
              <a:rPr lang="en-US" sz="2400" dirty="0">
                <a:solidFill>
                  <a:srgbClr val="FF0000"/>
                </a:solidFill>
                <a:latin typeface="+mn-lt"/>
                <a:ea typeface="Cabin" charset="0"/>
                <a:cs typeface="Cabin" charset="0"/>
                <a:sym typeface="Cabin" charset="0"/>
              </a:rPr>
              <a:t>The IRS classifies 501(c)(3) nonprofits as:</a:t>
            </a:r>
          </a:p>
          <a:p>
            <a:pPr marL="912813" lvl="1" indent="-449263" eaLnBrk="1" hangingPunct="1">
              <a:spcBef>
                <a:spcPts val="600"/>
              </a:spcBef>
              <a:spcAft>
                <a:spcPct val="0"/>
              </a:spcAft>
              <a:buClrTx/>
              <a:buSzPct val="100000"/>
              <a:buFont typeface="+mj-lt"/>
              <a:buAutoNum type="arabicPeriod"/>
              <a:defRPr/>
            </a:pPr>
            <a:r>
              <a:rPr lang="en-US" sz="2200" b="1" u="sng" dirty="0">
                <a:solidFill>
                  <a:srgbClr val="004D8F"/>
                </a:solidFill>
                <a:latin typeface="+mn-lt"/>
                <a:ea typeface="Cabin" charset="0"/>
                <a:cs typeface="Cabin" charset="0"/>
                <a:sym typeface="Cabin" charset="0"/>
              </a:rPr>
              <a:t>Private foundations</a:t>
            </a:r>
            <a:r>
              <a:rPr lang="en-US" sz="2200" dirty="0">
                <a:solidFill>
                  <a:srgbClr val="004D8F"/>
                </a:solidFill>
                <a:latin typeface="+mn-lt"/>
                <a:ea typeface="Cabin" charset="0"/>
                <a:cs typeface="Cabin" charset="0"/>
                <a:sym typeface="Cabin" charset="0"/>
              </a:rPr>
              <a:t> if they receive most of their funds from one or a small number of donors. Private foundations are usually created to award grants</a:t>
            </a:r>
          </a:p>
          <a:p>
            <a:pPr marL="912813" lvl="1" indent="-449263" eaLnBrk="1" hangingPunct="1">
              <a:spcBef>
                <a:spcPts val="600"/>
              </a:spcBef>
              <a:spcAft>
                <a:spcPct val="0"/>
              </a:spcAft>
              <a:buClrTx/>
              <a:buSzPct val="100000"/>
              <a:buFont typeface="+mj-lt"/>
              <a:buAutoNum type="arabicPeriod"/>
              <a:defRPr/>
            </a:pPr>
            <a:r>
              <a:rPr lang="en-US" sz="2200" b="1" u="sng" dirty="0">
                <a:solidFill>
                  <a:srgbClr val="004D8F"/>
                </a:solidFill>
                <a:latin typeface="+mn-lt"/>
                <a:ea typeface="Cabin" charset="0"/>
                <a:cs typeface="Cabin" charset="0"/>
                <a:sym typeface="Cabin" charset="0"/>
              </a:rPr>
              <a:t>Public charities</a:t>
            </a:r>
            <a:r>
              <a:rPr lang="en-US" sz="2200" dirty="0">
                <a:solidFill>
                  <a:srgbClr val="004D8F"/>
                </a:solidFill>
                <a:latin typeface="+mn-lt"/>
                <a:ea typeface="Cabin" charset="0"/>
                <a:cs typeface="Cabin" charset="0"/>
                <a:sym typeface="Cabin" charset="0"/>
              </a:rPr>
              <a:t> if they are supported by many funders, donors, agencies, or members of the general public. Community foundations are generally classified as public charities                         </a:t>
            </a:r>
            <a:r>
              <a:rPr lang="en-US" sz="2000" i="1" dirty="0">
                <a:solidFill>
                  <a:srgbClr val="2A2517"/>
                </a:solidFill>
                <a:latin typeface="+mn-lt"/>
                <a:ea typeface="Cabin" charset="0"/>
                <a:cs typeface="Cabin" charset="0"/>
                <a:sym typeface="Cabin" charset="0"/>
              </a:rPr>
              <a:t>Source: www.irs.gov</a:t>
            </a:r>
            <a:r>
              <a:rPr lang="en-US" sz="3200" i="1" dirty="0">
                <a:solidFill>
                  <a:srgbClr val="2A2517"/>
                </a:solidFill>
                <a:latin typeface="+mn-lt"/>
                <a:ea typeface="Cabin" charset="0"/>
                <a:cs typeface="Cabin" charset="0"/>
                <a:sym typeface="Cabin" charset="0"/>
              </a:rPr>
              <a:t> </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hape 221"/>
          <p:cNvSpPr txBox="1">
            <a:spLocks noGrp="1"/>
          </p:cNvSpPr>
          <p:nvPr>
            <p:ph type="title" idx="4294967295"/>
          </p:nvPr>
        </p:nvSpPr>
        <p:spPr>
          <a:xfrm>
            <a:off x="0" y="0"/>
            <a:ext cx="7491413" cy="1143000"/>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Issues in Nonprofit Management</a:t>
            </a:r>
          </a:p>
        </p:txBody>
      </p:sp>
      <p:sp>
        <p:nvSpPr>
          <p:cNvPr id="222" name="Shape 222"/>
          <p:cNvSpPr txBox="1">
            <a:spLocks noGrp="1"/>
          </p:cNvSpPr>
          <p:nvPr>
            <p:ph type="body" idx="4294967295"/>
          </p:nvPr>
        </p:nvSpPr>
        <p:spPr>
          <a:xfrm>
            <a:off x="0" y="1033463"/>
            <a:ext cx="7772400" cy="4986337"/>
          </a:xfrm>
        </p:spPr>
        <p:txBody>
          <a:bodyPr wrap="square" tIns="45700" bIns="45700" numCol="1" anchor="t" anchorCtr="0" compatLnSpc="1">
            <a:prstTxWarp prst="textNoShape">
              <a:avLst/>
            </a:prstTxWarp>
            <a:noAutofit/>
          </a:bodyPr>
          <a:lstStyle/>
          <a:p>
            <a:pPr marL="0" indent="0" eaLnBrk="1" hangingPunct="1">
              <a:spcBef>
                <a:spcPct val="0"/>
              </a:spcBef>
              <a:spcAft>
                <a:spcPct val="0"/>
              </a:spcAft>
              <a:buClrTx/>
              <a:buNone/>
              <a:defRPr/>
            </a:pPr>
            <a:r>
              <a:rPr lang="en-US" b="1" dirty="0">
                <a:solidFill>
                  <a:srgbClr val="FF0000"/>
                </a:solidFill>
                <a:latin typeface="+mn-lt"/>
                <a:ea typeface="Cabin" charset="0"/>
                <a:cs typeface="Cabin" charset="0"/>
                <a:sym typeface="Cabin" charset="0"/>
              </a:rPr>
              <a:t>Revenue:</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Important to balance revenue from both restricted and unrestricted funding sources</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Foundations have long timelines for grants – start now</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Funders and donors increasingly focus on effectiveness, efficiency, and accountability of organizations, e.g. Measurable Outcomes, not just headcounts</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Funding for program support are usual;</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Funding for capital expenditures usually come from endowments or specific fundraising campaigns</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Cabin" charset="0"/>
                <a:sym typeface="Cabin" charset="0"/>
              </a:rPr>
              <a:t>Funding for administration &amp; overhead difficult to get</a:t>
            </a:r>
          </a:p>
          <a:p>
            <a:pPr indent="-342900" eaLnBrk="1" hangingPunct="1">
              <a:spcBef>
                <a:spcPct val="0"/>
              </a:spcBef>
              <a:spcAft>
                <a:spcPct val="0"/>
              </a:spcAft>
              <a:buClr>
                <a:srgbClr val="538833"/>
              </a:buClr>
              <a:buFont typeface="Arial" pitchFamily="-108" charset="0"/>
              <a:buNone/>
              <a:defRPr/>
            </a:pPr>
            <a:endParaRPr lang="en-US" sz="2400" dirty="0">
              <a:solidFill>
                <a:srgbClr val="2A2517"/>
              </a:solidFill>
              <a:latin typeface="+mn-lt"/>
              <a:ea typeface="Cabin" charset="0"/>
              <a:cs typeface="Cabin" charset="0"/>
              <a:sym typeface="Cabin" charset="0"/>
            </a:endParaRP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hape 210"/>
          <p:cNvSpPr txBox="1">
            <a:spLocks noGrp="1"/>
          </p:cNvSpPr>
          <p:nvPr>
            <p:ph type="title" idx="4294967295"/>
          </p:nvPr>
        </p:nvSpPr>
        <p:spPr>
          <a:xfrm>
            <a:off x="0" y="7938"/>
            <a:ext cx="8229600" cy="1143000"/>
          </a:xfrm>
        </p:spPr>
        <p:txBody>
          <a:bodyPr tIns="45700" bIns="45700"/>
          <a:lstStyle/>
          <a:p>
            <a:pPr algn="l" eaLnBrk="1" hangingPunct="1">
              <a:buClr>
                <a:srgbClr val="1A68A6"/>
              </a:buClr>
              <a:buSzPct val="25000"/>
              <a:buFont typeface="Cabin"/>
              <a:buNone/>
              <a:defRPr/>
            </a:pPr>
            <a:r>
              <a:rPr lang="en-US" altLang="en-US" sz="3600" b="1" dirty="0">
                <a:solidFill>
                  <a:srgbClr val="004D8F"/>
                </a:solidFill>
                <a:latin typeface="Gill Sans MT"/>
                <a:ea typeface="Cabin"/>
                <a:cs typeface="Gill Sans MT"/>
                <a:sym typeface="Cabin"/>
              </a:rPr>
              <a:t>Issues in Non Profit Management </a:t>
            </a:r>
          </a:p>
        </p:txBody>
      </p:sp>
      <p:sp>
        <p:nvSpPr>
          <p:cNvPr id="21507" name="Shape 211"/>
          <p:cNvSpPr txBox="1">
            <a:spLocks noGrp="1"/>
          </p:cNvSpPr>
          <p:nvPr>
            <p:ph type="body" idx="4294967295"/>
          </p:nvPr>
        </p:nvSpPr>
        <p:spPr>
          <a:xfrm>
            <a:off x="0" y="1793875"/>
            <a:ext cx="4041775" cy="461963"/>
          </a:xfrm>
        </p:spPr>
        <p:txBody>
          <a:bodyPr tIns="45700" bIns="45700">
            <a:normAutofit fontScale="92500" lnSpcReduction="20000"/>
          </a:bodyPr>
          <a:lstStyle/>
          <a:p>
            <a:pPr eaLnBrk="1" hangingPunct="1">
              <a:spcBef>
                <a:spcPct val="0"/>
              </a:spcBef>
              <a:buClr>
                <a:srgbClr val="538833"/>
              </a:buClr>
              <a:buSzPct val="25000"/>
              <a:buFontTx/>
              <a:buNone/>
              <a:defRPr/>
            </a:pPr>
            <a:r>
              <a:rPr lang="en-US" altLang="en-US" u="sng" dirty="0">
                <a:solidFill>
                  <a:srgbClr val="004D8F"/>
                </a:solidFill>
                <a:latin typeface="+mn-lt"/>
                <a:ea typeface="Cabin"/>
                <a:cs typeface="Cabin"/>
                <a:sym typeface="Cabin"/>
              </a:rPr>
              <a:t>Earned</a:t>
            </a:r>
          </a:p>
        </p:txBody>
      </p:sp>
      <p:sp>
        <p:nvSpPr>
          <p:cNvPr id="21508" name="Shape 212"/>
          <p:cNvSpPr txBox="1">
            <a:spLocks noGrp="1"/>
          </p:cNvSpPr>
          <p:nvPr>
            <p:ph type="body" idx="4294967295"/>
          </p:nvPr>
        </p:nvSpPr>
        <p:spPr>
          <a:xfrm>
            <a:off x="0" y="2436813"/>
            <a:ext cx="4040188" cy="1939925"/>
          </a:xfrm>
        </p:spPr>
        <p:txBody>
          <a:bodyPr wrap="square" tIns="45700" bIns="45700" numCol="1" anchor="t" anchorCtr="0" compatLnSpc="1">
            <a:prstTxWarp prst="textNoShape">
              <a:avLst/>
            </a:prstTxWarp>
          </a:bodyPr>
          <a:lstStyle/>
          <a:p>
            <a:pPr eaLnBrk="1" hangingPunct="1">
              <a:spcBef>
                <a:spcPct val="0"/>
              </a:spcBef>
              <a:buFont typeface="Arial"/>
              <a:buChar char="•"/>
              <a:defRPr/>
            </a:pPr>
            <a:r>
              <a:rPr lang="en-US" dirty="0">
                <a:solidFill>
                  <a:srgbClr val="004D8F"/>
                </a:solidFill>
                <a:latin typeface="+mn-lt"/>
                <a:ea typeface="Cabin" charset="0"/>
                <a:cs typeface="Cabin" charset="0"/>
                <a:sym typeface="Cabin" charset="0"/>
              </a:rPr>
              <a:t>Fee for Service</a:t>
            </a:r>
          </a:p>
          <a:p>
            <a:pPr eaLnBrk="1" hangingPunct="1">
              <a:spcBef>
                <a:spcPts val="475"/>
              </a:spcBef>
              <a:buFont typeface="Arial"/>
              <a:buChar char="•"/>
              <a:defRPr/>
            </a:pPr>
            <a:r>
              <a:rPr lang="en-US" dirty="0">
                <a:solidFill>
                  <a:srgbClr val="004D8F"/>
                </a:solidFill>
                <a:latin typeface="+mn-lt"/>
                <a:ea typeface="Cabin" charset="0"/>
                <a:cs typeface="Cabin" charset="0"/>
                <a:sym typeface="Cabin" charset="0"/>
              </a:rPr>
              <a:t>Consulting</a:t>
            </a:r>
          </a:p>
          <a:p>
            <a:pPr eaLnBrk="1" hangingPunct="1">
              <a:spcBef>
                <a:spcPts val="475"/>
              </a:spcBef>
              <a:buFont typeface="Arial"/>
              <a:buChar char="•"/>
              <a:defRPr/>
            </a:pPr>
            <a:r>
              <a:rPr lang="en-US" dirty="0">
                <a:solidFill>
                  <a:srgbClr val="004D8F"/>
                </a:solidFill>
                <a:latin typeface="+mn-lt"/>
                <a:ea typeface="Cabin" charset="0"/>
                <a:cs typeface="Cabin" charset="0"/>
                <a:sym typeface="Cabin" charset="0"/>
              </a:rPr>
              <a:t>Product Sales </a:t>
            </a:r>
          </a:p>
        </p:txBody>
      </p:sp>
      <p:sp>
        <p:nvSpPr>
          <p:cNvPr id="21509" name="Shape 213"/>
          <p:cNvSpPr txBox="1">
            <a:spLocks noGrp="1"/>
          </p:cNvSpPr>
          <p:nvPr>
            <p:ph type="body" idx="4294967295"/>
          </p:nvPr>
        </p:nvSpPr>
        <p:spPr>
          <a:xfrm>
            <a:off x="5102225" y="1712913"/>
            <a:ext cx="4041775" cy="461962"/>
          </a:xfrm>
        </p:spPr>
        <p:txBody>
          <a:bodyPr tIns="45700" bIns="45700">
            <a:normAutofit fontScale="92500" lnSpcReduction="20000"/>
          </a:bodyPr>
          <a:lstStyle/>
          <a:p>
            <a:pPr eaLnBrk="1" hangingPunct="1">
              <a:spcBef>
                <a:spcPct val="0"/>
              </a:spcBef>
              <a:buClr>
                <a:srgbClr val="538833"/>
              </a:buClr>
              <a:buSzPct val="25000"/>
              <a:buFontTx/>
              <a:buNone/>
              <a:defRPr/>
            </a:pPr>
            <a:r>
              <a:rPr lang="en-US" altLang="en-US" u="sng" dirty="0">
                <a:solidFill>
                  <a:srgbClr val="004D8F"/>
                </a:solidFill>
                <a:latin typeface="+mn-lt"/>
                <a:ea typeface="Cabin"/>
                <a:cs typeface="Cabin"/>
                <a:sym typeface="Cabin"/>
              </a:rPr>
              <a:t>Contributed</a:t>
            </a:r>
          </a:p>
        </p:txBody>
      </p:sp>
      <p:sp>
        <p:nvSpPr>
          <p:cNvPr id="214" name="Shape 214"/>
          <p:cNvSpPr txBox="1">
            <a:spLocks noGrp="1"/>
          </p:cNvSpPr>
          <p:nvPr>
            <p:ph type="body" idx="4294967295"/>
          </p:nvPr>
        </p:nvSpPr>
        <p:spPr>
          <a:xfrm>
            <a:off x="5102225" y="2174875"/>
            <a:ext cx="4041775" cy="2678113"/>
          </a:xfrm>
        </p:spPr>
        <p:txBody>
          <a:bodyPr wrap="square" tIns="45700" bIns="45700" numCol="1" anchor="t" anchorCtr="0" compatLnSpc="1">
            <a:prstTxWarp prst="textNoShape">
              <a:avLst/>
            </a:prstTxWarp>
            <a:noAutofit/>
          </a:bodyPr>
          <a:lstStyle/>
          <a:p>
            <a:pPr eaLnBrk="1" hangingPunct="1">
              <a:buFont typeface="Arial" pitchFamily="-108" charset="0"/>
              <a:buChar char="•"/>
              <a:defRPr/>
            </a:pPr>
            <a:r>
              <a:rPr lang="en-US" dirty="0">
                <a:solidFill>
                  <a:srgbClr val="004D8F"/>
                </a:solidFill>
                <a:latin typeface="+mn-lt"/>
                <a:ea typeface="Cabin" charset="0"/>
                <a:cs typeface="Cabin" charset="0"/>
                <a:sym typeface="Cabin" charset="0"/>
              </a:rPr>
              <a:t>Foundations </a:t>
            </a:r>
          </a:p>
          <a:p>
            <a:pPr eaLnBrk="1" hangingPunct="1">
              <a:spcBef>
                <a:spcPts val="475"/>
              </a:spcBef>
              <a:buFont typeface="Arial" pitchFamily="-108" charset="0"/>
              <a:buChar char="•"/>
              <a:defRPr/>
            </a:pPr>
            <a:r>
              <a:rPr lang="en-US" dirty="0">
                <a:solidFill>
                  <a:srgbClr val="004D8F"/>
                </a:solidFill>
                <a:latin typeface="+mn-lt"/>
                <a:ea typeface="Cabin" charset="0"/>
                <a:cs typeface="Cabin" charset="0"/>
                <a:sym typeface="Cabin" charset="0"/>
              </a:rPr>
              <a:t>Corporations</a:t>
            </a:r>
          </a:p>
          <a:p>
            <a:pPr eaLnBrk="1" hangingPunct="1">
              <a:spcBef>
                <a:spcPts val="475"/>
              </a:spcBef>
              <a:buFont typeface="Arial" pitchFamily="-108" charset="0"/>
              <a:buChar char="•"/>
              <a:defRPr/>
            </a:pPr>
            <a:r>
              <a:rPr lang="en-US" dirty="0">
                <a:solidFill>
                  <a:srgbClr val="004D8F"/>
                </a:solidFill>
                <a:latin typeface="+mn-lt"/>
                <a:ea typeface="Cabin" charset="0"/>
                <a:cs typeface="Cabin" charset="0"/>
                <a:sym typeface="Cabin" charset="0"/>
              </a:rPr>
              <a:t>Bequests</a:t>
            </a:r>
          </a:p>
          <a:p>
            <a:pPr eaLnBrk="1" hangingPunct="1">
              <a:spcBef>
                <a:spcPts val="475"/>
              </a:spcBef>
              <a:buFont typeface="Arial" pitchFamily="-108" charset="0"/>
              <a:buChar char="•"/>
              <a:defRPr/>
            </a:pPr>
            <a:r>
              <a:rPr lang="en-US" dirty="0">
                <a:solidFill>
                  <a:srgbClr val="004D8F"/>
                </a:solidFill>
                <a:latin typeface="+mn-lt"/>
                <a:ea typeface="Cabin" charset="0"/>
                <a:cs typeface="Cabin" charset="0"/>
                <a:sym typeface="Cabin" charset="0"/>
              </a:rPr>
              <a:t>Individuals</a:t>
            </a:r>
          </a:p>
          <a:p>
            <a:pPr eaLnBrk="1" hangingPunct="1">
              <a:spcBef>
                <a:spcPts val="475"/>
              </a:spcBef>
              <a:buFont typeface="Arial" pitchFamily="-108" charset="0"/>
              <a:buChar char="•"/>
              <a:defRPr/>
            </a:pPr>
            <a:r>
              <a:rPr lang="en-US" dirty="0">
                <a:solidFill>
                  <a:srgbClr val="004D8F"/>
                </a:solidFill>
                <a:latin typeface="+mn-lt"/>
                <a:ea typeface="Cabin" charset="0"/>
                <a:cs typeface="Cabin" charset="0"/>
                <a:sym typeface="Cabin" charset="0"/>
              </a:rPr>
              <a:t>Government</a:t>
            </a:r>
          </a:p>
          <a:p>
            <a:pPr eaLnBrk="1" hangingPunct="1">
              <a:spcBef>
                <a:spcPts val="475"/>
              </a:spcBef>
              <a:buClr>
                <a:srgbClr val="2A2517"/>
              </a:buClr>
              <a:buFont typeface="Arial" pitchFamily="-108" charset="0"/>
              <a:buChar char="•"/>
              <a:defRPr/>
            </a:pPr>
            <a:endParaRPr lang="en-US" dirty="0">
              <a:solidFill>
                <a:srgbClr val="004D8F"/>
              </a:solidFill>
              <a:latin typeface="+mn-lt"/>
              <a:ea typeface="Cabin" charset="0"/>
              <a:cs typeface="Cabin" charset="0"/>
              <a:sym typeface="Cabin" charset="0"/>
            </a:endParaRPr>
          </a:p>
        </p:txBody>
      </p:sp>
      <p:sp>
        <p:nvSpPr>
          <p:cNvPr id="29703" name="Shape 215"/>
          <p:cNvSpPr txBox="1">
            <a:spLocks noChangeArrowheads="1"/>
          </p:cNvSpPr>
          <p:nvPr/>
        </p:nvSpPr>
        <p:spPr bwMode="auto">
          <a:xfrm>
            <a:off x="2543175" y="1089138"/>
            <a:ext cx="3170238" cy="523875"/>
          </a:xfrm>
          <a:prstGeom prst="rect">
            <a:avLst/>
          </a:prstGeom>
          <a:noFill/>
          <a:ln w="9525">
            <a:noFill/>
            <a:miter lim="800000"/>
            <a:headEnd/>
            <a:tailEnd/>
          </a:ln>
        </p:spPr>
        <p:txBody>
          <a:bodyPr lIns="91425" tIns="45700" rIns="91425" bIns="45700">
            <a:prstTxWarp prst="textNoShape">
              <a:avLst/>
            </a:prstTxWarp>
          </a:bodyPr>
          <a:lstStyle/>
          <a:p>
            <a:pPr eaLnBrk="1" hangingPunct="1">
              <a:buClr>
                <a:srgbClr val="1A68A6"/>
              </a:buClr>
              <a:defRPr/>
            </a:pPr>
            <a:r>
              <a:rPr lang="en-US" sz="2800" b="1" dirty="0">
                <a:solidFill>
                  <a:srgbClr val="FF0000"/>
                </a:solidFill>
                <a:latin typeface="+mn-lt"/>
                <a:ea typeface="Arial" pitchFamily="-108" charset="0"/>
                <a:cs typeface="Arial" pitchFamily="-108" charset="0"/>
                <a:sym typeface="Arial" pitchFamily="-108" charset="0"/>
              </a:rPr>
              <a:t>Revenue Sources</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hape 230"/>
          <p:cNvSpPr txBox="1">
            <a:spLocks noGrp="1"/>
          </p:cNvSpPr>
          <p:nvPr>
            <p:ph type="title" idx="4294967295"/>
          </p:nvPr>
        </p:nvSpPr>
        <p:spPr>
          <a:xfrm>
            <a:off x="0" y="22225"/>
            <a:ext cx="8229600" cy="925513"/>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Common Funding Proposal Info</a:t>
            </a:r>
          </a:p>
        </p:txBody>
      </p:sp>
      <p:sp>
        <p:nvSpPr>
          <p:cNvPr id="23555" name="Shape 231"/>
          <p:cNvSpPr txBox="1">
            <a:spLocks noGrp="1"/>
          </p:cNvSpPr>
          <p:nvPr>
            <p:ph type="body" idx="4294967295"/>
          </p:nvPr>
        </p:nvSpPr>
        <p:spPr>
          <a:xfrm>
            <a:off x="1752600" y="839788"/>
            <a:ext cx="7391400" cy="5584825"/>
          </a:xfrm>
        </p:spPr>
        <p:txBody>
          <a:bodyPr wrap="square" tIns="45700" bIns="45700" numCol="1" anchor="t" anchorCtr="0" compatLnSpc="1">
            <a:prstTxWarp prst="textNoShape">
              <a:avLst/>
            </a:prstTxWarp>
            <a:normAutofit lnSpcReduction="10000"/>
          </a:bodyPr>
          <a:lstStyle/>
          <a:p>
            <a:pPr indent="-342900" eaLnBrk="1" hangingPunct="1">
              <a:spcBef>
                <a:spcPct val="0"/>
              </a:spcBef>
              <a:spcAft>
                <a:spcPct val="0"/>
              </a:spcAft>
              <a:buClrTx/>
              <a:buFontTx/>
              <a:buChar char="•"/>
              <a:defRPr/>
            </a:pPr>
            <a:r>
              <a:rPr lang="en-US" dirty="0">
                <a:solidFill>
                  <a:srgbClr val="FF0000"/>
                </a:solidFill>
                <a:latin typeface="+mn-lt"/>
                <a:ea typeface="Cabin" charset="0"/>
                <a:cs typeface="Cabin"/>
                <a:sym typeface="Cabin" charset="0"/>
              </a:rPr>
              <a:t>Organizational Goals &amp; Objectives</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Mission</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Population Served</a:t>
            </a:r>
          </a:p>
          <a:p>
            <a:pPr indent="-342900" eaLnBrk="1" hangingPunct="1">
              <a:spcBef>
                <a:spcPts val="475"/>
              </a:spcBef>
              <a:spcAft>
                <a:spcPct val="0"/>
              </a:spcAft>
              <a:buClrTx/>
              <a:buFontTx/>
              <a:buChar char="•"/>
              <a:defRPr/>
            </a:pPr>
            <a:r>
              <a:rPr lang="en-US" dirty="0">
                <a:solidFill>
                  <a:srgbClr val="FF0000"/>
                </a:solidFill>
                <a:latin typeface="+mn-lt"/>
                <a:ea typeface="Cabin" charset="0"/>
                <a:cs typeface="Cabin"/>
                <a:sym typeface="Cabin" charset="0"/>
              </a:rPr>
              <a:t>Staff &amp; Board</a:t>
            </a:r>
          </a:p>
          <a:p>
            <a:pPr indent="-342900" eaLnBrk="1" hangingPunct="1">
              <a:spcBef>
                <a:spcPts val="475"/>
              </a:spcBef>
              <a:spcAft>
                <a:spcPct val="0"/>
              </a:spcAft>
              <a:buClrTx/>
              <a:buFontTx/>
              <a:buChar char="•"/>
              <a:defRPr/>
            </a:pPr>
            <a:r>
              <a:rPr lang="en-US" dirty="0">
                <a:solidFill>
                  <a:srgbClr val="FF0000"/>
                </a:solidFill>
                <a:latin typeface="+mn-lt"/>
                <a:ea typeface="Cabin" charset="0"/>
                <a:cs typeface="Cabin"/>
                <a:sym typeface="Cabin" charset="0"/>
              </a:rPr>
              <a:t>Programs &amp; Services (Track Record)</a:t>
            </a:r>
          </a:p>
          <a:p>
            <a:pPr indent="-342900" eaLnBrk="1" hangingPunct="1">
              <a:spcBef>
                <a:spcPts val="475"/>
              </a:spcBef>
              <a:spcAft>
                <a:spcPct val="0"/>
              </a:spcAft>
              <a:buClrTx/>
              <a:buFontTx/>
              <a:buChar char="•"/>
              <a:defRPr/>
            </a:pPr>
            <a:r>
              <a:rPr lang="en-US" dirty="0">
                <a:solidFill>
                  <a:srgbClr val="FF0000"/>
                </a:solidFill>
                <a:latin typeface="+mn-lt"/>
                <a:ea typeface="Cabin" charset="0"/>
                <a:cs typeface="Cabin"/>
                <a:sym typeface="Cabin" charset="0"/>
              </a:rPr>
              <a:t>Finances – Operating, Capital &amp; Endowment</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Financial Statements &amp; Projections</a:t>
            </a:r>
          </a:p>
          <a:p>
            <a:pPr indent="-342900" eaLnBrk="1" hangingPunct="1">
              <a:spcBef>
                <a:spcPts val="475"/>
              </a:spcBef>
              <a:spcAft>
                <a:spcPct val="0"/>
              </a:spcAft>
              <a:buClrTx/>
              <a:buFontTx/>
              <a:buChar char="•"/>
              <a:defRPr/>
            </a:pPr>
            <a:r>
              <a:rPr lang="en-US" dirty="0">
                <a:solidFill>
                  <a:srgbClr val="FF0000"/>
                </a:solidFill>
                <a:latin typeface="+mn-lt"/>
                <a:ea typeface="Cabin" charset="0"/>
                <a:cs typeface="Cabin"/>
                <a:sym typeface="Cabin" charset="0"/>
              </a:rPr>
              <a:t>Funding Request</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Program / Capital Project / Operating Funds</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Timeframe</a:t>
            </a:r>
          </a:p>
          <a:p>
            <a:pPr lvl="1" indent="-285750" eaLnBrk="1" hangingPunct="1">
              <a:spcBef>
                <a:spcPts val="400"/>
              </a:spcBef>
              <a:spcAft>
                <a:spcPct val="0"/>
              </a:spcAft>
              <a:buClrTx/>
              <a:buFont typeface="Arial"/>
              <a:buChar char="•"/>
              <a:defRPr/>
            </a:pPr>
            <a:r>
              <a:rPr lang="en-US" sz="2400" dirty="0">
                <a:solidFill>
                  <a:srgbClr val="004D8F"/>
                </a:solidFill>
                <a:latin typeface="+mn-lt"/>
                <a:ea typeface="Cabin" charset="0"/>
                <a:cs typeface="Cabin"/>
                <a:sym typeface="Cabin" charset="0"/>
              </a:rPr>
              <a:t>Outcome Measurement</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hape 237"/>
          <p:cNvSpPr txBox="1">
            <a:spLocks noGrp="1"/>
          </p:cNvSpPr>
          <p:nvPr>
            <p:ph type="body" idx="4294967295"/>
          </p:nvPr>
        </p:nvSpPr>
        <p:spPr>
          <a:xfrm>
            <a:off x="957263" y="1143000"/>
            <a:ext cx="8186737" cy="5272088"/>
          </a:xfrm>
        </p:spPr>
        <p:txBody>
          <a:bodyPr wrap="square" tIns="45700" bIns="45700" numCol="1" anchor="t" anchorCtr="0" compatLnSpc="1">
            <a:prstTxWarp prst="textNoShape">
              <a:avLst/>
            </a:prstTxWarp>
            <a:normAutofit fontScale="92500"/>
          </a:bodyPr>
          <a:lstStyle/>
          <a:p>
            <a:pPr marL="0" indent="0" eaLnBrk="1" hangingPunct="1">
              <a:lnSpc>
                <a:spcPct val="90000"/>
              </a:lnSpc>
              <a:spcBef>
                <a:spcPct val="0"/>
              </a:spcBef>
              <a:spcAft>
                <a:spcPct val="0"/>
              </a:spcAft>
              <a:buClrTx/>
              <a:buNone/>
              <a:defRPr/>
            </a:pPr>
            <a:r>
              <a:rPr lang="en-US" b="1" dirty="0">
                <a:solidFill>
                  <a:srgbClr val="FF0000"/>
                </a:solidFill>
                <a:latin typeface="+mn-lt"/>
                <a:ea typeface="Cabin" charset="0"/>
                <a:cs typeface="Cabin"/>
                <a:sym typeface="Cabin" charset="0"/>
              </a:rPr>
              <a:t>Defining and measuring success:</a:t>
            </a:r>
          </a:p>
          <a:p>
            <a:pPr lvl="1" indent="-285750" eaLnBrk="1" hangingPunct="1">
              <a:lnSpc>
                <a:spcPct val="12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Social benefits created may be difficult to measure</a:t>
            </a:r>
          </a:p>
          <a:p>
            <a:pPr lvl="1" indent="-285750" eaLnBrk="1" hangingPunct="1">
              <a:lnSpc>
                <a:spcPct val="12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Financial success is not the primary goal of a nonprofit organization </a:t>
            </a:r>
          </a:p>
          <a:p>
            <a:pPr lvl="1" indent="-285750" eaLnBrk="1" hangingPunct="1">
              <a:lnSpc>
                <a:spcPct val="12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Tangible outcomes, not just numbers served</a:t>
            </a:r>
          </a:p>
          <a:p>
            <a:pPr marL="0" indent="0" eaLnBrk="1" hangingPunct="1">
              <a:lnSpc>
                <a:spcPct val="90000"/>
              </a:lnSpc>
              <a:spcBef>
                <a:spcPts val="475"/>
              </a:spcBef>
              <a:spcAft>
                <a:spcPct val="0"/>
              </a:spcAft>
              <a:buClrTx/>
              <a:buNone/>
              <a:defRPr/>
            </a:pPr>
            <a:r>
              <a:rPr lang="en-US" b="1" dirty="0">
                <a:solidFill>
                  <a:srgbClr val="FF0000"/>
                </a:solidFill>
                <a:latin typeface="+mn-lt"/>
                <a:ea typeface="Cabin" charset="0"/>
                <a:cs typeface="Cabin"/>
                <a:sym typeface="Cabin" charset="0"/>
              </a:rPr>
              <a:t>Attracting and motivating people:</a:t>
            </a:r>
          </a:p>
          <a:p>
            <a:pPr lvl="1" indent="-285750" eaLnBrk="1" hangingPunct="1">
              <a:lnSpc>
                <a:spcPct val="11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People are motivated by the mission </a:t>
            </a:r>
          </a:p>
          <a:p>
            <a:pPr lvl="1" indent="-285750" eaLnBrk="1" hangingPunct="1">
              <a:lnSpc>
                <a:spcPct val="11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Some people are motivated by involvement</a:t>
            </a:r>
          </a:p>
          <a:p>
            <a:pPr lvl="1" indent="-285750" eaLnBrk="1" hangingPunct="1">
              <a:lnSpc>
                <a:spcPct val="11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Limited use of compensation system as a management tool </a:t>
            </a:r>
          </a:p>
          <a:p>
            <a:pPr lvl="1" indent="-285750" eaLnBrk="1" hangingPunct="1">
              <a:lnSpc>
                <a:spcPct val="11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Non-financial rewards</a:t>
            </a:r>
          </a:p>
          <a:p>
            <a:pPr lvl="1" indent="-285750" eaLnBrk="1" hangingPunct="1">
              <a:lnSpc>
                <a:spcPct val="110000"/>
              </a:lnSpc>
              <a:spcBef>
                <a:spcPts val="438"/>
              </a:spcBef>
              <a:spcAft>
                <a:spcPct val="0"/>
              </a:spcAft>
              <a:buClrTx/>
              <a:buFont typeface="Arial"/>
              <a:buChar char="•"/>
              <a:defRPr/>
            </a:pPr>
            <a:r>
              <a:rPr lang="en-US" sz="2400" dirty="0">
                <a:solidFill>
                  <a:srgbClr val="004D8F"/>
                </a:solidFill>
                <a:latin typeface="+mn-lt"/>
                <a:ea typeface="Cabin" charset="0"/>
                <a:cs typeface="Cabin"/>
                <a:sym typeface="Cabin" charset="0"/>
              </a:rPr>
              <a:t>Extensive use of volunteers to do “staff work”</a:t>
            </a:r>
          </a:p>
          <a:p>
            <a:pPr lvl="1" indent="-285750" eaLnBrk="1" hangingPunct="1">
              <a:lnSpc>
                <a:spcPct val="90000"/>
              </a:lnSpc>
              <a:spcBef>
                <a:spcPts val="0"/>
              </a:spcBef>
              <a:spcAft>
                <a:spcPct val="0"/>
              </a:spcAft>
              <a:buSzPct val="25000"/>
              <a:buFont typeface="Cabin" charset="0"/>
              <a:buNone/>
              <a:defRPr/>
            </a:pPr>
            <a:r>
              <a:rPr lang="en-US" sz="1000" i="1" dirty="0">
                <a:solidFill>
                  <a:srgbClr val="2A2517"/>
                </a:solidFill>
                <a:latin typeface="Cabin" charset="0"/>
                <a:ea typeface="Cabin" charset="0"/>
                <a:cs typeface="Cabin" charset="0"/>
                <a:sym typeface="Cabin" charset="0"/>
              </a:rPr>
              <a:t>				</a:t>
            </a:r>
            <a:r>
              <a:rPr lang="en-US" sz="1400" i="1" dirty="0">
                <a:solidFill>
                  <a:srgbClr val="004D8F"/>
                </a:solidFill>
                <a:latin typeface="Cabin" charset="0"/>
                <a:ea typeface="Cabin" charset="0"/>
                <a:cs typeface="Cabin" charset="0"/>
                <a:sym typeface="Cabin" charset="0"/>
              </a:rPr>
              <a:t>Adopted from Note on Starting a Nonprofit Venture, HBSP item # 9-391-096</a:t>
            </a:r>
            <a:r>
              <a:rPr lang="en-US" sz="4400" i="1" dirty="0">
                <a:solidFill>
                  <a:srgbClr val="004D8F"/>
                </a:solidFill>
                <a:latin typeface="Cabin" charset="0"/>
                <a:ea typeface="Cabin" charset="0"/>
                <a:cs typeface="Cabin" charset="0"/>
                <a:sym typeface="Cabin" charset="0"/>
              </a:rPr>
              <a:t> </a:t>
            </a:r>
          </a:p>
          <a:p>
            <a:pPr indent="-342900" algn="r" eaLnBrk="1" hangingPunct="1">
              <a:lnSpc>
                <a:spcPct val="90000"/>
              </a:lnSpc>
              <a:spcBef>
                <a:spcPts val="200"/>
              </a:spcBef>
              <a:spcAft>
                <a:spcPct val="0"/>
              </a:spcAft>
              <a:buClr>
                <a:srgbClr val="538833"/>
              </a:buClr>
              <a:buSzPct val="25000"/>
              <a:buFont typeface="Cabin" charset="0"/>
              <a:buNone/>
              <a:defRPr/>
            </a:pPr>
            <a:r>
              <a:rPr lang="en-US" sz="1000" i="1" dirty="0">
                <a:solidFill>
                  <a:srgbClr val="538833"/>
                </a:solidFill>
                <a:latin typeface="Cabin" charset="0"/>
                <a:ea typeface="Cabin" charset="0"/>
                <a:cs typeface="Cabin" charset="0"/>
                <a:sym typeface="Cabin" charset="0"/>
              </a:rPr>
              <a:t>           </a:t>
            </a:r>
          </a:p>
        </p:txBody>
      </p:sp>
      <p:sp>
        <p:nvSpPr>
          <p:cNvPr id="6" name="Shape 221"/>
          <p:cNvSpPr txBox="1">
            <a:spLocks noGrp="1"/>
          </p:cNvSpPr>
          <p:nvPr>
            <p:ph type="title" idx="4294967295"/>
          </p:nvPr>
        </p:nvSpPr>
        <p:spPr>
          <a:xfrm>
            <a:off x="0" y="0"/>
            <a:ext cx="7491413" cy="1143000"/>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Issues in Nonprofit Management</a:t>
            </a: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txBox="1">
            <a:spLocks noGrp="1"/>
          </p:cNvSpPr>
          <p:nvPr>
            <p:ph type="body" idx="4294967295"/>
          </p:nvPr>
        </p:nvSpPr>
        <p:spPr>
          <a:xfrm>
            <a:off x="1752600" y="1165225"/>
            <a:ext cx="7391400" cy="4476750"/>
          </a:xfrm>
        </p:spPr>
        <p:txBody>
          <a:bodyPr wrap="square" tIns="45700" bIns="45700" numCol="1" anchor="t" anchorCtr="0" compatLnSpc="1">
            <a:prstTxWarp prst="textNoShape">
              <a:avLst/>
            </a:prstTxWarp>
            <a:noAutofit/>
          </a:bodyPr>
          <a:lstStyle/>
          <a:p>
            <a:pPr marL="0" indent="0" eaLnBrk="1" hangingPunct="1">
              <a:spcBef>
                <a:spcPct val="0"/>
              </a:spcBef>
              <a:spcAft>
                <a:spcPct val="0"/>
              </a:spcAft>
              <a:buClrTx/>
              <a:buNone/>
              <a:defRPr/>
            </a:pPr>
            <a:r>
              <a:rPr lang="en-US" b="1" dirty="0">
                <a:solidFill>
                  <a:srgbClr val="FF0000"/>
                </a:solidFill>
                <a:latin typeface="+mn-lt"/>
                <a:ea typeface="Cabin" charset="0"/>
                <a:cs typeface="Gill Sans MT"/>
                <a:sym typeface="Cabin" charset="0"/>
              </a:rPr>
              <a:t>Governance and Accountability:</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Gill Sans MT"/>
                <a:sym typeface="Cabin" charset="0"/>
              </a:rPr>
              <a:t>Annual Filing of Form 990</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Gill Sans MT"/>
                <a:sym typeface="Cabin" charset="0"/>
              </a:rPr>
              <a:t>Conflict of Interest Policy &amp; Board Remuneration Policy</a:t>
            </a: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Gill Sans MT"/>
                <a:sym typeface="Cabin" charset="0"/>
              </a:rPr>
              <a:t>Annual Audit Requirements Set By Mass AG Based on Gross Support and Revenue</a:t>
            </a:r>
          </a:p>
          <a:p>
            <a:pPr lvl="2" indent="-285750" eaLnBrk="1" hangingPunct="1">
              <a:spcBef>
                <a:spcPts val="425"/>
              </a:spcBef>
              <a:spcAft>
                <a:spcPct val="0"/>
              </a:spcAft>
              <a:buClrTx/>
              <a:buFont typeface="Arial" pitchFamily="-108" charset="0"/>
              <a:buChar char="–"/>
              <a:defRPr/>
            </a:pPr>
            <a:r>
              <a:rPr lang="en-US" sz="2200" dirty="0">
                <a:solidFill>
                  <a:srgbClr val="004D8F"/>
                </a:solidFill>
                <a:latin typeface="+mn-lt"/>
                <a:ea typeface="Cabin" charset="0"/>
                <a:cs typeface="Gill Sans MT"/>
                <a:sym typeface="Cabin" charset="0"/>
              </a:rPr>
              <a:t>Less Than $200K: No External Audit Required</a:t>
            </a:r>
          </a:p>
          <a:p>
            <a:pPr lvl="2" indent="-285750" eaLnBrk="1" hangingPunct="1">
              <a:spcBef>
                <a:spcPts val="425"/>
              </a:spcBef>
              <a:spcAft>
                <a:spcPct val="0"/>
              </a:spcAft>
              <a:buClrTx/>
              <a:buFont typeface="Arial" pitchFamily="-108" charset="0"/>
              <a:buChar char="–"/>
              <a:defRPr/>
            </a:pPr>
            <a:r>
              <a:rPr lang="en-US" sz="2200" dirty="0">
                <a:solidFill>
                  <a:srgbClr val="004D8F"/>
                </a:solidFill>
                <a:latin typeface="+mn-lt"/>
                <a:ea typeface="Cabin" charset="0"/>
                <a:cs typeface="Gill Sans MT"/>
                <a:sym typeface="Cabin" charset="0"/>
              </a:rPr>
              <a:t>$200K - $500K : </a:t>
            </a:r>
            <a:r>
              <a:rPr lang="en-US" sz="2200" dirty="0">
                <a:solidFill>
                  <a:srgbClr val="004D8F"/>
                </a:solidFill>
                <a:latin typeface="+mn-lt"/>
                <a:cs typeface="Gill Sans MT"/>
                <a:sym typeface="Arial" pitchFamily="-108" charset="0"/>
              </a:rPr>
              <a:t>a CPA's Review of Financial Statements</a:t>
            </a:r>
          </a:p>
          <a:p>
            <a:pPr lvl="2" indent="-285750" eaLnBrk="1" hangingPunct="1">
              <a:spcBef>
                <a:spcPts val="425"/>
              </a:spcBef>
              <a:spcAft>
                <a:spcPct val="0"/>
              </a:spcAft>
              <a:buClrTx/>
              <a:buFont typeface="Arial" pitchFamily="-108" charset="0"/>
              <a:buChar char="–"/>
              <a:defRPr/>
            </a:pPr>
            <a:r>
              <a:rPr lang="en-US" sz="2200" dirty="0">
                <a:solidFill>
                  <a:srgbClr val="004D8F"/>
                </a:solidFill>
                <a:latin typeface="+mn-lt"/>
                <a:ea typeface="Cabin" charset="0"/>
                <a:cs typeface="Gill Sans MT"/>
                <a:sym typeface="Cabin" charset="0"/>
              </a:rPr>
              <a:t>Greater Than $500K:</a:t>
            </a:r>
            <a:r>
              <a:rPr lang="en-US" sz="2200" dirty="0">
                <a:solidFill>
                  <a:srgbClr val="004D8F"/>
                </a:solidFill>
                <a:latin typeface="+mn-lt"/>
                <a:cs typeface="Gill Sans MT"/>
                <a:sym typeface="Arial" pitchFamily="-108" charset="0"/>
              </a:rPr>
              <a:t> Audited Financial Statement</a:t>
            </a:r>
            <a:endParaRPr lang="en-US" sz="2200" dirty="0">
              <a:solidFill>
                <a:srgbClr val="004D8F"/>
              </a:solidFill>
              <a:latin typeface="+mn-lt"/>
              <a:ea typeface="Cabin" charset="0"/>
              <a:cs typeface="Gill Sans MT"/>
              <a:sym typeface="Cabin" charset="0"/>
            </a:endParaRPr>
          </a:p>
          <a:p>
            <a:pPr lvl="1" indent="-285750" eaLnBrk="1" hangingPunct="1">
              <a:spcBef>
                <a:spcPts val="425"/>
              </a:spcBef>
              <a:spcAft>
                <a:spcPct val="0"/>
              </a:spcAft>
              <a:buClrTx/>
              <a:buFont typeface="Arial"/>
              <a:buChar char="•"/>
              <a:defRPr/>
            </a:pPr>
            <a:r>
              <a:rPr lang="en-US" sz="2400" dirty="0">
                <a:solidFill>
                  <a:srgbClr val="004D8F"/>
                </a:solidFill>
                <a:latin typeface="+mn-lt"/>
                <a:ea typeface="Cabin" charset="0"/>
                <a:cs typeface="Gill Sans MT"/>
                <a:sym typeface="Cabin" charset="0"/>
              </a:rPr>
              <a:t>Reasonable compensation documentation</a:t>
            </a:r>
          </a:p>
          <a:p>
            <a:pPr lvl="1" indent="-285750" eaLnBrk="1" hangingPunct="1">
              <a:spcBef>
                <a:spcPts val="425"/>
              </a:spcBef>
              <a:spcAft>
                <a:spcPct val="0"/>
              </a:spcAft>
              <a:buClrTx/>
              <a:buFont typeface="Arial"/>
              <a:buChar char="•"/>
              <a:defRPr/>
            </a:pPr>
            <a:r>
              <a:rPr lang="en-US" sz="2400" u="sng" dirty="0">
                <a:solidFill>
                  <a:srgbClr val="004D8F"/>
                </a:solidFill>
                <a:latin typeface="+mn-lt"/>
                <a:ea typeface="Cabin" charset="0"/>
                <a:cs typeface="Gill Sans MT"/>
                <a:sym typeface="Cabin" charset="0"/>
              </a:rPr>
              <a:t>Board has right to know and obligation to ask!</a:t>
            </a:r>
          </a:p>
          <a:p>
            <a:pPr indent="-342900" eaLnBrk="1" hangingPunct="1">
              <a:spcBef>
                <a:spcPct val="0"/>
              </a:spcBef>
              <a:spcAft>
                <a:spcPct val="0"/>
              </a:spcAft>
              <a:buClr>
                <a:srgbClr val="538833"/>
              </a:buClr>
              <a:buFont typeface="Arial" pitchFamily="-108" charset="0"/>
              <a:buNone/>
              <a:defRPr/>
            </a:pPr>
            <a:endParaRPr lang="en-US" sz="2400" u="sng" dirty="0">
              <a:solidFill>
                <a:srgbClr val="2A2517"/>
              </a:solidFill>
              <a:latin typeface="+mn-lt"/>
              <a:ea typeface="Cabin" charset="0"/>
              <a:cs typeface="Gill Sans MT"/>
              <a:sym typeface="Cabin" charset="0"/>
            </a:endParaRPr>
          </a:p>
        </p:txBody>
      </p:sp>
      <p:sp>
        <p:nvSpPr>
          <p:cNvPr id="5" name="Shape 221"/>
          <p:cNvSpPr txBox="1">
            <a:spLocks noGrp="1"/>
          </p:cNvSpPr>
          <p:nvPr>
            <p:ph type="title" idx="4294967295"/>
          </p:nvPr>
        </p:nvSpPr>
        <p:spPr>
          <a:xfrm>
            <a:off x="0" y="22225"/>
            <a:ext cx="7491413" cy="1143000"/>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Issues in Nonprofit Management</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hape 266"/>
          <p:cNvSpPr txBox="1">
            <a:spLocks noGrp="1"/>
          </p:cNvSpPr>
          <p:nvPr>
            <p:ph type="body" idx="4294967295"/>
          </p:nvPr>
        </p:nvSpPr>
        <p:spPr>
          <a:xfrm>
            <a:off x="698500" y="877888"/>
            <a:ext cx="8445500" cy="5054600"/>
          </a:xfrm>
        </p:spPr>
        <p:txBody>
          <a:bodyPr wrap="square" tIns="45700" bIns="45700" numCol="1" anchor="t" anchorCtr="0" compatLnSpc="1">
            <a:prstTxWarp prst="textNoShape">
              <a:avLst/>
            </a:prstTxWarp>
            <a:normAutofit/>
          </a:bodyPr>
          <a:lstStyle/>
          <a:p>
            <a:pPr marL="0" indent="0" eaLnBrk="1" hangingPunct="1">
              <a:lnSpc>
                <a:spcPct val="75000"/>
              </a:lnSpc>
              <a:spcBef>
                <a:spcPct val="0"/>
              </a:spcBef>
              <a:spcAft>
                <a:spcPct val="0"/>
              </a:spcAft>
              <a:buClrTx/>
              <a:buNone/>
              <a:defRPr/>
            </a:pPr>
            <a:r>
              <a:rPr lang="en-US" dirty="0">
                <a:solidFill>
                  <a:srgbClr val="FF0000"/>
                </a:solidFill>
                <a:latin typeface="+mn-lt"/>
                <a:ea typeface="Cabin" charset="0"/>
                <a:cs typeface="Cabin" charset="0"/>
                <a:sym typeface="Cabin" charset="0"/>
              </a:rPr>
              <a:t>What do I do next?</a:t>
            </a:r>
          </a:p>
          <a:p>
            <a:pPr lvl="1" indent="-285750" eaLnBrk="1" hangingPunct="1">
              <a:lnSpc>
                <a:spcPct val="110000"/>
              </a:lnSpc>
              <a:spcBef>
                <a:spcPts val="375"/>
              </a:spcBef>
              <a:spcAft>
                <a:spcPct val="0"/>
              </a:spcAft>
              <a:buClrTx/>
              <a:buFont typeface="Arial"/>
              <a:buChar char="•"/>
              <a:defRPr/>
            </a:pPr>
            <a:r>
              <a:rPr lang="en-US" sz="2400" dirty="0">
                <a:solidFill>
                  <a:srgbClr val="004D8F"/>
                </a:solidFill>
                <a:latin typeface="+mn-lt"/>
                <a:ea typeface="Cabin" charset="0"/>
                <a:cs typeface="Cabin" charset="0"/>
                <a:sym typeface="Cabin" charset="0"/>
              </a:rPr>
              <a:t>Prepare “elevator story”</a:t>
            </a: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3 Sentences</a:t>
            </a: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Problem / Benefit of Solving / Proposed Solution </a:t>
            </a:r>
          </a:p>
          <a:p>
            <a:pPr lvl="1" indent="-285750" eaLnBrk="1" hangingPunct="1">
              <a:lnSpc>
                <a:spcPct val="110000"/>
              </a:lnSpc>
              <a:spcBef>
                <a:spcPts val="375"/>
              </a:spcBef>
              <a:spcAft>
                <a:spcPct val="0"/>
              </a:spcAft>
              <a:buClrTx/>
              <a:buFont typeface="Arial"/>
              <a:buChar char="•"/>
              <a:defRPr/>
            </a:pPr>
            <a:r>
              <a:rPr lang="en-US" sz="2400" dirty="0">
                <a:solidFill>
                  <a:srgbClr val="004D8F"/>
                </a:solidFill>
                <a:latin typeface="+mn-lt"/>
                <a:ea typeface="Cabin" charset="0"/>
                <a:cs typeface="Cabin" charset="0"/>
                <a:sym typeface="Cabin" charset="0"/>
              </a:rPr>
              <a:t>Prepare case statement</a:t>
            </a: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Need / Services / Outcomes</a:t>
            </a:r>
          </a:p>
          <a:p>
            <a:pPr lvl="1" indent="-285750" eaLnBrk="1" hangingPunct="1">
              <a:lnSpc>
                <a:spcPct val="110000"/>
              </a:lnSpc>
              <a:spcBef>
                <a:spcPts val="375"/>
              </a:spcBef>
              <a:spcAft>
                <a:spcPct val="0"/>
              </a:spcAft>
              <a:buClrTx/>
              <a:buFont typeface="Arial"/>
              <a:buChar char="•"/>
              <a:defRPr/>
            </a:pPr>
            <a:r>
              <a:rPr lang="en-US" sz="2400" dirty="0">
                <a:solidFill>
                  <a:srgbClr val="004D8F"/>
                </a:solidFill>
                <a:latin typeface="+mn-lt"/>
                <a:ea typeface="Cabin" charset="0"/>
                <a:cs typeface="Cabin" charset="0"/>
                <a:sym typeface="Cabin" charset="0"/>
              </a:rPr>
              <a:t>Test effectiveness of “elevator story” and case statement</a:t>
            </a: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Staff / Board / Potential Donors</a:t>
            </a:r>
          </a:p>
          <a:p>
            <a:pPr lvl="1" indent="-285750" eaLnBrk="1" hangingPunct="1">
              <a:lnSpc>
                <a:spcPct val="110000"/>
              </a:lnSpc>
              <a:spcBef>
                <a:spcPts val="375"/>
              </a:spcBef>
              <a:spcAft>
                <a:spcPct val="0"/>
              </a:spcAft>
              <a:buClrTx/>
              <a:buFont typeface="Arial"/>
              <a:buChar char="•"/>
              <a:defRPr/>
            </a:pPr>
            <a:r>
              <a:rPr lang="en-US" sz="2378" dirty="0">
                <a:solidFill>
                  <a:srgbClr val="004D8F"/>
                </a:solidFill>
                <a:latin typeface="+mn-lt"/>
                <a:ea typeface="Cabin" charset="0"/>
                <a:cs typeface="Cabin" charset="0"/>
                <a:sym typeface="Cabin" charset="0"/>
              </a:rPr>
              <a:t>Plan fundraising campaign </a:t>
            </a: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Decide on sources &amp; approach by category </a:t>
            </a:r>
          </a:p>
          <a:p>
            <a:pPr lvl="3" indent="-228600" eaLnBrk="1" hangingPunct="1">
              <a:lnSpc>
                <a:spcPct val="110000"/>
              </a:lnSpc>
              <a:spcBef>
                <a:spcPts val="375"/>
              </a:spcBef>
              <a:spcAft>
                <a:spcPct val="0"/>
              </a:spcAft>
              <a:buClrTx/>
              <a:buFontTx/>
              <a:buChar char="–"/>
              <a:defRPr/>
            </a:pPr>
            <a:r>
              <a:rPr lang="en-US" sz="2000" dirty="0">
                <a:solidFill>
                  <a:srgbClr val="004D8F"/>
                </a:solidFill>
                <a:latin typeface="+mn-lt"/>
                <a:ea typeface="Cabin" charset="0"/>
                <a:cs typeface="Cabin" charset="0"/>
                <a:sym typeface="Cabin" charset="0"/>
              </a:rPr>
              <a:t>Individual, Corporate, Foundations &amp; </a:t>
            </a:r>
            <a:r>
              <a:rPr lang="en-US" sz="2000" dirty="0" err="1">
                <a:solidFill>
                  <a:srgbClr val="004D8F"/>
                </a:solidFill>
                <a:latin typeface="+mn-lt"/>
                <a:ea typeface="Cabin" charset="0"/>
                <a:cs typeface="Cabin" charset="0"/>
                <a:sym typeface="Cabin" charset="0"/>
              </a:rPr>
              <a:t>Gov’t</a:t>
            </a:r>
            <a:endParaRPr lang="en-US" sz="2000" dirty="0">
              <a:solidFill>
                <a:srgbClr val="004D8F"/>
              </a:solidFill>
              <a:latin typeface="+mn-lt"/>
              <a:ea typeface="Cabin" charset="0"/>
              <a:cs typeface="Cabin" charset="0"/>
              <a:sym typeface="Cabin" charset="0"/>
            </a:endParaRPr>
          </a:p>
          <a:p>
            <a:pPr lvl="2" indent="-228600" eaLnBrk="1" hangingPunct="1">
              <a:lnSpc>
                <a:spcPct val="110000"/>
              </a:lnSpc>
              <a:spcBef>
                <a:spcPts val="375"/>
              </a:spcBef>
              <a:spcAft>
                <a:spcPct val="0"/>
              </a:spcAft>
              <a:buClrTx/>
              <a:defRPr/>
            </a:pPr>
            <a:r>
              <a:rPr lang="en-US" sz="2000" dirty="0">
                <a:solidFill>
                  <a:srgbClr val="004D8F"/>
                </a:solidFill>
                <a:latin typeface="+mn-lt"/>
                <a:ea typeface="Cabin" charset="0"/>
                <a:cs typeface="Cabin" charset="0"/>
                <a:sym typeface="Cabin" charset="0"/>
              </a:rPr>
              <a:t>Potential grants at </a:t>
            </a:r>
            <a:r>
              <a:rPr lang="en-US" sz="2000" u="sng" dirty="0">
                <a:solidFill>
                  <a:srgbClr val="004D8F"/>
                </a:solidFill>
                <a:latin typeface="+mn-lt"/>
                <a:ea typeface="Arial" pitchFamily="-108" charset="0"/>
                <a:cs typeface="Arial" pitchFamily="-108" charset="0"/>
                <a:sym typeface="Calibri" pitchFamily="-108" charset="0"/>
              </a:rPr>
              <a:t>http://www.agmconnect.org/ </a:t>
            </a:r>
            <a:r>
              <a:rPr lang="en-US" sz="2000" dirty="0">
                <a:solidFill>
                  <a:srgbClr val="004D8F"/>
                </a:solidFill>
                <a:latin typeface="+mn-lt"/>
                <a:ea typeface="Cabin" charset="0"/>
                <a:cs typeface="Cabin" charset="0"/>
                <a:sym typeface="Cabin" charset="0"/>
              </a:rPr>
              <a:t>and </a:t>
            </a:r>
            <a:r>
              <a:rPr lang="en-US" sz="2000" u="sng" dirty="0">
                <a:solidFill>
                  <a:srgbClr val="004D8F"/>
                </a:solidFill>
                <a:latin typeface="+mn-lt"/>
                <a:ea typeface="Arial" pitchFamily="-108" charset="0"/>
                <a:cs typeface="Arial" pitchFamily="-108" charset="0"/>
                <a:sym typeface="Calibri" pitchFamily="-108" charset="0"/>
                <a:hlinkClick r:id="rId3"/>
              </a:rPr>
              <a:t>www.grants.gov</a:t>
            </a:r>
            <a:r>
              <a:rPr lang="en-US" sz="2000" dirty="0">
                <a:solidFill>
                  <a:srgbClr val="004D8F"/>
                </a:solidFill>
                <a:latin typeface="+mn-lt"/>
                <a:ea typeface="Cabin" charset="0"/>
                <a:cs typeface="Cabin" charset="0"/>
                <a:sym typeface="Cabin" charset="0"/>
              </a:rPr>
              <a:t>   </a:t>
            </a:r>
          </a:p>
        </p:txBody>
      </p:sp>
      <p:sp>
        <p:nvSpPr>
          <p:cNvPr id="5" name="Shape 221"/>
          <p:cNvSpPr txBox="1">
            <a:spLocks noGrp="1"/>
          </p:cNvSpPr>
          <p:nvPr>
            <p:ph type="title" idx="4294967295"/>
          </p:nvPr>
        </p:nvSpPr>
        <p:spPr>
          <a:xfrm>
            <a:off x="0" y="-90488"/>
            <a:ext cx="7491413" cy="1143001"/>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Typical Startup Questions</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hape 260"/>
          <p:cNvSpPr txBox="1">
            <a:spLocks noGrp="1"/>
          </p:cNvSpPr>
          <p:nvPr>
            <p:ph type="body" idx="4294967295"/>
          </p:nvPr>
        </p:nvSpPr>
        <p:spPr>
          <a:xfrm>
            <a:off x="0" y="1122363"/>
            <a:ext cx="7391400" cy="5054600"/>
          </a:xfrm>
        </p:spPr>
        <p:txBody>
          <a:bodyPr wrap="square" tIns="45700" bIns="45700" numCol="1" anchor="t" anchorCtr="0" compatLnSpc="1">
            <a:prstTxWarp prst="textNoShape">
              <a:avLst/>
            </a:prstTxWarp>
            <a:normAutofit/>
          </a:bodyPr>
          <a:lstStyle/>
          <a:p>
            <a:pPr marL="0" indent="0" eaLnBrk="1" hangingPunct="1">
              <a:lnSpc>
                <a:spcPct val="130000"/>
              </a:lnSpc>
              <a:spcBef>
                <a:spcPct val="0"/>
              </a:spcBef>
              <a:spcAft>
                <a:spcPct val="0"/>
              </a:spcAft>
              <a:buClrTx/>
              <a:buNone/>
              <a:defRPr/>
            </a:pPr>
            <a:r>
              <a:rPr lang="en-US" sz="2800" dirty="0">
                <a:solidFill>
                  <a:srgbClr val="FF0000"/>
                </a:solidFill>
                <a:latin typeface="Cabin" charset="0"/>
                <a:ea typeface="Cabin" charset="0"/>
                <a:cs typeface="Cabin" charset="0"/>
                <a:sym typeface="Cabin" charset="0"/>
              </a:rPr>
              <a:t>How do I get started?</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Document Mission </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Draw up Articles of Organization</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Incorporate as Nonprofit Org in MA</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Select Board Members</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Prepare Bylaws </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Prepare budget: </a:t>
            </a:r>
          </a:p>
          <a:p>
            <a:pPr lvl="2" indent="-228600" eaLnBrk="1" hangingPunct="1">
              <a:spcBef>
                <a:spcPts val="400"/>
              </a:spcBef>
              <a:spcAft>
                <a:spcPct val="0"/>
              </a:spcAft>
              <a:buClrTx/>
              <a:buFontTx/>
              <a:buChar char="•"/>
              <a:defRPr/>
            </a:pPr>
            <a:r>
              <a:rPr lang="en-US" dirty="0">
                <a:solidFill>
                  <a:srgbClr val="004D8F"/>
                </a:solidFill>
                <a:latin typeface="Cabin" charset="0"/>
                <a:ea typeface="Cabin" charset="0"/>
                <a:cs typeface="Cabin" charset="0"/>
                <a:sym typeface="Cabin" charset="0"/>
              </a:rPr>
              <a:t>12 month cash flow, Year 2 &amp; 3 projections, fundraising needs</a:t>
            </a:r>
          </a:p>
          <a:p>
            <a:pPr lvl="1" indent="-285750" eaLnBrk="1" hangingPunct="1">
              <a:spcBef>
                <a:spcPts val="400"/>
              </a:spcBef>
              <a:spcAft>
                <a:spcPct val="0"/>
              </a:spcAft>
              <a:buClrTx/>
              <a:buFont typeface="Arial"/>
              <a:buChar char="•"/>
              <a:defRPr/>
            </a:pPr>
            <a:r>
              <a:rPr lang="en-US" sz="2400" dirty="0">
                <a:solidFill>
                  <a:srgbClr val="004D8F"/>
                </a:solidFill>
                <a:latin typeface="Cabin" charset="0"/>
                <a:ea typeface="Cabin" charset="0"/>
                <a:cs typeface="Cabin" charset="0"/>
                <a:sym typeface="Cabin" charset="0"/>
              </a:rPr>
              <a:t>Charitable Organization Apply to IRS for 501 3 designation using Form 1023 or 1023 EZ</a:t>
            </a:r>
          </a:p>
        </p:txBody>
      </p:sp>
      <p:sp>
        <p:nvSpPr>
          <p:cNvPr id="5" name="Shape 221"/>
          <p:cNvSpPr txBox="1">
            <a:spLocks noGrp="1"/>
          </p:cNvSpPr>
          <p:nvPr>
            <p:ph type="title" idx="4294967295"/>
          </p:nvPr>
        </p:nvSpPr>
        <p:spPr>
          <a:xfrm>
            <a:off x="0" y="-6350"/>
            <a:ext cx="7491413" cy="1143000"/>
          </a:xfrm>
        </p:spPr>
        <p:txBody>
          <a:bodyPr tIns="45700" bIns="45700"/>
          <a:lstStyle/>
          <a:p>
            <a:pPr algn="l"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Typical Startup Questions</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txBox="1">
            <a:spLocks noGrp="1"/>
          </p:cNvSpPr>
          <p:nvPr>
            <p:ph type="body" idx="4294967295"/>
          </p:nvPr>
        </p:nvSpPr>
        <p:spPr>
          <a:xfrm>
            <a:off x="914400" y="1001713"/>
            <a:ext cx="8229600" cy="5180012"/>
          </a:xfrm>
        </p:spPr>
        <p:txBody>
          <a:bodyPr wrap="square" numCol="1" anchor="t" anchorCtr="0" compatLnSpc="1">
            <a:prstTxWarp prst="textNoShape">
              <a:avLst/>
            </a:prstTxWarp>
            <a:noAutofit/>
          </a:bodyPr>
          <a:lstStyle/>
          <a:p>
            <a:pPr eaLnBrk="1" hangingPunct="1">
              <a:spcBef>
                <a:spcPct val="0"/>
              </a:spcBef>
              <a:spcAft>
                <a:spcPct val="0"/>
              </a:spcAft>
              <a:buClrTx/>
              <a:buFont typeface="Arial" pitchFamily="-108" charset="0"/>
              <a:buNone/>
              <a:defRPr/>
            </a:pPr>
            <a:r>
              <a:rPr lang="en-US" b="1" dirty="0">
                <a:solidFill>
                  <a:srgbClr val="FF0000"/>
                </a:solidFill>
                <a:latin typeface="+mn-lt"/>
                <a:cs typeface="Gill Sans MT" pitchFamily="-108" charset="0"/>
                <a:sym typeface="Arial" pitchFamily="-108" charset="0"/>
              </a:rPr>
              <a:t>Additional Governmental Filings within Massachusetts</a:t>
            </a:r>
          </a:p>
          <a:p>
            <a:pPr marL="0" indent="0" eaLnBrk="1" hangingPunct="1">
              <a:spcBef>
                <a:spcPct val="0"/>
              </a:spcBef>
              <a:spcAft>
                <a:spcPct val="0"/>
              </a:spcAft>
              <a:buClrTx/>
              <a:buNone/>
              <a:defRPr/>
            </a:pPr>
            <a:r>
              <a:rPr lang="en-US" sz="2400" b="1" dirty="0">
                <a:solidFill>
                  <a:srgbClr val="004D8F"/>
                </a:solidFill>
                <a:latin typeface="+mn-lt"/>
                <a:cs typeface="Gill Sans MT" pitchFamily="-108" charset="0"/>
                <a:sym typeface="Arial" pitchFamily="-108" charset="0"/>
              </a:rPr>
              <a:t>Massachusetts Attorney General’s Public Charities Division</a:t>
            </a:r>
            <a:r>
              <a:rPr lang="en-US" sz="2400" dirty="0">
                <a:solidFill>
                  <a:srgbClr val="004D8F"/>
                </a:solidFill>
                <a:latin typeface="+mn-lt"/>
                <a:cs typeface="Gill Sans MT" pitchFamily="-108" charset="0"/>
                <a:sym typeface="Arial" pitchFamily="-108" charset="0"/>
              </a:rPr>
              <a:t>:</a:t>
            </a:r>
            <a:endParaRPr lang="en-US" sz="2000" dirty="0">
              <a:solidFill>
                <a:srgbClr val="004D8F"/>
              </a:solidFill>
              <a:latin typeface="+mn-lt"/>
              <a:cs typeface="Gill Sans MT" pitchFamily="-108" charset="0"/>
              <a:sym typeface="Arial" pitchFamily="-108" charset="0"/>
            </a:endParaRP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Submit Copies of Articles of Organization and By-Laws</a:t>
            </a: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List of Officers and Directors</a:t>
            </a: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Copy of IRS Letter of Exemption Upon Issued</a:t>
            </a: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AG’s Form PC and Schedule A-2</a:t>
            </a: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Filing Fees Total $150</a:t>
            </a:r>
          </a:p>
          <a:p>
            <a:pPr eaLnBrk="1" hangingPunct="1">
              <a:spcBef>
                <a:spcPct val="0"/>
              </a:spcBef>
              <a:spcAft>
                <a:spcPct val="0"/>
              </a:spcAft>
              <a:buClrTx/>
              <a:buFont typeface="Arial" pitchFamily="-108" charset="0"/>
              <a:buNone/>
              <a:defRPr/>
            </a:pPr>
            <a:endParaRPr lang="en-US" sz="1800" dirty="0">
              <a:solidFill>
                <a:srgbClr val="004D8F"/>
              </a:solidFill>
              <a:latin typeface="+mn-lt"/>
              <a:cs typeface="Gill Sans MT" pitchFamily="-108" charset="0"/>
              <a:sym typeface="Arial" pitchFamily="-108" charset="0"/>
            </a:endParaRPr>
          </a:p>
          <a:p>
            <a:pPr marL="0" indent="0" eaLnBrk="1" hangingPunct="1">
              <a:spcBef>
                <a:spcPct val="0"/>
              </a:spcBef>
              <a:spcAft>
                <a:spcPct val="0"/>
              </a:spcAft>
              <a:buClrTx/>
              <a:buNone/>
              <a:defRPr/>
            </a:pPr>
            <a:r>
              <a:rPr lang="en-US" sz="2400" b="1" dirty="0">
                <a:solidFill>
                  <a:srgbClr val="004D8F"/>
                </a:solidFill>
                <a:latin typeface="+mn-lt"/>
                <a:cs typeface="Gill Sans MT" pitchFamily="-108" charset="0"/>
                <a:sym typeface="Arial" pitchFamily="-108" charset="0"/>
              </a:rPr>
              <a:t>Massachusetts Department of Revenue</a:t>
            </a:r>
            <a:r>
              <a:rPr lang="en-US" sz="2400" dirty="0">
                <a:solidFill>
                  <a:srgbClr val="004D8F"/>
                </a:solidFill>
                <a:latin typeface="+mn-lt"/>
                <a:cs typeface="Gill Sans MT" pitchFamily="-108" charset="0"/>
                <a:sym typeface="Arial" pitchFamily="-108" charset="0"/>
              </a:rPr>
              <a:t>:</a:t>
            </a:r>
            <a:endParaRPr lang="en-US" sz="1800" dirty="0">
              <a:solidFill>
                <a:srgbClr val="004D8F"/>
              </a:solidFill>
              <a:latin typeface="+mn-lt"/>
              <a:cs typeface="Gill Sans MT" pitchFamily="-108" charset="0"/>
              <a:sym typeface="Arial" pitchFamily="-108" charset="0"/>
            </a:endParaRP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File State Sales Tax Form ST-2 for MA Sales Tax Exemption (Online)</a:t>
            </a:r>
          </a:p>
          <a:p>
            <a:pPr marL="857250" lvl="1" indent="-317500" eaLnBrk="1" hangingPunct="1">
              <a:spcBef>
                <a:spcPct val="0"/>
              </a:spcBef>
              <a:spcAft>
                <a:spcPct val="0"/>
              </a:spcAft>
              <a:buClrTx/>
              <a:buFont typeface="Arial"/>
              <a:buChar char="•"/>
              <a:defRPr/>
            </a:pPr>
            <a:r>
              <a:rPr lang="en-US" sz="2200" dirty="0">
                <a:solidFill>
                  <a:srgbClr val="004D8F"/>
                </a:solidFill>
                <a:latin typeface="+mn-lt"/>
                <a:cs typeface="Gill Sans MT" pitchFamily="-108" charset="0"/>
                <a:sym typeface="Arial" pitchFamily="-108" charset="0"/>
              </a:rPr>
              <a:t>Submit Copy of IRS Letter of Exemption for Verification of Federal Tax Exemption </a:t>
            </a:r>
          </a:p>
          <a:p>
            <a:pPr eaLnBrk="1" hangingPunct="1">
              <a:spcBef>
                <a:spcPct val="0"/>
              </a:spcBef>
              <a:spcAft>
                <a:spcPct val="0"/>
              </a:spcAft>
              <a:buClrTx/>
              <a:buFont typeface="Arial" pitchFamily="-108" charset="0"/>
              <a:buNone/>
              <a:defRPr/>
            </a:pPr>
            <a:r>
              <a:rPr lang="en-US" sz="1800" dirty="0">
                <a:solidFill>
                  <a:srgbClr val="004D8F"/>
                </a:solidFill>
                <a:latin typeface="+mn-lt"/>
                <a:cs typeface="Gill Sans MT" pitchFamily="-108" charset="0"/>
                <a:sym typeface="Arial" pitchFamily="-108" charset="0"/>
              </a:rPr>
              <a:t> </a:t>
            </a:r>
          </a:p>
        </p:txBody>
      </p:sp>
      <p:sp>
        <p:nvSpPr>
          <p:cNvPr id="5" name="Shape 221"/>
          <p:cNvSpPr txBox="1">
            <a:spLocks noGrp="1"/>
          </p:cNvSpPr>
          <p:nvPr>
            <p:ph type="title" idx="4294967295"/>
          </p:nvPr>
        </p:nvSpPr>
        <p:spPr>
          <a:xfrm>
            <a:off x="0" y="0"/>
            <a:ext cx="7491413" cy="1143000"/>
          </a:xfrm>
        </p:spPr>
        <p:txBody>
          <a:bodyPr tIns="45700" bIns="45700"/>
          <a:lstStyle/>
          <a:p>
            <a:pPr eaLnBrk="1" hangingPunct="1">
              <a:spcBef>
                <a:spcPct val="0"/>
              </a:spcBef>
              <a:spcAft>
                <a:spcPct val="0"/>
              </a:spcAft>
              <a:buClr>
                <a:srgbClr val="1A68A6"/>
              </a:buClr>
              <a:buSzPct val="25000"/>
              <a:buFont typeface="Cabin"/>
              <a:buNone/>
              <a:defRPr/>
            </a:pPr>
            <a:r>
              <a:rPr lang="en-US" altLang="en-US" sz="3600" b="1" dirty="0">
                <a:solidFill>
                  <a:srgbClr val="004D8F"/>
                </a:solidFill>
                <a:latin typeface="Gill Sans MT"/>
                <a:ea typeface="Cabin"/>
                <a:cs typeface="Gill Sans MT"/>
                <a:sym typeface="Cabin"/>
              </a:rPr>
              <a:t>Typical Startup Questions (cont.)</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41288"/>
            <a:ext cx="8229600" cy="925512"/>
          </a:xfrm>
        </p:spPr>
        <p:txBody>
          <a:bodyPr>
            <a:normAutofit/>
          </a:bodyPr>
          <a:lstStyle/>
          <a:p>
            <a:pPr algn="ctr" eaLnBrk="1" fontAlgn="auto" hangingPunct="1">
              <a:spcAft>
                <a:spcPts val="0"/>
              </a:spcAft>
              <a:defRPr/>
            </a:pPr>
            <a:r>
              <a:rPr lang="en-US" sz="4000" b="1" dirty="0">
                <a:solidFill>
                  <a:srgbClr val="004D8F"/>
                </a:solidFill>
                <a:sym typeface="Arial"/>
              </a:rPr>
              <a:t>IRS Form 1023 </a:t>
            </a:r>
          </a:p>
        </p:txBody>
      </p:sp>
      <p:sp>
        <p:nvSpPr>
          <p:cNvPr id="33795" name="Text Placeholder 2"/>
          <p:cNvSpPr txBox="1">
            <a:spLocks noGrp="1"/>
          </p:cNvSpPr>
          <p:nvPr>
            <p:ph type="body" idx="4294967295"/>
          </p:nvPr>
        </p:nvSpPr>
        <p:spPr>
          <a:xfrm>
            <a:off x="0" y="1517650"/>
            <a:ext cx="4040188" cy="639763"/>
          </a:xfrm>
        </p:spPr>
        <p:txBody>
          <a:bodyPr/>
          <a:lstStyle/>
          <a:p>
            <a:pPr eaLnBrk="1" hangingPunct="1">
              <a:spcBef>
                <a:spcPct val="0"/>
              </a:spcBef>
              <a:buClr>
                <a:srgbClr val="538833"/>
              </a:buClr>
              <a:buFont typeface="Arial" panose="020B0604020202020204" pitchFamily="34" charset="0"/>
              <a:buNone/>
              <a:defRPr/>
            </a:pPr>
            <a:r>
              <a:rPr lang="en-US" altLang="en-US" u="sng" dirty="0">
                <a:solidFill>
                  <a:srgbClr val="FF0000"/>
                </a:solidFill>
                <a:latin typeface="+mn-lt"/>
                <a:cs typeface="Arial" panose="020B0604020202020204" pitchFamily="34" charset="0"/>
              </a:rPr>
              <a:t>IRS Form 1023</a:t>
            </a:r>
          </a:p>
        </p:txBody>
      </p:sp>
      <p:sp>
        <p:nvSpPr>
          <p:cNvPr id="33796" name="Text Placeholder 3"/>
          <p:cNvSpPr txBox="1">
            <a:spLocks noGrp="1"/>
          </p:cNvSpPr>
          <p:nvPr>
            <p:ph type="body" idx="4294967295"/>
          </p:nvPr>
        </p:nvSpPr>
        <p:spPr>
          <a:xfrm>
            <a:off x="0" y="2139950"/>
            <a:ext cx="4040188" cy="3729038"/>
          </a:xfrm>
        </p:spPr>
        <p:txBody>
          <a:bodyPr wrap="square" numCol="1" anchor="t" anchorCtr="0" compatLnSpc="1">
            <a:prstTxWarp prst="textNoShape">
              <a:avLst/>
            </a:prstTxWarp>
          </a:bodyPr>
          <a:lstStyle/>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26 Pages</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Eligibility:</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Filed On Paper</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Key data – see prior slide</a:t>
            </a:r>
          </a:p>
        </p:txBody>
      </p:sp>
      <p:sp>
        <p:nvSpPr>
          <p:cNvPr id="33797" name="Text Placeholder 4"/>
          <p:cNvSpPr txBox="1">
            <a:spLocks noGrp="1"/>
          </p:cNvSpPr>
          <p:nvPr>
            <p:ph type="body" idx="4294967295"/>
          </p:nvPr>
        </p:nvSpPr>
        <p:spPr>
          <a:xfrm>
            <a:off x="4429125" y="1452563"/>
            <a:ext cx="4714875" cy="639762"/>
          </a:xfrm>
        </p:spPr>
        <p:txBody>
          <a:bodyPr/>
          <a:lstStyle/>
          <a:p>
            <a:pPr eaLnBrk="1" hangingPunct="1">
              <a:spcBef>
                <a:spcPct val="0"/>
              </a:spcBef>
              <a:buClr>
                <a:srgbClr val="538833"/>
              </a:buClr>
              <a:buFont typeface="Arial" panose="020B0604020202020204" pitchFamily="34" charset="0"/>
              <a:buNone/>
              <a:defRPr/>
            </a:pPr>
            <a:r>
              <a:rPr lang="en-US" altLang="en-US" u="sng" dirty="0">
                <a:solidFill>
                  <a:srgbClr val="FF0000"/>
                </a:solidFill>
                <a:latin typeface="+mn-lt"/>
                <a:cs typeface="Arial" panose="020B0604020202020204" pitchFamily="34" charset="0"/>
              </a:rPr>
              <a:t>IRS Form 1023EZ</a:t>
            </a:r>
          </a:p>
        </p:txBody>
      </p:sp>
      <p:sp>
        <p:nvSpPr>
          <p:cNvPr id="33798" name="Text Placeholder 5"/>
          <p:cNvSpPr txBox="1">
            <a:spLocks noGrp="1"/>
          </p:cNvSpPr>
          <p:nvPr>
            <p:ph type="body" idx="4294967295"/>
          </p:nvPr>
        </p:nvSpPr>
        <p:spPr>
          <a:xfrm>
            <a:off x="4429125" y="2092325"/>
            <a:ext cx="4714875" cy="3540125"/>
          </a:xfrm>
        </p:spPr>
        <p:txBody>
          <a:bodyPr wrap="square" numCol="1" anchor="t" anchorCtr="0" compatLnSpc="1">
            <a:prstTxWarp prst="textNoShape">
              <a:avLst/>
            </a:prstTxWarp>
            <a:normAutofit fontScale="92500" lnSpcReduction="20000"/>
          </a:bodyPr>
          <a:lstStyle/>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3 Pages</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Eligibility:  Charitable Organizations with </a:t>
            </a:r>
          </a:p>
          <a:p>
            <a:pPr marL="912813" lvl="1" indent="-277813" eaLnBrk="1" hangingPunct="1">
              <a:spcBef>
                <a:spcPct val="0"/>
              </a:spcBef>
              <a:buFontTx/>
              <a:buChar char="–"/>
              <a:defRPr/>
            </a:pPr>
            <a:r>
              <a:rPr lang="en-US" sz="2378" dirty="0">
                <a:solidFill>
                  <a:srgbClr val="004D8F"/>
                </a:solidFill>
                <a:latin typeface="+mn-lt"/>
                <a:ea typeface="Arial" pitchFamily="-108" charset="0"/>
                <a:cs typeface="Arial" pitchFamily="-108" charset="0"/>
              </a:rPr>
              <a:t>Gross Receipts of $50,000 or less</a:t>
            </a:r>
          </a:p>
          <a:p>
            <a:pPr marL="912813" lvl="1" indent="-277813" eaLnBrk="1" hangingPunct="1">
              <a:spcBef>
                <a:spcPct val="0"/>
              </a:spcBef>
              <a:buFontTx/>
              <a:buChar char="–"/>
              <a:defRPr/>
            </a:pPr>
            <a:r>
              <a:rPr lang="en-US" sz="2378" dirty="0">
                <a:solidFill>
                  <a:srgbClr val="004D8F"/>
                </a:solidFill>
                <a:latin typeface="+mn-lt"/>
                <a:ea typeface="Arial" pitchFamily="-108" charset="0"/>
                <a:cs typeface="Arial" pitchFamily="-108" charset="0"/>
              </a:rPr>
              <a:t> Assets of $250,000 or less</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Filed On Line </a:t>
            </a:r>
          </a:p>
          <a:p>
            <a:pPr marL="463550" indent="-260350" eaLnBrk="1" hangingPunct="1">
              <a:spcBef>
                <a:spcPct val="0"/>
              </a:spcBef>
              <a:buFont typeface="Arial"/>
              <a:buChar char="•"/>
              <a:defRPr/>
            </a:pPr>
            <a:r>
              <a:rPr lang="en-US" dirty="0">
                <a:solidFill>
                  <a:srgbClr val="004D8F"/>
                </a:solidFill>
                <a:latin typeface="+mn-lt"/>
                <a:ea typeface="Arial" pitchFamily="-108" charset="0"/>
                <a:cs typeface="Arial" pitchFamily="-108" charset="0"/>
              </a:rPr>
              <a:t>Key Data</a:t>
            </a:r>
          </a:p>
          <a:p>
            <a:pPr marL="912813" lvl="1" indent="-277813" eaLnBrk="1" hangingPunct="1">
              <a:spcBef>
                <a:spcPct val="0"/>
              </a:spcBef>
              <a:buFontTx/>
              <a:buChar char="–"/>
              <a:defRPr/>
            </a:pPr>
            <a:r>
              <a:rPr lang="en-US" sz="2400" dirty="0">
                <a:solidFill>
                  <a:srgbClr val="004D8F"/>
                </a:solidFill>
                <a:latin typeface="+mn-lt"/>
                <a:ea typeface="Arial" pitchFamily="-108" charset="0"/>
                <a:cs typeface="Arial" pitchFamily="-108" charset="0"/>
              </a:rPr>
              <a:t>Identification of Applicant</a:t>
            </a:r>
          </a:p>
          <a:p>
            <a:pPr marL="912813" lvl="1" indent="-277813" eaLnBrk="1" hangingPunct="1">
              <a:spcBef>
                <a:spcPct val="0"/>
              </a:spcBef>
              <a:buFontTx/>
              <a:buChar char="–"/>
              <a:defRPr/>
            </a:pPr>
            <a:r>
              <a:rPr lang="en-US" sz="2400" dirty="0">
                <a:solidFill>
                  <a:srgbClr val="004D8F"/>
                </a:solidFill>
                <a:latin typeface="+mn-lt"/>
                <a:ea typeface="Arial" pitchFamily="-108" charset="0"/>
                <a:cs typeface="Arial" pitchFamily="-108" charset="0"/>
              </a:rPr>
              <a:t>Organizational Structure</a:t>
            </a:r>
          </a:p>
          <a:p>
            <a:pPr marL="912813" lvl="1" indent="-277813" eaLnBrk="1" hangingPunct="1">
              <a:spcBef>
                <a:spcPct val="0"/>
              </a:spcBef>
              <a:buFontTx/>
              <a:buChar char="–"/>
              <a:defRPr/>
            </a:pPr>
            <a:r>
              <a:rPr lang="en-US" sz="2400" dirty="0">
                <a:solidFill>
                  <a:srgbClr val="004D8F"/>
                </a:solidFill>
                <a:latin typeface="+mn-lt"/>
                <a:ea typeface="Arial" pitchFamily="-108" charset="0"/>
                <a:cs typeface="Arial" pitchFamily="-108" charset="0"/>
              </a:rPr>
              <a:t>Specific Activities</a:t>
            </a:r>
          </a:p>
          <a:p>
            <a:pPr marL="912813" lvl="1" indent="-277813" eaLnBrk="1" hangingPunct="1">
              <a:spcBef>
                <a:spcPct val="0"/>
              </a:spcBef>
              <a:buFontTx/>
              <a:buChar char="–"/>
              <a:defRPr/>
            </a:pPr>
            <a:r>
              <a:rPr lang="en-US" sz="2400" dirty="0">
                <a:solidFill>
                  <a:srgbClr val="004D8F"/>
                </a:solidFill>
                <a:latin typeface="+mn-lt"/>
                <a:ea typeface="Arial" pitchFamily="-108" charset="0"/>
                <a:cs typeface="Arial" pitchFamily="-108" charset="0"/>
              </a:rPr>
              <a:t>Foundation Classification</a:t>
            </a:r>
          </a:p>
          <a:p>
            <a:pPr lvl="1" indent="-107950" eaLnBrk="1" hangingPunct="1">
              <a:spcBef>
                <a:spcPct val="0"/>
              </a:spcBef>
              <a:buFontTx/>
              <a:buChar char="–"/>
              <a:defRPr/>
            </a:pPr>
            <a:endParaRPr lang="en-US" sz="2800" dirty="0">
              <a:solidFill>
                <a:srgbClr val="004D8F"/>
              </a:solidFill>
              <a:latin typeface="+mn-lt"/>
              <a:ea typeface="Arial" pitchFamily="-108" charset="0"/>
              <a:cs typeface="Arial" pitchFamily="-108" charset="0"/>
            </a:endParaRPr>
          </a:p>
          <a:p>
            <a:pPr lvl="1" indent="-107950" eaLnBrk="1" hangingPunct="1">
              <a:spcBef>
                <a:spcPct val="0"/>
              </a:spcBef>
              <a:buFont typeface="Arial" pitchFamily="-108" charset="0"/>
              <a:buChar char="–"/>
              <a:defRPr/>
            </a:pPr>
            <a:endParaRPr lang="en-US" sz="2800" dirty="0">
              <a:solidFill>
                <a:srgbClr val="004D8F"/>
              </a:solidFill>
              <a:latin typeface="+mn-lt"/>
              <a:ea typeface="Arial" pitchFamily="-108" charset="0"/>
              <a:cs typeface="Arial" pitchFamily="-108" charset="0"/>
            </a:endParaRPr>
          </a:p>
          <a:p>
            <a:pPr lvl="1" indent="-107950" eaLnBrk="1" hangingPunct="1">
              <a:spcBef>
                <a:spcPct val="0"/>
              </a:spcBef>
              <a:buFontTx/>
              <a:buChar char="–"/>
              <a:defRPr/>
            </a:pPr>
            <a:endParaRPr lang="en-US" sz="2800" dirty="0">
              <a:solidFill>
                <a:srgbClr val="004D8F"/>
              </a:solidFill>
              <a:latin typeface="+mn-lt"/>
              <a:ea typeface="Arial" pitchFamily="-108" charset="0"/>
              <a:cs typeface="Arial" pitchFamily="-10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hape 271"/>
          <p:cNvSpPr txBox="1">
            <a:spLocks noGrp="1"/>
          </p:cNvSpPr>
          <p:nvPr>
            <p:ph type="title" idx="4294967295"/>
          </p:nvPr>
        </p:nvSpPr>
        <p:spPr>
          <a:xfrm>
            <a:off x="-812800" y="522288"/>
            <a:ext cx="9956800" cy="476250"/>
          </a:xfrm>
        </p:spPr>
        <p:txBody>
          <a:bodyPr wrap="square" numCol="1" anchorCtr="0" compatLnSpc="1">
            <a:prstTxWarp prst="textNoShape">
              <a:avLst/>
            </a:prstTxWarp>
            <a:noAutofit/>
          </a:bodyPr>
          <a:lstStyle/>
          <a:p>
            <a:pPr algn="l" eaLnBrk="1" hangingPunct="1">
              <a:spcBef>
                <a:spcPct val="0"/>
              </a:spcBef>
              <a:spcAft>
                <a:spcPct val="0"/>
              </a:spcAft>
              <a:buClr>
                <a:srgbClr val="538833"/>
              </a:buClr>
            </a:pPr>
            <a:r>
              <a:rPr lang="en-US" sz="2800" b="1" cap="none" dirty="0">
                <a:solidFill>
                  <a:srgbClr val="004D8F"/>
                </a:solidFill>
                <a:latin typeface="Gill Sans MT" pitchFamily="4" charset="0"/>
              </a:rPr>
              <a:t>DOCUMENTS &amp; INFO REQUIRED TO</a:t>
            </a:r>
            <a:br>
              <a:rPr lang="en-US" sz="2800" b="1" cap="none" dirty="0">
                <a:solidFill>
                  <a:srgbClr val="004D8F"/>
                </a:solidFill>
                <a:latin typeface="Gill Sans MT" pitchFamily="4" charset="0"/>
              </a:rPr>
            </a:br>
            <a:r>
              <a:rPr lang="en-US" sz="2800" b="1" cap="none" dirty="0">
                <a:solidFill>
                  <a:srgbClr val="004D8F"/>
                </a:solidFill>
                <a:latin typeface="Gill Sans MT" pitchFamily="4" charset="0"/>
              </a:rPr>
              <a:t>COMPLETE AND SUBMIT FORM 1023</a:t>
            </a:r>
            <a:r>
              <a:rPr lang="en-US" sz="3600" cap="none" dirty="0">
                <a:solidFill>
                  <a:srgbClr val="004D8F"/>
                </a:solidFill>
                <a:latin typeface="Gill Sans MT" pitchFamily="4" charset="0"/>
              </a:rPr>
              <a:t/>
            </a:r>
            <a:br>
              <a:rPr lang="en-US" sz="3600" cap="none" dirty="0">
                <a:solidFill>
                  <a:srgbClr val="004D8F"/>
                </a:solidFill>
                <a:latin typeface="Gill Sans MT" pitchFamily="4" charset="0"/>
              </a:rPr>
            </a:br>
            <a:endParaRPr lang="en-US" sz="3600" cap="none" dirty="0">
              <a:solidFill>
                <a:srgbClr val="004D8F"/>
              </a:solidFill>
              <a:latin typeface="Gill Sans MT" pitchFamily="4" charset="0"/>
            </a:endParaRPr>
          </a:p>
        </p:txBody>
      </p:sp>
      <p:sp>
        <p:nvSpPr>
          <p:cNvPr id="31747" name="Shape 272"/>
          <p:cNvSpPr txBox="1">
            <a:spLocks noGrp="1"/>
          </p:cNvSpPr>
          <p:nvPr>
            <p:ph type="body" idx="4294967295"/>
          </p:nvPr>
        </p:nvSpPr>
        <p:spPr>
          <a:xfrm>
            <a:off x="914400" y="923925"/>
            <a:ext cx="8229600" cy="5295900"/>
          </a:xfrm>
        </p:spPr>
        <p:txBody>
          <a:bodyPr wrap="square" numCol="1" anchor="t" anchorCtr="0" compatLnSpc="1">
            <a:prstTxWarp prst="textNoShape">
              <a:avLst/>
            </a:prstTxWarp>
          </a:bodyPr>
          <a:lstStyle/>
          <a:p>
            <a:pPr marL="290513" indent="-290513" eaLnBrk="1" hangingPunct="1">
              <a:lnSpc>
                <a:spcPct val="80000"/>
              </a:lnSpc>
              <a:spcBef>
                <a:spcPct val="0"/>
              </a:spcBef>
              <a:spcAft>
                <a:spcPct val="0"/>
              </a:spcAft>
              <a:buClr>
                <a:srgbClr val="538833"/>
              </a:buClr>
              <a:buFontTx/>
              <a:buNone/>
              <a:defRPr/>
            </a:pPr>
            <a:endParaRPr lang="en-US" sz="1200" dirty="0">
              <a:solidFill>
                <a:srgbClr val="004D8F"/>
              </a:solidFill>
              <a:latin typeface="+mn-lt"/>
              <a:ea typeface="Arial" pitchFamily="-108" charset="0"/>
              <a:cs typeface="Arial" pitchFamily="-108" charset="0"/>
            </a:endParaRP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Articles of Organization (Including Any Amendments to Articles)</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Latest By-Laws (Approved by Directors)</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Budgets Current Year Tax Year and 3 Prior Tax Years or 2 Succeeding Tax Years</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Balance Sheet Most Recently Completed Tax Year</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Schedules A Through H as Required</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All Other Attachments Including Explanations, Financial Data, Printed     	Materials/Publications</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Expedite Request (If Requesting)</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Employer Identification Number</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Provide Specific Details About Past, Present and Planned Activities</a:t>
            </a:r>
          </a:p>
          <a:p>
            <a:pPr marL="290513" indent="-290513" eaLnBrk="1" hangingPunct="1">
              <a:spcBef>
                <a:spcPts val="600"/>
              </a:spcBef>
              <a:spcAft>
                <a:spcPct val="0"/>
              </a:spcAft>
              <a:buClrTx/>
              <a:defRPr/>
            </a:pPr>
            <a:r>
              <a:rPr lang="en-US" sz="2200" dirty="0">
                <a:solidFill>
                  <a:srgbClr val="004D8F"/>
                </a:solidFill>
                <a:latin typeface="+mn-lt"/>
                <a:ea typeface="Arial" pitchFamily="-108" charset="0"/>
                <a:cs typeface="Arial" pitchFamily="-108" charset="0"/>
              </a:rPr>
              <a:t>Attach User Fee of $850 ($400 Annual Gross Receipts $10,000 or Below)</a:t>
            </a:r>
          </a:p>
          <a:p>
            <a:pPr marL="0" indent="0" eaLnBrk="1" hangingPunct="1">
              <a:lnSpc>
                <a:spcPct val="80000"/>
              </a:lnSpc>
              <a:spcBef>
                <a:spcPct val="0"/>
              </a:spcBef>
              <a:spcAft>
                <a:spcPct val="0"/>
              </a:spcAft>
              <a:buClr>
                <a:srgbClr val="538833"/>
              </a:buClr>
              <a:buFontTx/>
              <a:buNone/>
              <a:defRPr/>
            </a:pPr>
            <a:endParaRPr lang="en-US" sz="700" b="1" dirty="0">
              <a:latin typeface="Arial" pitchFamily="-108" charset="0"/>
              <a:ea typeface="Arial" pitchFamily="-108" charset="0"/>
              <a:cs typeface="Arial" pitchFamily="-108" charset="0"/>
            </a:endParaRPr>
          </a:p>
          <a:p>
            <a:pPr marL="0" indent="0" eaLnBrk="1" hangingPunct="1">
              <a:lnSpc>
                <a:spcPct val="80000"/>
              </a:lnSpc>
              <a:spcBef>
                <a:spcPct val="0"/>
              </a:spcBef>
              <a:spcAft>
                <a:spcPct val="0"/>
              </a:spcAft>
              <a:buClr>
                <a:srgbClr val="538833"/>
              </a:buClr>
              <a:buFontTx/>
              <a:buNone/>
              <a:defRPr/>
            </a:pPr>
            <a:endParaRPr lang="en-US" sz="300" b="1" dirty="0">
              <a:latin typeface="Arial" pitchFamily="-108" charset="0"/>
              <a:ea typeface="Arial" pitchFamily="-108" charset="0"/>
              <a:cs typeface="Arial" pitchFamily="-108" charset="0"/>
            </a:endParaRP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hape 285"/>
          <p:cNvSpPr txBox="1">
            <a:spLocks noGrp="1"/>
          </p:cNvSpPr>
          <p:nvPr>
            <p:ph type="title" idx="4294967295"/>
          </p:nvPr>
        </p:nvSpPr>
        <p:spPr>
          <a:xfrm>
            <a:off x="0" y="0"/>
            <a:ext cx="8229600" cy="925513"/>
          </a:xfrm>
        </p:spPr>
        <p:txBody>
          <a:bodyPr tIns="45700" bIns="45700">
            <a:normAutofit/>
          </a:bodyPr>
          <a:lstStyle/>
          <a:p>
            <a:pPr algn="l" eaLnBrk="1" hangingPunct="1">
              <a:spcBef>
                <a:spcPct val="0"/>
              </a:spcBef>
              <a:spcAft>
                <a:spcPct val="0"/>
              </a:spcAft>
              <a:buClr>
                <a:srgbClr val="1A68A6"/>
              </a:buClr>
              <a:buSzPct val="25000"/>
              <a:buFont typeface="Cabin"/>
              <a:buNone/>
              <a:defRPr/>
            </a:pPr>
            <a:r>
              <a:rPr lang="en-US" altLang="en-US" sz="4000" b="1" dirty="0">
                <a:solidFill>
                  <a:srgbClr val="004D8F"/>
                </a:solidFill>
                <a:latin typeface="Gill Sans MT"/>
                <a:ea typeface="Cabin"/>
                <a:cs typeface="Gill Sans MT"/>
                <a:sym typeface="Cabin"/>
              </a:rPr>
              <a:t>Nonprofit Resources</a:t>
            </a:r>
          </a:p>
        </p:txBody>
      </p:sp>
      <p:sp>
        <p:nvSpPr>
          <p:cNvPr id="286" name="Shape 286"/>
          <p:cNvSpPr txBox="1">
            <a:spLocks noGrp="1"/>
          </p:cNvSpPr>
          <p:nvPr>
            <p:ph type="body" idx="4294967295"/>
          </p:nvPr>
        </p:nvSpPr>
        <p:spPr>
          <a:xfrm>
            <a:off x="0" y="925513"/>
            <a:ext cx="8323263" cy="5675312"/>
          </a:xfrm>
        </p:spPr>
        <p:txBody>
          <a:bodyPr wrap="square" tIns="45700" bIns="45700" numCol="1" anchor="t" anchorCtr="0" compatLnSpc="1">
            <a:prstTxWarp prst="textNoShape">
              <a:avLst/>
            </a:prstTxWarp>
            <a:noAutofit/>
          </a:bodyPr>
          <a:lstStyle/>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Chronicle of Philanthropy</a:t>
            </a:r>
            <a:r>
              <a:rPr lang="en-US" sz="2000" dirty="0">
                <a:solidFill>
                  <a:srgbClr val="004D8F"/>
                </a:solidFill>
                <a:latin typeface="Calibri" pitchFamily="4" charset="0"/>
                <a:ea typeface="Cabin" charset="-52"/>
                <a:cs typeface="Cabin" charset="-52"/>
                <a:sym typeface="Cabin" charset="-52"/>
              </a:rPr>
              <a:t> – </a:t>
            </a:r>
            <a:r>
              <a:rPr lang="en-US" sz="2000" b="1" u="sng" dirty="0">
                <a:solidFill>
                  <a:srgbClr val="004D8F"/>
                </a:solidFill>
                <a:latin typeface="Calibri" pitchFamily="4" charset="0"/>
                <a:ea typeface="Calibri" pitchFamily="4" charset="0"/>
                <a:cs typeface="Calibri" pitchFamily="4" charset="0"/>
                <a:sym typeface="Calibri" pitchFamily="4" charset="0"/>
                <a:hlinkClick r:id="rId3"/>
              </a:rPr>
              <a:t>http://www.philanthropy.com</a:t>
            </a:r>
            <a:r>
              <a:rPr lang="en-US" sz="2000" dirty="0">
                <a:solidFill>
                  <a:srgbClr val="004D8F"/>
                </a:solidFill>
                <a:latin typeface="Calibri" pitchFamily="4" charset="0"/>
                <a:ea typeface="Cabin" charset="-52"/>
                <a:cs typeface="Cabin" charset="-52"/>
                <a:sym typeface="Cabin" charset="-52"/>
              </a:rPr>
              <a:t> - This is a monthly newspaper, but you can also sign up for a free daily email newsletter that keeps you up to date on the happenings within the nonprofit sector</a:t>
            </a:r>
          </a:p>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Philanthropy News Digest -</a:t>
            </a:r>
            <a:r>
              <a:rPr lang="en-US" sz="2000" b="1" u="sng" dirty="0">
                <a:solidFill>
                  <a:srgbClr val="004D8F"/>
                </a:solidFill>
                <a:latin typeface="Calibri" pitchFamily="4" charset="0"/>
                <a:ea typeface="Cabin" charset="-52"/>
                <a:cs typeface="Cabin" charset="-52"/>
                <a:sym typeface="Cabin" charset="-52"/>
              </a:rPr>
              <a:t> </a:t>
            </a:r>
            <a:r>
              <a:rPr lang="en-US" sz="2000" b="1" u="sng" dirty="0">
                <a:solidFill>
                  <a:srgbClr val="004D8F"/>
                </a:solidFill>
                <a:latin typeface="Calibri" pitchFamily="4" charset="0"/>
                <a:ea typeface="Calibri" pitchFamily="4" charset="0"/>
                <a:cs typeface="Calibri" pitchFamily="4" charset="0"/>
                <a:sym typeface="Calibri" pitchFamily="4" charset="0"/>
                <a:hlinkClick r:id="rId4"/>
              </a:rPr>
              <a:t>http://foundationcenter.org/pnd</a:t>
            </a:r>
            <a:r>
              <a:rPr lang="en-US" sz="2000" dirty="0">
                <a:solidFill>
                  <a:srgbClr val="004D8F"/>
                </a:solidFill>
                <a:latin typeface="Calibri" pitchFamily="4" charset="0"/>
                <a:ea typeface="Cabin" charset="-52"/>
                <a:cs typeface="Cabin" charset="-52"/>
                <a:sym typeface="Cabin" charset="-52"/>
              </a:rPr>
              <a:t> - Daily email newsletter available free of charge</a:t>
            </a:r>
          </a:p>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The </a:t>
            </a:r>
            <a:r>
              <a:rPr lang="en-US" sz="2000" b="1" dirty="0" err="1">
                <a:solidFill>
                  <a:srgbClr val="004D8F"/>
                </a:solidFill>
                <a:latin typeface="Calibri" pitchFamily="4" charset="0"/>
                <a:ea typeface="Cabin" charset="-52"/>
                <a:cs typeface="Cabin" charset="-52"/>
                <a:sym typeface="Cabin" charset="-52"/>
              </a:rPr>
              <a:t>Bridgespan</a:t>
            </a:r>
            <a:r>
              <a:rPr lang="en-US" sz="2000" b="1" dirty="0">
                <a:solidFill>
                  <a:srgbClr val="004D8F"/>
                </a:solidFill>
                <a:latin typeface="Calibri" pitchFamily="4" charset="0"/>
                <a:ea typeface="Cabin" charset="-52"/>
                <a:cs typeface="Cabin" charset="-52"/>
                <a:sym typeface="Cabin" charset="-52"/>
              </a:rPr>
              <a:t> Group -</a:t>
            </a:r>
            <a:r>
              <a:rPr lang="en-US" sz="2000" dirty="0">
                <a:solidFill>
                  <a:srgbClr val="004D8F"/>
                </a:solidFill>
                <a:latin typeface="Calibri" pitchFamily="4" charset="0"/>
                <a:ea typeface="Cabin" charset="-52"/>
                <a:cs typeface="Cabin" charset="-52"/>
                <a:sym typeface="Cabin" charset="-52"/>
              </a:rPr>
              <a:t> </a:t>
            </a:r>
            <a:r>
              <a:rPr lang="en-US" sz="2000" b="1" dirty="0">
                <a:solidFill>
                  <a:srgbClr val="004D8F"/>
                </a:solidFill>
                <a:latin typeface="Calibri" pitchFamily="4" charset="0"/>
                <a:ea typeface="Cabin" charset="-52"/>
                <a:cs typeface="Cabin" charset="-52"/>
                <a:sym typeface="Cabin" charset="-52"/>
              </a:rPr>
              <a:t>http://www.bridgespangroup.org</a:t>
            </a:r>
            <a:r>
              <a:rPr lang="en-US" sz="2000" dirty="0">
                <a:solidFill>
                  <a:srgbClr val="004D8F"/>
                </a:solidFill>
                <a:latin typeface="Calibri" pitchFamily="4" charset="0"/>
                <a:ea typeface="Cabin" charset="-52"/>
                <a:cs typeface="Cabin" charset="-52"/>
                <a:sym typeface="Cabin" charset="-52"/>
              </a:rPr>
              <a:t>/ - The </a:t>
            </a:r>
            <a:r>
              <a:rPr lang="en-US" sz="2000" dirty="0" err="1">
                <a:solidFill>
                  <a:srgbClr val="004D8F"/>
                </a:solidFill>
                <a:latin typeface="Calibri" pitchFamily="4" charset="0"/>
                <a:ea typeface="Cabin" charset="-52"/>
                <a:cs typeface="Cabin" charset="-52"/>
                <a:sym typeface="Cabin" charset="-52"/>
              </a:rPr>
              <a:t>Bridgespan</a:t>
            </a:r>
            <a:r>
              <a:rPr lang="en-US" sz="2000" dirty="0">
                <a:solidFill>
                  <a:srgbClr val="004D8F"/>
                </a:solidFill>
                <a:latin typeface="Calibri" pitchFamily="4" charset="0"/>
                <a:ea typeface="Cabin" charset="-52"/>
                <a:cs typeface="Cabin" charset="-52"/>
                <a:sym typeface="Cabin" charset="-52"/>
              </a:rPr>
              <a:t> Group is the nonprofit side of Bain &amp; Co.  They have an e-newsletter which is free to receive</a:t>
            </a:r>
            <a:r>
              <a:rPr lang="en-US" sz="2000" b="1" dirty="0">
                <a:solidFill>
                  <a:srgbClr val="004D8F"/>
                </a:solidFill>
                <a:latin typeface="Calibri" pitchFamily="4" charset="0"/>
                <a:ea typeface="Cabin" charset="-52"/>
                <a:cs typeface="Cabin" charset="-52"/>
                <a:sym typeface="Cabin" charset="-52"/>
              </a:rPr>
              <a:t> </a:t>
            </a:r>
          </a:p>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The Boston Foundation – </a:t>
            </a:r>
            <a:r>
              <a:rPr lang="en-US" sz="2000" b="1" u="sng" dirty="0">
                <a:solidFill>
                  <a:srgbClr val="004D8F"/>
                </a:solidFill>
                <a:latin typeface="Calibri" pitchFamily="4" charset="0"/>
                <a:ea typeface="Calibri" pitchFamily="4" charset="0"/>
                <a:cs typeface="Calibri" pitchFamily="4" charset="0"/>
                <a:sym typeface="Calibri" pitchFamily="4" charset="0"/>
                <a:hlinkClick r:id="rId5"/>
              </a:rPr>
              <a:t>www.tbf.org</a:t>
            </a:r>
            <a:r>
              <a:rPr lang="en-US" sz="2000" b="1" dirty="0">
                <a:solidFill>
                  <a:srgbClr val="004D8F"/>
                </a:solidFill>
                <a:latin typeface="Calibri" pitchFamily="4" charset="0"/>
                <a:ea typeface="Cabin" charset="-52"/>
                <a:cs typeface="Cabin" charset="-52"/>
                <a:sym typeface="Cabin" charset="-52"/>
              </a:rPr>
              <a:t> – </a:t>
            </a:r>
            <a:r>
              <a:rPr lang="en-US" sz="2000" dirty="0">
                <a:solidFill>
                  <a:srgbClr val="004D8F"/>
                </a:solidFill>
                <a:latin typeface="Calibri" pitchFamily="4" charset="0"/>
                <a:ea typeface="Cabin" charset="-52"/>
                <a:cs typeface="Cabin" charset="-52"/>
                <a:sym typeface="Cabin" charset="-52"/>
              </a:rPr>
              <a:t>The Boston Foundation regularly publishes important data on the Boston/MA nonprofit sector</a:t>
            </a:r>
          </a:p>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Blue Avocado-</a:t>
            </a:r>
            <a:r>
              <a:rPr lang="en-US" sz="2000" dirty="0">
                <a:solidFill>
                  <a:srgbClr val="004D8F"/>
                </a:solidFill>
                <a:latin typeface="Calibri" pitchFamily="4" charset="0"/>
                <a:ea typeface="Cabin" charset="-52"/>
                <a:cs typeface="Cabin" charset="-52"/>
                <a:sym typeface="Cabin" charset="-52"/>
              </a:rPr>
              <a:t> </a:t>
            </a:r>
            <a:r>
              <a:rPr lang="en-US" sz="2000" b="1" u="sng" dirty="0">
                <a:solidFill>
                  <a:srgbClr val="004D8F"/>
                </a:solidFill>
                <a:latin typeface="Calibri" pitchFamily="4" charset="0"/>
                <a:ea typeface="Calibri" pitchFamily="4" charset="0"/>
                <a:cs typeface="Calibri" pitchFamily="4" charset="0"/>
                <a:sym typeface="Calibri" pitchFamily="4" charset="0"/>
                <a:hlinkClick r:id="rId6"/>
              </a:rPr>
              <a:t>http://www.blueavocado.org</a:t>
            </a:r>
            <a:r>
              <a:rPr lang="en-US" sz="2000" dirty="0">
                <a:solidFill>
                  <a:srgbClr val="004D8F"/>
                </a:solidFill>
                <a:latin typeface="Calibri" pitchFamily="4" charset="0"/>
                <a:ea typeface="Cabin" charset="-52"/>
                <a:cs typeface="Cabin" charset="-52"/>
                <a:sym typeface="Cabin" charset="-52"/>
              </a:rPr>
              <a:t> – A nonprofit online magazine full of helpful information and humorous insights on nonprofit management, governance, finance and trends that is published on the 1st and 15th of every month</a:t>
            </a:r>
          </a:p>
          <a:p>
            <a:pPr indent="-342900" eaLnBrk="1" hangingPunct="1">
              <a:lnSpc>
                <a:spcPct val="90000"/>
              </a:lnSpc>
              <a:spcBef>
                <a:spcPts val="600"/>
              </a:spcBef>
              <a:spcAft>
                <a:spcPct val="0"/>
              </a:spcAft>
              <a:buClrTx/>
              <a:buFont typeface="Arial" pitchFamily="4" charset="-52"/>
              <a:buChar char="•"/>
            </a:pPr>
            <a:r>
              <a:rPr lang="en-US" sz="2000" b="1" dirty="0">
                <a:solidFill>
                  <a:srgbClr val="004D8F"/>
                </a:solidFill>
                <a:latin typeface="Calibri" pitchFamily="4" charset="0"/>
                <a:ea typeface="Cabin" charset="-52"/>
                <a:cs typeface="Cabin" charset="-52"/>
                <a:sym typeface="Cabin" charset="-52"/>
              </a:rPr>
              <a:t>MA Nonprofit Network- </a:t>
            </a:r>
            <a:r>
              <a:rPr lang="en-US" sz="2000" b="1" u="sng" dirty="0">
                <a:solidFill>
                  <a:srgbClr val="004D8F"/>
                </a:solidFill>
                <a:latin typeface="Calibri" pitchFamily="4" charset="0"/>
                <a:ea typeface="Cabin" charset="-52"/>
                <a:cs typeface="Cabin" charset="-52"/>
                <a:sym typeface="Cabin" charset="-52"/>
                <a:hlinkClick r:id="rId7"/>
              </a:rPr>
              <a:t>http://</a:t>
            </a:r>
            <a:r>
              <a:rPr lang="en-US" sz="2000" b="1" i="1" u="sng" dirty="0">
                <a:solidFill>
                  <a:srgbClr val="004D8F"/>
                </a:solidFill>
                <a:latin typeface="Calibri" pitchFamily="4" charset="0"/>
                <a:hlinkClick r:id="rId7"/>
              </a:rPr>
              <a:t>massnonprofitnet.org</a:t>
            </a:r>
            <a:r>
              <a:rPr lang="en-US" sz="2000" b="1" i="1" u="sng" dirty="0">
                <a:solidFill>
                  <a:srgbClr val="004D8F"/>
                </a:solidFill>
                <a:latin typeface="Calibri" pitchFamily="4" charset="0"/>
              </a:rPr>
              <a:t> – </a:t>
            </a:r>
            <a:r>
              <a:rPr lang="en-US" sz="2000" dirty="0">
                <a:solidFill>
                  <a:srgbClr val="004D8F"/>
                </a:solidFill>
                <a:latin typeface="Calibri" pitchFamily="4" charset="0"/>
              </a:rPr>
              <a:t>A statewide organization that brings together nonprofits, funders, business leaders, and elected officials on critical issues</a:t>
            </a:r>
            <a:endParaRPr lang="en-US" sz="2000" dirty="0">
              <a:solidFill>
                <a:srgbClr val="004D8F"/>
              </a:solidFill>
              <a:latin typeface="Calibri" pitchFamily="4" charset="0"/>
              <a:ea typeface="Cabin" charset="-52"/>
              <a:cs typeface="Cabin" charset="-52"/>
              <a:sym typeface="Cabin" charset="-52"/>
            </a:endParaRP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hape 291"/>
          <p:cNvSpPr txBox="1">
            <a:spLocks noGrp="1"/>
          </p:cNvSpPr>
          <p:nvPr>
            <p:ph type="title" idx="4294967295"/>
          </p:nvPr>
        </p:nvSpPr>
        <p:spPr>
          <a:xfrm>
            <a:off x="0" y="349250"/>
            <a:ext cx="8229600" cy="925513"/>
          </a:xfrm>
        </p:spPr>
        <p:txBody>
          <a:bodyPr tIns="45700" bIns="45700">
            <a:normAutofit/>
          </a:bodyPr>
          <a:lstStyle/>
          <a:p>
            <a:pPr eaLnBrk="1" hangingPunct="1">
              <a:spcBef>
                <a:spcPct val="0"/>
              </a:spcBef>
              <a:spcAft>
                <a:spcPct val="0"/>
              </a:spcAft>
              <a:buClr>
                <a:srgbClr val="1A68A6"/>
              </a:buClr>
              <a:buSzPct val="25000"/>
              <a:buFont typeface="Cabin"/>
              <a:buNone/>
              <a:defRPr/>
            </a:pPr>
            <a:r>
              <a:rPr lang="en-US" altLang="en-US" b="1" dirty="0">
                <a:solidFill>
                  <a:srgbClr val="004D8F"/>
                </a:solidFill>
                <a:latin typeface="Gill Sans MT"/>
                <a:ea typeface="Cabin"/>
                <a:cs typeface="Gill Sans MT"/>
                <a:sym typeface="Cabin"/>
              </a:rPr>
              <a:t>Questions?</a:t>
            </a:r>
          </a:p>
        </p:txBody>
      </p:sp>
      <p:pic>
        <p:nvPicPr>
          <p:cNvPr id="59395" name="Shape 292"/>
          <p:cNvPicPr preferRelativeResize="0">
            <a:picLocks noChangeAspect="1" noChangeArrowheads="1"/>
          </p:cNvPicPr>
          <p:nvPr/>
        </p:nvPicPr>
        <p:blipFill>
          <a:blip r:embed="rId3"/>
          <a:srcRect/>
          <a:stretch>
            <a:fillRect/>
          </a:stretch>
        </p:blipFill>
        <p:spPr bwMode="auto">
          <a:xfrm>
            <a:off x="2532380" y="1754155"/>
            <a:ext cx="4411702" cy="4023860"/>
          </a:xfrm>
          <a:prstGeom prst="rect">
            <a:avLst/>
          </a:prstGeom>
          <a:noFill/>
          <a:ln w="9525">
            <a:noFill/>
            <a:miter lim="800000"/>
            <a:headEnd/>
            <a:tailEnd/>
          </a:ln>
        </p:spPr>
      </p:pic>
    </p:spTree>
  </p:cSld>
  <p:clrMapOvr>
    <a:masterClrMapping/>
  </p:clrMapOvr>
  <p:transition spd="slow">
    <p:cut/>
  </p:transition>
</p:sld>
</file>

<file path=ppt/theme/theme1.xml><?xml version="1.0" encoding="utf-8"?>
<a:theme xmlns:a="http://schemas.openxmlformats.org/drawingml/2006/main" name="SCORE-Basic">
  <a:themeElements>
    <a:clrScheme name="Score Colors">
      <a:dk1>
        <a:srgbClr val="1A68A6"/>
      </a:dk1>
      <a:lt1>
        <a:sysClr val="window" lastClr="FFFFFF"/>
      </a:lt1>
      <a:dk2>
        <a:srgbClr val="538833"/>
      </a:dk2>
      <a:lt2>
        <a:srgbClr val="004D8F"/>
      </a:lt2>
      <a:accent1>
        <a:srgbClr val="538833"/>
      </a:accent1>
      <a:accent2>
        <a:srgbClr val="F5C51C"/>
      </a:accent2>
      <a:accent3>
        <a:srgbClr val="1F3964"/>
      </a:accent3>
      <a:accent4>
        <a:srgbClr val="2A2517"/>
      </a:accent4>
      <a:accent5>
        <a:srgbClr val="2E302F"/>
      </a:accent5>
      <a:accent6>
        <a:srgbClr val="ACC3D4"/>
      </a:accent6>
      <a:hlink>
        <a:srgbClr val="1A68A6"/>
      </a:hlink>
      <a:folHlink>
        <a:srgbClr val="1A68A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ORE-Basic" id="{4C8ECBC3-FA14-4750-BE4B-AB5643B662CC}" vid="{276C7DC1-1461-484E-8481-9C24E9B77D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SCORE-Basic (1)</Template>
  <TotalTime>262</TotalTime>
  <Words>2809</Words>
  <Application>Microsoft Office PowerPoint</Application>
  <PresentationFormat>On-screen Show (4:3)</PresentationFormat>
  <Paragraphs>376</Paragraphs>
  <Slides>27</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ＭＳ Ｐゴシック</vt:lpstr>
      <vt:lpstr>ＭＳ Ｐゴシック</vt:lpstr>
      <vt:lpstr>Arial</vt:lpstr>
      <vt:lpstr>Cabin</vt:lpstr>
      <vt:lpstr>Calibri</vt:lpstr>
      <vt:lpstr>Gill Sans</vt:lpstr>
      <vt:lpstr>Gill Sans MT</vt:lpstr>
      <vt:lpstr>Noto Symbol</vt:lpstr>
      <vt:lpstr>Times New Roman</vt:lpstr>
      <vt:lpstr>SCORE-Basic</vt:lpstr>
      <vt:lpstr>PowerPoint Presentation</vt:lpstr>
      <vt:lpstr>PowerPoint Presentation</vt:lpstr>
      <vt:lpstr>Profit  Vs. Non Profit</vt:lpstr>
      <vt:lpstr>Alternative:  Benefit Corporations--LLC </vt:lpstr>
      <vt:lpstr>Another Option:  L3C Organizations</vt:lpstr>
      <vt:lpstr>And One More:  Membership Based </vt:lpstr>
      <vt:lpstr>PowerPoint Presentation</vt:lpstr>
      <vt:lpstr>PowerPoint Presentation</vt:lpstr>
      <vt:lpstr>The MA Nonprofit Sector</vt:lpstr>
      <vt:lpstr>Tax Exempt Nonprofit Organization</vt:lpstr>
      <vt:lpstr>Governing Principles</vt:lpstr>
      <vt:lpstr>Board Member Selection</vt:lpstr>
      <vt:lpstr>Typical Organizational Structure</vt:lpstr>
      <vt:lpstr>Styles / Stages of Boards</vt:lpstr>
      <vt:lpstr>What does a 501(c)(3) designation mean?</vt:lpstr>
      <vt:lpstr>Issues in Nonprofit Management</vt:lpstr>
      <vt:lpstr>Issues in Non Profit Management </vt:lpstr>
      <vt:lpstr>Common Funding Proposal Info</vt:lpstr>
      <vt:lpstr>Issues in Nonprofit Management</vt:lpstr>
      <vt:lpstr>Issues in Nonprofit Management</vt:lpstr>
      <vt:lpstr>Typical Startup Questions</vt:lpstr>
      <vt:lpstr>Typical Startup Questions</vt:lpstr>
      <vt:lpstr>Typical Startup Questions (cont.)</vt:lpstr>
      <vt:lpstr>IRS Form 1023 </vt:lpstr>
      <vt:lpstr>DOCUMENTS &amp; INFO REQUIRED TO COMPLETE AND SUBMIT FORM 1023 </vt:lpstr>
      <vt:lpstr>Nonprofit Resources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Laura Colcord</dc:creator>
  <cp:lastModifiedBy>Morgan Martin</cp:lastModifiedBy>
  <cp:revision>18</cp:revision>
  <dcterms:created xsi:type="dcterms:W3CDTF">2016-12-09T18:58:13Z</dcterms:created>
  <dcterms:modified xsi:type="dcterms:W3CDTF">2018-03-05T21:45:21Z</dcterms:modified>
</cp:coreProperties>
</file>